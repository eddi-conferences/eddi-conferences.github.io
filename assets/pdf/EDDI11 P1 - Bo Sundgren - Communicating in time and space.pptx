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9" r:id="rId4"/>
    <p:sldId id="280" r:id="rId5"/>
    <p:sldId id="278" r:id="rId6"/>
    <p:sldId id="259" r:id="rId7"/>
    <p:sldId id="258" r:id="rId8"/>
    <p:sldId id="260" r:id="rId9"/>
    <p:sldId id="261" r:id="rId10"/>
    <p:sldId id="262" r:id="rId11"/>
    <p:sldId id="264" r:id="rId12"/>
    <p:sldId id="266" r:id="rId13"/>
    <p:sldId id="267" r:id="rId14"/>
    <p:sldId id="265" r:id="rId15"/>
    <p:sldId id="263" r:id="rId16"/>
    <p:sldId id="268" r:id="rId17"/>
    <p:sldId id="269" r:id="rId18"/>
    <p:sldId id="270" r:id="rId19"/>
    <p:sldId id="281" r:id="rId20"/>
    <p:sldId id="282" r:id="rId21"/>
    <p:sldId id="285" r:id="rId22"/>
    <p:sldId id="284" r:id="rId23"/>
    <p:sldId id="271" r:id="rId24"/>
    <p:sldId id="272" r:id="rId25"/>
    <p:sldId id="273" r:id="rId26"/>
    <p:sldId id="274" r:id="rId27"/>
    <p:sldId id="275" r:id="rId28"/>
    <p:sldId id="297" r:id="rId29"/>
    <p:sldId id="276" r:id="rId30"/>
    <p:sldId id="286" r:id="rId31"/>
    <p:sldId id="287" r:id="rId32"/>
    <p:sldId id="277" r:id="rId33"/>
    <p:sldId id="288" r:id="rId34"/>
    <p:sldId id="289" r:id="rId35"/>
    <p:sldId id="291" r:id="rId36"/>
    <p:sldId id="290" r:id="rId37"/>
    <p:sldId id="296" r:id="rId38"/>
    <p:sldId id="293" r:id="rId39"/>
    <p:sldId id="294" r:id="rId40"/>
    <p:sldId id="295" r:id="rId41"/>
    <p:sldId id="292" r:id="rId42"/>
  </p:sldIdLst>
  <p:sldSz cx="9144000" cy="6858000" type="screen4x3"/>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098"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685800" y="2130425"/>
            <a:ext cx="7772400" cy="1470025"/>
          </a:xfrm>
        </p:spPr>
        <p:txBody>
          <a:bodyPr/>
          <a:lstStyle/>
          <a:p>
            <a:r>
              <a:rPr lang="sv-SE" smtClean="0"/>
              <a:t>Klicka här för att ändra format</a:t>
            </a:r>
            <a:endParaRPr lang="sv-SE"/>
          </a:p>
        </p:txBody>
      </p:sp>
      <p:sp>
        <p:nvSpPr>
          <p:cNvPr id="3" name="Underrubri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smtClean="0"/>
              <a:t>Klicka här för att ändra format på underrubrik i bakgrunden</a:t>
            </a:r>
            <a:endParaRPr lang="sv-SE"/>
          </a:p>
        </p:txBody>
      </p:sp>
      <p:sp>
        <p:nvSpPr>
          <p:cNvPr id="4" name="Platshållare för datum 3"/>
          <p:cNvSpPr>
            <a:spLocks noGrp="1"/>
          </p:cNvSpPr>
          <p:nvPr>
            <p:ph type="dt" sz="half" idx="10"/>
          </p:nvPr>
        </p:nvSpPr>
        <p:spPr/>
        <p:txBody>
          <a:bodyPr/>
          <a:lstStyle/>
          <a:p>
            <a:fld id="{68C321AA-67F4-43DE-95EC-8150944DDEE3}" type="datetimeFigureOut">
              <a:rPr lang="sv-SE" smtClean="0"/>
              <a:pPr/>
              <a:t>2011-11-30</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B0160C25-F964-49D7-81C6-AA23E64B7B06}" type="slidenum">
              <a:rPr lang="sv-SE" smtClean="0"/>
              <a:pPr/>
              <a:t>‹#›</a:t>
            </a:fld>
            <a:endParaRPr lang="sv-S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innehåll 2"/>
          <p:cNvSpPr>
            <a:spLocks noGrp="1"/>
          </p:cNvSpPr>
          <p:nvPr>
            <p:ph idx="1"/>
          </p:nvPr>
        </p:nvSpPr>
        <p:spPr/>
        <p:txBody>
          <a:body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datum 3"/>
          <p:cNvSpPr>
            <a:spLocks noGrp="1"/>
          </p:cNvSpPr>
          <p:nvPr>
            <p:ph type="dt" sz="half" idx="10"/>
          </p:nvPr>
        </p:nvSpPr>
        <p:spPr/>
        <p:txBody>
          <a:bodyPr/>
          <a:lstStyle/>
          <a:p>
            <a:fld id="{68C321AA-67F4-43DE-95EC-8150944DDEE3}" type="datetimeFigureOut">
              <a:rPr lang="sv-SE" smtClean="0"/>
              <a:pPr/>
              <a:t>2011-11-30</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B0160C25-F964-49D7-81C6-AA23E64B7B06}" type="slidenum">
              <a:rPr lang="sv-SE" smtClean="0"/>
              <a:pPr/>
              <a:t>‹#›</a:t>
            </a:fld>
            <a:endParaRPr lang="sv-S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722313" y="4406900"/>
            <a:ext cx="7772400" cy="1362075"/>
          </a:xfrm>
        </p:spPr>
        <p:txBody>
          <a:bodyPr anchor="t"/>
          <a:lstStyle>
            <a:lvl1pPr algn="l">
              <a:defRPr sz="4000" b="1" cap="all"/>
            </a:lvl1pPr>
          </a:lstStyle>
          <a:p>
            <a:r>
              <a:rPr lang="sv-SE" smtClean="0"/>
              <a:t>Klicka här för att ändra format</a:t>
            </a:r>
            <a:endParaRPr lang="sv-SE"/>
          </a:p>
        </p:txBody>
      </p:sp>
      <p:sp>
        <p:nvSpPr>
          <p:cNvPr id="3" name="Platshållare för text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smtClean="0"/>
              <a:t>Klicka här för att ändra format på bakgrundstexten</a:t>
            </a:r>
          </a:p>
        </p:txBody>
      </p:sp>
      <p:sp>
        <p:nvSpPr>
          <p:cNvPr id="4" name="Platshållare för datum 3"/>
          <p:cNvSpPr>
            <a:spLocks noGrp="1"/>
          </p:cNvSpPr>
          <p:nvPr>
            <p:ph type="dt" sz="half" idx="10"/>
          </p:nvPr>
        </p:nvSpPr>
        <p:spPr/>
        <p:txBody>
          <a:bodyPr/>
          <a:lstStyle/>
          <a:p>
            <a:fld id="{68C321AA-67F4-43DE-95EC-8150944DDEE3}" type="datetimeFigureOut">
              <a:rPr lang="sv-SE" smtClean="0"/>
              <a:pPr/>
              <a:t>2011-11-30</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B0160C25-F964-49D7-81C6-AA23E64B7B06}" type="slidenum">
              <a:rPr lang="sv-SE" smtClean="0"/>
              <a:pPr/>
              <a:t>‹#›</a:t>
            </a:fld>
            <a:endParaRPr lang="sv-S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innehåll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innehåll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5" name="Platshållare för datum 4"/>
          <p:cNvSpPr>
            <a:spLocks noGrp="1"/>
          </p:cNvSpPr>
          <p:nvPr>
            <p:ph type="dt" sz="half" idx="10"/>
          </p:nvPr>
        </p:nvSpPr>
        <p:spPr/>
        <p:txBody>
          <a:bodyPr/>
          <a:lstStyle/>
          <a:p>
            <a:fld id="{68C321AA-67F4-43DE-95EC-8150944DDEE3}" type="datetimeFigureOut">
              <a:rPr lang="sv-SE" smtClean="0"/>
              <a:pPr/>
              <a:t>2011-11-30</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B0160C25-F964-49D7-81C6-AA23E64B7B06}" type="slidenum">
              <a:rPr lang="sv-SE" smtClean="0"/>
              <a:pPr/>
              <a:t>‹#›</a:t>
            </a:fld>
            <a:endParaRPr lang="sv-S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lvl1pPr>
              <a:defRPr/>
            </a:lvl1pPr>
          </a:lstStyle>
          <a:p>
            <a:r>
              <a:rPr lang="sv-SE" smtClean="0"/>
              <a:t>Klicka här för att ändra format</a:t>
            </a:r>
            <a:endParaRPr lang="sv-SE"/>
          </a:p>
        </p:txBody>
      </p:sp>
      <p:sp>
        <p:nvSpPr>
          <p:cNvPr id="3" name="Platshållare för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4" name="Platshållare för innehåll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5" name="Platshållare för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smtClean="0"/>
              <a:t>Klicka här för att ändra format på bakgrundstexten</a:t>
            </a:r>
          </a:p>
        </p:txBody>
      </p:sp>
      <p:sp>
        <p:nvSpPr>
          <p:cNvPr id="6" name="Platshållare för innehåll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7" name="Platshållare för datum 6"/>
          <p:cNvSpPr>
            <a:spLocks noGrp="1"/>
          </p:cNvSpPr>
          <p:nvPr>
            <p:ph type="dt" sz="half" idx="10"/>
          </p:nvPr>
        </p:nvSpPr>
        <p:spPr/>
        <p:txBody>
          <a:bodyPr/>
          <a:lstStyle/>
          <a:p>
            <a:fld id="{68C321AA-67F4-43DE-95EC-8150944DDEE3}" type="datetimeFigureOut">
              <a:rPr lang="sv-SE" smtClean="0"/>
              <a:pPr/>
              <a:t>2011-11-30</a:t>
            </a:fld>
            <a:endParaRPr lang="sv-SE"/>
          </a:p>
        </p:txBody>
      </p:sp>
      <p:sp>
        <p:nvSpPr>
          <p:cNvPr id="8" name="Platshållare för sidfot 7"/>
          <p:cNvSpPr>
            <a:spLocks noGrp="1"/>
          </p:cNvSpPr>
          <p:nvPr>
            <p:ph type="ftr" sz="quarter" idx="11"/>
          </p:nvPr>
        </p:nvSpPr>
        <p:spPr/>
        <p:txBody>
          <a:bodyPr/>
          <a:lstStyle/>
          <a:p>
            <a:endParaRPr lang="sv-SE"/>
          </a:p>
        </p:txBody>
      </p:sp>
      <p:sp>
        <p:nvSpPr>
          <p:cNvPr id="9" name="Platshållare för bildnummer 8"/>
          <p:cNvSpPr>
            <a:spLocks noGrp="1"/>
          </p:cNvSpPr>
          <p:nvPr>
            <p:ph type="sldNum" sz="quarter" idx="12"/>
          </p:nvPr>
        </p:nvSpPr>
        <p:spPr/>
        <p:txBody>
          <a:bodyPr/>
          <a:lstStyle/>
          <a:p>
            <a:fld id="{B0160C25-F964-49D7-81C6-AA23E64B7B06}" type="slidenum">
              <a:rPr lang="sv-SE" smtClean="0"/>
              <a:pPr/>
              <a:t>‹#›</a:t>
            </a:fld>
            <a:endParaRPr lang="sv-S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datum 2"/>
          <p:cNvSpPr>
            <a:spLocks noGrp="1"/>
          </p:cNvSpPr>
          <p:nvPr>
            <p:ph type="dt" sz="half" idx="10"/>
          </p:nvPr>
        </p:nvSpPr>
        <p:spPr/>
        <p:txBody>
          <a:bodyPr/>
          <a:lstStyle/>
          <a:p>
            <a:fld id="{68C321AA-67F4-43DE-95EC-8150944DDEE3}" type="datetimeFigureOut">
              <a:rPr lang="sv-SE" smtClean="0"/>
              <a:pPr/>
              <a:t>2011-11-30</a:t>
            </a:fld>
            <a:endParaRPr lang="sv-SE"/>
          </a:p>
        </p:txBody>
      </p:sp>
      <p:sp>
        <p:nvSpPr>
          <p:cNvPr id="4" name="Platshållare för sidfot 3"/>
          <p:cNvSpPr>
            <a:spLocks noGrp="1"/>
          </p:cNvSpPr>
          <p:nvPr>
            <p:ph type="ftr" sz="quarter" idx="11"/>
          </p:nvPr>
        </p:nvSpPr>
        <p:spPr/>
        <p:txBody>
          <a:bodyPr/>
          <a:lstStyle/>
          <a:p>
            <a:endParaRPr lang="sv-SE"/>
          </a:p>
        </p:txBody>
      </p:sp>
      <p:sp>
        <p:nvSpPr>
          <p:cNvPr id="5" name="Platshållare för bildnummer 4"/>
          <p:cNvSpPr>
            <a:spLocks noGrp="1"/>
          </p:cNvSpPr>
          <p:nvPr>
            <p:ph type="sldNum" sz="quarter" idx="12"/>
          </p:nvPr>
        </p:nvSpPr>
        <p:spPr/>
        <p:txBody>
          <a:bodyPr/>
          <a:lstStyle/>
          <a:p>
            <a:fld id="{B0160C25-F964-49D7-81C6-AA23E64B7B06}" type="slidenum">
              <a:rPr lang="sv-SE" smtClean="0"/>
              <a:pPr/>
              <a:t>‹#›</a:t>
            </a:fld>
            <a:endParaRPr lang="sv-S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68C321AA-67F4-43DE-95EC-8150944DDEE3}" type="datetimeFigureOut">
              <a:rPr lang="sv-SE" smtClean="0"/>
              <a:pPr/>
              <a:t>2011-11-30</a:t>
            </a:fld>
            <a:endParaRPr lang="sv-SE"/>
          </a:p>
        </p:txBody>
      </p:sp>
      <p:sp>
        <p:nvSpPr>
          <p:cNvPr id="3" name="Platshållare för sidfot 2"/>
          <p:cNvSpPr>
            <a:spLocks noGrp="1"/>
          </p:cNvSpPr>
          <p:nvPr>
            <p:ph type="ftr" sz="quarter" idx="11"/>
          </p:nvPr>
        </p:nvSpPr>
        <p:spPr/>
        <p:txBody>
          <a:bodyPr/>
          <a:lstStyle/>
          <a:p>
            <a:endParaRPr lang="sv-SE"/>
          </a:p>
        </p:txBody>
      </p:sp>
      <p:sp>
        <p:nvSpPr>
          <p:cNvPr id="4" name="Platshållare för bildnummer 3"/>
          <p:cNvSpPr>
            <a:spLocks noGrp="1"/>
          </p:cNvSpPr>
          <p:nvPr>
            <p:ph type="sldNum" sz="quarter" idx="12"/>
          </p:nvPr>
        </p:nvSpPr>
        <p:spPr/>
        <p:txBody>
          <a:bodyPr/>
          <a:lstStyle/>
          <a:p>
            <a:fld id="{B0160C25-F964-49D7-81C6-AA23E64B7B06}" type="slidenum">
              <a:rPr lang="sv-SE" smtClean="0"/>
              <a:pPr/>
              <a:t>‹#›</a:t>
            </a:fld>
            <a:endParaRPr lang="sv-S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457200" y="273050"/>
            <a:ext cx="3008313" cy="1162050"/>
          </a:xfrm>
        </p:spPr>
        <p:txBody>
          <a:bodyPr anchor="b"/>
          <a:lstStyle>
            <a:lvl1pPr algn="l">
              <a:defRPr sz="2000" b="1"/>
            </a:lvl1pPr>
          </a:lstStyle>
          <a:p>
            <a:r>
              <a:rPr lang="sv-SE" smtClean="0"/>
              <a:t>Klicka här för att ändra format</a:t>
            </a:r>
            <a:endParaRPr lang="sv-SE"/>
          </a:p>
        </p:txBody>
      </p:sp>
      <p:sp>
        <p:nvSpPr>
          <p:cNvPr id="3" name="Platshållare för innehåll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datum 4"/>
          <p:cNvSpPr>
            <a:spLocks noGrp="1"/>
          </p:cNvSpPr>
          <p:nvPr>
            <p:ph type="dt" sz="half" idx="10"/>
          </p:nvPr>
        </p:nvSpPr>
        <p:spPr/>
        <p:txBody>
          <a:bodyPr/>
          <a:lstStyle/>
          <a:p>
            <a:fld id="{68C321AA-67F4-43DE-95EC-8150944DDEE3}" type="datetimeFigureOut">
              <a:rPr lang="sv-SE" smtClean="0"/>
              <a:pPr/>
              <a:t>2011-11-30</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B0160C25-F964-49D7-81C6-AA23E64B7B06}" type="slidenum">
              <a:rPr lang="sv-SE" smtClean="0"/>
              <a:pPr/>
              <a:t>‹#›</a:t>
            </a:fld>
            <a:endParaRPr lang="sv-S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792288" y="4800600"/>
            <a:ext cx="5486400" cy="566738"/>
          </a:xfrm>
        </p:spPr>
        <p:txBody>
          <a:bodyPr anchor="b"/>
          <a:lstStyle>
            <a:lvl1pPr algn="l">
              <a:defRPr sz="2000" b="1"/>
            </a:lvl1pPr>
          </a:lstStyle>
          <a:p>
            <a:r>
              <a:rPr lang="sv-SE" smtClean="0"/>
              <a:t>Klicka här för att ändra format</a:t>
            </a:r>
            <a:endParaRPr lang="sv-SE"/>
          </a:p>
        </p:txBody>
      </p:sp>
      <p:sp>
        <p:nvSpPr>
          <p:cNvPr id="3" name="Platshållare för bild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smtClean="0"/>
              <a:t>Klicka här för att ändra format på bakgrundstexten</a:t>
            </a:r>
          </a:p>
        </p:txBody>
      </p:sp>
      <p:sp>
        <p:nvSpPr>
          <p:cNvPr id="5" name="Platshållare för datum 4"/>
          <p:cNvSpPr>
            <a:spLocks noGrp="1"/>
          </p:cNvSpPr>
          <p:nvPr>
            <p:ph type="dt" sz="half" idx="10"/>
          </p:nvPr>
        </p:nvSpPr>
        <p:spPr/>
        <p:txBody>
          <a:bodyPr/>
          <a:lstStyle/>
          <a:p>
            <a:fld id="{68C321AA-67F4-43DE-95EC-8150944DDEE3}" type="datetimeFigureOut">
              <a:rPr lang="sv-SE" smtClean="0"/>
              <a:pPr/>
              <a:t>2011-11-30</a:t>
            </a:fld>
            <a:endParaRPr lang="sv-SE"/>
          </a:p>
        </p:txBody>
      </p:sp>
      <p:sp>
        <p:nvSpPr>
          <p:cNvPr id="6" name="Platshållare för sidfot 5"/>
          <p:cNvSpPr>
            <a:spLocks noGrp="1"/>
          </p:cNvSpPr>
          <p:nvPr>
            <p:ph type="ftr" sz="quarter" idx="11"/>
          </p:nvPr>
        </p:nvSpPr>
        <p:spPr/>
        <p:txBody>
          <a:bodyPr/>
          <a:lstStyle/>
          <a:p>
            <a:endParaRPr lang="sv-SE"/>
          </a:p>
        </p:txBody>
      </p:sp>
      <p:sp>
        <p:nvSpPr>
          <p:cNvPr id="7" name="Platshållare för bildnummer 6"/>
          <p:cNvSpPr>
            <a:spLocks noGrp="1"/>
          </p:cNvSpPr>
          <p:nvPr>
            <p:ph type="sldNum" sz="quarter" idx="12"/>
          </p:nvPr>
        </p:nvSpPr>
        <p:spPr/>
        <p:txBody>
          <a:bodyPr/>
          <a:lstStyle/>
          <a:p>
            <a:fld id="{B0160C25-F964-49D7-81C6-AA23E64B7B06}" type="slidenum">
              <a:rPr lang="sv-SE" smtClean="0"/>
              <a:pPr/>
              <a:t>‹#›</a:t>
            </a:fld>
            <a:endParaRPr lang="sv-S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t>Klicka här för att ändra format</a:t>
            </a:r>
            <a:endParaRPr lang="sv-SE"/>
          </a:p>
        </p:txBody>
      </p:sp>
      <p:sp>
        <p:nvSpPr>
          <p:cNvPr id="3" name="Platshållare för lodrät text 2"/>
          <p:cNvSpPr>
            <a:spLocks noGrp="1"/>
          </p:cNvSpPr>
          <p:nvPr>
            <p:ph type="body" orient="vert" idx="1"/>
          </p:nvPr>
        </p:nvSpPr>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datum 3"/>
          <p:cNvSpPr>
            <a:spLocks noGrp="1"/>
          </p:cNvSpPr>
          <p:nvPr>
            <p:ph type="dt" sz="half" idx="10"/>
          </p:nvPr>
        </p:nvSpPr>
        <p:spPr/>
        <p:txBody>
          <a:bodyPr/>
          <a:lstStyle/>
          <a:p>
            <a:fld id="{68C321AA-67F4-43DE-95EC-8150944DDEE3}" type="datetimeFigureOut">
              <a:rPr lang="sv-SE" smtClean="0"/>
              <a:pPr/>
              <a:t>2011-11-30</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B0160C25-F964-49D7-81C6-AA23E64B7B06}" type="slidenum">
              <a:rPr lang="sv-SE" smtClean="0"/>
              <a:pPr/>
              <a:t>‹#›</a:t>
            </a:fld>
            <a:endParaRPr lang="sv-S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6629400" y="274638"/>
            <a:ext cx="2057400" cy="5851525"/>
          </a:xfrm>
        </p:spPr>
        <p:txBody>
          <a:bodyPr vert="eaVert"/>
          <a:lstStyle/>
          <a:p>
            <a:r>
              <a:rPr lang="sv-SE" smtClean="0"/>
              <a:t>Klicka här för att ändra format</a:t>
            </a:r>
            <a:endParaRPr lang="sv-SE"/>
          </a:p>
        </p:txBody>
      </p:sp>
      <p:sp>
        <p:nvSpPr>
          <p:cNvPr id="3" name="Platshållare för lodrät text 2"/>
          <p:cNvSpPr>
            <a:spLocks noGrp="1"/>
          </p:cNvSpPr>
          <p:nvPr>
            <p:ph type="body" orient="vert" idx="1"/>
          </p:nvPr>
        </p:nvSpPr>
        <p:spPr>
          <a:xfrm>
            <a:off x="457200" y="274638"/>
            <a:ext cx="6019800" cy="5851525"/>
          </a:xfrm>
        </p:spPr>
        <p:txBody>
          <a:bodyPr vert="eaVert"/>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datum 3"/>
          <p:cNvSpPr>
            <a:spLocks noGrp="1"/>
          </p:cNvSpPr>
          <p:nvPr>
            <p:ph type="dt" sz="half" idx="10"/>
          </p:nvPr>
        </p:nvSpPr>
        <p:spPr/>
        <p:txBody>
          <a:bodyPr/>
          <a:lstStyle/>
          <a:p>
            <a:fld id="{68C321AA-67F4-43DE-95EC-8150944DDEE3}" type="datetimeFigureOut">
              <a:rPr lang="sv-SE" smtClean="0"/>
              <a:pPr/>
              <a:t>2011-11-30</a:t>
            </a:fld>
            <a:endParaRPr lang="sv-SE"/>
          </a:p>
        </p:txBody>
      </p:sp>
      <p:sp>
        <p:nvSpPr>
          <p:cNvPr id="5" name="Platshållare för sidfot 4"/>
          <p:cNvSpPr>
            <a:spLocks noGrp="1"/>
          </p:cNvSpPr>
          <p:nvPr>
            <p:ph type="ftr" sz="quarter" idx="11"/>
          </p:nvPr>
        </p:nvSpPr>
        <p:spPr/>
        <p:txBody>
          <a:bodyPr/>
          <a:lstStyle/>
          <a:p>
            <a:endParaRPr lang="sv-SE"/>
          </a:p>
        </p:txBody>
      </p:sp>
      <p:sp>
        <p:nvSpPr>
          <p:cNvPr id="6" name="Platshållare för bildnummer 5"/>
          <p:cNvSpPr>
            <a:spLocks noGrp="1"/>
          </p:cNvSpPr>
          <p:nvPr>
            <p:ph type="sldNum" sz="quarter" idx="12"/>
          </p:nvPr>
        </p:nvSpPr>
        <p:spPr/>
        <p:txBody>
          <a:bodyPr/>
          <a:lstStyle/>
          <a:p>
            <a:fld id="{B0160C25-F964-49D7-81C6-AA23E64B7B06}" type="slidenum">
              <a:rPr lang="sv-SE" smtClean="0"/>
              <a:pPr/>
              <a:t>‹#›</a:t>
            </a:fld>
            <a:endParaRPr lang="sv-S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sv-SE" smtClean="0"/>
              <a:t>Klicka här för att ändra format</a:t>
            </a:r>
            <a:endParaRPr lang="sv-SE"/>
          </a:p>
        </p:txBody>
      </p:sp>
      <p:sp>
        <p:nvSpPr>
          <p:cNvPr id="3" name="Platshållare för text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sv-SE" smtClean="0"/>
              <a:t>Klicka här för att ändra format på bakgrundstexten</a:t>
            </a:r>
          </a:p>
          <a:p>
            <a:pPr lvl="1"/>
            <a:r>
              <a:rPr lang="sv-SE" smtClean="0"/>
              <a:t>Nivå två</a:t>
            </a:r>
          </a:p>
          <a:p>
            <a:pPr lvl="2"/>
            <a:r>
              <a:rPr lang="sv-SE" smtClean="0"/>
              <a:t>Nivå tre</a:t>
            </a:r>
          </a:p>
          <a:p>
            <a:pPr lvl="3"/>
            <a:r>
              <a:rPr lang="sv-SE" smtClean="0"/>
              <a:t>Nivå fyra</a:t>
            </a:r>
          </a:p>
          <a:p>
            <a:pPr lvl="4"/>
            <a:r>
              <a:rPr lang="sv-SE" smtClean="0"/>
              <a:t>Nivå fem</a:t>
            </a:r>
            <a:endParaRPr lang="sv-SE"/>
          </a:p>
        </p:txBody>
      </p:sp>
      <p:sp>
        <p:nvSpPr>
          <p:cNvPr id="4" name="Platshållare för datum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C321AA-67F4-43DE-95EC-8150944DDEE3}" type="datetimeFigureOut">
              <a:rPr lang="sv-SE" smtClean="0"/>
              <a:pPr/>
              <a:t>2011-11-30</a:t>
            </a:fld>
            <a:endParaRPr lang="sv-SE"/>
          </a:p>
        </p:txBody>
      </p:sp>
      <p:sp>
        <p:nvSpPr>
          <p:cNvPr id="5" name="Platshållare för sidfot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v-SE"/>
          </a:p>
        </p:txBody>
      </p:sp>
      <p:sp>
        <p:nvSpPr>
          <p:cNvPr id="6" name="Platshållare för bildnumm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160C25-F964-49D7-81C6-AA23E64B7B06}" type="slidenum">
              <a:rPr lang="sv-SE" smtClean="0"/>
              <a:pPr/>
              <a:t>‹#›</a:t>
            </a:fld>
            <a:endParaRPr lang="sv-S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ijpis.net/" TargetMode="External"/><Relationship Id="rId2" Type="http://schemas.openxmlformats.org/officeDocument/2006/relationships/hyperlink" Target="http://www.gapminder.org/" TargetMode="Externa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hyperlink" Target="https://sites.google.com/site/bosundgren/" TargetMode="External"/><Relationship Id="rId4" Type="http://schemas.openxmlformats.org/officeDocument/2006/relationships/hyperlink" Target="mailto:bo.sundgren@gmail.com"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6764360588982758038-a-1802744773732722657-s-sites.googlegroups.com/site/bosundgren/my-life/AnInfologicalApproachtoDataBases.pdf?attachauth=ANoY7coOhy51kWPuxK2bwin85iQoGkZ6ubi9116epzqGLO1uoeWz6D4WITVoHmHpC8G38SNFb3vUOGkz9t308ZK0g-R6S32OC9kpGXUdlNl99" TargetMode="External"/><Relationship Id="rId2" Type="http://schemas.openxmlformats.org/officeDocument/2006/relationships/hyperlink" Target="http://www.nordbotten.com/frame.htm" TargetMode="External"/><Relationship Id="rId1" Type="http://schemas.openxmlformats.org/officeDocument/2006/relationships/slideLayout" Target="../slideLayouts/slideLayout2.xml"/><Relationship Id="rId5" Type="http://schemas.openxmlformats.org/officeDocument/2006/relationships/hyperlink" Target="https://6764360588982758038-a-1802744773732722657-s-sites.googlegroups.com/site/bosundgren/my-library/COM2009404Futurestatisticsproductionvision.pdf?attachauth=ANoY7cp2sbVoXJz9WJ2Y3Xf-LIysoH4JqhyQKJqQaXkLzx8kU8MlFNNRA7AB_8l11TPP9A2PakpxSX8YYs8sHv6KyS3TWPiF" TargetMode="External"/><Relationship Id="rId4" Type="http://schemas.openxmlformats.org/officeDocument/2006/relationships/hyperlink" Target="http://www.archive.org/details/ReportOfTheCommitteeOnThePreservationAndUseOfEconomicData1965"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sites.google.com/site/bosundgren/my-life/AnInfologicalApproachtoDataBases.pdf?attredirects=0" TargetMode="External"/><Relationship Id="rId2" Type="http://schemas.openxmlformats.org/officeDocument/2006/relationships/hyperlink" Target="https://www.nescent.org/wg/dryad/images/9/95/Metadata_ELIS.pdf"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unece.org/stats/documents/information_systems_architecture/1.e.pdf" TargetMode="Externa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sites.google.com/site/bosundgren/my-life/MSIS2007ProcessreengineeringatStatisticsSweden-Final.pdf?attredirects=0" TargetMode="External"/><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sites.google.com/site/bosundgren/my-life/Statisticalsystems-somefundamentals.doc?attredirects=0" TargetMode="External"/><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sites.google.com/site/bosundgren/my-life/Statisticalsystems-somefundamentals.doc?attredirects=0" TargetMode="External"/><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sites.google.com/site/bosundgren/my-life/Statisticalsystems-somefundamentals.doc?attredirects=0" TargetMode="External"/><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www1.unece.org/stat/platform/download/attachments/8683538/GSBPM+Final.pdf?version=1" TargetMode="External"/><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sites.google.com/site/bosundgren/my-life/PragPaperThemetadatasystematStatisticsSweden.doc?attredirects=0" TargetMode="External"/><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sites.google.com/site/bosundgren/my-life/DQinOffStatV2.pdf?attredirects=0&amp;d=1" TargetMode="External"/><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hyperlink" Target="https://sites.google.com/site/bosundgren/my-life/DQinOffStatV2.pdf?attredirects=0&amp;d=1" TargetMode="External"/><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hyperlink" Target="https://sites.google.com/site/bosundgren/my-life/Guidelinesforthemodellingofstatisticaldataandmetadata.pdf?attredirects=0"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sites.google.com/site/bosundgren/my-life/Statisticalsystems-somefundamentals.doc?attredirects=0" TargetMode="External"/><Relationship Id="rId2" Type="http://schemas.openxmlformats.org/officeDocument/2006/relationships/image" Target="../media/image16.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sites.google.com/site/bosundgren/my-life/PragPaperThemetadatasystematStatisticsSweden.doc?attredirects=0" TargetMode="External"/><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https://sites.google.com/site/bosundgren/my-life/PragPaperThemetadatasystematStatisticsSweden.doc?attredirects=0" TargetMode="External"/><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s://sites.google.com/site/bosundgren/my-life/PragPaperThemetadatasystematStatisticsSweden.doc?attredirects=0" TargetMode="External"/><Relationship Id="rId2" Type="http://schemas.openxmlformats.org/officeDocument/2006/relationships/image" Target="../media/image19.wmf"/><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hyperlink" Target="https://sites.google.com/site/bosundgren/my-life/PragPaperThemetadatasystematStatisticsSweden.doc?attredirects=0" TargetMode="External"/><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sites.google.com/site/bosundgren/my-life/Strategiesfordevelopmentandimplementationofmetadatasystemsinstatisticaloffices.doc?attredirects=0" TargetMode="External"/><Relationship Id="rId2" Type="http://schemas.openxmlformats.org/officeDocument/2006/relationships/hyperlink" Target="https://sites.google.com/site/bosundgren/my-life/WP3-no7-Metanet.doc?attredirects=0" TargetMode="External"/><Relationship Id="rId1" Type="http://schemas.openxmlformats.org/officeDocument/2006/relationships/slideLayout" Target="../slideLayouts/slideLayout2.xml"/><Relationship Id="rId5" Type="http://schemas.openxmlformats.org/officeDocument/2006/relationships/hyperlink" Target="https://sites.google.com/site/bosundgren/my-life/Metadatasystemsinstatisticalproductionprocesses.doc?attredirects=0" TargetMode="External"/><Relationship Id="rId4" Type="http://schemas.openxmlformats.org/officeDocument/2006/relationships/hyperlink" Target="https://sites.google.com/site/bosundgren/my-life/PragPaperThemetadatasystematStatisticsSweden.doc?attredirects=0"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ctrTitle"/>
          </p:nvPr>
        </p:nvSpPr>
        <p:spPr>
          <a:xfrm>
            <a:off x="683568" y="548681"/>
            <a:ext cx="7772400" cy="1944216"/>
          </a:xfrm>
        </p:spPr>
        <p:txBody>
          <a:bodyPr>
            <a:normAutofit fontScale="90000"/>
          </a:bodyPr>
          <a:lstStyle/>
          <a:p>
            <a:r>
              <a:rPr lang="en-US">
                <a:solidFill>
                  <a:srgbClr val="0000FF"/>
                </a:solidFill>
              </a:rPr>
              <a:t>Communicating in time and space - </a:t>
            </a:r>
            <a:r>
              <a:rPr lang="en-US" sz="3100">
                <a:solidFill>
                  <a:srgbClr val="0000FF"/>
                </a:solidFill>
              </a:rPr>
              <a:t>How to overcome incompatible frames of reference of producers and users of archival </a:t>
            </a:r>
            <a:r>
              <a:rPr lang="en-US" sz="3100" smtClean="0">
                <a:solidFill>
                  <a:srgbClr val="0000FF"/>
                </a:solidFill>
              </a:rPr>
              <a:t>data</a:t>
            </a:r>
            <a:br>
              <a:rPr lang="en-US" sz="3100" smtClean="0">
                <a:solidFill>
                  <a:srgbClr val="0000FF"/>
                </a:solidFill>
              </a:rPr>
            </a:br>
            <a:r>
              <a:rPr lang="en-US" sz="900">
                <a:solidFill>
                  <a:srgbClr val="0000FF"/>
                </a:solidFill>
              </a:rPr>
              <a:t/>
            </a:r>
            <a:br>
              <a:rPr lang="en-US" sz="900">
                <a:solidFill>
                  <a:srgbClr val="0000FF"/>
                </a:solidFill>
              </a:rPr>
            </a:br>
            <a:r>
              <a:rPr lang="en-US" sz="2200" smtClean="0"/>
              <a:t>Keynote Speech at EDDI 2011, 5-6 December 2011, Gothenburg, Sweden</a:t>
            </a:r>
            <a:endParaRPr lang="sv-SE" sz="2200"/>
          </a:p>
        </p:txBody>
      </p:sp>
      <p:sp>
        <p:nvSpPr>
          <p:cNvPr id="3" name="Underrubrik 2"/>
          <p:cNvSpPr>
            <a:spLocks noGrp="1"/>
          </p:cNvSpPr>
          <p:nvPr>
            <p:ph type="subTitle" idx="1"/>
          </p:nvPr>
        </p:nvSpPr>
        <p:spPr>
          <a:xfrm>
            <a:off x="1403648" y="4437112"/>
            <a:ext cx="6400800" cy="1752600"/>
          </a:xfrm>
        </p:spPr>
        <p:txBody>
          <a:bodyPr>
            <a:normAutofit fontScale="40000" lnSpcReduction="20000"/>
          </a:bodyPr>
          <a:lstStyle/>
          <a:p>
            <a:r>
              <a:rPr lang="en-US">
                <a:solidFill>
                  <a:schemeClr val="tx1"/>
                </a:solidFill>
              </a:rPr>
              <a:t>Professor Bo Sundgren</a:t>
            </a:r>
            <a:endParaRPr lang="sv-SE">
              <a:solidFill>
                <a:schemeClr val="tx1"/>
              </a:solidFill>
            </a:endParaRPr>
          </a:p>
          <a:p>
            <a:r>
              <a:rPr lang="en-US">
                <a:solidFill>
                  <a:schemeClr val="tx1"/>
                </a:solidFill>
              </a:rPr>
              <a:t>Stockholm University</a:t>
            </a:r>
            <a:endParaRPr lang="sv-SE">
              <a:solidFill>
                <a:schemeClr val="tx1"/>
              </a:solidFill>
            </a:endParaRPr>
          </a:p>
          <a:p>
            <a:r>
              <a:rPr lang="en-US">
                <a:solidFill>
                  <a:schemeClr val="tx1"/>
                </a:solidFill>
              </a:rPr>
              <a:t>Department of Computer and Systems Sciences (DSV)</a:t>
            </a:r>
            <a:endParaRPr lang="sv-SE">
              <a:solidFill>
                <a:schemeClr val="tx1"/>
              </a:solidFill>
            </a:endParaRPr>
          </a:p>
          <a:p>
            <a:r>
              <a:rPr lang="en-US">
                <a:solidFill>
                  <a:schemeClr val="tx1"/>
                </a:solidFill>
              </a:rPr>
              <a:t>Affiliated with Dalarna University, Department of Informatics</a:t>
            </a:r>
            <a:endParaRPr lang="sv-SE">
              <a:solidFill>
                <a:schemeClr val="tx1"/>
              </a:solidFill>
            </a:endParaRPr>
          </a:p>
          <a:p>
            <a:r>
              <a:rPr lang="en-GB">
                <a:solidFill>
                  <a:schemeClr val="tx1"/>
                </a:solidFill>
              </a:rPr>
              <a:t>Board member of Gapminder, </a:t>
            </a:r>
            <a:r>
              <a:rPr lang="en-GB" u="sng">
                <a:solidFill>
                  <a:schemeClr val="tx1"/>
                </a:solidFill>
                <a:hlinkClick r:id="rId2"/>
              </a:rPr>
              <a:t>www.gapminder.org</a:t>
            </a:r>
            <a:r>
              <a:rPr lang="en-GB">
                <a:solidFill>
                  <a:schemeClr val="tx1"/>
                </a:solidFill>
              </a:rPr>
              <a:t>  </a:t>
            </a:r>
            <a:endParaRPr lang="sv-SE">
              <a:solidFill>
                <a:schemeClr val="tx1"/>
              </a:solidFill>
            </a:endParaRPr>
          </a:p>
          <a:p>
            <a:r>
              <a:rPr lang="en-GB">
                <a:solidFill>
                  <a:schemeClr val="tx1"/>
                </a:solidFill>
              </a:rPr>
              <a:t>Chief Editor, International Journal of Public Information Systems (IJPIS), </a:t>
            </a:r>
            <a:r>
              <a:rPr lang="en-GB" u="sng">
                <a:hlinkClick r:id="rId3"/>
              </a:rPr>
              <a:t>www.ijpis.net</a:t>
            </a:r>
            <a:endParaRPr lang="sv-SE"/>
          </a:p>
          <a:p>
            <a:r>
              <a:rPr lang="en-US" u="sng" smtClean="0">
                <a:hlinkClick r:id="rId4"/>
              </a:rPr>
              <a:t>bo.sundgren@gmail.com</a:t>
            </a:r>
            <a:endParaRPr lang="sv-SE"/>
          </a:p>
          <a:p>
            <a:r>
              <a:rPr lang="en-US" u="sng">
                <a:hlinkClick r:id="rId5"/>
              </a:rPr>
              <a:t>https://sites.google.com/site/bosundgren/</a:t>
            </a:r>
            <a:endParaRPr lang="sv-SE"/>
          </a:p>
        </p:txBody>
      </p:sp>
      <p:pic>
        <p:nvPicPr>
          <p:cNvPr id="11266" name="Picture 2" descr="https://sites.google.com/site/bosundgren/_/rsrc/1259345328407/home/Bo%20Sundgren.jpg?height=200&amp;width=153"/>
          <p:cNvPicPr>
            <a:picLocks noChangeAspect="1" noChangeArrowheads="1"/>
          </p:cNvPicPr>
          <p:nvPr/>
        </p:nvPicPr>
        <p:blipFill>
          <a:blip r:embed="rId6" cstate="print"/>
          <a:srcRect/>
          <a:stretch>
            <a:fillRect/>
          </a:stretch>
        </p:blipFill>
        <p:spPr bwMode="auto">
          <a:xfrm>
            <a:off x="3995936" y="2708920"/>
            <a:ext cx="1224136" cy="1632181"/>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850106"/>
          </a:xfrm>
        </p:spPr>
        <p:txBody>
          <a:bodyPr/>
          <a:lstStyle/>
          <a:p>
            <a:r>
              <a:rPr lang="sv-SE" smtClean="0">
                <a:solidFill>
                  <a:srgbClr val="0000FF"/>
                </a:solidFill>
              </a:rPr>
              <a:t>Reality – Information - Data</a:t>
            </a:r>
            <a:endParaRPr lang="sv-SE">
              <a:solidFill>
                <a:srgbClr val="0000FF"/>
              </a:solidFill>
            </a:endParaRPr>
          </a:p>
        </p:txBody>
      </p:sp>
      <p:pic>
        <p:nvPicPr>
          <p:cNvPr id="14338" name="Picture 2"/>
          <p:cNvPicPr>
            <a:picLocks noChangeAspect="1" noChangeArrowheads="1"/>
          </p:cNvPicPr>
          <p:nvPr/>
        </p:nvPicPr>
        <p:blipFill>
          <a:blip r:embed="rId2" cstate="print"/>
          <a:srcRect/>
          <a:stretch>
            <a:fillRect/>
          </a:stretch>
        </p:blipFill>
        <p:spPr bwMode="auto">
          <a:xfrm>
            <a:off x="827584" y="1294016"/>
            <a:ext cx="7416824" cy="5240133"/>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706090"/>
          </a:xfrm>
        </p:spPr>
        <p:txBody>
          <a:bodyPr>
            <a:normAutofit fontScale="90000"/>
          </a:bodyPr>
          <a:lstStyle/>
          <a:p>
            <a:r>
              <a:rPr lang="sv-SE" smtClean="0">
                <a:solidFill>
                  <a:srgbClr val="0000FF"/>
                </a:solidFill>
              </a:rPr>
              <a:t>Metadata traditions</a:t>
            </a:r>
            <a:endParaRPr lang="sv-SE">
              <a:solidFill>
                <a:srgbClr val="0000FF"/>
              </a:solidFill>
            </a:endParaRPr>
          </a:p>
        </p:txBody>
      </p:sp>
      <p:sp>
        <p:nvSpPr>
          <p:cNvPr id="3" name="Platshållare för innehåll 2"/>
          <p:cNvSpPr>
            <a:spLocks noGrp="1"/>
          </p:cNvSpPr>
          <p:nvPr>
            <p:ph idx="1"/>
          </p:nvPr>
        </p:nvSpPr>
        <p:spPr>
          <a:xfrm>
            <a:off x="467544" y="1124745"/>
            <a:ext cx="8229600" cy="2232247"/>
          </a:xfrm>
        </p:spPr>
        <p:txBody>
          <a:bodyPr>
            <a:normAutofit fontScale="92500" lnSpcReduction="10000"/>
          </a:bodyPr>
          <a:lstStyle/>
          <a:p>
            <a:r>
              <a:rPr lang="sv-SE" sz="2800" smtClean="0"/>
              <a:t>The statistical tradition (from 1973 and onwards)</a:t>
            </a:r>
          </a:p>
          <a:p>
            <a:r>
              <a:rPr lang="sv-SE" sz="2800" smtClean="0"/>
              <a:t>The library tradition (e.g. Dublin Core)</a:t>
            </a:r>
          </a:p>
          <a:p>
            <a:r>
              <a:rPr lang="sv-SE" sz="2800" smtClean="0"/>
              <a:t>The archive tradition (DDI)</a:t>
            </a:r>
          </a:p>
          <a:p>
            <a:r>
              <a:rPr lang="sv-SE" sz="2800" smtClean="0"/>
              <a:t>Synthesis: business processes supported by information systems and a corporate data warehouse</a:t>
            </a:r>
            <a:endParaRPr lang="sv-SE" sz="2800"/>
          </a:p>
        </p:txBody>
      </p:sp>
      <p:pic>
        <p:nvPicPr>
          <p:cNvPr id="1026" name="Picture 2"/>
          <p:cNvPicPr>
            <a:picLocks noChangeAspect="1" noChangeArrowheads="1"/>
          </p:cNvPicPr>
          <p:nvPr/>
        </p:nvPicPr>
        <p:blipFill>
          <a:blip r:embed="rId2" cstate="print"/>
          <a:srcRect/>
          <a:stretch>
            <a:fillRect/>
          </a:stretch>
        </p:blipFill>
        <p:spPr bwMode="auto">
          <a:xfrm>
            <a:off x="1763688" y="3356992"/>
            <a:ext cx="5602213" cy="3028251"/>
          </a:xfrm>
          <a:prstGeom prst="rect">
            <a:avLst/>
          </a:prstGeom>
          <a:noFill/>
          <a:ln w="9525">
            <a:noFill/>
            <a:miter lim="800000"/>
            <a:headEnd/>
            <a:tailEnd/>
          </a:ln>
          <a:effectLst/>
        </p:spPr>
      </p:pic>
      <p:sp>
        <p:nvSpPr>
          <p:cNvPr id="88" name="textruta 87"/>
          <p:cNvSpPr txBox="1"/>
          <p:nvPr/>
        </p:nvSpPr>
        <p:spPr>
          <a:xfrm>
            <a:off x="1043608" y="6488668"/>
            <a:ext cx="7284238" cy="369332"/>
          </a:xfrm>
          <a:prstGeom prst="rect">
            <a:avLst/>
          </a:prstGeom>
          <a:noFill/>
        </p:spPr>
        <p:txBody>
          <a:bodyPr wrap="none" rtlCol="0">
            <a:spAutoFit/>
          </a:bodyPr>
          <a:lstStyle/>
          <a:p>
            <a:r>
              <a:rPr lang="sv-SE" smtClean="0"/>
              <a:t>Lundell (2009): Conceptual view of the data warehouse of Statistics Sweden</a:t>
            </a:r>
            <a:endParaRPr lang="sv-S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634082"/>
          </a:xfrm>
        </p:spPr>
        <p:txBody>
          <a:bodyPr>
            <a:normAutofit fontScale="90000"/>
          </a:bodyPr>
          <a:lstStyle/>
          <a:p>
            <a:r>
              <a:rPr lang="sv-SE" smtClean="0">
                <a:solidFill>
                  <a:srgbClr val="0000FF"/>
                </a:solidFill>
              </a:rPr>
              <a:t>The statistical archive system</a:t>
            </a:r>
            <a:endParaRPr lang="sv-SE">
              <a:solidFill>
                <a:srgbClr val="0000FF"/>
              </a:solidFill>
            </a:endParaRPr>
          </a:p>
        </p:txBody>
      </p:sp>
      <p:sp>
        <p:nvSpPr>
          <p:cNvPr id="3" name="Platshållare för innehåll 2"/>
          <p:cNvSpPr>
            <a:spLocks noGrp="1"/>
          </p:cNvSpPr>
          <p:nvPr>
            <p:ph idx="1"/>
          </p:nvPr>
        </p:nvSpPr>
        <p:spPr>
          <a:xfrm>
            <a:off x="457200" y="1124744"/>
            <a:ext cx="8229600" cy="5544616"/>
          </a:xfrm>
        </p:spPr>
        <p:txBody>
          <a:bodyPr>
            <a:normAutofit fontScale="92500" lnSpcReduction="20000"/>
          </a:bodyPr>
          <a:lstStyle/>
          <a:p>
            <a:r>
              <a:rPr lang="sv-SE" sz="2600" smtClean="0">
                <a:solidFill>
                  <a:srgbClr val="FF0000"/>
                </a:solidFill>
              </a:rPr>
              <a:t>Established by Svein Nordbotten in the early 1960’s</a:t>
            </a:r>
          </a:p>
          <a:p>
            <a:r>
              <a:rPr lang="sv-SE" sz="2600" smtClean="0">
                <a:solidFill>
                  <a:srgbClr val="FF0000"/>
                </a:solidFill>
              </a:rPr>
              <a:t>Archive-statistical principles:</a:t>
            </a:r>
          </a:p>
          <a:p>
            <a:pPr lvl="1">
              <a:lnSpc>
                <a:spcPct val="80000"/>
              </a:lnSpc>
            </a:pPr>
            <a:r>
              <a:rPr lang="sv-SE" sz="2200" smtClean="0"/>
              <a:t>Reuse existing raw data from administrative and statistical sources – for statistical purposes</a:t>
            </a:r>
          </a:p>
          <a:p>
            <a:pPr lvl="1">
              <a:lnSpc>
                <a:spcPct val="80000"/>
              </a:lnSpc>
            </a:pPr>
            <a:r>
              <a:rPr lang="sv-SE" sz="2200" smtClean="0"/>
              <a:t>Continuous inflow of data (more or less)</a:t>
            </a:r>
          </a:p>
          <a:p>
            <a:pPr lvl="1">
              <a:lnSpc>
                <a:spcPct val="80000"/>
              </a:lnSpc>
            </a:pPr>
            <a:r>
              <a:rPr lang="sv-SE" sz="2200" smtClean="0"/>
              <a:t>Organise data in a systematic way: statistical file system, databases, data warehouse</a:t>
            </a:r>
          </a:p>
          <a:p>
            <a:pPr lvl="1">
              <a:lnSpc>
                <a:spcPct val="80000"/>
              </a:lnSpc>
            </a:pPr>
            <a:r>
              <a:rPr lang="sv-SE" sz="2200" i="1" smtClean="0"/>
              <a:t>Ad hoc </a:t>
            </a:r>
            <a:r>
              <a:rPr lang="sv-SE" sz="2200" smtClean="0"/>
              <a:t>production of statistics</a:t>
            </a:r>
          </a:p>
          <a:p>
            <a:pPr lvl="1">
              <a:lnSpc>
                <a:spcPct val="80000"/>
              </a:lnSpc>
            </a:pPr>
            <a:r>
              <a:rPr lang="sv-SE" sz="2200" smtClean="0"/>
              <a:t>Systematic descriptions and definitions of data:</a:t>
            </a:r>
          </a:p>
          <a:p>
            <a:pPr lvl="2">
              <a:lnSpc>
                <a:spcPct val="80000"/>
              </a:lnSpc>
            </a:pPr>
            <a:r>
              <a:rPr lang="sv-SE" sz="1900" smtClean="0"/>
              <a:t>data and table definition languages; </a:t>
            </a:r>
            <a:r>
              <a:rPr lang="sv-SE" sz="1900" smtClean="0">
                <a:solidFill>
                  <a:srgbClr val="FF0000"/>
                </a:solidFill>
              </a:rPr>
              <a:t>Nordbotten (1967): </a:t>
            </a:r>
            <a:r>
              <a:rPr lang="sv-SE" sz="1900" smtClean="0"/>
              <a:t>”</a:t>
            </a:r>
            <a:r>
              <a:rPr lang="sv-SE" sz="1900" i="1" smtClean="0">
                <a:hlinkClick r:id="rId2"/>
              </a:rPr>
              <a:t>Automatic Files in Statistical Systems</a:t>
            </a:r>
            <a:r>
              <a:rPr lang="sv-SE" sz="1900" smtClean="0"/>
              <a:t>”</a:t>
            </a:r>
          </a:p>
          <a:p>
            <a:pPr lvl="2">
              <a:lnSpc>
                <a:spcPct val="80000"/>
              </a:lnSpc>
            </a:pPr>
            <a:r>
              <a:rPr lang="sv-SE" sz="1900" smtClean="0"/>
              <a:t>metadata; </a:t>
            </a:r>
            <a:r>
              <a:rPr lang="sv-SE" sz="1900" smtClean="0">
                <a:solidFill>
                  <a:srgbClr val="FF0000"/>
                </a:solidFill>
              </a:rPr>
              <a:t>Sundgren (1973): </a:t>
            </a:r>
            <a:r>
              <a:rPr lang="sv-SE" sz="1900" smtClean="0"/>
              <a:t>”</a:t>
            </a:r>
            <a:r>
              <a:rPr lang="sv-SE" sz="1900" i="1" smtClean="0">
                <a:hlinkClick r:id="rId3"/>
              </a:rPr>
              <a:t>An Infological Approach to Data Bases</a:t>
            </a:r>
            <a:r>
              <a:rPr lang="sv-SE" sz="1900" smtClean="0"/>
              <a:t>”</a:t>
            </a:r>
          </a:p>
          <a:p>
            <a:pPr lvl="1">
              <a:lnSpc>
                <a:spcPct val="80000"/>
              </a:lnSpc>
            </a:pPr>
            <a:r>
              <a:rPr lang="sv-SE" sz="2400" smtClean="0"/>
              <a:t>Standardised definitions and identifiers enabling flexible integration and combination of data: registers, classifications, standard variables</a:t>
            </a:r>
          </a:p>
          <a:p>
            <a:pPr lvl="1">
              <a:lnSpc>
                <a:spcPct val="80000"/>
              </a:lnSpc>
            </a:pPr>
            <a:r>
              <a:rPr lang="sv-SE" sz="2400" smtClean="0"/>
              <a:t>Generalised software</a:t>
            </a:r>
          </a:p>
          <a:p>
            <a:pPr>
              <a:lnSpc>
                <a:spcPct val="80000"/>
              </a:lnSpc>
            </a:pPr>
            <a:r>
              <a:rPr lang="sv-SE" sz="2600" smtClean="0">
                <a:solidFill>
                  <a:srgbClr val="FF0000"/>
                </a:solidFill>
              </a:rPr>
              <a:t>See also:</a:t>
            </a:r>
          </a:p>
          <a:p>
            <a:pPr lvl="1">
              <a:lnSpc>
                <a:spcPct val="80000"/>
              </a:lnSpc>
            </a:pPr>
            <a:r>
              <a:rPr lang="sv-SE" sz="1900" smtClean="0">
                <a:solidFill>
                  <a:srgbClr val="FF0000"/>
                </a:solidFill>
              </a:rPr>
              <a:t>The Ruggles Report (1965): </a:t>
            </a:r>
            <a:r>
              <a:rPr lang="sv-SE" sz="1900" smtClean="0"/>
              <a:t>”</a:t>
            </a:r>
            <a:r>
              <a:rPr lang="sv-SE" sz="1900" i="1" smtClean="0">
                <a:hlinkClick r:id="rId4"/>
              </a:rPr>
              <a:t>Report of the Committee on the Preservation and Use of Economic Data</a:t>
            </a:r>
            <a:r>
              <a:rPr lang="sv-SE" sz="1900" smtClean="0"/>
              <a:t>”</a:t>
            </a:r>
          </a:p>
          <a:p>
            <a:pPr lvl="1">
              <a:lnSpc>
                <a:spcPct val="80000"/>
              </a:lnSpc>
            </a:pPr>
            <a:r>
              <a:rPr lang="sv-SE" sz="1900" smtClean="0">
                <a:solidFill>
                  <a:srgbClr val="FF0000"/>
                </a:solidFill>
              </a:rPr>
              <a:t>EU(2009): </a:t>
            </a:r>
            <a:r>
              <a:rPr lang="sv-SE" sz="1900" smtClean="0"/>
              <a:t>”</a:t>
            </a:r>
            <a:r>
              <a:rPr lang="sv-SE" sz="1900" i="1" smtClean="0">
                <a:hlinkClick r:id="rId5"/>
              </a:rPr>
              <a:t>The production method of EU statistics – a vision for the next decade</a:t>
            </a:r>
            <a:r>
              <a:rPr lang="sv-SE" sz="1900" smtClean="0"/>
              <a:t>” </a:t>
            </a:r>
          </a:p>
          <a:p>
            <a:endParaRPr lang="sv-SE"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solidFill>
                  <a:srgbClr val="0000FF"/>
                </a:solidFill>
              </a:rPr>
              <a:t>The history of metadata</a:t>
            </a:r>
            <a:endParaRPr lang="sv-SE">
              <a:solidFill>
                <a:srgbClr val="0000FF"/>
              </a:solidFill>
            </a:endParaRPr>
          </a:p>
        </p:txBody>
      </p:sp>
      <p:sp>
        <p:nvSpPr>
          <p:cNvPr id="3" name="Platshållare för innehåll 2"/>
          <p:cNvSpPr>
            <a:spLocks noGrp="1"/>
          </p:cNvSpPr>
          <p:nvPr>
            <p:ph idx="1"/>
          </p:nvPr>
        </p:nvSpPr>
        <p:spPr>
          <a:xfrm>
            <a:off x="457200" y="1600200"/>
            <a:ext cx="8435280" cy="4925144"/>
          </a:xfrm>
        </p:spPr>
        <p:txBody>
          <a:bodyPr>
            <a:normAutofit fontScale="62500" lnSpcReduction="20000"/>
          </a:bodyPr>
          <a:lstStyle/>
          <a:p>
            <a:r>
              <a:rPr lang="sv-SE" smtClean="0"/>
              <a:t>Researched and documented by professor </a:t>
            </a:r>
            <a:r>
              <a:rPr lang="sv-SE" smtClean="0">
                <a:solidFill>
                  <a:srgbClr val="FF0000"/>
                </a:solidFill>
              </a:rPr>
              <a:t>Jane Greenberg</a:t>
            </a:r>
            <a:r>
              <a:rPr lang="sv-SE" smtClean="0"/>
              <a:t>, Director of the Metadata Research Center, University of North Carolina</a:t>
            </a:r>
          </a:p>
          <a:p>
            <a:pPr lvl="1"/>
            <a:r>
              <a:rPr lang="sv-SE" sz="3200" i="1" smtClean="0">
                <a:hlinkClick r:id="rId2"/>
              </a:rPr>
              <a:t>Metadata and Digital Information (2009)</a:t>
            </a:r>
            <a:endParaRPr lang="sv-SE" sz="3200" i="1" smtClean="0"/>
          </a:p>
          <a:p>
            <a:r>
              <a:rPr lang="sv-SE" smtClean="0"/>
              <a:t>The first known reference to ”metadata” appears in </a:t>
            </a:r>
            <a:r>
              <a:rPr lang="sv-SE" smtClean="0">
                <a:solidFill>
                  <a:srgbClr val="FF0000"/>
                </a:solidFill>
              </a:rPr>
              <a:t>Bo Sundgren </a:t>
            </a:r>
            <a:r>
              <a:rPr lang="sv-SE" smtClean="0"/>
              <a:t>(1973), </a:t>
            </a:r>
            <a:br>
              <a:rPr lang="sv-SE" smtClean="0"/>
            </a:br>
            <a:r>
              <a:rPr lang="sv-SE" i="1" smtClean="0">
                <a:hlinkClick r:id="rId3"/>
              </a:rPr>
              <a:t>An Infological Approach to Data Bases</a:t>
            </a:r>
            <a:r>
              <a:rPr lang="sv-SE" smtClean="0"/>
              <a:t>, pp 104-105</a:t>
            </a:r>
          </a:p>
          <a:p>
            <a:r>
              <a:rPr lang="sv-SE" smtClean="0"/>
              <a:t>Claims in the 1990’s by </a:t>
            </a:r>
            <a:r>
              <a:rPr lang="sv-SE" smtClean="0">
                <a:solidFill>
                  <a:srgbClr val="FF0000"/>
                </a:solidFill>
              </a:rPr>
              <a:t>Jack E Myers </a:t>
            </a:r>
            <a:r>
              <a:rPr lang="sv-SE" smtClean="0"/>
              <a:t>to be the originator and owner of the term ”metadata” were refuted by the U. S. legal system, with reference to Sundgren (1973) and ”the longstanding use of the term in the statistical community”. </a:t>
            </a:r>
          </a:p>
          <a:p>
            <a:r>
              <a:rPr lang="sv-SE" smtClean="0"/>
              <a:t>In 1986 Myers had registered ”Metadata Inc” as a company, and ”Metadata” as trade mark of that company. He later started to threaten people and agencies in the U.S. with legal actions, if they did not stop using the term ”metadata” as a generic term. </a:t>
            </a:r>
          </a:p>
          <a:p>
            <a:r>
              <a:rPr lang="sv-SE" smtClean="0"/>
              <a:t>The </a:t>
            </a:r>
            <a:r>
              <a:rPr lang="sv-SE" smtClean="0">
                <a:solidFill>
                  <a:srgbClr val="FF0000"/>
                </a:solidFill>
              </a:rPr>
              <a:t>Solicitor of the U.S. Department of the Interior </a:t>
            </a:r>
            <a:r>
              <a:rPr lang="sv-SE" smtClean="0"/>
              <a:t>decided that</a:t>
            </a:r>
            <a:r>
              <a:rPr lang="en-US" smtClean="0"/>
              <a:t> "Metadata" has entered the public domain by becoming a general term. </a:t>
            </a:r>
          </a:p>
          <a:p>
            <a:r>
              <a:rPr lang="en-US" smtClean="0"/>
              <a:t>Jack Myers has not been able to provide any documentation supporting his claim to have coined the term “metadata” in the 1960’s.</a:t>
            </a:r>
            <a:endParaRPr lang="sv-S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1714202"/>
          </a:xfrm>
        </p:spPr>
        <p:txBody>
          <a:bodyPr>
            <a:normAutofit fontScale="90000"/>
          </a:bodyPr>
          <a:lstStyle/>
          <a:p>
            <a:r>
              <a:rPr lang="sv-SE" sz="4900" smtClean="0">
                <a:solidFill>
                  <a:srgbClr val="0000FF"/>
                </a:solidFill>
              </a:rPr>
              <a:t>What is DDI? (1) </a:t>
            </a:r>
            <a:r>
              <a:rPr lang="sv-SE" smtClean="0">
                <a:solidFill>
                  <a:srgbClr val="0000FF"/>
                </a:solidFill>
              </a:rPr>
              <a:t/>
            </a:r>
            <a:br>
              <a:rPr lang="sv-SE" smtClean="0">
                <a:solidFill>
                  <a:srgbClr val="0000FF"/>
                </a:solidFill>
              </a:rPr>
            </a:br>
            <a:r>
              <a:rPr lang="sv-SE" sz="3100" smtClean="0"/>
              <a:t>”</a:t>
            </a:r>
            <a:r>
              <a:rPr lang="en-US" sz="2700" smtClean="0"/>
              <a:t>A</a:t>
            </a:r>
            <a:r>
              <a:rPr lang="en-US" sz="2700"/>
              <a:t> metadata specification for the social and behavioral </a:t>
            </a:r>
            <a:r>
              <a:rPr lang="en-US" sz="2700" smtClean="0"/>
              <a:t>sciences</a:t>
            </a:r>
            <a:r>
              <a:rPr lang="sv-SE" sz="3100" smtClean="0"/>
              <a:t>”</a:t>
            </a:r>
            <a:r>
              <a:rPr lang="sv-SE" sz="3100" smtClean="0">
                <a:solidFill>
                  <a:srgbClr val="0000FF"/>
                </a:solidFill>
              </a:rPr>
              <a:t/>
            </a:r>
            <a:br>
              <a:rPr lang="sv-SE" sz="3100" smtClean="0">
                <a:solidFill>
                  <a:srgbClr val="0000FF"/>
                </a:solidFill>
              </a:rPr>
            </a:br>
            <a:r>
              <a:rPr lang="sv-SE" sz="3100" smtClean="0"/>
              <a:t>”</a:t>
            </a:r>
            <a:r>
              <a:rPr lang="en-US" sz="2800" smtClean="0"/>
              <a:t>Document </a:t>
            </a:r>
            <a:r>
              <a:rPr lang="en-US" sz="2800"/>
              <a:t>your data across the life </a:t>
            </a:r>
            <a:r>
              <a:rPr lang="en-US" sz="2800" smtClean="0"/>
              <a:t>cycle”</a:t>
            </a:r>
            <a:endParaRPr lang="sv-SE" sz="3100">
              <a:solidFill>
                <a:srgbClr val="0000FF"/>
              </a:solidFill>
            </a:endParaRPr>
          </a:p>
        </p:txBody>
      </p:sp>
      <p:pic>
        <p:nvPicPr>
          <p:cNvPr id="16386" name="Picture 2"/>
          <p:cNvPicPr>
            <a:picLocks noChangeAspect="1" noChangeArrowheads="1"/>
          </p:cNvPicPr>
          <p:nvPr/>
        </p:nvPicPr>
        <p:blipFill>
          <a:blip r:embed="rId2" cstate="print"/>
          <a:srcRect/>
          <a:stretch>
            <a:fillRect/>
          </a:stretch>
        </p:blipFill>
        <p:spPr bwMode="auto">
          <a:xfrm>
            <a:off x="2483768" y="2204864"/>
            <a:ext cx="4076700" cy="32766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994122"/>
          </a:xfrm>
        </p:spPr>
        <p:txBody>
          <a:bodyPr>
            <a:normAutofit fontScale="90000"/>
          </a:bodyPr>
          <a:lstStyle/>
          <a:p>
            <a:r>
              <a:rPr lang="sv-SE" sz="4900" smtClean="0">
                <a:solidFill>
                  <a:srgbClr val="0000FF"/>
                </a:solidFill>
              </a:rPr>
              <a:t>What is DDI? (2) </a:t>
            </a:r>
            <a:r>
              <a:rPr lang="sv-SE" smtClean="0">
                <a:solidFill>
                  <a:srgbClr val="0000FF"/>
                </a:solidFill>
              </a:rPr>
              <a:t/>
            </a:r>
            <a:br>
              <a:rPr lang="sv-SE" smtClean="0">
                <a:solidFill>
                  <a:srgbClr val="0000FF"/>
                </a:solidFill>
              </a:rPr>
            </a:br>
            <a:r>
              <a:rPr lang="sv-SE" sz="3100" smtClean="0">
                <a:solidFill>
                  <a:srgbClr val="0000FF"/>
                </a:solidFill>
              </a:rPr>
              <a:t>”supporting the entire research data life cycle”</a:t>
            </a:r>
            <a:endParaRPr lang="sv-SE" sz="3100">
              <a:solidFill>
                <a:srgbClr val="0000FF"/>
              </a:solidFill>
            </a:endParaRPr>
          </a:p>
        </p:txBody>
      </p:sp>
      <p:pic>
        <p:nvPicPr>
          <p:cNvPr id="15362" name="Picture 2"/>
          <p:cNvPicPr>
            <a:picLocks noChangeAspect="1" noChangeArrowheads="1"/>
          </p:cNvPicPr>
          <p:nvPr/>
        </p:nvPicPr>
        <p:blipFill>
          <a:blip r:embed="rId2" cstate="print"/>
          <a:srcRect/>
          <a:stretch>
            <a:fillRect/>
          </a:stretch>
        </p:blipFill>
        <p:spPr bwMode="auto">
          <a:xfrm>
            <a:off x="467544" y="1688982"/>
            <a:ext cx="8321825" cy="5169018"/>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solidFill>
                  <a:srgbClr val="0000FF"/>
                </a:solidFill>
              </a:rPr>
              <a:t>What is DDI? (3)</a:t>
            </a:r>
            <a:endParaRPr lang="sv-SE"/>
          </a:p>
        </p:txBody>
      </p:sp>
      <p:sp>
        <p:nvSpPr>
          <p:cNvPr id="3" name="Platshållare för innehåll 2"/>
          <p:cNvSpPr>
            <a:spLocks noGrp="1"/>
          </p:cNvSpPr>
          <p:nvPr>
            <p:ph idx="1"/>
          </p:nvPr>
        </p:nvSpPr>
        <p:spPr/>
        <p:txBody>
          <a:bodyPr/>
          <a:lstStyle/>
          <a:p>
            <a:r>
              <a:rPr lang="sv-SE" smtClean="0">
                <a:solidFill>
                  <a:srgbClr val="FF0000"/>
                </a:solidFill>
              </a:rPr>
              <a:t>DDI- Codebook </a:t>
            </a:r>
            <a:r>
              <a:rPr lang="sv-SE" smtClean="0"/>
              <a:t>(formerly DDI-2)</a:t>
            </a:r>
          </a:p>
          <a:p>
            <a:pPr lvl="1"/>
            <a:r>
              <a:rPr lang="sv-SE" smtClean="0"/>
              <a:t>strictly data oriented</a:t>
            </a:r>
          </a:p>
          <a:p>
            <a:r>
              <a:rPr lang="sv-SE" smtClean="0">
                <a:solidFill>
                  <a:srgbClr val="FF0000"/>
                </a:solidFill>
              </a:rPr>
              <a:t>DDI- Lifecycle </a:t>
            </a:r>
            <a:r>
              <a:rPr lang="sv-SE" smtClean="0"/>
              <a:t>(formerly DDI-3)</a:t>
            </a:r>
          </a:p>
          <a:p>
            <a:pPr lvl="1"/>
            <a:r>
              <a:rPr lang="sv-SE" smtClean="0"/>
              <a:t>process and data oriented</a:t>
            </a:r>
            <a:endParaRPr lang="sv-S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solidFill>
                  <a:srgbClr val="0000FF"/>
                </a:solidFill>
              </a:rPr>
              <a:t>Life cycle models</a:t>
            </a:r>
            <a:endParaRPr lang="sv-SE"/>
          </a:p>
        </p:txBody>
      </p:sp>
      <p:sp>
        <p:nvSpPr>
          <p:cNvPr id="3" name="Platshållare för innehåll 2"/>
          <p:cNvSpPr>
            <a:spLocks noGrp="1"/>
          </p:cNvSpPr>
          <p:nvPr>
            <p:ph idx="1"/>
          </p:nvPr>
        </p:nvSpPr>
        <p:spPr>
          <a:xfrm>
            <a:off x="467544" y="1412776"/>
            <a:ext cx="8435280" cy="5069160"/>
          </a:xfrm>
        </p:spPr>
        <p:txBody>
          <a:bodyPr/>
          <a:lstStyle/>
          <a:p>
            <a:r>
              <a:rPr lang="sv-SE" smtClean="0">
                <a:solidFill>
                  <a:srgbClr val="FF0000"/>
                </a:solidFill>
              </a:rPr>
              <a:t>Product </a:t>
            </a:r>
            <a:r>
              <a:rPr lang="sv-SE" smtClean="0"/>
              <a:t>life cycle (technical and marketing)</a:t>
            </a:r>
          </a:p>
          <a:p>
            <a:r>
              <a:rPr lang="sv-SE" smtClean="0">
                <a:solidFill>
                  <a:srgbClr val="FF0000"/>
                </a:solidFill>
              </a:rPr>
              <a:t>Systems development </a:t>
            </a:r>
            <a:r>
              <a:rPr lang="sv-SE" smtClean="0"/>
              <a:t>life cycle(waterfall etc)</a:t>
            </a:r>
          </a:p>
          <a:p>
            <a:r>
              <a:rPr lang="sv-SE" smtClean="0">
                <a:solidFill>
                  <a:srgbClr val="FF0000"/>
                </a:solidFill>
              </a:rPr>
              <a:t>Software development </a:t>
            </a:r>
            <a:r>
              <a:rPr lang="sv-SE" smtClean="0"/>
              <a:t>life cycle</a:t>
            </a:r>
          </a:p>
          <a:p>
            <a:r>
              <a:rPr lang="sv-SE" smtClean="0">
                <a:solidFill>
                  <a:srgbClr val="FF0000"/>
                </a:solidFill>
              </a:rPr>
              <a:t>Business process </a:t>
            </a:r>
            <a:r>
              <a:rPr lang="sv-SE" smtClean="0"/>
              <a:t>life cycle</a:t>
            </a:r>
          </a:p>
          <a:p>
            <a:pPr lvl="1"/>
            <a:r>
              <a:rPr lang="sv-SE" smtClean="0">
                <a:solidFill>
                  <a:srgbClr val="FF0000"/>
                </a:solidFill>
              </a:rPr>
              <a:t>Generic Statistical Business Process Model </a:t>
            </a:r>
            <a:r>
              <a:rPr lang="sv-SE" smtClean="0"/>
              <a:t>(GSBPM)</a:t>
            </a:r>
          </a:p>
          <a:p>
            <a:r>
              <a:rPr lang="sv-SE" smtClean="0">
                <a:solidFill>
                  <a:srgbClr val="FF0000"/>
                </a:solidFill>
              </a:rPr>
              <a:t>Data/metadata</a:t>
            </a:r>
            <a:r>
              <a:rPr lang="sv-SE" smtClean="0"/>
              <a:t> life cycle</a:t>
            </a:r>
          </a:p>
          <a:p>
            <a:pPr lvl="1"/>
            <a:r>
              <a:rPr lang="sv-SE" smtClean="0">
                <a:solidFill>
                  <a:srgbClr val="FF0000"/>
                </a:solidFill>
              </a:rPr>
              <a:t>Cycle de vie des données </a:t>
            </a:r>
            <a:r>
              <a:rPr lang="sv-SE" smtClean="0"/>
              <a:t>(CVD), Eurostat model</a:t>
            </a:r>
          </a:p>
          <a:p>
            <a:r>
              <a:rPr lang="sv-SE" smtClean="0">
                <a:solidFill>
                  <a:srgbClr val="FF0000"/>
                </a:solidFill>
              </a:rPr>
              <a:t>Combined </a:t>
            </a:r>
            <a:r>
              <a:rPr lang="sv-SE" smtClean="0"/>
              <a:t>life cycle</a:t>
            </a:r>
          </a:p>
          <a:p>
            <a:pPr lvl="1"/>
            <a:r>
              <a:rPr lang="sv-SE" smtClean="0">
                <a:solidFill>
                  <a:srgbClr val="FF0000"/>
                </a:solidFill>
              </a:rPr>
              <a:t>DDI-3</a:t>
            </a:r>
            <a:r>
              <a:rPr lang="sv-SE" smtClean="0"/>
              <a:t>: for the ”social science business”</a:t>
            </a:r>
            <a:endParaRPr lang="sv-S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solidFill>
                  <a:srgbClr val="0000FF"/>
                </a:solidFill>
              </a:rPr>
              <a:t>Architecture for statistical systems</a:t>
            </a:r>
            <a:endParaRPr lang="sv-SE">
              <a:solidFill>
                <a:srgbClr val="0000FF"/>
              </a:solidFill>
            </a:endParaRPr>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sv-SE"/>
          </a:p>
        </p:txBody>
      </p:sp>
      <p:sp>
        <p:nvSpPr>
          <p:cNvPr id="1027" name="Rectangle 3"/>
          <p:cNvSpPr>
            <a:spLocks noChangeArrowheads="1"/>
          </p:cNvSpPr>
          <p:nvPr/>
        </p:nvSpPr>
        <p:spPr bwMode="auto">
          <a:xfrm>
            <a:off x="0" y="6078488"/>
            <a:ext cx="9036496"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Source: Information Systems Architecture for National and International Statistical Offices – Guidelines and Recommendations, </a:t>
            </a:r>
            <a:r>
              <a:rPr kumimoji="0" lang="en-GB" sz="1200" b="1" i="0" u="none" strike="noStrike" cap="none" normalizeH="0" baseline="0" smtClean="0">
                <a:ln>
                  <a:noFill/>
                </a:ln>
                <a:solidFill>
                  <a:srgbClr val="FF0000"/>
                </a:solidFill>
                <a:effectLst/>
                <a:latin typeface="Arial" pitchFamily="34" charset="0"/>
                <a:ea typeface="Times New Roman" pitchFamily="18" charset="0"/>
                <a:cs typeface="Arial" pitchFamily="34" charset="0"/>
              </a:rPr>
              <a:t>United Nations, 1999</a:t>
            </a:r>
            <a:r>
              <a:rPr kumimoji="0" lang="en-GB" sz="12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 </a:t>
            </a:r>
            <a:r>
              <a:rPr kumimoji="0" lang="en-GB" sz="1200" b="0" i="0" u="none" strike="noStrike" cap="none" normalizeH="0" baseline="0" smtClean="0">
                <a:ln>
                  <a:noFill/>
                </a:ln>
                <a:solidFill>
                  <a:schemeClr val="tx1"/>
                </a:solidFill>
                <a:effectLst/>
                <a:latin typeface="Arial" pitchFamily="34" charset="0"/>
                <a:ea typeface="Times New Roman" pitchFamily="18" charset="0"/>
                <a:cs typeface="Arial" pitchFamily="34" charset="0"/>
                <a:hlinkClick r:id="rId2"/>
              </a:rPr>
              <a:t>http://www.unece.org/stats/documents/information_systems_architecture/1.e.pdf</a:t>
            </a:r>
            <a:r>
              <a:rPr kumimoji="0" lang="en-GB" sz="12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 </a:t>
            </a:r>
            <a:endParaRPr kumimoji="0" lang="en-GB" sz="1200" b="0" i="0" u="none" strike="noStrike" cap="none" normalizeH="0" baseline="0" smtClean="0">
              <a:ln>
                <a:noFill/>
              </a:ln>
              <a:solidFill>
                <a:schemeClr val="tx1"/>
              </a:solidFill>
              <a:effectLst/>
              <a:latin typeface="Arial" pitchFamily="34" charset="0"/>
              <a:cs typeface="Arial" pitchFamily="34" charset="0"/>
            </a:endParaRPr>
          </a:p>
        </p:txBody>
      </p:sp>
      <p:pic>
        <p:nvPicPr>
          <p:cNvPr id="10241" name="Picture 1"/>
          <p:cNvPicPr>
            <a:picLocks noChangeAspect="1" noChangeArrowheads="1"/>
          </p:cNvPicPr>
          <p:nvPr/>
        </p:nvPicPr>
        <p:blipFill>
          <a:blip r:embed="rId3" cstate="print"/>
          <a:srcRect/>
          <a:stretch>
            <a:fillRect/>
          </a:stretch>
        </p:blipFill>
        <p:spPr bwMode="auto">
          <a:xfrm>
            <a:off x="17794" y="1412776"/>
            <a:ext cx="9126206" cy="437951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850106"/>
          </a:xfrm>
        </p:spPr>
        <p:txBody>
          <a:bodyPr>
            <a:noAutofit/>
          </a:bodyPr>
          <a:lstStyle/>
          <a:p>
            <a:r>
              <a:rPr lang="sv-SE" sz="3200" smtClean="0">
                <a:solidFill>
                  <a:srgbClr val="0000FF"/>
                </a:solidFill>
              </a:rPr>
              <a:t>Statistics production: product development and production processes</a:t>
            </a:r>
            <a:endParaRPr lang="sv-SE" sz="3200">
              <a:solidFill>
                <a:srgbClr val="0000FF"/>
              </a:solidFill>
            </a:endParaRPr>
          </a:p>
        </p:txBody>
      </p:sp>
      <p:pic>
        <p:nvPicPr>
          <p:cNvPr id="20482" name="Picture 2"/>
          <p:cNvPicPr>
            <a:picLocks noChangeAspect="1" noChangeArrowheads="1"/>
          </p:cNvPicPr>
          <p:nvPr/>
        </p:nvPicPr>
        <p:blipFill>
          <a:blip r:embed="rId2" cstate="print"/>
          <a:srcRect/>
          <a:stretch>
            <a:fillRect/>
          </a:stretch>
        </p:blipFill>
        <p:spPr bwMode="auto">
          <a:xfrm>
            <a:off x="539552" y="1196752"/>
            <a:ext cx="8160569" cy="5293829"/>
          </a:xfrm>
          <a:prstGeom prst="rect">
            <a:avLst/>
          </a:prstGeom>
          <a:noFill/>
          <a:ln w="9525">
            <a:noFill/>
            <a:miter lim="800000"/>
            <a:headEnd/>
            <a:tailEnd/>
          </a:ln>
        </p:spPr>
      </p:pic>
      <p:sp>
        <p:nvSpPr>
          <p:cNvPr id="9217" name="Rectangle 1"/>
          <p:cNvSpPr>
            <a:spLocks noChangeArrowheads="1"/>
          </p:cNvSpPr>
          <p:nvPr/>
        </p:nvSpPr>
        <p:spPr bwMode="auto">
          <a:xfrm>
            <a:off x="36143" y="6444734"/>
            <a:ext cx="9071714"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rPr>
              <a:t>Source: Sundgren (2007) “</a:t>
            </a: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hlinkClick r:id="rId3"/>
              </a:rPr>
              <a:t>Process reengineering at Statistics Sweden</a:t>
            </a: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rPr>
              <a:t>”, MSIS Geneva.</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0" y="0"/>
            <a:ext cx="9144000" cy="692696"/>
          </a:xfrm>
        </p:spPr>
        <p:txBody>
          <a:bodyPr>
            <a:noAutofit/>
          </a:bodyPr>
          <a:lstStyle/>
          <a:p>
            <a:r>
              <a:rPr lang="sv-SE" sz="2800" smtClean="0">
                <a:solidFill>
                  <a:srgbClr val="0000FF"/>
                </a:solidFill>
              </a:rPr>
              <a:t>Basic operations in a database-oriented statistical system</a:t>
            </a:r>
            <a:endParaRPr lang="sv-SE" sz="2800">
              <a:solidFill>
                <a:srgbClr val="0000FF"/>
              </a:solidFill>
            </a:endParaRPr>
          </a:p>
        </p:txBody>
      </p:sp>
      <p:pic>
        <p:nvPicPr>
          <p:cNvPr id="22530" name="Picture 2"/>
          <p:cNvPicPr>
            <a:picLocks noChangeAspect="1" noChangeArrowheads="1"/>
          </p:cNvPicPr>
          <p:nvPr/>
        </p:nvPicPr>
        <p:blipFill>
          <a:blip r:embed="rId2" cstate="print"/>
          <a:srcRect/>
          <a:stretch>
            <a:fillRect/>
          </a:stretch>
        </p:blipFill>
        <p:spPr bwMode="auto">
          <a:xfrm>
            <a:off x="755576" y="764704"/>
            <a:ext cx="7427173" cy="5611668"/>
          </a:xfrm>
          <a:prstGeom prst="rect">
            <a:avLst/>
          </a:prstGeom>
          <a:noFill/>
          <a:ln w="9525">
            <a:noFill/>
            <a:miter lim="800000"/>
            <a:headEnd/>
            <a:tailEnd/>
          </a:ln>
        </p:spPr>
      </p:pic>
      <p:sp>
        <p:nvSpPr>
          <p:cNvPr id="8193" name="Rectangle 1"/>
          <p:cNvSpPr>
            <a:spLocks noChangeArrowheads="1"/>
          </p:cNvSpPr>
          <p:nvPr/>
        </p:nvSpPr>
        <p:spPr bwMode="auto">
          <a:xfrm>
            <a:off x="895352" y="6444734"/>
            <a:ext cx="7353295"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rPr>
              <a:t>Source: Sundgren (2004b) “</a:t>
            </a: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hlinkClick r:id="rId3"/>
              </a:rPr>
              <a:t>Statistical systems – some fundamentals</a:t>
            </a: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rPr>
              <a:t>”.</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67544" y="0"/>
            <a:ext cx="8229600" cy="706090"/>
          </a:xfrm>
        </p:spPr>
        <p:txBody>
          <a:bodyPr>
            <a:noAutofit/>
          </a:bodyPr>
          <a:lstStyle/>
          <a:p>
            <a:r>
              <a:rPr lang="sv-SE" sz="3200" smtClean="0">
                <a:solidFill>
                  <a:srgbClr val="0000FF"/>
                </a:solidFill>
              </a:rPr>
              <a:t>Control and execution of a statistical system</a:t>
            </a:r>
            <a:endParaRPr lang="sv-SE" sz="3200">
              <a:solidFill>
                <a:srgbClr val="0000FF"/>
              </a:solidFill>
            </a:endParaRPr>
          </a:p>
        </p:txBody>
      </p:sp>
      <p:pic>
        <p:nvPicPr>
          <p:cNvPr id="23554" name="Picture 2"/>
          <p:cNvPicPr>
            <a:picLocks noChangeAspect="1" noChangeArrowheads="1"/>
          </p:cNvPicPr>
          <p:nvPr/>
        </p:nvPicPr>
        <p:blipFill>
          <a:blip r:embed="rId2" cstate="print"/>
          <a:srcRect/>
          <a:stretch>
            <a:fillRect/>
          </a:stretch>
        </p:blipFill>
        <p:spPr bwMode="auto">
          <a:xfrm>
            <a:off x="971600" y="548680"/>
            <a:ext cx="6696744" cy="5931688"/>
          </a:xfrm>
          <a:prstGeom prst="rect">
            <a:avLst/>
          </a:prstGeom>
          <a:noFill/>
          <a:ln w="9525">
            <a:noFill/>
            <a:miter lim="800000"/>
            <a:headEnd/>
            <a:tailEnd/>
          </a:ln>
        </p:spPr>
      </p:pic>
      <p:sp>
        <p:nvSpPr>
          <p:cNvPr id="4" name="Rektangel 3"/>
          <p:cNvSpPr/>
          <p:nvPr/>
        </p:nvSpPr>
        <p:spPr>
          <a:xfrm>
            <a:off x="0" y="6488668"/>
            <a:ext cx="9144000" cy="369332"/>
          </a:xfrm>
          <a:prstGeom prst="rect">
            <a:avLst/>
          </a:prstGeom>
        </p:spPr>
        <p:txBody>
          <a:bodyPr wrap="square">
            <a:spAutoFit/>
          </a:bodyPr>
          <a:lstStyle/>
          <a:p>
            <a:pPr algn="ctr"/>
            <a:r>
              <a:rPr lang="en-US" i="1" smtClean="0"/>
              <a:t>Source: Sundgren (2004b) “</a:t>
            </a:r>
            <a:r>
              <a:rPr lang="en-US" i="1" u="sng" smtClean="0">
                <a:hlinkClick r:id="rId3"/>
              </a:rPr>
              <a:t>Statistical systems – some fundamentals</a:t>
            </a:r>
            <a:r>
              <a:rPr lang="en-US" i="1" smtClean="0"/>
              <a:t>”.</a:t>
            </a:r>
            <a:endParaRPr lang="sv-S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67544" y="0"/>
            <a:ext cx="8229600" cy="706090"/>
          </a:xfrm>
        </p:spPr>
        <p:txBody>
          <a:bodyPr>
            <a:normAutofit/>
          </a:bodyPr>
          <a:lstStyle/>
          <a:p>
            <a:r>
              <a:rPr lang="sv-SE" sz="3600" smtClean="0">
                <a:solidFill>
                  <a:srgbClr val="0000FF"/>
                </a:solidFill>
              </a:rPr>
              <a:t>A statistical system and its environment</a:t>
            </a:r>
            <a:endParaRPr lang="sv-SE" sz="3600">
              <a:solidFill>
                <a:srgbClr val="0000FF"/>
              </a:solidFill>
            </a:endParaRPr>
          </a:p>
        </p:txBody>
      </p:sp>
      <p:pic>
        <p:nvPicPr>
          <p:cNvPr id="21506" name="Picture 2"/>
          <p:cNvPicPr>
            <a:picLocks noChangeAspect="1" noChangeArrowheads="1"/>
          </p:cNvPicPr>
          <p:nvPr/>
        </p:nvPicPr>
        <p:blipFill>
          <a:blip r:embed="rId2" cstate="print"/>
          <a:srcRect/>
          <a:stretch>
            <a:fillRect/>
          </a:stretch>
        </p:blipFill>
        <p:spPr bwMode="auto">
          <a:xfrm>
            <a:off x="683568" y="692696"/>
            <a:ext cx="7920879" cy="5737860"/>
          </a:xfrm>
          <a:prstGeom prst="rect">
            <a:avLst/>
          </a:prstGeom>
          <a:noFill/>
          <a:ln w="9525">
            <a:noFill/>
            <a:miter lim="800000"/>
            <a:headEnd/>
            <a:tailEnd/>
          </a:ln>
        </p:spPr>
      </p:pic>
      <p:sp>
        <p:nvSpPr>
          <p:cNvPr id="6145" name="Rectangle 1"/>
          <p:cNvSpPr>
            <a:spLocks noChangeArrowheads="1"/>
          </p:cNvSpPr>
          <p:nvPr/>
        </p:nvSpPr>
        <p:spPr bwMode="auto">
          <a:xfrm>
            <a:off x="895352" y="6444734"/>
            <a:ext cx="7353295"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rPr>
              <a:t>Source: Sundgren (2004b) “</a:t>
            </a: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hlinkClick r:id="rId3"/>
              </a:rPr>
              <a:t>Statistical systems – some fundamentals</a:t>
            </a: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rPr>
              <a:t>”.</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67544" y="0"/>
            <a:ext cx="8229600" cy="908720"/>
          </a:xfrm>
        </p:spPr>
        <p:txBody>
          <a:bodyPr>
            <a:noAutofit/>
          </a:bodyPr>
          <a:lstStyle/>
          <a:p>
            <a:r>
              <a:rPr lang="sv-SE" sz="2800" smtClean="0">
                <a:solidFill>
                  <a:srgbClr val="0000FF"/>
                </a:solidFill>
              </a:rPr>
              <a:t>The Generic Statistical Business Process Model</a:t>
            </a:r>
            <a:br>
              <a:rPr lang="sv-SE" sz="2800" smtClean="0">
                <a:solidFill>
                  <a:srgbClr val="0000FF"/>
                </a:solidFill>
              </a:rPr>
            </a:br>
            <a:r>
              <a:rPr lang="sv-SE" sz="2800" smtClean="0">
                <a:solidFill>
                  <a:srgbClr val="0000FF"/>
                </a:solidFill>
              </a:rPr>
              <a:t>(GSBPM), levels 1 and 2</a:t>
            </a:r>
            <a:endParaRPr lang="sv-SE" sz="2800">
              <a:solidFill>
                <a:srgbClr val="0000FF"/>
              </a:solidFill>
            </a:endParaRPr>
          </a:p>
        </p:txBody>
      </p:sp>
      <p:sp>
        <p:nvSpPr>
          <p:cNvPr id="2458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sv-SE"/>
          </a:p>
        </p:txBody>
      </p:sp>
      <p:grpSp>
        <p:nvGrpSpPr>
          <p:cNvPr id="24577" name="Group 1"/>
          <p:cNvGrpSpPr>
            <a:grpSpLocks noChangeAspect="1"/>
          </p:cNvGrpSpPr>
          <p:nvPr/>
        </p:nvGrpSpPr>
        <p:grpSpPr bwMode="auto">
          <a:xfrm rot="5400000">
            <a:off x="1744050" y="-151761"/>
            <a:ext cx="5655901" cy="7776864"/>
            <a:chOff x="2700" y="-836"/>
            <a:chExt cx="10080" cy="13860"/>
          </a:xfrm>
        </p:grpSpPr>
        <p:sp>
          <p:nvSpPr>
            <p:cNvPr id="24579" name="AutoShape 3"/>
            <p:cNvSpPr>
              <a:spLocks noChangeAspect="1" noChangeArrowheads="1" noTextEdit="1"/>
            </p:cNvSpPr>
            <p:nvPr/>
          </p:nvSpPr>
          <p:spPr bwMode="auto">
            <a:xfrm>
              <a:off x="2700" y="-836"/>
              <a:ext cx="10080" cy="13860"/>
            </a:xfrm>
            <a:prstGeom prst="rect">
              <a:avLst/>
            </a:prstGeom>
            <a:noFill/>
          </p:spPr>
          <p:txBody>
            <a:bodyPr vert="horz" wrap="square" lIns="91440" tIns="45720" rIns="91440" bIns="45720" numCol="1" anchor="t" anchorCtr="0" compatLnSpc="1">
              <a:prstTxWarp prst="textNoShape">
                <a:avLst/>
              </a:prstTxWarp>
            </a:bodyPr>
            <a:lstStyle/>
            <a:p>
              <a:endParaRPr lang="sv-SE"/>
            </a:p>
          </p:txBody>
        </p:sp>
        <p:pic>
          <p:nvPicPr>
            <p:cNvPr id="24578" name="Picture 2"/>
            <p:cNvPicPr>
              <a:picLocks noChangeAspect="1" noChangeArrowheads="1"/>
            </p:cNvPicPr>
            <p:nvPr/>
          </p:nvPicPr>
          <p:blipFill>
            <a:blip r:embed="rId2" cstate="print"/>
            <a:srcRect/>
            <a:stretch>
              <a:fillRect/>
            </a:stretch>
          </p:blipFill>
          <p:spPr bwMode="auto">
            <a:xfrm rot="16200000">
              <a:off x="740" y="1600"/>
              <a:ext cx="13680" cy="9167"/>
            </a:xfrm>
            <a:prstGeom prst="rect">
              <a:avLst/>
            </a:prstGeom>
            <a:noFill/>
          </p:spPr>
        </p:pic>
      </p:grpSp>
      <p:sp>
        <p:nvSpPr>
          <p:cNvPr id="5121" name="Rectangle 1"/>
          <p:cNvSpPr>
            <a:spLocks noChangeArrowheads="1"/>
          </p:cNvSpPr>
          <p:nvPr/>
        </p:nvSpPr>
        <p:spPr bwMode="auto">
          <a:xfrm>
            <a:off x="446511" y="6444734"/>
            <a:ext cx="8250977"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rPr>
              <a:t>Source: UNECE (2009) “</a:t>
            </a: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hlinkClick r:id="rId3"/>
              </a:rPr>
              <a:t>Generic Statistical Business Process Model</a:t>
            </a: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rPr>
              <a:t>”. Geneva.</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67544" y="0"/>
            <a:ext cx="8229600" cy="562074"/>
          </a:xfrm>
        </p:spPr>
        <p:txBody>
          <a:bodyPr>
            <a:noAutofit/>
          </a:bodyPr>
          <a:lstStyle/>
          <a:p>
            <a:r>
              <a:rPr lang="sv-SE" sz="2800" smtClean="0">
                <a:solidFill>
                  <a:srgbClr val="0000FF"/>
                </a:solidFill>
              </a:rPr>
              <a:t>Focusing on data/metadata interfaces</a:t>
            </a:r>
            <a:endParaRPr lang="sv-SE" sz="2800">
              <a:solidFill>
                <a:srgbClr val="0000FF"/>
              </a:solidFill>
            </a:endParaRPr>
          </a:p>
        </p:txBody>
      </p:sp>
      <p:pic>
        <p:nvPicPr>
          <p:cNvPr id="25602" name="Picture 2"/>
          <p:cNvPicPr>
            <a:picLocks noChangeAspect="1" noChangeArrowheads="1"/>
          </p:cNvPicPr>
          <p:nvPr/>
        </p:nvPicPr>
        <p:blipFill>
          <a:blip r:embed="rId2" cstate="print"/>
          <a:srcRect/>
          <a:stretch>
            <a:fillRect/>
          </a:stretch>
        </p:blipFill>
        <p:spPr bwMode="auto">
          <a:xfrm>
            <a:off x="179512" y="476672"/>
            <a:ext cx="8712968" cy="5925026"/>
          </a:xfrm>
          <a:prstGeom prst="rect">
            <a:avLst/>
          </a:prstGeom>
          <a:noFill/>
          <a:ln w="9525">
            <a:noFill/>
            <a:miter lim="800000"/>
            <a:headEnd/>
            <a:tailEnd/>
          </a:ln>
        </p:spPr>
      </p:pic>
      <p:sp>
        <p:nvSpPr>
          <p:cNvPr id="4" name="Rektangel 3"/>
          <p:cNvSpPr/>
          <p:nvPr/>
        </p:nvSpPr>
        <p:spPr>
          <a:xfrm>
            <a:off x="0" y="6550223"/>
            <a:ext cx="9144000" cy="307777"/>
          </a:xfrm>
          <a:prstGeom prst="rect">
            <a:avLst/>
          </a:prstGeom>
        </p:spPr>
        <p:txBody>
          <a:bodyPr wrap="square">
            <a:spAutoFit/>
          </a:bodyPr>
          <a:lstStyle/>
          <a:p>
            <a:pPr algn="ctr"/>
            <a:r>
              <a:rPr lang="en-US" sz="1400" i="1" smtClean="0"/>
              <a:t>Source: Sundgren&amp;Lindblom (2004) “</a:t>
            </a:r>
            <a:r>
              <a:rPr lang="en-US" sz="1400" i="1" u="sng" smtClean="0">
                <a:hlinkClick r:id="rId3"/>
              </a:rPr>
              <a:t>The metadata system at Statistics Sweden in an international perspective</a:t>
            </a:r>
            <a:r>
              <a:rPr lang="en-US" sz="1400" i="1" smtClean="0"/>
              <a:t>”, Prague.</a:t>
            </a:r>
            <a:endParaRPr lang="sv-SE" sz="1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67544" y="116632"/>
            <a:ext cx="8229600" cy="778098"/>
          </a:xfrm>
        </p:spPr>
        <p:txBody>
          <a:bodyPr>
            <a:normAutofit/>
          </a:bodyPr>
          <a:lstStyle/>
          <a:p>
            <a:r>
              <a:rPr lang="sv-SE" sz="3600" smtClean="0">
                <a:solidFill>
                  <a:srgbClr val="0000FF"/>
                </a:solidFill>
              </a:rPr>
              <a:t>SCBDOK documentation template</a:t>
            </a:r>
            <a:endParaRPr lang="sv-SE" sz="3600">
              <a:solidFill>
                <a:srgbClr val="0000FF"/>
              </a:solidFill>
            </a:endParaRPr>
          </a:p>
        </p:txBody>
      </p:sp>
      <p:pic>
        <p:nvPicPr>
          <p:cNvPr id="26626" name="Picture 2"/>
          <p:cNvPicPr>
            <a:picLocks noChangeAspect="1" noChangeArrowheads="1"/>
          </p:cNvPicPr>
          <p:nvPr/>
        </p:nvPicPr>
        <p:blipFill>
          <a:blip r:embed="rId2" cstate="print"/>
          <a:srcRect/>
          <a:stretch>
            <a:fillRect/>
          </a:stretch>
        </p:blipFill>
        <p:spPr bwMode="auto">
          <a:xfrm>
            <a:off x="0" y="1052736"/>
            <a:ext cx="9155280" cy="5184576"/>
          </a:xfrm>
          <a:prstGeom prst="rect">
            <a:avLst/>
          </a:prstGeom>
          <a:noFill/>
          <a:ln w="9525">
            <a:noFill/>
            <a:miter lim="800000"/>
            <a:headEnd/>
            <a:tailEnd/>
          </a:ln>
        </p:spPr>
      </p:pic>
      <p:sp>
        <p:nvSpPr>
          <p:cNvPr id="4" name="Rektangel 3"/>
          <p:cNvSpPr/>
          <p:nvPr/>
        </p:nvSpPr>
        <p:spPr>
          <a:xfrm>
            <a:off x="0" y="6381328"/>
            <a:ext cx="9144000" cy="369332"/>
          </a:xfrm>
          <a:prstGeom prst="rect">
            <a:avLst/>
          </a:prstGeom>
        </p:spPr>
        <p:txBody>
          <a:bodyPr wrap="square">
            <a:spAutoFit/>
          </a:bodyPr>
          <a:lstStyle/>
          <a:p>
            <a:pPr algn="ctr"/>
            <a:r>
              <a:rPr lang="en-US" i="1" smtClean="0"/>
              <a:t>Source: </a:t>
            </a:r>
            <a:r>
              <a:rPr lang="en-US" i="1" u="sng" smtClean="0">
                <a:hlinkClick r:id="rId3"/>
              </a:rPr>
              <a:t>Sundgren (2001) “Documentation and quality in official statistics”</a:t>
            </a:r>
            <a:r>
              <a:rPr lang="en-US" i="1" smtClean="0"/>
              <a:t>. </a:t>
            </a:r>
            <a:endParaRPr lang="sv-S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67544" y="0"/>
            <a:ext cx="8229600" cy="980728"/>
          </a:xfrm>
        </p:spPr>
        <p:txBody>
          <a:bodyPr>
            <a:normAutofit/>
          </a:bodyPr>
          <a:lstStyle/>
          <a:p>
            <a:r>
              <a:rPr lang="sv-SE" sz="3600" smtClean="0">
                <a:solidFill>
                  <a:srgbClr val="0000FF"/>
                </a:solidFill>
              </a:rPr>
              <a:t>Quality Declaration Template</a:t>
            </a:r>
            <a:endParaRPr lang="sv-SE" sz="3600">
              <a:solidFill>
                <a:srgbClr val="0000FF"/>
              </a:solidFill>
            </a:endParaRPr>
          </a:p>
        </p:txBody>
      </p:sp>
      <p:pic>
        <p:nvPicPr>
          <p:cNvPr id="27650" name="Picture 2"/>
          <p:cNvPicPr>
            <a:picLocks noChangeAspect="1" noChangeArrowheads="1"/>
          </p:cNvPicPr>
          <p:nvPr/>
        </p:nvPicPr>
        <p:blipFill>
          <a:blip r:embed="rId2" cstate="print"/>
          <a:srcRect/>
          <a:stretch>
            <a:fillRect/>
          </a:stretch>
        </p:blipFill>
        <p:spPr bwMode="auto">
          <a:xfrm>
            <a:off x="395536" y="908720"/>
            <a:ext cx="8581182" cy="5403307"/>
          </a:xfrm>
          <a:prstGeom prst="rect">
            <a:avLst/>
          </a:prstGeom>
          <a:noFill/>
          <a:ln w="9525">
            <a:noFill/>
            <a:miter lim="800000"/>
            <a:headEnd/>
            <a:tailEnd/>
          </a:ln>
        </p:spPr>
      </p:pic>
      <p:sp>
        <p:nvSpPr>
          <p:cNvPr id="4" name="Rektangel 3"/>
          <p:cNvSpPr/>
          <p:nvPr/>
        </p:nvSpPr>
        <p:spPr>
          <a:xfrm>
            <a:off x="0" y="6381328"/>
            <a:ext cx="9144000" cy="369332"/>
          </a:xfrm>
          <a:prstGeom prst="rect">
            <a:avLst/>
          </a:prstGeom>
        </p:spPr>
        <p:txBody>
          <a:bodyPr wrap="square">
            <a:spAutoFit/>
          </a:bodyPr>
          <a:lstStyle/>
          <a:p>
            <a:pPr algn="ctr"/>
            <a:r>
              <a:rPr lang="en-US" i="1" smtClean="0"/>
              <a:t>Source: </a:t>
            </a:r>
            <a:r>
              <a:rPr lang="en-US" i="1" u="sng" smtClean="0">
                <a:hlinkClick r:id="rId3"/>
              </a:rPr>
              <a:t>Sundgren (2001) “Documentation and quality in official statistics”</a:t>
            </a:r>
            <a:r>
              <a:rPr lang="en-US" i="1" smtClean="0"/>
              <a:t>. </a:t>
            </a:r>
            <a:endParaRPr lang="sv-S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sv-SE"/>
          </a:p>
        </p:txBody>
      </p:sp>
      <p:graphicFrame>
        <p:nvGraphicFramePr>
          <p:cNvPr id="1026" name="Object 1"/>
          <p:cNvGraphicFramePr>
            <a:graphicFrameLocks noChangeAspect="1"/>
          </p:cNvGraphicFramePr>
          <p:nvPr/>
        </p:nvGraphicFramePr>
        <p:xfrm>
          <a:off x="1115616" y="836712"/>
          <a:ext cx="6843814" cy="5283458"/>
        </p:xfrm>
        <a:graphic>
          <a:graphicData uri="http://schemas.openxmlformats.org/presentationml/2006/ole">
            <p:oleObj spid="_x0000_s1026" name="Picture" r:id="rId3" imgW="6765036" imgH="5241036" progId="Word.Picture.8">
              <p:embed/>
            </p:oleObj>
          </a:graphicData>
        </a:graphic>
      </p:graphicFrame>
      <p:sp>
        <p:nvSpPr>
          <p:cNvPr id="4" name="textruta 3"/>
          <p:cNvSpPr txBox="1"/>
          <p:nvPr/>
        </p:nvSpPr>
        <p:spPr>
          <a:xfrm>
            <a:off x="0" y="116632"/>
            <a:ext cx="9149428" cy="492443"/>
          </a:xfrm>
          <a:prstGeom prst="rect">
            <a:avLst/>
          </a:prstGeom>
          <a:noFill/>
        </p:spPr>
        <p:txBody>
          <a:bodyPr wrap="none" rtlCol="0">
            <a:spAutoFit/>
          </a:bodyPr>
          <a:lstStyle/>
          <a:p>
            <a:r>
              <a:rPr lang="sv-SE" sz="2600" smtClean="0">
                <a:solidFill>
                  <a:srgbClr val="0000FF"/>
                </a:solidFill>
              </a:rPr>
              <a:t>The quality of statistical data as affected by different discrepancies</a:t>
            </a:r>
            <a:endParaRPr lang="sv-SE" sz="2600">
              <a:solidFill>
                <a:srgbClr val="0000FF"/>
              </a:solidFill>
            </a:endParaRPr>
          </a:p>
        </p:txBody>
      </p:sp>
      <p:sp>
        <p:nvSpPr>
          <p:cNvPr id="5" name="Rektangel 4"/>
          <p:cNvSpPr/>
          <p:nvPr/>
        </p:nvSpPr>
        <p:spPr>
          <a:xfrm>
            <a:off x="0" y="6309320"/>
            <a:ext cx="9144000" cy="369332"/>
          </a:xfrm>
          <a:prstGeom prst="rect">
            <a:avLst/>
          </a:prstGeom>
        </p:spPr>
        <p:txBody>
          <a:bodyPr wrap="square">
            <a:spAutoFit/>
          </a:bodyPr>
          <a:lstStyle/>
          <a:p>
            <a:pPr algn="ctr"/>
            <a:r>
              <a:rPr lang="en-US" i="1" smtClean="0"/>
              <a:t>Source: Sundgren (1995) </a:t>
            </a:r>
            <a:r>
              <a:rPr lang="en-GB" i="1" smtClean="0"/>
              <a:t> </a:t>
            </a:r>
            <a:r>
              <a:rPr lang="en-GB" i="1" u="sng" smtClean="0">
                <a:hlinkClick r:id="rId4"/>
              </a:rPr>
              <a:t>Guidelines for the Modelling of Statistical Data and Metadata</a:t>
            </a:r>
            <a:r>
              <a:rPr lang="en-GB" i="1" smtClean="0"/>
              <a:t>.</a:t>
            </a:r>
            <a:endParaRPr lang="sv-S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p:cNvSpPr>
            <a:spLocks noChangeArrowheads="1"/>
          </p:cNvSpPr>
          <p:nvPr/>
        </p:nvSpPr>
        <p:spPr bwMode="auto">
          <a:xfrm>
            <a:off x="0" y="2211388"/>
            <a:ext cx="9144000" cy="0"/>
          </a:xfrm>
          <a:prstGeom prst="rect">
            <a:avLst/>
          </a:prstGeom>
          <a:noFill/>
          <a:ln w="9525">
            <a:noFill/>
            <a:miter lim="800000"/>
            <a:headEnd/>
            <a:tailEnd/>
          </a:ln>
        </p:spPr>
        <p:txBody>
          <a:bodyPr wrap="none" anchor="ctr">
            <a:spAutoFit/>
          </a:bodyPr>
          <a:lstStyle/>
          <a:p>
            <a:endParaRPr lang="sv-SE"/>
          </a:p>
        </p:txBody>
      </p:sp>
      <p:pic>
        <p:nvPicPr>
          <p:cNvPr id="28675" name="Picture 4"/>
          <p:cNvPicPr>
            <a:picLocks noChangeAspect="1" noChangeArrowheads="1"/>
          </p:cNvPicPr>
          <p:nvPr/>
        </p:nvPicPr>
        <p:blipFill>
          <a:blip r:embed="rId2" cstate="print"/>
          <a:srcRect/>
          <a:stretch>
            <a:fillRect/>
          </a:stretch>
        </p:blipFill>
        <p:spPr bwMode="auto">
          <a:xfrm>
            <a:off x="179388" y="1628775"/>
            <a:ext cx="8750300" cy="3471863"/>
          </a:xfrm>
          <a:prstGeom prst="rect">
            <a:avLst/>
          </a:prstGeom>
          <a:noFill/>
          <a:ln w="9525">
            <a:noFill/>
            <a:miter lim="800000"/>
            <a:headEnd/>
            <a:tailEnd/>
          </a:ln>
        </p:spPr>
      </p:pic>
      <p:sp>
        <p:nvSpPr>
          <p:cNvPr id="28676" name="Rectangle 6"/>
          <p:cNvSpPr>
            <a:spLocks noChangeArrowheads="1"/>
          </p:cNvSpPr>
          <p:nvPr/>
        </p:nvSpPr>
        <p:spPr bwMode="auto">
          <a:xfrm>
            <a:off x="0" y="70425"/>
            <a:ext cx="9144000" cy="1292662"/>
          </a:xfrm>
          <a:prstGeom prst="rect">
            <a:avLst/>
          </a:prstGeom>
          <a:noFill/>
          <a:ln w="9525">
            <a:noFill/>
            <a:miter lim="800000"/>
            <a:headEnd/>
            <a:tailEnd/>
          </a:ln>
        </p:spPr>
        <p:txBody>
          <a:bodyPr anchor="ctr">
            <a:spAutoFit/>
          </a:bodyPr>
          <a:lstStyle/>
          <a:p>
            <a:pPr algn="ctr"/>
            <a:r>
              <a:rPr lang="en-GB" sz="2600">
                <a:solidFill>
                  <a:srgbClr val="0000FF"/>
                </a:solidFill>
                <a:cs typeface="Times New Roman" pitchFamily="18" charset="0"/>
              </a:rPr>
              <a:t>Discrepancies between reality ”as it is” and </a:t>
            </a:r>
            <a:br>
              <a:rPr lang="en-GB" sz="2600">
                <a:solidFill>
                  <a:srgbClr val="0000FF"/>
                </a:solidFill>
                <a:cs typeface="Times New Roman" pitchFamily="18" charset="0"/>
              </a:rPr>
            </a:br>
            <a:r>
              <a:rPr lang="en-GB" sz="2600">
                <a:solidFill>
                  <a:srgbClr val="0000FF"/>
                </a:solidFill>
                <a:cs typeface="Times New Roman" pitchFamily="18" charset="0"/>
              </a:rPr>
              <a:t>as it is reflected by statistics: </a:t>
            </a:r>
            <a:br>
              <a:rPr lang="en-GB" sz="2600">
                <a:solidFill>
                  <a:srgbClr val="0000FF"/>
                </a:solidFill>
                <a:cs typeface="Times New Roman" pitchFamily="18" charset="0"/>
              </a:rPr>
            </a:br>
            <a:r>
              <a:rPr lang="en-GB" sz="2600">
                <a:solidFill>
                  <a:srgbClr val="0000FF"/>
                </a:solidFill>
                <a:cs typeface="Times New Roman" pitchFamily="18" charset="0"/>
              </a:rPr>
              <a:t>which they are, and why and where they occur</a:t>
            </a:r>
            <a:endParaRPr lang="en-GB" sz="2600">
              <a:solidFill>
                <a:srgbClr val="0000FF"/>
              </a:solidFill>
            </a:endParaRPr>
          </a:p>
        </p:txBody>
      </p:sp>
      <p:sp>
        <p:nvSpPr>
          <p:cNvPr id="5" name="Rectangle 3"/>
          <p:cNvSpPr txBox="1">
            <a:spLocks noChangeArrowheads="1"/>
          </p:cNvSpPr>
          <p:nvPr/>
        </p:nvSpPr>
        <p:spPr>
          <a:xfrm>
            <a:off x="5905500" y="5284788"/>
            <a:ext cx="1800225" cy="576262"/>
          </a:xfrm>
          <a:prstGeom prst="rect">
            <a:avLst/>
          </a:prstGeom>
        </p:spPr>
        <p:txBody>
          <a:bodyPr/>
          <a:lstStyle/>
          <a:p>
            <a:pPr marL="342900" indent="-342900" algn="ctr" eaLnBrk="0" hangingPunct="0">
              <a:spcBef>
                <a:spcPct val="20000"/>
              </a:spcBef>
              <a:defRPr/>
            </a:pPr>
            <a:r>
              <a:rPr lang="sv-SE" sz="1600" kern="0">
                <a:solidFill>
                  <a:srgbClr val="FF0000"/>
                </a:solidFill>
                <a:latin typeface="Arial" pitchFamily="34" charset="0"/>
                <a:cs typeface="Arial" pitchFamily="34" charset="0"/>
              </a:rPr>
              <a:t>occurring during </a:t>
            </a:r>
          </a:p>
          <a:p>
            <a:pPr marL="342900" indent="-342900" algn="ctr" eaLnBrk="0" hangingPunct="0">
              <a:spcBef>
                <a:spcPct val="20000"/>
              </a:spcBef>
              <a:defRPr/>
            </a:pPr>
            <a:r>
              <a:rPr lang="sv-SE" sz="1600" kern="0">
                <a:solidFill>
                  <a:srgbClr val="FF0000"/>
                </a:solidFill>
                <a:latin typeface="Arial" pitchFamily="34" charset="0"/>
                <a:cs typeface="Arial" pitchFamily="34" charset="0"/>
              </a:rPr>
              <a:t>use processes</a:t>
            </a:r>
          </a:p>
        </p:txBody>
      </p:sp>
      <p:sp>
        <p:nvSpPr>
          <p:cNvPr id="6" name="Rektangel 5"/>
          <p:cNvSpPr/>
          <p:nvPr/>
        </p:nvSpPr>
        <p:spPr>
          <a:xfrm>
            <a:off x="1176338" y="5284788"/>
            <a:ext cx="1698625" cy="635000"/>
          </a:xfrm>
          <a:prstGeom prst="rect">
            <a:avLst/>
          </a:prstGeom>
        </p:spPr>
        <p:txBody>
          <a:bodyPr wrap="none">
            <a:spAutoFit/>
          </a:bodyPr>
          <a:lstStyle/>
          <a:p>
            <a:pPr marL="342900" indent="-342900" algn="ctr" eaLnBrk="0" hangingPunct="0">
              <a:spcBef>
                <a:spcPct val="20000"/>
              </a:spcBef>
              <a:defRPr/>
            </a:pPr>
            <a:r>
              <a:rPr lang="sv-SE" sz="1600" kern="0">
                <a:solidFill>
                  <a:srgbClr val="FF0000"/>
                </a:solidFill>
                <a:latin typeface="Arial" pitchFamily="34" charset="0"/>
                <a:cs typeface="Arial" pitchFamily="34" charset="0"/>
              </a:rPr>
              <a:t>caused by </a:t>
            </a:r>
          </a:p>
          <a:p>
            <a:pPr marL="342900" indent="-342900" algn="ctr" eaLnBrk="0" hangingPunct="0">
              <a:spcBef>
                <a:spcPct val="20000"/>
              </a:spcBef>
              <a:defRPr/>
            </a:pPr>
            <a:r>
              <a:rPr lang="sv-SE" sz="1600" kern="0">
                <a:solidFill>
                  <a:srgbClr val="FF0000"/>
                </a:solidFill>
                <a:latin typeface="Arial" pitchFamily="34" charset="0"/>
                <a:cs typeface="Arial" pitchFamily="34" charset="0"/>
              </a:rPr>
              <a:t>design decisions</a:t>
            </a:r>
          </a:p>
        </p:txBody>
      </p:sp>
      <p:sp>
        <p:nvSpPr>
          <p:cNvPr id="7" name="Rektangel 6"/>
          <p:cNvSpPr/>
          <p:nvPr/>
        </p:nvSpPr>
        <p:spPr>
          <a:xfrm>
            <a:off x="3384550" y="5284788"/>
            <a:ext cx="2232025" cy="635000"/>
          </a:xfrm>
          <a:prstGeom prst="rect">
            <a:avLst/>
          </a:prstGeom>
        </p:spPr>
        <p:txBody>
          <a:bodyPr>
            <a:spAutoFit/>
          </a:bodyPr>
          <a:lstStyle/>
          <a:p>
            <a:pPr marL="342900" indent="-342900" algn="ctr" eaLnBrk="0" hangingPunct="0">
              <a:spcBef>
                <a:spcPct val="20000"/>
              </a:spcBef>
              <a:defRPr/>
            </a:pPr>
            <a:r>
              <a:rPr lang="sv-SE" sz="1600" kern="0">
                <a:solidFill>
                  <a:srgbClr val="FF0000"/>
                </a:solidFill>
                <a:latin typeface="Arial" pitchFamily="34" charset="0"/>
                <a:cs typeface="Arial" pitchFamily="34" charset="0"/>
              </a:rPr>
              <a:t>occurring during </a:t>
            </a:r>
          </a:p>
          <a:p>
            <a:pPr marL="342900" indent="-342900" algn="ctr" eaLnBrk="0" hangingPunct="0">
              <a:spcBef>
                <a:spcPct val="20000"/>
              </a:spcBef>
              <a:defRPr/>
            </a:pPr>
            <a:r>
              <a:rPr lang="sv-SE" sz="1600" kern="0">
                <a:solidFill>
                  <a:srgbClr val="FF0000"/>
                </a:solidFill>
                <a:latin typeface="Arial" pitchFamily="34" charset="0"/>
                <a:cs typeface="Arial" pitchFamily="34" charset="0"/>
              </a:rPr>
              <a:t>operation processes</a:t>
            </a:r>
          </a:p>
        </p:txBody>
      </p:sp>
      <p:sp>
        <p:nvSpPr>
          <p:cNvPr id="53249" name="Rectangle 1"/>
          <p:cNvSpPr>
            <a:spLocks noChangeArrowheads="1"/>
          </p:cNvSpPr>
          <p:nvPr/>
        </p:nvSpPr>
        <p:spPr bwMode="auto">
          <a:xfrm>
            <a:off x="895352" y="6137230"/>
            <a:ext cx="7353295"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rPr>
              <a:t>Source: Sundgren (2004b) “</a:t>
            </a: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hlinkClick r:id="rId3"/>
              </a:rPr>
              <a:t>Statistical systems – some fundamentals</a:t>
            </a:r>
            <a:r>
              <a:rPr kumimoji="0" lang="en-US" b="0" i="1" u="none" strike="noStrike" cap="none" normalizeH="0" baseline="0" smtClean="0">
                <a:ln>
                  <a:noFill/>
                </a:ln>
                <a:solidFill>
                  <a:schemeClr val="tx1"/>
                </a:solidFill>
                <a:effectLst/>
                <a:latin typeface="Arial" pitchFamily="34" charset="0"/>
                <a:ea typeface="Times New Roman" pitchFamily="18" charset="0"/>
                <a:cs typeface="Arial" pitchFamily="34" charset="0"/>
              </a:rPr>
              <a:t>”.</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0"/>
            <a:ext cx="8229600" cy="857250"/>
          </a:xfrm>
        </p:spPr>
        <p:txBody>
          <a:bodyPr/>
          <a:lstStyle/>
          <a:p>
            <a:r>
              <a:rPr lang="sv-SE" sz="3600" smtClean="0">
                <a:solidFill>
                  <a:srgbClr val="0000FF"/>
                </a:solidFill>
              </a:rPr>
              <a:t>Statistical characteristic</a:t>
            </a:r>
          </a:p>
        </p:txBody>
      </p:sp>
      <p:sp>
        <p:nvSpPr>
          <p:cNvPr id="12291" name="Rectangle 3"/>
          <p:cNvSpPr>
            <a:spLocks noGrp="1" noChangeArrowheads="1"/>
          </p:cNvSpPr>
          <p:nvPr>
            <p:ph type="body" idx="1"/>
          </p:nvPr>
        </p:nvSpPr>
        <p:spPr>
          <a:xfrm>
            <a:off x="357188" y="857250"/>
            <a:ext cx="8229600" cy="5786438"/>
          </a:xfrm>
        </p:spPr>
        <p:txBody>
          <a:bodyPr/>
          <a:lstStyle/>
          <a:p>
            <a:r>
              <a:rPr lang="sv-SE" sz="2400" smtClean="0"/>
              <a:t>a </a:t>
            </a:r>
            <a:r>
              <a:rPr lang="sv-SE" sz="2400" smtClean="0">
                <a:solidFill>
                  <a:srgbClr val="FF0000"/>
                </a:solidFill>
              </a:rPr>
              <a:t>statistical measure </a:t>
            </a:r>
            <a:r>
              <a:rPr lang="sv-SE" sz="2400" smtClean="0"/>
              <a:t>(m) applied on</a:t>
            </a:r>
          </a:p>
          <a:p>
            <a:r>
              <a:rPr lang="sv-SE" sz="2400" smtClean="0"/>
              <a:t>the (true) </a:t>
            </a:r>
            <a:r>
              <a:rPr lang="sv-SE" sz="2400" smtClean="0">
                <a:solidFill>
                  <a:srgbClr val="FF0000"/>
                </a:solidFill>
              </a:rPr>
              <a:t>values</a:t>
            </a:r>
            <a:r>
              <a:rPr lang="sv-SE" sz="2400" smtClean="0"/>
              <a:t> of a </a:t>
            </a:r>
            <a:r>
              <a:rPr lang="sv-SE" sz="2400" smtClean="0">
                <a:solidFill>
                  <a:srgbClr val="FF0000"/>
                </a:solidFill>
              </a:rPr>
              <a:t>variable</a:t>
            </a:r>
            <a:r>
              <a:rPr lang="sv-SE" sz="2400" smtClean="0"/>
              <a:t> (V); </a:t>
            </a:r>
            <a:r>
              <a:rPr lang="sv-SE" sz="2000" smtClean="0">
                <a:solidFill>
                  <a:srgbClr val="00B050"/>
                </a:solidFill>
              </a:rPr>
              <a:t>V may be a vector</a:t>
            </a:r>
          </a:p>
          <a:p>
            <a:r>
              <a:rPr lang="sv-SE" sz="2400" smtClean="0"/>
              <a:t>for the </a:t>
            </a:r>
            <a:r>
              <a:rPr lang="sv-SE" sz="2400" smtClean="0">
                <a:solidFill>
                  <a:srgbClr val="FF0000"/>
                </a:solidFill>
              </a:rPr>
              <a:t>objects</a:t>
            </a:r>
            <a:r>
              <a:rPr lang="sv-SE" sz="2400" smtClean="0"/>
              <a:t> in a </a:t>
            </a:r>
            <a:r>
              <a:rPr lang="sv-SE" sz="2400" smtClean="0">
                <a:solidFill>
                  <a:srgbClr val="FF0000"/>
                </a:solidFill>
              </a:rPr>
              <a:t>population</a:t>
            </a:r>
            <a:r>
              <a:rPr lang="sv-SE" sz="2400" smtClean="0"/>
              <a:t> (O)</a:t>
            </a:r>
          </a:p>
          <a:p>
            <a:pPr>
              <a:buFontTx/>
              <a:buNone/>
            </a:pPr>
            <a:endParaRPr lang="sv-SE" sz="800" smtClean="0"/>
          </a:p>
          <a:p>
            <a:r>
              <a:rPr lang="sv-SE" sz="2400" smtClean="0"/>
              <a:t>O.V.m = statistical characteristic</a:t>
            </a:r>
          </a:p>
          <a:p>
            <a:r>
              <a:rPr lang="sv-SE" sz="2400" smtClean="0"/>
              <a:t>O.V = object characteristic</a:t>
            </a:r>
          </a:p>
          <a:p>
            <a:r>
              <a:rPr lang="sv-SE" sz="2400" smtClean="0"/>
              <a:t>V.m = </a:t>
            </a:r>
            <a:r>
              <a:rPr lang="sv-SE" sz="2400" smtClean="0">
                <a:solidFill>
                  <a:srgbClr val="FF0000"/>
                </a:solidFill>
              </a:rPr>
              <a:t>parameter</a:t>
            </a:r>
          </a:p>
          <a:p>
            <a:pPr>
              <a:buFontTx/>
              <a:buNone/>
            </a:pPr>
            <a:endParaRPr lang="sv-SE" sz="800" smtClean="0">
              <a:solidFill>
                <a:srgbClr val="FF0000"/>
              </a:solidFill>
            </a:endParaRPr>
          </a:p>
          <a:p>
            <a:pPr algn="ctr">
              <a:buFontTx/>
              <a:buNone/>
            </a:pPr>
            <a:r>
              <a:rPr lang="sv-SE" sz="2400" smtClean="0">
                <a:solidFill>
                  <a:srgbClr val="0000FF"/>
                </a:solidFill>
              </a:rPr>
              <a:t>Examples of statistical characteristics</a:t>
            </a:r>
          </a:p>
          <a:p>
            <a:pPr>
              <a:buFontTx/>
              <a:buNone/>
            </a:pPr>
            <a:endParaRPr lang="en-GB" sz="800" smtClean="0"/>
          </a:p>
          <a:p>
            <a:r>
              <a:rPr lang="en-GB" sz="2400" smtClean="0"/>
              <a:t>number of persons living in Sweden at the end of 2001</a:t>
            </a:r>
          </a:p>
          <a:p>
            <a:r>
              <a:rPr lang="en-GB" sz="2400" smtClean="0"/>
              <a:t>average income of persons living in Sweden at the end of  2001</a:t>
            </a:r>
          </a:p>
          <a:p>
            <a:r>
              <a:rPr lang="en-GB" sz="2400" smtClean="0"/>
              <a:t>correlation between sex and income for persons living in Sweden at the end of 2001</a:t>
            </a:r>
            <a:endParaRPr lang="sv-SE" sz="240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0"/>
            <a:ext cx="8543925" cy="714375"/>
          </a:xfrm>
        </p:spPr>
        <p:txBody>
          <a:bodyPr/>
          <a:lstStyle/>
          <a:p>
            <a:r>
              <a:rPr lang="sv-SE" sz="3600" smtClean="0">
                <a:solidFill>
                  <a:srgbClr val="0000FF"/>
                </a:solidFill>
              </a:rPr>
              <a:t>Statistic</a:t>
            </a:r>
          </a:p>
        </p:txBody>
      </p:sp>
      <p:sp>
        <p:nvSpPr>
          <p:cNvPr id="46083" name="Rectangle 3"/>
          <p:cNvSpPr>
            <a:spLocks noGrp="1" noChangeArrowheads="1"/>
          </p:cNvSpPr>
          <p:nvPr>
            <p:ph type="body" idx="1"/>
          </p:nvPr>
        </p:nvSpPr>
        <p:spPr>
          <a:xfrm>
            <a:off x="457200" y="785813"/>
            <a:ext cx="8472488" cy="6072187"/>
          </a:xfrm>
        </p:spPr>
        <p:txBody>
          <a:bodyPr/>
          <a:lstStyle/>
          <a:p>
            <a:pPr marL="0" indent="0">
              <a:defRPr/>
            </a:pPr>
            <a:r>
              <a:rPr lang="sv-SE" sz="2400"/>
              <a:t>  an </a:t>
            </a:r>
            <a:r>
              <a:rPr lang="sv-SE" sz="2400">
                <a:solidFill>
                  <a:srgbClr val="FF0000"/>
                </a:solidFill>
              </a:rPr>
              <a:t>estimator</a:t>
            </a:r>
            <a:r>
              <a:rPr lang="sv-SE" sz="2400"/>
              <a:t> (e) applied on</a:t>
            </a:r>
          </a:p>
          <a:p>
            <a:pPr marL="0" indent="0">
              <a:defRPr/>
            </a:pPr>
            <a:r>
              <a:rPr lang="sv-SE" sz="2400" i="1"/>
              <a:t>  </a:t>
            </a:r>
            <a:r>
              <a:rPr lang="sv-SE" sz="2400" i="1">
                <a:solidFill>
                  <a:srgbClr val="FF0000"/>
                </a:solidFill>
              </a:rPr>
              <a:t>observed</a:t>
            </a:r>
            <a:r>
              <a:rPr lang="sv-SE" sz="2400">
                <a:solidFill>
                  <a:srgbClr val="FF0000"/>
                </a:solidFill>
              </a:rPr>
              <a:t> values </a:t>
            </a:r>
            <a:r>
              <a:rPr lang="sv-SE" sz="2400"/>
              <a:t>of an </a:t>
            </a:r>
            <a:r>
              <a:rPr lang="sv-SE" sz="2400" i="1">
                <a:solidFill>
                  <a:srgbClr val="FF0000"/>
                </a:solidFill>
              </a:rPr>
              <a:t>observed</a:t>
            </a:r>
            <a:r>
              <a:rPr lang="sv-SE" sz="2400">
                <a:solidFill>
                  <a:srgbClr val="FF0000"/>
                </a:solidFill>
              </a:rPr>
              <a:t> variable </a:t>
            </a:r>
            <a:r>
              <a:rPr lang="sv-SE" sz="2400"/>
              <a:t>(V</a:t>
            </a:r>
            <a:r>
              <a:rPr lang="sv-SE" sz="2400" smtClean="0"/>
              <a:t>’); </a:t>
            </a:r>
            <a:endParaRPr lang="sv-SE" sz="2400"/>
          </a:p>
          <a:p>
            <a:pPr marL="0" indent="0">
              <a:defRPr/>
            </a:pPr>
            <a:r>
              <a:rPr lang="sv-SE" sz="2400"/>
              <a:t>  for a set of </a:t>
            </a:r>
            <a:r>
              <a:rPr lang="sv-SE" sz="2400" i="1">
                <a:solidFill>
                  <a:srgbClr val="FF0000"/>
                </a:solidFill>
              </a:rPr>
              <a:t>observed</a:t>
            </a:r>
            <a:r>
              <a:rPr lang="sv-SE" sz="2400">
                <a:solidFill>
                  <a:srgbClr val="FF0000"/>
                </a:solidFill>
              </a:rPr>
              <a:t> objects </a:t>
            </a:r>
            <a:r>
              <a:rPr lang="sv-SE" sz="2400"/>
              <a:t>(O’) </a:t>
            </a:r>
            <a:r>
              <a:rPr lang="sv-SE" sz="2400" i="1" smtClean="0">
                <a:solidFill>
                  <a:srgbClr val="FF0000"/>
                </a:solidFill>
              </a:rPr>
              <a:t>allegedly</a:t>
            </a:r>
            <a:r>
              <a:rPr lang="sv-SE" sz="2400" smtClean="0"/>
              <a:t> belonging </a:t>
            </a:r>
            <a:r>
              <a:rPr lang="sv-SE" sz="2400"/>
              <a:t>to a </a:t>
            </a:r>
            <a:r>
              <a:rPr lang="sv-SE" sz="2400">
                <a:solidFill>
                  <a:srgbClr val="FF0000"/>
                </a:solidFill>
              </a:rPr>
              <a:t>population</a:t>
            </a:r>
            <a:r>
              <a:rPr lang="sv-SE" sz="2400"/>
              <a:t> (O)</a:t>
            </a:r>
          </a:p>
          <a:p>
            <a:pPr marL="0" indent="0">
              <a:buFontTx/>
              <a:buNone/>
              <a:defRPr/>
            </a:pPr>
            <a:endParaRPr lang="sv-SE" sz="800"/>
          </a:p>
          <a:p>
            <a:pPr marL="0" indent="0">
              <a:buFontTx/>
              <a:buNone/>
              <a:defRPr/>
            </a:pPr>
            <a:r>
              <a:rPr lang="sv-SE" sz="2400"/>
              <a:t>Ideally the value of a statistic O’.V’.e should be ”close to the true value of the statistical characteristic O.V.m that it aims at </a:t>
            </a:r>
            <a:r>
              <a:rPr lang="sv-SE" sz="2400" smtClean="0"/>
              <a:t>estimating”</a:t>
            </a:r>
          </a:p>
          <a:p>
            <a:pPr marL="0" indent="0" algn="ctr">
              <a:buFontTx/>
              <a:buNone/>
              <a:defRPr/>
            </a:pPr>
            <a:r>
              <a:rPr lang="sv-SE" sz="2400" smtClean="0">
                <a:solidFill>
                  <a:srgbClr val="0000FF"/>
                </a:solidFill>
              </a:rPr>
              <a:t>Examples</a:t>
            </a:r>
          </a:p>
          <a:p>
            <a:pPr>
              <a:defRPr/>
            </a:pPr>
            <a:r>
              <a:rPr lang="en-GB" sz="2400" smtClean="0"/>
              <a:t>the estimated number of persons living in Sweden at the end of 2001</a:t>
            </a:r>
          </a:p>
          <a:p>
            <a:pPr>
              <a:defRPr/>
            </a:pPr>
            <a:r>
              <a:rPr lang="en-GB" sz="2400" smtClean="0"/>
              <a:t>the estimated average income of persons living in Sweden at the end of 2001</a:t>
            </a:r>
          </a:p>
          <a:p>
            <a:pPr>
              <a:defRPr/>
            </a:pPr>
            <a:r>
              <a:rPr lang="en-GB" sz="2400" smtClean="0"/>
              <a:t>the estimated correlation between sex and income for persons living in Sweden at the end of 2001 </a:t>
            </a:r>
            <a:endParaRPr lang="sv-SE" sz="2400" smtClean="0"/>
          </a:p>
          <a:p>
            <a:pPr marL="0" indent="0">
              <a:buFontTx/>
              <a:buNone/>
              <a:defRPr/>
            </a:pPr>
            <a:endParaRPr lang="sv-SE" sz="240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0" y="0"/>
            <a:ext cx="9144000" cy="562074"/>
          </a:xfrm>
        </p:spPr>
        <p:txBody>
          <a:bodyPr>
            <a:normAutofit/>
          </a:bodyPr>
          <a:lstStyle/>
          <a:p>
            <a:r>
              <a:rPr lang="sv-SE" sz="2800" smtClean="0">
                <a:solidFill>
                  <a:srgbClr val="0000FF"/>
                </a:solidFill>
              </a:rPr>
              <a:t>Metadata overview for final observation registers</a:t>
            </a:r>
            <a:endParaRPr lang="sv-SE" sz="2800">
              <a:solidFill>
                <a:srgbClr val="0000FF"/>
              </a:solidFill>
            </a:endParaRPr>
          </a:p>
        </p:txBody>
      </p:sp>
      <p:pic>
        <p:nvPicPr>
          <p:cNvPr id="28674" name="Picture 2"/>
          <p:cNvPicPr>
            <a:picLocks noChangeAspect="1" noChangeArrowheads="1"/>
          </p:cNvPicPr>
          <p:nvPr/>
        </p:nvPicPr>
        <p:blipFill>
          <a:blip r:embed="rId2" cstate="print"/>
          <a:srcRect/>
          <a:stretch>
            <a:fillRect/>
          </a:stretch>
        </p:blipFill>
        <p:spPr bwMode="auto">
          <a:xfrm>
            <a:off x="2195736" y="606599"/>
            <a:ext cx="4248472" cy="5763010"/>
          </a:xfrm>
          <a:prstGeom prst="rect">
            <a:avLst/>
          </a:prstGeom>
          <a:noFill/>
          <a:ln w="9525">
            <a:noFill/>
            <a:miter lim="800000"/>
            <a:headEnd/>
            <a:tailEnd/>
          </a:ln>
        </p:spPr>
      </p:pic>
      <p:sp>
        <p:nvSpPr>
          <p:cNvPr id="4" name="Rektangel 3"/>
          <p:cNvSpPr/>
          <p:nvPr/>
        </p:nvSpPr>
        <p:spPr>
          <a:xfrm>
            <a:off x="0" y="6453336"/>
            <a:ext cx="9144000" cy="323165"/>
          </a:xfrm>
          <a:prstGeom prst="rect">
            <a:avLst/>
          </a:prstGeom>
        </p:spPr>
        <p:txBody>
          <a:bodyPr wrap="square">
            <a:spAutoFit/>
          </a:bodyPr>
          <a:lstStyle/>
          <a:p>
            <a:pPr algn="ctr"/>
            <a:r>
              <a:rPr lang="en-US" sz="1500" i="1" smtClean="0"/>
              <a:t>Source: Sundgren&amp;Lindblom (2004) “</a:t>
            </a:r>
            <a:r>
              <a:rPr lang="en-US" sz="1500" i="1" u="sng" smtClean="0">
                <a:hlinkClick r:id="rId3"/>
              </a:rPr>
              <a:t>The metadata system at Statistics Sweden in an international perspective</a:t>
            </a:r>
            <a:r>
              <a:rPr lang="en-US" sz="1500" i="1" smtClean="0"/>
              <a:t>”</a:t>
            </a:r>
            <a:endParaRPr lang="sv-SE" sz="15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67544" y="0"/>
            <a:ext cx="8229600" cy="706090"/>
          </a:xfrm>
        </p:spPr>
        <p:txBody>
          <a:bodyPr>
            <a:normAutofit/>
          </a:bodyPr>
          <a:lstStyle/>
          <a:p>
            <a:r>
              <a:rPr lang="sv-SE" sz="3600" smtClean="0">
                <a:solidFill>
                  <a:srgbClr val="0000FF"/>
                </a:solidFill>
              </a:rPr>
              <a:t>Complete MicroMeta model</a:t>
            </a:r>
            <a:endParaRPr lang="sv-SE" sz="3600">
              <a:solidFill>
                <a:srgbClr val="0000FF"/>
              </a:solidFill>
            </a:endParaRPr>
          </a:p>
        </p:txBody>
      </p:sp>
      <p:pic>
        <p:nvPicPr>
          <p:cNvPr id="29698" name="Picture 2"/>
          <p:cNvPicPr>
            <a:picLocks noChangeAspect="1" noChangeArrowheads="1"/>
          </p:cNvPicPr>
          <p:nvPr/>
        </p:nvPicPr>
        <p:blipFill>
          <a:blip r:embed="rId2" cstate="print"/>
          <a:srcRect/>
          <a:stretch>
            <a:fillRect/>
          </a:stretch>
        </p:blipFill>
        <p:spPr bwMode="auto">
          <a:xfrm>
            <a:off x="683568" y="764704"/>
            <a:ext cx="7704856" cy="5589439"/>
          </a:xfrm>
          <a:prstGeom prst="rect">
            <a:avLst/>
          </a:prstGeom>
          <a:noFill/>
          <a:ln w="9525">
            <a:noFill/>
            <a:miter lim="800000"/>
            <a:headEnd/>
            <a:tailEnd/>
          </a:ln>
        </p:spPr>
      </p:pic>
      <p:sp>
        <p:nvSpPr>
          <p:cNvPr id="4" name="Rektangel 3"/>
          <p:cNvSpPr/>
          <p:nvPr/>
        </p:nvSpPr>
        <p:spPr>
          <a:xfrm>
            <a:off x="0" y="6453336"/>
            <a:ext cx="9144000" cy="323165"/>
          </a:xfrm>
          <a:prstGeom prst="rect">
            <a:avLst/>
          </a:prstGeom>
        </p:spPr>
        <p:txBody>
          <a:bodyPr wrap="square">
            <a:spAutoFit/>
          </a:bodyPr>
          <a:lstStyle/>
          <a:p>
            <a:pPr algn="ctr"/>
            <a:r>
              <a:rPr lang="en-US" sz="1500" i="1" smtClean="0"/>
              <a:t>Source: Sundgren&amp;Lindblom (2004) “</a:t>
            </a:r>
            <a:r>
              <a:rPr lang="en-US" sz="1500" i="1" u="sng" smtClean="0">
                <a:hlinkClick r:id="rId3"/>
              </a:rPr>
              <a:t>The metadata system at Statistics Sweden in an international perspective</a:t>
            </a:r>
            <a:r>
              <a:rPr lang="en-US" sz="1500" i="1" smtClean="0"/>
              <a:t>”</a:t>
            </a:r>
            <a:endParaRPr lang="sv-SE" sz="15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116632"/>
            <a:ext cx="8229600" cy="576064"/>
          </a:xfrm>
        </p:spPr>
        <p:txBody>
          <a:bodyPr>
            <a:normAutofit fontScale="90000"/>
          </a:bodyPr>
          <a:lstStyle/>
          <a:p>
            <a:r>
              <a:rPr lang="sv-SE" sz="3600" smtClean="0">
                <a:solidFill>
                  <a:srgbClr val="0000FF"/>
                </a:solidFill>
              </a:rPr>
              <a:t>MacroMeta: simplified overview</a:t>
            </a:r>
            <a:endParaRPr lang="sv-SE" sz="3600">
              <a:solidFill>
                <a:srgbClr val="0000FF"/>
              </a:solidFill>
            </a:endParaRPr>
          </a:p>
        </p:txBody>
      </p:sp>
      <p:pic>
        <p:nvPicPr>
          <p:cNvPr id="30722" name="Picture 2"/>
          <p:cNvPicPr>
            <a:picLocks noChangeAspect="1" noChangeArrowheads="1"/>
          </p:cNvPicPr>
          <p:nvPr/>
        </p:nvPicPr>
        <p:blipFill>
          <a:blip r:embed="rId2" cstate="print"/>
          <a:srcRect/>
          <a:stretch>
            <a:fillRect/>
          </a:stretch>
        </p:blipFill>
        <p:spPr bwMode="auto">
          <a:xfrm>
            <a:off x="1043608" y="836712"/>
            <a:ext cx="7069599" cy="5461294"/>
          </a:xfrm>
          <a:prstGeom prst="rect">
            <a:avLst/>
          </a:prstGeom>
          <a:noFill/>
          <a:ln w="9525">
            <a:noFill/>
            <a:miter lim="800000"/>
            <a:headEnd/>
            <a:tailEnd/>
          </a:ln>
        </p:spPr>
      </p:pic>
      <p:sp>
        <p:nvSpPr>
          <p:cNvPr id="4" name="Rektangel 3"/>
          <p:cNvSpPr/>
          <p:nvPr/>
        </p:nvSpPr>
        <p:spPr>
          <a:xfrm>
            <a:off x="0" y="6381328"/>
            <a:ext cx="9144000" cy="323165"/>
          </a:xfrm>
          <a:prstGeom prst="rect">
            <a:avLst/>
          </a:prstGeom>
        </p:spPr>
        <p:txBody>
          <a:bodyPr wrap="square">
            <a:spAutoFit/>
          </a:bodyPr>
          <a:lstStyle/>
          <a:p>
            <a:pPr algn="ctr"/>
            <a:r>
              <a:rPr lang="en-US" sz="1500" i="1" smtClean="0"/>
              <a:t>Source: Sundgren&amp;Lindblom (2004) “</a:t>
            </a:r>
            <a:r>
              <a:rPr lang="en-US" sz="1500" i="1" u="sng" smtClean="0">
                <a:hlinkClick r:id="rId3"/>
              </a:rPr>
              <a:t>The metadata system at Statistics Sweden in an international perspective</a:t>
            </a:r>
            <a:r>
              <a:rPr lang="en-US" sz="1500" i="1" smtClean="0"/>
              <a:t>”</a:t>
            </a:r>
            <a:endParaRPr lang="sv-SE" sz="15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solidFill>
                  <a:srgbClr val="0000FF"/>
                </a:solidFill>
              </a:rPr>
              <a:t>MacroMeta: complete model</a:t>
            </a:r>
            <a:endParaRPr lang="sv-SE">
              <a:solidFill>
                <a:srgbClr val="0000FF"/>
              </a:solidFill>
            </a:endParaRPr>
          </a:p>
        </p:txBody>
      </p:sp>
      <p:pic>
        <p:nvPicPr>
          <p:cNvPr id="31746" name="Picture 2"/>
          <p:cNvPicPr>
            <a:picLocks noChangeAspect="1" noChangeArrowheads="1"/>
          </p:cNvPicPr>
          <p:nvPr/>
        </p:nvPicPr>
        <p:blipFill>
          <a:blip r:embed="rId2" cstate="print"/>
          <a:srcRect/>
          <a:stretch>
            <a:fillRect/>
          </a:stretch>
        </p:blipFill>
        <p:spPr bwMode="auto">
          <a:xfrm>
            <a:off x="0" y="1628800"/>
            <a:ext cx="9036496" cy="3311288"/>
          </a:xfrm>
          <a:prstGeom prst="rect">
            <a:avLst/>
          </a:prstGeom>
          <a:noFill/>
          <a:ln w="9525">
            <a:noFill/>
            <a:miter lim="800000"/>
            <a:headEnd/>
            <a:tailEnd/>
          </a:ln>
        </p:spPr>
      </p:pic>
      <p:sp>
        <p:nvSpPr>
          <p:cNvPr id="4" name="Rektangel 3"/>
          <p:cNvSpPr/>
          <p:nvPr/>
        </p:nvSpPr>
        <p:spPr>
          <a:xfrm>
            <a:off x="0" y="5661248"/>
            <a:ext cx="9144000" cy="323165"/>
          </a:xfrm>
          <a:prstGeom prst="rect">
            <a:avLst/>
          </a:prstGeom>
        </p:spPr>
        <p:txBody>
          <a:bodyPr wrap="square">
            <a:spAutoFit/>
          </a:bodyPr>
          <a:lstStyle/>
          <a:p>
            <a:pPr algn="ctr"/>
            <a:r>
              <a:rPr lang="en-US" sz="1500" i="1" smtClean="0"/>
              <a:t>Source: Sundgren&amp;Lindblom (2004) “</a:t>
            </a:r>
            <a:r>
              <a:rPr lang="en-US" sz="1500" i="1" u="sng" smtClean="0">
                <a:hlinkClick r:id="rId3"/>
              </a:rPr>
              <a:t>The metadata system at Statistics Sweden in an international perspective</a:t>
            </a:r>
            <a:r>
              <a:rPr lang="en-US" sz="1500" i="1" smtClean="0"/>
              <a:t>”</a:t>
            </a:r>
            <a:endParaRPr lang="sv-SE" sz="15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1066130"/>
          </a:xfrm>
        </p:spPr>
        <p:txBody>
          <a:bodyPr>
            <a:normAutofit fontScale="90000"/>
          </a:bodyPr>
          <a:lstStyle/>
          <a:p>
            <a:r>
              <a:rPr lang="sv-SE" sz="4000" smtClean="0">
                <a:solidFill>
                  <a:srgbClr val="0000FF"/>
                </a:solidFill>
              </a:rPr>
              <a:t>Three critical success factors for documentation and metadata</a:t>
            </a:r>
            <a:endParaRPr lang="sv-SE" sz="4000">
              <a:solidFill>
                <a:srgbClr val="0000FF"/>
              </a:solidFill>
            </a:endParaRPr>
          </a:p>
        </p:txBody>
      </p:sp>
      <p:sp>
        <p:nvSpPr>
          <p:cNvPr id="3" name="Platshållare för innehåll 2"/>
          <p:cNvSpPr>
            <a:spLocks noGrp="1"/>
          </p:cNvSpPr>
          <p:nvPr>
            <p:ph idx="1"/>
          </p:nvPr>
        </p:nvSpPr>
        <p:spPr>
          <a:xfrm>
            <a:off x="457200" y="1772816"/>
            <a:ext cx="8507288" cy="4353347"/>
          </a:xfrm>
        </p:spPr>
        <p:txBody>
          <a:bodyPr>
            <a:normAutofit/>
          </a:bodyPr>
          <a:lstStyle/>
          <a:p>
            <a:pPr lvl="0"/>
            <a:r>
              <a:rPr lang="en-US" smtClean="0">
                <a:solidFill>
                  <a:srgbClr val="FF0000"/>
                </a:solidFill>
              </a:rPr>
              <a:t>Motivation</a:t>
            </a:r>
            <a:r>
              <a:rPr lang="en-US" smtClean="0"/>
              <a:t>: How to respond to the arguments against documentation-related work?</a:t>
            </a:r>
            <a:endParaRPr lang="sv-SE" smtClean="0"/>
          </a:p>
          <a:p>
            <a:pPr lvl="0"/>
            <a:r>
              <a:rPr lang="en-US" smtClean="0">
                <a:solidFill>
                  <a:srgbClr val="FF0000"/>
                </a:solidFill>
              </a:rPr>
              <a:t>Contents</a:t>
            </a:r>
            <a:r>
              <a:rPr lang="en-US" smtClean="0"/>
              <a:t>: Which metadata are needed by which stakeholders for which purposes?</a:t>
            </a:r>
            <a:endParaRPr lang="sv-SE" smtClean="0"/>
          </a:p>
          <a:p>
            <a:pPr lvl="0"/>
            <a:r>
              <a:rPr lang="en-US" smtClean="0">
                <a:solidFill>
                  <a:srgbClr val="FF0000"/>
                </a:solidFill>
              </a:rPr>
              <a:t>Management</a:t>
            </a:r>
            <a:r>
              <a:rPr lang="en-US" smtClean="0"/>
              <a:t>: How to manage a metadata system in an efficient and sustainable way?</a:t>
            </a:r>
            <a:endParaRPr lang="sv-S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706090"/>
          </a:xfrm>
        </p:spPr>
        <p:txBody>
          <a:bodyPr>
            <a:normAutofit/>
          </a:bodyPr>
          <a:lstStyle/>
          <a:p>
            <a:r>
              <a:rPr lang="sv-SE" sz="4000" smtClean="0">
                <a:solidFill>
                  <a:srgbClr val="0000FF"/>
                </a:solidFill>
              </a:rPr>
              <a:t>Arguments against documentation</a:t>
            </a:r>
            <a:endParaRPr lang="sv-SE" sz="4000">
              <a:solidFill>
                <a:srgbClr val="0000FF"/>
              </a:solidFill>
            </a:endParaRPr>
          </a:p>
        </p:txBody>
      </p:sp>
      <p:sp>
        <p:nvSpPr>
          <p:cNvPr id="3" name="Platshållare för innehåll 2"/>
          <p:cNvSpPr>
            <a:spLocks noGrp="1"/>
          </p:cNvSpPr>
          <p:nvPr>
            <p:ph idx="1"/>
          </p:nvPr>
        </p:nvSpPr>
        <p:spPr>
          <a:xfrm>
            <a:off x="457200" y="1268760"/>
            <a:ext cx="8507288" cy="4857403"/>
          </a:xfrm>
        </p:spPr>
        <p:txBody>
          <a:bodyPr>
            <a:normAutofit fontScale="85000" lnSpcReduction="20000"/>
          </a:bodyPr>
          <a:lstStyle/>
          <a:p>
            <a:r>
              <a:rPr lang="sv-SE" smtClean="0"/>
              <a:t>Time and costs: ”we don’t have the resources”</a:t>
            </a:r>
          </a:p>
          <a:p>
            <a:r>
              <a:rPr lang="sv-SE" smtClean="0"/>
              <a:t>”We have more important things to do”</a:t>
            </a:r>
          </a:p>
          <a:p>
            <a:r>
              <a:rPr lang="sv-SE" smtClean="0"/>
              <a:t>Dull, not fun, not rewarding</a:t>
            </a:r>
          </a:p>
          <a:p>
            <a:r>
              <a:rPr lang="sv-SE" smtClean="0"/>
              <a:t>Competent key persons are scarce resources</a:t>
            </a:r>
          </a:p>
          <a:p>
            <a:r>
              <a:rPr lang="sv-SE" smtClean="0"/>
              <a:t>”I know everything – come to me and ask”</a:t>
            </a:r>
          </a:p>
          <a:p>
            <a:r>
              <a:rPr lang="sv-SE" smtClean="0"/>
              <a:t>”I don’t want to lose my knowledge monopoly”</a:t>
            </a:r>
          </a:p>
          <a:p>
            <a:r>
              <a:rPr lang="sv-SE" smtClean="0"/>
              <a:t>”The users don’t ask for documentation”</a:t>
            </a:r>
          </a:p>
          <a:p>
            <a:r>
              <a:rPr lang="sv-SE" smtClean="0"/>
              <a:t>Easy-to-use tools are not available</a:t>
            </a:r>
          </a:p>
          <a:p>
            <a:r>
              <a:rPr lang="sv-SE" smtClean="0"/>
              <a:t>Documentation is produced as a separate activity</a:t>
            </a:r>
          </a:p>
          <a:p>
            <a:r>
              <a:rPr lang="sv-SE" smtClean="0"/>
              <a:t>There are too many types of documentation, contents overlapping and not well motivated, duplication of work</a:t>
            </a:r>
            <a:endParaRPr lang="sv-S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274638"/>
            <a:ext cx="8229600" cy="850106"/>
          </a:xfrm>
        </p:spPr>
        <p:txBody>
          <a:bodyPr>
            <a:normAutofit fontScale="90000"/>
          </a:bodyPr>
          <a:lstStyle/>
          <a:p>
            <a:r>
              <a:rPr lang="sv-SE" sz="3200" smtClean="0">
                <a:solidFill>
                  <a:srgbClr val="0000FF"/>
                </a:solidFill>
              </a:rPr>
              <a:t>Stakeholders in official statistics and in</a:t>
            </a:r>
            <a:br>
              <a:rPr lang="sv-SE" sz="3200" smtClean="0">
                <a:solidFill>
                  <a:srgbClr val="0000FF"/>
                </a:solidFill>
              </a:rPr>
            </a:br>
            <a:r>
              <a:rPr lang="sv-SE" sz="3200" smtClean="0">
                <a:solidFill>
                  <a:srgbClr val="0000FF"/>
                </a:solidFill>
              </a:rPr>
              <a:t>metadata about official statistics</a:t>
            </a:r>
            <a:endParaRPr lang="sv-SE" sz="3200">
              <a:solidFill>
                <a:srgbClr val="0000FF"/>
              </a:solidFill>
            </a:endParaRPr>
          </a:p>
        </p:txBody>
      </p:sp>
      <p:pic>
        <p:nvPicPr>
          <p:cNvPr id="2050" name="Picture 2"/>
          <p:cNvPicPr>
            <a:picLocks noChangeAspect="1" noChangeArrowheads="1"/>
          </p:cNvPicPr>
          <p:nvPr/>
        </p:nvPicPr>
        <p:blipFill>
          <a:blip r:embed="rId2" cstate="print"/>
          <a:srcRect/>
          <a:stretch>
            <a:fillRect/>
          </a:stretch>
        </p:blipFill>
        <p:spPr bwMode="auto">
          <a:xfrm>
            <a:off x="179512" y="1484784"/>
            <a:ext cx="8795485" cy="4909896"/>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67544" y="116632"/>
            <a:ext cx="8229600" cy="706090"/>
          </a:xfrm>
        </p:spPr>
        <p:txBody>
          <a:bodyPr>
            <a:normAutofit/>
          </a:bodyPr>
          <a:lstStyle/>
          <a:p>
            <a:r>
              <a:rPr lang="sv-SE" sz="4000" smtClean="0">
                <a:solidFill>
                  <a:srgbClr val="0000FF"/>
                </a:solidFill>
              </a:rPr>
              <a:t>Documentation/metadata objects</a:t>
            </a:r>
            <a:endParaRPr lang="sv-SE" sz="4000">
              <a:solidFill>
                <a:srgbClr val="0000FF"/>
              </a:solidFill>
            </a:endParaRPr>
          </a:p>
        </p:txBody>
      </p:sp>
      <p:sp>
        <p:nvSpPr>
          <p:cNvPr id="3" name="Platshållare för innehåll 2"/>
          <p:cNvSpPr>
            <a:spLocks noGrp="1"/>
          </p:cNvSpPr>
          <p:nvPr>
            <p:ph idx="1"/>
          </p:nvPr>
        </p:nvSpPr>
        <p:spPr>
          <a:xfrm>
            <a:off x="467544" y="1052736"/>
            <a:ext cx="8507288" cy="5589240"/>
          </a:xfrm>
        </p:spPr>
        <p:txBody>
          <a:bodyPr>
            <a:normAutofit fontScale="92500" lnSpcReduction="10000"/>
          </a:bodyPr>
          <a:lstStyle/>
          <a:p>
            <a:r>
              <a:rPr lang="sv-SE" smtClean="0">
                <a:solidFill>
                  <a:srgbClr val="FF0000"/>
                </a:solidFill>
              </a:rPr>
              <a:t>Datasets</a:t>
            </a:r>
          </a:p>
          <a:p>
            <a:pPr lvl="1"/>
            <a:r>
              <a:rPr lang="sv-SE" smtClean="0"/>
              <a:t>information contents</a:t>
            </a:r>
          </a:p>
          <a:p>
            <a:pPr lvl="2"/>
            <a:r>
              <a:rPr lang="sv-SE" smtClean="0"/>
              <a:t>object types and populations</a:t>
            </a:r>
          </a:p>
          <a:p>
            <a:pPr lvl="2"/>
            <a:r>
              <a:rPr lang="sv-SE" smtClean="0"/>
              <a:t>object relations and relational objects</a:t>
            </a:r>
          </a:p>
          <a:p>
            <a:pPr lvl="2"/>
            <a:r>
              <a:rPr lang="sv-SE" smtClean="0"/>
              <a:t>variables and value sets</a:t>
            </a:r>
          </a:p>
          <a:p>
            <a:pPr lvl="1"/>
            <a:r>
              <a:rPr lang="sv-SE" smtClean="0"/>
              <a:t>physical datasets</a:t>
            </a:r>
          </a:p>
          <a:p>
            <a:r>
              <a:rPr lang="sv-SE" smtClean="0">
                <a:solidFill>
                  <a:srgbClr val="FF0000"/>
                </a:solidFill>
              </a:rPr>
              <a:t>Processes and systems</a:t>
            </a:r>
          </a:p>
          <a:p>
            <a:r>
              <a:rPr lang="sv-SE" smtClean="0">
                <a:solidFill>
                  <a:srgbClr val="FF0000"/>
                </a:solidFill>
              </a:rPr>
              <a:t>Instruments and tools</a:t>
            </a:r>
          </a:p>
          <a:p>
            <a:pPr lvl="1"/>
            <a:r>
              <a:rPr lang="sv-SE" smtClean="0"/>
              <a:t>methods, algorithms, programs</a:t>
            </a:r>
          </a:p>
          <a:p>
            <a:pPr lvl="1"/>
            <a:r>
              <a:rPr lang="sv-SE" smtClean="0"/>
              <a:t>questionnaires and other measurement instruments</a:t>
            </a:r>
          </a:p>
          <a:p>
            <a:pPr lvl="1"/>
            <a:r>
              <a:rPr lang="sv-SE" smtClean="0"/>
              <a:t>registers, classifications, other auxiliary datasets</a:t>
            </a:r>
          </a:p>
          <a:p>
            <a:pPr lvl="1"/>
            <a:r>
              <a:rPr lang="sv-SE" smtClean="0"/>
              <a:t>metadata, documentation</a:t>
            </a:r>
            <a:endParaRPr lang="sv-S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67544" y="116632"/>
            <a:ext cx="8229600" cy="706090"/>
          </a:xfrm>
        </p:spPr>
        <p:txBody>
          <a:bodyPr>
            <a:normAutofit/>
          </a:bodyPr>
          <a:lstStyle/>
          <a:p>
            <a:r>
              <a:rPr lang="sv-SE" sz="4000" smtClean="0">
                <a:solidFill>
                  <a:srgbClr val="0000FF"/>
                </a:solidFill>
              </a:rPr>
              <a:t>Documentation/metadata variables</a:t>
            </a:r>
            <a:endParaRPr lang="sv-SE" sz="4000">
              <a:solidFill>
                <a:srgbClr val="0000FF"/>
              </a:solidFill>
            </a:endParaRPr>
          </a:p>
        </p:txBody>
      </p:sp>
      <p:sp>
        <p:nvSpPr>
          <p:cNvPr id="3" name="Platshållare för innehåll 2"/>
          <p:cNvSpPr>
            <a:spLocks noGrp="1"/>
          </p:cNvSpPr>
          <p:nvPr>
            <p:ph idx="1"/>
          </p:nvPr>
        </p:nvSpPr>
        <p:spPr>
          <a:xfrm>
            <a:off x="467544" y="1052736"/>
            <a:ext cx="8507288" cy="5589240"/>
          </a:xfrm>
        </p:spPr>
        <p:txBody>
          <a:bodyPr>
            <a:normAutofit fontScale="92500" lnSpcReduction="20000"/>
          </a:bodyPr>
          <a:lstStyle/>
          <a:p>
            <a:r>
              <a:rPr lang="sv-SE" smtClean="0">
                <a:solidFill>
                  <a:srgbClr val="FF0000"/>
                </a:solidFill>
              </a:rPr>
              <a:t>For datasets:</a:t>
            </a:r>
          </a:p>
          <a:p>
            <a:pPr lvl="1"/>
            <a:r>
              <a:rPr lang="sv-SE" smtClean="0"/>
              <a:t>definitions, verbal or formal</a:t>
            </a:r>
          </a:p>
          <a:p>
            <a:pPr lvl="1"/>
            <a:r>
              <a:rPr lang="sv-SE" smtClean="0"/>
              <a:t>quality variables, by quality component</a:t>
            </a:r>
          </a:p>
          <a:p>
            <a:pPr lvl="1"/>
            <a:r>
              <a:rPr lang="sv-SE" smtClean="0"/>
              <a:t>technical metadata, e.g. storage format</a:t>
            </a:r>
          </a:p>
          <a:p>
            <a:r>
              <a:rPr lang="sv-SE" smtClean="0">
                <a:solidFill>
                  <a:srgbClr val="FF0000"/>
                </a:solidFill>
              </a:rPr>
              <a:t>For processes and systems:</a:t>
            </a:r>
          </a:p>
          <a:p>
            <a:pPr lvl="1"/>
            <a:r>
              <a:rPr lang="sv-SE" smtClean="0"/>
              <a:t>references to input and output datasets</a:t>
            </a:r>
          </a:p>
          <a:p>
            <a:pPr lvl="1"/>
            <a:r>
              <a:rPr lang="sv-SE" smtClean="0"/>
              <a:t>references to instruments and tools</a:t>
            </a:r>
          </a:p>
          <a:p>
            <a:pPr lvl="1"/>
            <a:r>
              <a:rPr lang="sv-SE" smtClean="0"/>
              <a:t>process data (paradata) generated by the processes</a:t>
            </a:r>
          </a:p>
          <a:p>
            <a:r>
              <a:rPr lang="sv-SE" smtClean="0">
                <a:solidFill>
                  <a:srgbClr val="FF0000"/>
                </a:solidFill>
              </a:rPr>
              <a:t>For instruments and tools:</a:t>
            </a:r>
          </a:p>
          <a:p>
            <a:pPr lvl="1"/>
            <a:r>
              <a:rPr lang="sv-SE" smtClean="0"/>
              <a:t>documentation of instruments and tools</a:t>
            </a:r>
          </a:p>
          <a:p>
            <a:pPr lvl="1"/>
            <a:r>
              <a:rPr lang="sv-SE" smtClean="0"/>
              <a:t>the instruments and tools themselves (</a:t>
            </a:r>
            <a:r>
              <a:rPr lang="sv-SE" i="1" smtClean="0"/>
              <a:t>in extenso</a:t>
            </a:r>
            <a:r>
              <a:rPr lang="sv-SE" smtClean="0"/>
              <a:t>)</a:t>
            </a:r>
          </a:p>
          <a:p>
            <a:pPr lvl="1"/>
            <a:r>
              <a:rPr lang="sv-SE" smtClean="0"/>
              <a:t>references to systems and processes using them</a:t>
            </a:r>
          </a:p>
          <a:p>
            <a:pPr lvl="1"/>
            <a:r>
              <a:rPr lang="sv-SE" smtClean="0"/>
              <a:t>user experiences</a:t>
            </a:r>
            <a:endParaRPr lang="sv-S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0" y="116632"/>
            <a:ext cx="9144000" cy="490066"/>
          </a:xfrm>
        </p:spPr>
        <p:txBody>
          <a:bodyPr>
            <a:noAutofit/>
          </a:bodyPr>
          <a:lstStyle/>
          <a:p>
            <a:r>
              <a:rPr lang="sv-SE" sz="2700" smtClean="0">
                <a:solidFill>
                  <a:srgbClr val="0000FF"/>
                </a:solidFill>
              </a:rPr>
              <a:t>Use, production, and recycling of documentation and metadata</a:t>
            </a:r>
            <a:endParaRPr lang="sv-SE" sz="2700">
              <a:solidFill>
                <a:srgbClr val="0000FF"/>
              </a:solidFill>
            </a:endParaRPr>
          </a:p>
        </p:txBody>
      </p:sp>
      <p:pic>
        <p:nvPicPr>
          <p:cNvPr id="32770" name="Picture 2"/>
          <p:cNvPicPr>
            <a:picLocks noChangeAspect="1" noChangeArrowheads="1"/>
          </p:cNvPicPr>
          <p:nvPr/>
        </p:nvPicPr>
        <p:blipFill>
          <a:blip r:embed="rId2" cstate="print"/>
          <a:srcRect/>
          <a:stretch>
            <a:fillRect/>
          </a:stretch>
        </p:blipFill>
        <p:spPr bwMode="auto">
          <a:xfrm>
            <a:off x="395536" y="908720"/>
            <a:ext cx="8424936" cy="5787631"/>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smtClean="0">
                <a:solidFill>
                  <a:srgbClr val="0000FF"/>
                </a:solidFill>
              </a:rPr>
              <a:t>The Swedish Statistics Commission</a:t>
            </a:r>
            <a:endParaRPr lang="sv-SE">
              <a:solidFill>
                <a:srgbClr val="0000FF"/>
              </a:solidFill>
            </a:endParaRPr>
          </a:p>
        </p:txBody>
      </p:sp>
      <p:sp>
        <p:nvSpPr>
          <p:cNvPr id="3" name="Platshållare för innehåll 2"/>
          <p:cNvSpPr>
            <a:spLocks noGrp="1"/>
          </p:cNvSpPr>
          <p:nvPr>
            <p:ph idx="1"/>
          </p:nvPr>
        </p:nvSpPr>
        <p:spPr/>
        <p:txBody>
          <a:bodyPr>
            <a:normAutofit/>
          </a:bodyPr>
          <a:lstStyle/>
          <a:p>
            <a:r>
              <a:rPr lang="sv-SE" sz="2800" smtClean="0"/>
              <a:t>Set up by the Swedish government to evaluate and improve Statistics Sweden and the Swedish Statistical System</a:t>
            </a:r>
          </a:p>
          <a:p>
            <a:r>
              <a:rPr lang="sv-SE" sz="2800" smtClean="0"/>
              <a:t>Principal investigator: Bengt Westerberg,  a former minister of social affairs and leader of the Swedish Liberal Party </a:t>
            </a:r>
          </a:p>
          <a:p>
            <a:r>
              <a:rPr lang="sv-SE" sz="2800" smtClean="0"/>
              <a:t>10 experts</a:t>
            </a:r>
          </a:p>
          <a:p>
            <a:r>
              <a:rPr lang="sv-SE" sz="2800" smtClean="0"/>
              <a:t>Final report to be delivered in December 2012</a:t>
            </a:r>
            <a:endParaRPr lang="sv-SE" sz="2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188640"/>
            <a:ext cx="8229600" cy="720080"/>
          </a:xfrm>
        </p:spPr>
        <p:txBody>
          <a:bodyPr>
            <a:normAutofit/>
          </a:bodyPr>
          <a:lstStyle/>
          <a:p>
            <a:r>
              <a:rPr lang="sv-SE" sz="3600" smtClean="0">
                <a:solidFill>
                  <a:srgbClr val="0000FF"/>
                </a:solidFill>
              </a:rPr>
              <a:t>Some tasks of the Statistics Commission</a:t>
            </a:r>
            <a:endParaRPr lang="sv-SE" sz="3600">
              <a:solidFill>
                <a:srgbClr val="0000FF"/>
              </a:solidFill>
            </a:endParaRPr>
          </a:p>
        </p:txBody>
      </p:sp>
      <p:sp>
        <p:nvSpPr>
          <p:cNvPr id="3" name="Platshållare för innehåll 2"/>
          <p:cNvSpPr>
            <a:spLocks noGrp="1"/>
          </p:cNvSpPr>
          <p:nvPr>
            <p:ph idx="1"/>
          </p:nvPr>
        </p:nvSpPr>
        <p:spPr>
          <a:xfrm>
            <a:off x="457200" y="980728"/>
            <a:ext cx="8229600" cy="5544616"/>
          </a:xfrm>
        </p:spPr>
        <p:txBody>
          <a:bodyPr>
            <a:normAutofit fontScale="70000" lnSpcReduction="20000"/>
          </a:bodyPr>
          <a:lstStyle/>
          <a:p>
            <a:r>
              <a:rPr lang="sv-SE" smtClean="0"/>
              <a:t>Analyse centralised vs decentralised system</a:t>
            </a:r>
          </a:p>
          <a:p>
            <a:r>
              <a:rPr lang="sv-SE" smtClean="0"/>
              <a:t>Examine in particular the quality and accessibility of statistics, including documentation, pricing, and confidentiality</a:t>
            </a:r>
          </a:p>
          <a:p>
            <a:r>
              <a:rPr lang="sv-SE" smtClean="0"/>
              <a:t>Analyse what it means for statistics production that state authorities as a rule should not sell goods and services on the market</a:t>
            </a:r>
          </a:p>
          <a:p>
            <a:r>
              <a:rPr lang="sv-SE" smtClean="0"/>
              <a:t>Analyse the impact on SCB of the PSI Act</a:t>
            </a:r>
          </a:p>
          <a:p>
            <a:r>
              <a:rPr lang="sv-SE" smtClean="0"/>
              <a:t>Propose measures to ensure and improve quality, accessibility, and documentation, including a monitoring system</a:t>
            </a:r>
          </a:p>
          <a:p>
            <a:r>
              <a:rPr lang="sv-SE" smtClean="0"/>
              <a:t>Propose a strengthening of SCB’s cooperation with universities and other agencies</a:t>
            </a:r>
          </a:p>
          <a:p>
            <a:r>
              <a:rPr lang="sv-SE" smtClean="0"/>
              <a:t>Propose how the system of official statistics should be designed</a:t>
            </a:r>
          </a:p>
          <a:p>
            <a:r>
              <a:rPr lang="sv-SE" smtClean="0"/>
              <a:t>Propose changes in Swedish regulations </a:t>
            </a:r>
            <a:r>
              <a:rPr lang="sv-SE" smtClean="0"/>
              <a:t>as </a:t>
            </a:r>
            <a:r>
              <a:rPr lang="sv-SE" smtClean="0"/>
              <a:t>the result of new regulations and expected changes on the European level, e.g. the Code of Practice for European Statistics, the PSI Directive, and ”the EU vision for official statistics” (see enclosed slide)</a:t>
            </a:r>
          </a:p>
          <a:p>
            <a:r>
              <a:rPr lang="sv-SE" smtClean="0"/>
              <a:t>Propose any constitutional amendments deemed necessary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188640"/>
            <a:ext cx="8229600" cy="1080120"/>
          </a:xfrm>
        </p:spPr>
        <p:txBody>
          <a:bodyPr>
            <a:normAutofit fontScale="90000"/>
          </a:bodyPr>
          <a:lstStyle/>
          <a:p>
            <a:r>
              <a:rPr lang="sv-SE" sz="3600" smtClean="0">
                <a:solidFill>
                  <a:srgbClr val="0000FF"/>
                </a:solidFill>
              </a:rPr>
              <a:t>Summary of my proposals concerning quality, availability, and documentation</a:t>
            </a:r>
            <a:endParaRPr lang="sv-SE" sz="3600">
              <a:solidFill>
                <a:srgbClr val="0000FF"/>
              </a:solidFill>
            </a:endParaRPr>
          </a:p>
        </p:txBody>
      </p:sp>
      <p:sp>
        <p:nvSpPr>
          <p:cNvPr id="3" name="Platshållare för innehåll 2"/>
          <p:cNvSpPr>
            <a:spLocks noGrp="1"/>
          </p:cNvSpPr>
          <p:nvPr>
            <p:ph idx="1"/>
          </p:nvPr>
        </p:nvSpPr>
        <p:spPr>
          <a:xfrm>
            <a:off x="457200" y="1556792"/>
            <a:ext cx="8229600" cy="4968552"/>
          </a:xfrm>
        </p:spPr>
        <p:txBody>
          <a:bodyPr>
            <a:normAutofit/>
          </a:bodyPr>
          <a:lstStyle/>
          <a:p>
            <a:r>
              <a:rPr lang="sv-SE" sz="2800" smtClean="0"/>
              <a:t>Independent monitoring system</a:t>
            </a:r>
          </a:p>
          <a:p>
            <a:r>
              <a:rPr lang="sv-SE" sz="2800" smtClean="0"/>
              <a:t>Free access to methods and tools (software, databases, registers, metadata, documentation, etc) that have been developed for official statistics and funded by public money</a:t>
            </a:r>
          </a:p>
          <a:p>
            <a:r>
              <a:rPr lang="sv-SE" sz="2800" smtClean="0"/>
              <a:t>Continuously ongoing development of knowledge, methods, and general tools, funded by public money</a:t>
            </a:r>
          </a:p>
          <a:p>
            <a:r>
              <a:rPr lang="sv-SE" sz="2800" smtClean="0"/>
              <a:t>Systematic implementation of best practices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251520" y="116632"/>
            <a:ext cx="8712968" cy="706090"/>
          </a:xfrm>
        </p:spPr>
        <p:txBody>
          <a:bodyPr>
            <a:normAutofit fontScale="90000"/>
          </a:bodyPr>
          <a:lstStyle/>
          <a:p>
            <a:r>
              <a:rPr lang="sv-SE" sz="4000" smtClean="0">
                <a:solidFill>
                  <a:srgbClr val="0000FF"/>
                </a:solidFill>
              </a:rPr>
              <a:t>Summary of the EU vision for official statistics</a:t>
            </a:r>
            <a:endParaRPr lang="sv-SE" sz="4000">
              <a:solidFill>
                <a:srgbClr val="0000FF"/>
              </a:solidFill>
            </a:endParaRPr>
          </a:p>
        </p:txBody>
      </p:sp>
      <p:sp>
        <p:nvSpPr>
          <p:cNvPr id="3" name="Platshållare för innehåll 2"/>
          <p:cNvSpPr>
            <a:spLocks noGrp="1"/>
          </p:cNvSpPr>
          <p:nvPr>
            <p:ph idx="1"/>
          </p:nvPr>
        </p:nvSpPr>
        <p:spPr>
          <a:xfrm>
            <a:off x="457200" y="980728"/>
            <a:ext cx="8579296" cy="5760640"/>
          </a:xfrm>
        </p:spPr>
        <p:txBody>
          <a:bodyPr>
            <a:normAutofit fontScale="77500" lnSpcReduction="20000"/>
          </a:bodyPr>
          <a:lstStyle/>
          <a:p>
            <a:r>
              <a:rPr lang="sv-SE" sz="2800" smtClean="0">
                <a:solidFill>
                  <a:srgbClr val="FF0000"/>
                </a:solidFill>
              </a:rPr>
              <a:t>Current situation: the augmented stovepipe model</a:t>
            </a:r>
          </a:p>
          <a:p>
            <a:pPr lvl="1"/>
            <a:r>
              <a:rPr lang="sv-SE" sz="2400" smtClean="0"/>
              <a:t>respondents asked for the same information more than once</a:t>
            </a:r>
          </a:p>
          <a:p>
            <a:pPr lvl="1"/>
            <a:r>
              <a:rPr lang="sv-SE" sz="2400" smtClean="0"/>
              <a:t>not adapted to collect data across domains</a:t>
            </a:r>
          </a:p>
          <a:p>
            <a:pPr lvl="1"/>
            <a:r>
              <a:rPr lang="sv-SE" sz="2400" smtClean="0"/>
              <a:t>little standardisation and coordination between areas</a:t>
            </a:r>
          </a:p>
          <a:p>
            <a:pPr lvl="1">
              <a:buNone/>
            </a:pPr>
            <a:endParaRPr lang="sv-SE" sz="1000" smtClean="0"/>
          </a:p>
          <a:p>
            <a:r>
              <a:rPr lang="sv-SE" sz="2800" smtClean="0">
                <a:solidFill>
                  <a:srgbClr val="FF0000"/>
                </a:solidFill>
              </a:rPr>
              <a:t>Demands for change:</a:t>
            </a:r>
          </a:p>
          <a:p>
            <a:pPr lvl="1"/>
            <a:r>
              <a:rPr lang="sv-SE" sz="2400" smtClean="0"/>
              <a:t>new information needs, often across domains, often ad hoc (e.g. in crises)</a:t>
            </a:r>
          </a:p>
          <a:p>
            <a:pPr lvl="1"/>
            <a:r>
              <a:rPr lang="sv-SE" sz="2400" smtClean="0"/>
              <a:t>decrease reponse burden</a:t>
            </a:r>
          </a:p>
          <a:p>
            <a:pPr lvl="1"/>
            <a:r>
              <a:rPr lang="sv-SE" sz="2400" smtClean="0"/>
              <a:t>use new ICT methods and tools to increase efficiency</a:t>
            </a:r>
          </a:p>
          <a:p>
            <a:pPr lvl="1">
              <a:buNone/>
            </a:pPr>
            <a:endParaRPr lang="sv-SE" sz="1000" smtClean="0"/>
          </a:p>
          <a:p>
            <a:r>
              <a:rPr lang="sv-SE" sz="2800" smtClean="0">
                <a:solidFill>
                  <a:srgbClr val="FF0000"/>
                </a:solidFill>
              </a:rPr>
              <a:t>Consequences on the level of Member States:</a:t>
            </a:r>
          </a:p>
          <a:p>
            <a:pPr lvl="1"/>
            <a:r>
              <a:rPr lang="sv-SE" sz="2400" smtClean="0"/>
              <a:t>holistic approach, stovepipes replaced by integrated production systems around a data warehouse</a:t>
            </a:r>
          </a:p>
          <a:p>
            <a:pPr lvl="1"/>
            <a:r>
              <a:rPr lang="sv-SE" sz="2400" smtClean="0"/>
              <a:t>data obtained from existing administrative data and/or extracted directly from company accounts, combining survey data with administrative data, new efforts to ensure the quality of the data</a:t>
            </a:r>
          </a:p>
          <a:p>
            <a:pPr lvl="1">
              <a:buNone/>
            </a:pPr>
            <a:endParaRPr lang="sv-SE" sz="1100" smtClean="0"/>
          </a:p>
          <a:p>
            <a:r>
              <a:rPr lang="sv-SE" sz="2800" smtClean="0">
                <a:solidFill>
                  <a:srgbClr val="FF0000"/>
                </a:solidFill>
              </a:rPr>
              <a:t>Consequences on the EU level:</a:t>
            </a:r>
          </a:p>
          <a:p>
            <a:pPr lvl="1"/>
            <a:r>
              <a:rPr lang="sv-SE" sz="2400" smtClean="0"/>
              <a:t>Horizontal integration similar to the Meber State level</a:t>
            </a:r>
          </a:p>
          <a:p>
            <a:pPr lvl="1"/>
            <a:r>
              <a:rPr lang="sv-SE" sz="2400" smtClean="0"/>
              <a:t>Two elements of vertical integration: (i) collaborative networks, and</a:t>
            </a:r>
          </a:p>
          <a:p>
            <a:pPr lvl="1"/>
            <a:r>
              <a:rPr lang="sv-SE" sz="2400" smtClean="0"/>
              <a:t>(ii) direct production for the EU level, when there is no need for national data</a:t>
            </a:r>
            <a:endParaRPr lang="sv-SE"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57200" y="188640"/>
            <a:ext cx="8229600" cy="792088"/>
          </a:xfrm>
        </p:spPr>
        <p:txBody>
          <a:bodyPr>
            <a:normAutofit/>
          </a:bodyPr>
          <a:lstStyle/>
          <a:p>
            <a:r>
              <a:rPr lang="sv-SE" sz="3600" smtClean="0">
                <a:solidFill>
                  <a:srgbClr val="0000FF"/>
                </a:solidFill>
              </a:rPr>
              <a:t>Golden rules for metadata systems</a:t>
            </a:r>
            <a:endParaRPr lang="sv-SE" sz="3600">
              <a:solidFill>
                <a:srgbClr val="0000FF"/>
              </a:solidFill>
            </a:endParaRPr>
          </a:p>
        </p:txBody>
      </p:sp>
      <p:sp>
        <p:nvSpPr>
          <p:cNvPr id="3" name="Platshållare för innehåll 2"/>
          <p:cNvSpPr>
            <a:spLocks noGrp="1"/>
          </p:cNvSpPr>
          <p:nvPr>
            <p:ph idx="1"/>
          </p:nvPr>
        </p:nvSpPr>
        <p:spPr>
          <a:xfrm>
            <a:off x="457200" y="1124744"/>
            <a:ext cx="8435280" cy="5400600"/>
          </a:xfrm>
        </p:spPr>
        <p:txBody>
          <a:bodyPr>
            <a:normAutofit fontScale="92500" lnSpcReduction="10000"/>
          </a:bodyPr>
          <a:lstStyle/>
          <a:p>
            <a:r>
              <a:rPr lang="en-US" sz="2800" smtClean="0"/>
              <a:t>Experiences of metadata systems from Sweden and elsewhere have been summarized in a set of “golden rules”, aiming at designers, project managers/co-coordinators, and top managers, respectively.</a:t>
            </a:r>
          </a:p>
          <a:p>
            <a:r>
              <a:rPr lang="en-US" sz="2800" smtClean="0"/>
              <a:t>The rules are formulated and elaborated in:</a:t>
            </a:r>
          </a:p>
          <a:p>
            <a:pPr lvl="1"/>
            <a:r>
              <a:rPr lang="en-US" sz="2400" smtClean="0">
                <a:solidFill>
                  <a:srgbClr val="FF0000"/>
                </a:solidFill>
              </a:rPr>
              <a:t>Sundgren (2003a) </a:t>
            </a:r>
            <a:r>
              <a:rPr lang="en-US" sz="2400" smtClean="0"/>
              <a:t>“</a:t>
            </a:r>
            <a:r>
              <a:rPr lang="en-US" sz="2400" i="1" smtClean="0">
                <a:hlinkClick r:id="rId2"/>
              </a:rPr>
              <a:t>Developing and implementing statistical metainformation systems</a:t>
            </a:r>
            <a:r>
              <a:rPr lang="en-US" sz="2400" smtClean="0"/>
              <a:t>”, Deliverable from EU project</a:t>
            </a:r>
          </a:p>
          <a:p>
            <a:pPr lvl="1"/>
            <a:r>
              <a:rPr lang="en-US" sz="2400" smtClean="0">
                <a:solidFill>
                  <a:srgbClr val="FF0000"/>
                </a:solidFill>
              </a:rPr>
              <a:t>Sundgren (2003b) </a:t>
            </a:r>
            <a:r>
              <a:rPr lang="en-US" sz="2400" smtClean="0"/>
              <a:t>“</a:t>
            </a:r>
            <a:r>
              <a:rPr lang="en-US" sz="2400" i="1" smtClean="0">
                <a:hlinkClick r:id="rId3"/>
              </a:rPr>
              <a:t>Strategies for development and implementation of statistical metadata systems</a:t>
            </a:r>
            <a:r>
              <a:rPr lang="en-US" sz="2400" smtClean="0"/>
              <a:t>”, ISI Berlin</a:t>
            </a:r>
          </a:p>
          <a:p>
            <a:pPr lvl="1"/>
            <a:r>
              <a:rPr lang="en-US" sz="2400" smtClean="0">
                <a:solidFill>
                  <a:srgbClr val="FF0000"/>
                </a:solidFill>
              </a:rPr>
              <a:t>Sundgren &amp; Lindblom (2004) </a:t>
            </a:r>
            <a:r>
              <a:rPr lang="en-US" sz="2400" smtClean="0"/>
              <a:t>“</a:t>
            </a:r>
            <a:r>
              <a:rPr lang="en-US" sz="2400" i="1" smtClean="0">
                <a:hlinkClick r:id="rId4"/>
              </a:rPr>
              <a:t>The metadata system at Statistics Sweden in an international perspective</a:t>
            </a:r>
            <a:r>
              <a:rPr lang="en-US" sz="2400" smtClean="0"/>
              <a:t>”, Prague</a:t>
            </a:r>
          </a:p>
          <a:p>
            <a:pPr lvl="1"/>
            <a:r>
              <a:rPr lang="en-US" sz="2400" smtClean="0">
                <a:solidFill>
                  <a:srgbClr val="FF0000"/>
                </a:solidFill>
              </a:rPr>
              <a:t>Sundgren (2004) </a:t>
            </a:r>
            <a:r>
              <a:rPr lang="en-US" sz="2400" smtClean="0"/>
              <a:t>“</a:t>
            </a:r>
            <a:r>
              <a:rPr lang="en-US" sz="2400" i="1" smtClean="0">
                <a:hlinkClick r:id="rId5"/>
              </a:rPr>
              <a:t>Metadata systems in statistical production processes – For which purposes are they needed, and how can they best be organised?</a:t>
            </a:r>
            <a:r>
              <a:rPr lang="en-US" sz="2400" smtClean="0"/>
              <a:t>”, UNECE/Eurostat/OECD, Geneva</a:t>
            </a:r>
            <a:endParaRPr lang="sv-SE" sz="240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84213" y="115888"/>
            <a:ext cx="7772400" cy="1008856"/>
          </a:xfrm>
        </p:spPr>
        <p:txBody>
          <a:bodyPr>
            <a:normAutofit/>
          </a:bodyPr>
          <a:lstStyle/>
          <a:p>
            <a:pPr eaLnBrk="1" hangingPunct="1"/>
            <a:r>
              <a:rPr lang="sv-SE" sz="2200" smtClean="0">
                <a:solidFill>
                  <a:srgbClr val="FF0000"/>
                </a:solidFill>
              </a:rPr>
              <a:t>Golden rules (1):</a:t>
            </a:r>
            <a:r>
              <a:rPr lang="sv-SE" sz="3600" smtClean="0">
                <a:solidFill>
                  <a:srgbClr val="0000FF"/>
                </a:solidFill>
              </a:rPr>
              <a:t/>
            </a:r>
            <a:br>
              <a:rPr lang="sv-SE" sz="3600" smtClean="0">
                <a:solidFill>
                  <a:srgbClr val="0000FF"/>
                </a:solidFill>
              </a:rPr>
            </a:br>
            <a:r>
              <a:rPr lang="sv-SE" sz="3600" smtClean="0">
                <a:solidFill>
                  <a:srgbClr val="0000FF"/>
                </a:solidFill>
              </a:rPr>
              <a:t>If you are a designer…</a:t>
            </a:r>
          </a:p>
        </p:txBody>
      </p:sp>
      <p:sp>
        <p:nvSpPr>
          <p:cNvPr id="43011" name="Rectangle 3"/>
          <p:cNvSpPr>
            <a:spLocks noGrp="1" noChangeArrowheads="1"/>
          </p:cNvSpPr>
          <p:nvPr>
            <p:ph type="body" idx="1"/>
          </p:nvPr>
        </p:nvSpPr>
        <p:spPr>
          <a:xfrm>
            <a:off x="395288" y="1268760"/>
            <a:ext cx="8640762" cy="5400328"/>
          </a:xfrm>
        </p:spPr>
        <p:txBody>
          <a:bodyPr/>
          <a:lstStyle/>
          <a:p>
            <a:pPr eaLnBrk="1" hangingPunct="1">
              <a:lnSpc>
                <a:spcPct val="90000"/>
              </a:lnSpc>
            </a:pPr>
            <a:r>
              <a:rPr lang="en-GB" sz="2400" smtClean="0"/>
              <a:t>Make metadata-related work an integrated part of the business processes of the organisation.</a:t>
            </a:r>
          </a:p>
          <a:p>
            <a:pPr eaLnBrk="1" hangingPunct="1">
              <a:lnSpc>
                <a:spcPct val="90000"/>
              </a:lnSpc>
            </a:pPr>
            <a:r>
              <a:rPr lang="en-GB" sz="2400" smtClean="0"/>
              <a:t>Capture metadata at their natural sources, preferably as by-products of other processes.</a:t>
            </a:r>
          </a:p>
          <a:p>
            <a:pPr eaLnBrk="1" hangingPunct="1">
              <a:lnSpc>
                <a:spcPct val="90000"/>
              </a:lnSpc>
            </a:pPr>
            <a:r>
              <a:rPr lang="en-GB" sz="2400" smtClean="0"/>
              <a:t>Never capture the same metadata twice.</a:t>
            </a:r>
          </a:p>
          <a:p>
            <a:pPr eaLnBrk="1" hangingPunct="1">
              <a:lnSpc>
                <a:spcPct val="90000"/>
              </a:lnSpc>
            </a:pPr>
            <a:r>
              <a:rPr lang="en-GB" sz="2400" smtClean="0"/>
              <a:t>Avoid un-coordinated capturing of similar metadata – build value chains instead.</a:t>
            </a:r>
          </a:p>
          <a:p>
            <a:pPr eaLnBrk="1" hangingPunct="1">
              <a:lnSpc>
                <a:spcPct val="90000"/>
              </a:lnSpc>
            </a:pPr>
            <a:r>
              <a:rPr lang="en-GB" sz="2400" smtClean="0"/>
              <a:t>Whenever a new metadata need occurs, try to satisfy it by using and transforming existing metadata, possibly enriched by some additional, non-redundant metadata input.</a:t>
            </a:r>
          </a:p>
          <a:p>
            <a:pPr eaLnBrk="1" hangingPunct="1">
              <a:lnSpc>
                <a:spcPct val="90000"/>
              </a:lnSpc>
            </a:pPr>
            <a:r>
              <a:rPr lang="en-GB" sz="2400" smtClean="0"/>
              <a:t>Transform data and accompanying metadata in synchronised, parallel processes, fully automated whenever possible.</a:t>
            </a:r>
          </a:p>
          <a:p>
            <a:pPr eaLnBrk="1" hangingPunct="1">
              <a:lnSpc>
                <a:spcPct val="90000"/>
              </a:lnSpc>
            </a:pPr>
            <a:r>
              <a:rPr lang="en-GB" sz="2400" smtClean="0"/>
              <a:t>Do not forget that metadata have to be updated and maintained, and that old versions may often have to be preserved.</a:t>
            </a:r>
            <a:endParaRPr lang="sv-SE" sz="240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11188" y="333375"/>
            <a:ext cx="7772400" cy="1008063"/>
          </a:xfrm>
        </p:spPr>
        <p:txBody>
          <a:bodyPr>
            <a:normAutofit/>
          </a:bodyPr>
          <a:lstStyle/>
          <a:p>
            <a:pPr eaLnBrk="1" hangingPunct="1"/>
            <a:r>
              <a:rPr lang="sv-SE" sz="2200" smtClean="0">
                <a:solidFill>
                  <a:srgbClr val="FF0000"/>
                </a:solidFill>
              </a:rPr>
              <a:t>Golden rules 2:</a:t>
            </a:r>
            <a:r>
              <a:rPr lang="sv-SE" sz="3600" smtClean="0">
                <a:solidFill>
                  <a:srgbClr val="0000FF"/>
                </a:solidFill>
              </a:rPr>
              <a:t/>
            </a:r>
            <a:br>
              <a:rPr lang="sv-SE" sz="3600" smtClean="0">
                <a:solidFill>
                  <a:srgbClr val="0000FF"/>
                </a:solidFill>
              </a:rPr>
            </a:br>
            <a:r>
              <a:rPr lang="sv-SE" sz="3600" smtClean="0">
                <a:solidFill>
                  <a:srgbClr val="0000FF"/>
                </a:solidFill>
              </a:rPr>
              <a:t>If you are the project co-ordinator…</a:t>
            </a:r>
          </a:p>
        </p:txBody>
      </p:sp>
      <p:sp>
        <p:nvSpPr>
          <p:cNvPr id="44035" name="Rectangle 3"/>
          <p:cNvSpPr>
            <a:spLocks noGrp="1" noChangeArrowheads="1"/>
          </p:cNvSpPr>
          <p:nvPr>
            <p:ph type="body" idx="1"/>
          </p:nvPr>
        </p:nvSpPr>
        <p:spPr>
          <a:xfrm>
            <a:off x="684213" y="1628775"/>
            <a:ext cx="7772400" cy="4114800"/>
          </a:xfrm>
        </p:spPr>
        <p:txBody>
          <a:bodyPr/>
          <a:lstStyle/>
          <a:p>
            <a:pPr eaLnBrk="1" hangingPunct="1">
              <a:lnSpc>
                <a:spcPct val="90000"/>
              </a:lnSpc>
            </a:pPr>
            <a:r>
              <a:rPr lang="en-GB" sz="2400" smtClean="0"/>
              <a:t>Make sure that there are clearly identified “customers” for all metadata processes, and that all metadata capturing will create value for stakeholders.</a:t>
            </a:r>
          </a:p>
          <a:p>
            <a:pPr eaLnBrk="1" hangingPunct="1">
              <a:lnSpc>
                <a:spcPct val="90000"/>
              </a:lnSpc>
            </a:pPr>
            <a:r>
              <a:rPr lang="en-GB" sz="2400" smtClean="0"/>
              <a:t>Form coalitions around metadata projects.</a:t>
            </a:r>
          </a:p>
          <a:p>
            <a:pPr eaLnBrk="1" hangingPunct="1">
              <a:lnSpc>
                <a:spcPct val="90000"/>
              </a:lnSpc>
            </a:pPr>
            <a:r>
              <a:rPr lang="en-GB" sz="2400" smtClean="0"/>
              <a:t>Make sure that top management is committed. Most metadata projects are dependent on constructive co-operation from all parts of the organisation.</a:t>
            </a:r>
          </a:p>
          <a:p>
            <a:pPr eaLnBrk="1" hangingPunct="1">
              <a:lnSpc>
                <a:spcPct val="90000"/>
              </a:lnSpc>
            </a:pPr>
            <a:r>
              <a:rPr lang="en-GB" sz="2400" smtClean="0"/>
              <a:t>Organise the metadata project in such a way that it brings about concrete and useful results at regular and frequent intervals.</a:t>
            </a:r>
            <a:endParaRPr lang="sv-SE" sz="240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684213" y="260350"/>
            <a:ext cx="7772400" cy="1008410"/>
          </a:xfrm>
        </p:spPr>
        <p:txBody>
          <a:bodyPr>
            <a:normAutofit/>
          </a:bodyPr>
          <a:lstStyle/>
          <a:p>
            <a:pPr eaLnBrk="1" hangingPunct="1"/>
            <a:r>
              <a:rPr lang="sv-SE" sz="2200" smtClean="0">
                <a:solidFill>
                  <a:srgbClr val="FF0000"/>
                </a:solidFill>
              </a:rPr>
              <a:t>Golden rules (3): </a:t>
            </a:r>
            <a:br>
              <a:rPr lang="sv-SE" sz="2200" smtClean="0">
                <a:solidFill>
                  <a:srgbClr val="FF0000"/>
                </a:solidFill>
              </a:rPr>
            </a:br>
            <a:r>
              <a:rPr lang="sv-SE" sz="3600" smtClean="0">
                <a:solidFill>
                  <a:srgbClr val="0000FF"/>
                </a:solidFill>
              </a:rPr>
              <a:t>If you are the top manager…</a:t>
            </a:r>
          </a:p>
        </p:txBody>
      </p:sp>
      <p:sp>
        <p:nvSpPr>
          <p:cNvPr id="45059" name="Rectangle 3"/>
          <p:cNvSpPr>
            <a:spLocks noGrp="1" noChangeArrowheads="1"/>
          </p:cNvSpPr>
          <p:nvPr>
            <p:ph type="body" idx="1"/>
          </p:nvPr>
        </p:nvSpPr>
        <p:spPr>
          <a:xfrm>
            <a:off x="395288" y="1484784"/>
            <a:ext cx="8424862" cy="5257328"/>
          </a:xfrm>
        </p:spPr>
        <p:txBody>
          <a:bodyPr/>
          <a:lstStyle/>
          <a:p>
            <a:pPr eaLnBrk="1" hangingPunct="1">
              <a:lnSpc>
                <a:spcPct val="80000"/>
              </a:lnSpc>
            </a:pPr>
            <a:r>
              <a:rPr lang="en-GB" sz="2400" smtClean="0"/>
              <a:t>Make sure that your organisation has a metadata strategy, including a global architecture and an implementation plan, and check how proposed metadata projects fit into the strategy. </a:t>
            </a:r>
          </a:p>
          <a:p>
            <a:pPr eaLnBrk="1" hangingPunct="1">
              <a:lnSpc>
                <a:spcPct val="80000"/>
              </a:lnSpc>
            </a:pPr>
            <a:r>
              <a:rPr lang="en-GB" sz="2400" smtClean="0"/>
              <a:t>Either commit yourself to a metadata project – or don’t let it happen. Lukewarm enthusiasm is the last thing a metadata project needs.</a:t>
            </a:r>
          </a:p>
          <a:p>
            <a:pPr eaLnBrk="1" hangingPunct="1">
              <a:lnSpc>
                <a:spcPct val="80000"/>
              </a:lnSpc>
            </a:pPr>
            <a:r>
              <a:rPr lang="en-GB" sz="2400" smtClean="0"/>
              <a:t>If a metadata project should go wrong – cancel it; don’t throw good money after bad money.</a:t>
            </a:r>
          </a:p>
          <a:p>
            <a:pPr eaLnBrk="1" hangingPunct="1">
              <a:lnSpc>
                <a:spcPct val="80000"/>
              </a:lnSpc>
            </a:pPr>
            <a:r>
              <a:rPr lang="en-GB" sz="2400" smtClean="0"/>
              <a:t>When a metadata project fails, make a diagnosis, learn from the mistakes, and do it better next time.</a:t>
            </a:r>
          </a:p>
          <a:p>
            <a:pPr eaLnBrk="1" hangingPunct="1">
              <a:lnSpc>
                <a:spcPct val="80000"/>
              </a:lnSpc>
            </a:pPr>
            <a:r>
              <a:rPr lang="en-GB" sz="2400" smtClean="0"/>
              <a:t>Make sure that your organisation also learns from failures and successes in other statistical organisations.</a:t>
            </a:r>
          </a:p>
          <a:p>
            <a:pPr eaLnBrk="1" hangingPunct="1">
              <a:lnSpc>
                <a:spcPct val="80000"/>
              </a:lnSpc>
            </a:pPr>
            <a:r>
              <a:rPr lang="en-GB" sz="2400" smtClean="0"/>
              <a:t>Make systematic use of metadata systems for capturing and organising tacit knowledge of individual persons in order to make it available to the organisation as a whole and to external users of statistics.</a:t>
            </a:r>
            <a:endParaRPr lang="sv-SE" sz="2400" smtClean="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title"/>
          </p:nvPr>
        </p:nvSpPr>
        <p:spPr>
          <a:xfrm>
            <a:off x="467544" y="1700808"/>
            <a:ext cx="8229600" cy="1143000"/>
          </a:xfrm>
        </p:spPr>
        <p:txBody>
          <a:bodyPr>
            <a:normAutofit/>
          </a:bodyPr>
          <a:lstStyle/>
          <a:p>
            <a:r>
              <a:rPr lang="sv-SE" sz="6000" smtClean="0">
                <a:solidFill>
                  <a:srgbClr val="0000FF"/>
                </a:solidFill>
                <a:latin typeface="Brush Script MT" pitchFamily="66" charset="0"/>
              </a:rPr>
              <a:t>Thank you for your attention!</a:t>
            </a:r>
            <a:endParaRPr lang="sv-SE" sz="6000">
              <a:solidFill>
                <a:srgbClr val="0000FF"/>
              </a:solidFill>
              <a:latin typeface="Brush Script MT" pitchFamily="66" charset="0"/>
            </a:endParaRPr>
          </a:p>
        </p:txBody>
      </p:sp>
    </p:spTree>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1172</TotalTime>
  <Words>2146</Words>
  <Application>Microsoft Office PowerPoint</Application>
  <PresentationFormat>Bildspel på skärmen (4:3)</PresentationFormat>
  <Paragraphs>227</Paragraphs>
  <Slides>41</Slides>
  <Notes>0</Notes>
  <HiddenSlides>0</HiddenSlides>
  <MMClips>0</MMClips>
  <ScaleCrop>false</ScaleCrop>
  <HeadingPairs>
    <vt:vector size="6" baseType="variant">
      <vt:variant>
        <vt:lpstr>Tema</vt:lpstr>
      </vt:variant>
      <vt:variant>
        <vt:i4>1</vt:i4>
      </vt:variant>
      <vt:variant>
        <vt:lpstr>Serverprogram för OLE-inbäddning</vt:lpstr>
      </vt:variant>
      <vt:variant>
        <vt:i4>1</vt:i4>
      </vt:variant>
      <vt:variant>
        <vt:lpstr>Bildrubriker</vt:lpstr>
      </vt:variant>
      <vt:variant>
        <vt:i4>41</vt:i4>
      </vt:variant>
    </vt:vector>
  </HeadingPairs>
  <TitlesOfParts>
    <vt:vector size="43" baseType="lpstr">
      <vt:lpstr>Office-tema</vt:lpstr>
      <vt:lpstr>Picture</vt:lpstr>
      <vt:lpstr>Communicating in time and space - How to overcome incompatible frames of reference of producers and users of archival data  Keynote Speech at EDDI 2011, 5-6 December 2011, Gothenburg, Sweden</vt:lpstr>
      <vt:lpstr>Reality – Information - Data</vt:lpstr>
      <vt:lpstr>Metadata traditions</vt:lpstr>
      <vt:lpstr>The statistical archive system</vt:lpstr>
      <vt:lpstr>The history of metadata</vt:lpstr>
      <vt:lpstr>What is DDI? (1)  ”A metadata specification for the social and behavioral sciences” ”Document your data across the life cycle”</vt:lpstr>
      <vt:lpstr>What is DDI? (2)  ”supporting the entire research data life cycle”</vt:lpstr>
      <vt:lpstr>What is DDI? (3)</vt:lpstr>
      <vt:lpstr>Life cycle models</vt:lpstr>
      <vt:lpstr>Architecture for statistical systems</vt:lpstr>
      <vt:lpstr>Statistics production: product development and production processes</vt:lpstr>
      <vt:lpstr>Basic operations in a database-oriented statistical system</vt:lpstr>
      <vt:lpstr>Control and execution of a statistical system</vt:lpstr>
      <vt:lpstr>A statistical system and its environment</vt:lpstr>
      <vt:lpstr>The Generic Statistical Business Process Model (GSBPM), levels 1 and 2</vt:lpstr>
      <vt:lpstr>Focusing on data/metadata interfaces</vt:lpstr>
      <vt:lpstr>SCBDOK documentation template</vt:lpstr>
      <vt:lpstr>Quality Declaration Template</vt:lpstr>
      <vt:lpstr>Bild 19</vt:lpstr>
      <vt:lpstr>Bild 20</vt:lpstr>
      <vt:lpstr>Statistical characteristic</vt:lpstr>
      <vt:lpstr>Statistic</vt:lpstr>
      <vt:lpstr>Metadata overview for final observation registers</vt:lpstr>
      <vt:lpstr>Complete MicroMeta model</vt:lpstr>
      <vt:lpstr>MacroMeta: simplified overview</vt:lpstr>
      <vt:lpstr>MacroMeta: complete model</vt:lpstr>
      <vt:lpstr>Three critical success factors for documentation and metadata</vt:lpstr>
      <vt:lpstr>Arguments against documentation</vt:lpstr>
      <vt:lpstr>Stakeholders in official statistics and in metadata about official statistics</vt:lpstr>
      <vt:lpstr>Documentation/metadata objects</vt:lpstr>
      <vt:lpstr>Documentation/metadata variables</vt:lpstr>
      <vt:lpstr>Use, production, and recycling of documentation and metadata</vt:lpstr>
      <vt:lpstr>The Swedish Statistics Commission</vt:lpstr>
      <vt:lpstr>Some tasks of the Statistics Commission</vt:lpstr>
      <vt:lpstr>Summary of my proposals concerning quality, availability, and documentation</vt:lpstr>
      <vt:lpstr>Summary of the EU vision for official statistics</vt:lpstr>
      <vt:lpstr>Golden rules for metadata systems</vt:lpstr>
      <vt:lpstr>Golden rules (1): If you are a designer…</vt:lpstr>
      <vt:lpstr>Golden rules 2: If you are the project co-ordinator…</vt:lpstr>
      <vt:lpstr>Golden rules (3):  If you are the top manager…</vt:lpstr>
      <vt:lpstr>Thank you for your attention!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Communicating in time and space - How to overcome incompatible frames of reference of producers and users of archival data</dc:title>
  <dc:creator>Bo Sundgren</dc:creator>
  <cp:lastModifiedBy>Bo Sundgren</cp:lastModifiedBy>
  <cp:revision>103</cp:revision>
  <dcterms:created xsi:type="dcterms:W3CDTF">2011-11-16T10:07:14Z</dcterms:created>
  <dcterms:modified xsi:type="dcterms:W3CDTF">2011-11-30T16:58:50Z</dcterms:modified>
</cp:coreProperties>
</file>