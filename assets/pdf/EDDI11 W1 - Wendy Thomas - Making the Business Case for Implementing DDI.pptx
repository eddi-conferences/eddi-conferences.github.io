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ms-office.legacyDiagramTex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legacyDocTextInfo.bin" ContentType="application/vnd.ms-office.legacyDocTextInfo"/>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4"/>
  </p:notesMasterIdLst>
  <p:sldIdLst>
    <p:sldId id="256" r:id="rId2"/>
    <p:sldId id="257" r:id="rId3"/>
    <p:sldId id="258" r:id="rId4"/>
    <p:sldId id="259" r:id="rId5"/>
    <p:sldId id="260" r:id="rId6"/>
    <p:sldId id="342" r:id="rId7"/>
    <p:sldId id="343" r:id="rId8"/>
    <p:sldId id="344" r:id="rId9"/>
    <p:sldId id="327" r:id="rId10"/>
    <p:sldId id="350" r:id="rId11"/>
    <p:sldId id="351" r:id="rId12"/>
    <p:sldId id="352" r:id="rId13"/>
    <p:sldId id="264" r:id="rId14"/>
    <p:sldId id="271" r:id="rId15"/>
    <p:sldId id="272" r:id="rId16"/>
    <p:sldId id="265" r:id="rId17"/>
    <p:sldId id="353" r:id="rId18"/>
    <p:sldId id="355" r:id="rId19"/>
    <p:sldId id="357" r:id="rId20"/>
    <p:sldId id="274" r:id="rId21"/>
    <p:sldId id="275" r:id="rId22"/>
    <p:sldId id="276" r:id="rId23"/>
    <p:sldId id="277" r:id="rId24"/>
    <p:sldId id="278" r:id="rId25"/>
    <p:sldId id="279" r:id="rId26"/>
    <p:sldId id="280" r:id="rId27"/>
    <p:sldId id="281" r:id="rId28"/>
    <p:sldId id="282" r:id="rId29"/>
    <p:sldId id="321" r:id="rId30"/>
    <p:sldId id="284" r:id="rId31"/>
    <p:sldId id="283" r:id="rId32"/>
    <p:sldId id="346" r:id="rId33"/>
    <p:sldId id="347" r:id="rId34"/>
    <p:sldId id="348" r:id="rId35"/>
    <p:sldId id="349" r:id="rId36"/>
    <p:sldId id="300" r:id="rId37"/>
    <p:sldId id="299" r:id="rId38"/>
    <p:sldId id="302" r:id="rId39"/>
    <p:sldId id="301" r:id="rId40"/>
    <p:sldId id="303" r:id="rId41"/>
    <p:sldId id="304" r:id="rId42"/>
    <p:sldId id="305" r:id="rId43"/>
    <p:sldId id="306" r:id="rId44"/>
    <p:sldId id="307" r:id="rId45"/>
    <p:sldId id="314" r:id="rId46"/>
    <p:sldId id="315" r:id="rId47"/>
    <p:sldId id="308" r:id="rId48"/>
    <p:sldId id="318" r:id="rId49"/>
    <p:sldId id="319" r:id="rId50"/>
    <p:sldId id="328" r:id="rId51"/>
    <p:sldId id="329" r:id="rId52"/>
    <p:sldId id="330" r:id="rId53"/>
    <p:sldId id="331" r:id="rId54"/>
    <p:sldId id="333" r:id="rId55"/>
    <p:sldId id="334" r:id="rId56"/>
    <p:sldId id="335" r:id="rId57"/>
    <p:sldId id="336" r:id="rId58"/>
    <p:sldId id="337" r:id="rId59"/>
    <p:sldId id="338" r:id="rId60"/>
    <p:sldId id="339" r:id="rId61"/>
    <p:sldId id="340" r:id="rId62"/>
    <p:sldId id="341" r:id="rId63"/>
    <p:sldId id="266" r:id="rId64"/>
    <p:sldId id="345" r:id="rId65"/>
    <p:sldId id="285" r:id="rId66"/>
    <p:sldId id="286" r:id="rId67"/>
    <p:sldId id="287" r:id="rId68"/>
    <p:sldId id="288" r:id="rId69"/>
    <p:sldId id="289" r:id="rId70"/>
    <p:sldId id="290" r:id="rId71"/>
    <p:sldId id="291" r:id="rId72"/>
    <p:sldId id="292" r:id="rId73"/>
    <p:sldId id="293" r:id="rId74"/>
    <p:sldId id="294" r:id="rId75"/>
    <p:sldId id="295" r:id="rId76"/>
    <p:sldId id="296" r:id="rId77"/>
    <p:sldId id="297" r:id="rId78"/>
    <p:sldId id="298" r:id="rId79"/>
    <p:sldId id="269" r:id="rId80"/>
    <p:sldId id="358" r:id="rId81"/>
    <p:sldId id="360" r:id="rId82"/>
    <p:sldId id="361"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B99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p:restoredLeft sz="15620"/>
    <p:restoredTop sz="94660"/>
  </p:normalViewPr>
  <p:slideViewPr>
    <p:cSldViewPr>
      <p:cViewPr varScale="1">
        <p:scale>
          <a:sx n="30" d="100"/>
          <a:sy n="30" d="100"/>
        </p:scale>
        <p:origin x="-99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microsoft.com/office/2006/relationships/legacyDocTextInfo" Target="legacyDocTextInfo.bin"/><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microsoft.com/office/2006/relationships/legacyDiagramText" Target="legacyDiagramText3.bin"/><Relationship Id="rId2" Type="http://schemas.microsoft.com/office/2006/relationships/legacyDiagramText" Target="legacyDiagramText2.bin"/><Relationship Id="rId1" Type="http://schemas.microsoft.com/office/2006/relationships/legacyDiagramText" Target="legacyDiagramText1.bin"/><Relationship Id="rId4" Type="http://schemas.microsoft.com/office/2006/relationships/legacyDiagramText" Target="legacyDiagramText4.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01476-FB76-4BF5-AA2D-94FC94ECB2FE}" type="datetimeFigureOut">
              <a:rPr lang="en-US" smtClean="0"/>
              <a:pPr/>
              <a:t>12/3/2011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E1A72B-7D6B-4AFE-B482-6465835DA50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832527B5-D1BE-493F-896F-20B8CE69A6D2}" type="slidenum">
              <a:rPr lang="en-US" smtClean="0"/>
              <a:pPr/>
              <a:t>9</a:t>
            </a:fld>
            <a:endParaRPr lang="en-US" smtClean="0"/>
          </a:p>
        </p:txBody>
      </p:sp>
      <p:sp>
        <p:nvSpPr>
          <p:cNvPr id="2867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77F3005B-7BF7-41D9-A00F-4EA2112349FF}" type="slidenum">
              <a:rPr lang="en-US" sz="1200"/>
              <a:pPr algn="r"/>
              <a:t>9</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C36BB4DE-BB18-4903-B3F7-C35636376A95}" type="slidenum">
              <a:rPr lang="en-US" smtClean="0"/>
              <a:pPr/>
              <a:t>28</a:t>
            </a:fld>
            <a:endParaRPr lang="en-US" smtClean="0"/>
          </a:p>
        </p:txBody>
      </p:sp>
      <p:sp>
        <p:nvSpPr>
          <p:cNvPr id="2662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9CF64E0-6891-4F3C-8DBF-912894987BD4}" type="slidenum">
              <a:rPr lang="en-US" sz="1200"/>
              <a:pPr algn="r"/>
              <a:t>28</a:t>
            </a:fld>
            <a:endParaRPr lang="en-US" sz="120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11708D1E-393A-45AF-AAF6-DD31A496CAD5}" type="slidenum">
              <a:rPr lang="en-US" smtClean="0"/>
              <a:pPr/>
              <a:t>29</a:t>
            </a:fld>
            <a:endParaRPr lang="en-US" smtClean="0"/>
          </a:p>
        </p:txBody>
      </p:sp>
      <p:sp>
        <p:nvSpPr>
          <p:cNvPr id="4915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E686E3A-B4B3-4C5C-8046-B70441F28D5F}" type="slidenum">
              <a:rPr lang="en-US" sz="1200"/>
              <a:pPr algn="r"/>
              <a:t>29</a:t>
            </a:fld>
            <a:endParaRPr lang="en-US" sz="1200"/>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29ABCDAD-9BE6-4725-86A5-E1EC2D3BEC3A}" type="slidenum">
              <a:rPr lang="en-US" sz="1200"/>
              <a:pPr algn="r"/>
              <a:t>30</a:t>
            </a:fld>
            <a:endParaRPr lang="en-US" sz="120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45165CCE-D391-43A5-ABB1-203ACAEED1C4}" type="slidenum">
              <a:rPr lang="en-US" smtClean="0"/>
              <a:pPr/>
              <a:t>31</a:t>
            </a:fld>
            <a:endParaRPr lang="en-US" smtClean="0"/>
          </a:p>
        </p:txBody>
      </p:sp>
      <p:sp>
        <p:nvSpPr>
          <p:cNvPr id="337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71C7DBD-C4EA-4517-A853-8591779E6E5C}" type="slidenum">
              <a:rPr lang="en-US" sz="1200"/>
              <a:pPr algn="r"/>
              <a:t>31</a:t>
            </a:fld>
            <a:endParaRPr lang="en-US" sz="1200"/>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55EA6A9-2E7C-4807-9EF1-0DDAC5BFAB37}" type="slidenum">
              <a:rPr lang="en-US" sz="1200"/>
              <a:pPr algn="r"/>
              <a:t>32</a:t>
            </a:fld>
            <a:endParaRPr 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5C50597-8949-43F2-A6F3-77DAC945FD8C}" type="slidenum">
              <a:rPr lang="en-US" sz="1200"/>
              <a:pPr algn="r"/>
              <a:t>33</a:t>
            </a:fld>
            <a:endParaRPr lang="en-US" sz="12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7FCB0AE-CE90-42A1-8D16-974E049547A1}" type="slidenum">
              <a:rPr lang="en-US" sz="1200"/>
              <a:pPr algn="r"/>
              <a:t>34</a:t>
            </a:fld>
            <a:endParaRPr 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7AA77F5-D328-456B-B912-6A45B1C97E2F}" type="slidenum">
              <a:rPr lang="en-US" sz="1200"/>
              <a:pPr algn="r"/>
              <a:t>35</a:t>
            </a:fld>
            <a:endParaRPr 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41F11BC-C8A8-4C1E-8763-0F0D5A7D17FB}" type="slidenum">
              <a:rPr lang="en-US" sz="1200"/>
              <a:pPr algn="r"/>
              <a:t>41</a:t>
            </a:fld>
            <a:endParaRPr lang="en-US" sz="12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C58F614-93C3-4AF1-87AB-ADC805044F71}" type="slidenum">
              <a:rPr lang="en-US" sz="1200"/>
              <a:pPr algn="r"/>
              <a:t>45</a:t>
            </a:fld>
            <a:endParaRPr 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7BB65EF-6495-48EB-9445-F250FA4275B5}" type="slidenum">
              <a:rPr lang="en-US" sz="1200"/>
              <a:pPr algn="r"/>
              <a:t>46</a:t>
            </a:fld>
            <a:endParaRPr 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2FAF2CE-701E-4F1B-8001-AB22115E5CF8}" type="slidenum">
              <a:rPr lang="en-US" smtClean="0"/>
              <a:pPr/>
              <a:t>51</a:t>
            </a:fld>
            <a:endParaRPr lang="en-US" smtClean="0"/>
          </a:p>
        </p:txBody>
      </p:sp>
      <p:sp>
        <p:nvSpPr>
          <p:cNvPr id="3686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244CDF8-5323-4702-BD05-4028306B9A8E}" type="slidenum">
              <a:rPr lang="en-US" sz="1200"/>
              <a:pPr algn="r"/>
              <a:t>51</a:t>
            </a:fld>
            <a:endParaRPr lang="en-US" sz="1200"/>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920E635A-70AD-47F0-951A-E36879C9A57B}" type="slidenum">
              <a:rPr lang="en-US" smtClean="0"/>
              <a:pPr/>
              <a:t>52</a:t>
            </a:fld>
            <a:endParaRPr lang="en-US" smtClean="0"/>
          </a:p>
        </p:txBody>
      </p:sp>
      <p:sp>
        <p:nvSpPr>
          <p:cNvPr id="3789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EB58D7E-353A-4E5B-A6C6-6DF5159DC378}" type="slidenum">
              <a:rPr lang="en-US" sz="1200"/>
              <a:pPr algn="r"/>
              <a:t>52</a:t>
            </a:fld>
            <a:endParaRPr lang="en-US" sz="1200"/>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6FBC2480-9E7D-404F-AB5A-47BA54890556}" type="slidenum">
              <a:rPr lang="en-US" smtClean="0"/>
              <a:pPr/>
              <a:t>53</a:t>
            </a:fld>
            <a:endParaRPr lang="en-US" smtClean="0"/>
          </a:p>
        </p:txBody>
      </p:sp>
      <p:sp>
        <p:nvSpPr>
          <p:cNvPr id="3891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7D69863-2230-437B-A087-EC6BFFE524E9}" type="slidenum">
              <a:rPr lang="en-US" sz="1200"/>
              <a:pPr algn="r"/>
              <a:t>53</a:t>
            </a:fld>
            <a:endParaRPr lang="en-US" sz="1200"/>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E5D921F5-3FB4-4325-91C3-FBF94A44A96E}" type="slidenum">
              <a:rPr lang="en-US" smtClean="0"/>
              <a:pPr/>
              <a:t>54</a:t>
            </a:fld>
            <a:endParaRPr lang="en-US" smtClean="0"/>
          </a:p>
        </p:txBody>
      </p:sp>
      <p:sp>
        <p:nvSpPr>
          <p:cNvPr id="4096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AE535E2-B1D9-48E8-9B45-46AF9D330B64}" type="slidenum">
              <a:rPr lang="en-US" sz="1200"/>
              <a:pPr algn="r"/>
              <a:t>54</a:t>
            </a:fld>
            <a:endParaRPr lang="en-US" sz="1200"/>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ACDD08EB-67D9-4D79-87C2-3A18D1823C76}" type="slidenum">
              <a:rPr lang="en-US" smtClean="0"/>
              <a:pPr/>
              <a:t>55</a:t>
            </a:fld>
            <a:endParaRPr lang="en-US" smtClean="0"/>
          </a:p>
        </p:txBody>
      </p:sp>
      <p:sp>
        <p:nvSpPr>
          <p:cNvPr id="4198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C9DE11F-294C-4AB1-B445-1A37DCDCE724}" type="slidenum">
              <a:rPr lang="en-US" sz="1200"/>
              <a:pPr algn="r"/>
              <a:t>55</a:t>
            </a:fld>
            <a:endParaRPr lang="en-US" sz="1200"/>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43CDEAA-9D51-42EE-A95A-E11DC1DB2E02}" type="slidenum">
              <a:rPr lang="en-US" smtClean="0"/>
              <a:pPr/>
              <a:t>59</a:t>
            </a:fld>
            <a:endParaRPr lang="en-US" smtClean="0"/>
          </a:p>
        </p:txBody>
      </p:sp>
      <p:sp>
        <p:nvSpPr>
          <p:cNvPr id="4915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9BAC934-A8BA-4FE8-B84A-EFCEF30FC080}" type="slidenum">
              <a:rPr lang="en-US" sz="1200"/>
              <a:pPr algn="r"/>
              <a:t>59</a:t>
            </a:fld>
            <a:endParaRPr lang="en-US" sz="1200"/>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B71006C7-1479-4FBF-B0C0-23658FEB0C24}" type="slidenum">
              <a:rPr lang="en-US" smtClean="0"/>
              <a:pPr/>
              <a:t>60</a:t>
            </a:fld>
            <a:endParaRPr lang="en-US" smtClean="0"/>
          </a:p>
        </p:txBody>
      </p:sp>
      <p:sp>
        <p:nvSpPr>
          <p:cNvPr id="5017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E03DB52-E81A-49DF-B07C-AC34C916210D}" type="slidenum">
              <a:rPr lang="en-US" sz="1200"/>
              <a:pPr algn="r"/>
              <a:t>60</a:t>
            </a:fld>
            <a:endParaRPr lang="en-US" sz="1200"/>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0DB3EF2-7966-42C7-8818-1F405A805BB9}" type="slidenum">
              <a:rPr lang="en-US" sz="1200"/>
              <a:pPr algn="r"/>
              <a:t>65</a:t>
            </a:fld>
            <a:endParaRPr lang="en-US"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DDD2150-713A-4741-A8C0-0FBF40D4809B}" type="slidenum">
              <a:rPr lang="en-US" sz="1200"/>
              <a:pPr algn="r"/>
              <a:t>66</a:t>
            </a:fld>
            <a:endParaRPr lang="en-US"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D007E1C-80BA-4E5F-914A-90DDE047229F}" type="slidenum">
              <a:rPr lang="en-US" sz="1200"/>
              <a:pPr algn="r"/>
              <a:t>69</a:t>
            </a:fld>
            <a:endParaRPr lang="en-US" sz="12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1C6971E-AA8E-4FAC-8C89-D3156B60EA39}" type="slidenum">
              <a:rPr lang="en-US" sz="1200"/>
              <a:pPr algn="r"/>
              <a:t>70</a:t>
            </a:fld>
            <a:endParaRPr 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2297D51-DB7A-4C91-B429-919BB3F59CC2}" type="slidenum">
              <a:rPr lang="en-US" sz="1200"/>
              <a:pPr algn="r"/>
              <a:t>71</a:t>
            </a:fld>
            <a:endParaRPr lang="en-US" sz="12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5912329-D3E5-4BA1-AAB6-47200FE3D5E7}" type="slidenum">
              <a:rPr lang="en-US" sz="1200"/>
              <a:pPr algn="r"/>
              <a:t>73</a:t>
            </a:fld>
            <a:endParaRPr 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2998FB44-D89E-4876-9A6A-B14EE47F9729}" type="slidenum">
              <a:rPr lang="en-US" sz="1200"/>
              <a:pPr algn="r"/>
              <a:t>74</a:t>
            </a:fld>
            <a:endParaRPr 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A5D0541C-B2A5-4ED3-AB13-E1601E3BE8AF}" type="datetime1">
              <a:rPr lang="en-US" smtClean="0"/>
              <a:pPr/>
              <a:t>12/3/2011</a:t>
            </a:fld>
            <a:endParaRPr lang="en-US"/>
          </a:p>
        </p:txBody>
      </p:sp>
      <p:sp>
        <p:nvSpPr>
          <p:cNvPr id="2" name="Footer Placeholder 1"/>
          <p:cNvSpPr>
            <a:spLocks noGrp="1"/>
          </p:cNvSpPr>
          <p:nvPr>
            <p:ph type="ftr" sz="quarter" idx="11"/>
          </p:nvPr>
        </p:nvSpPr>
        <p:spPr/>
        <p:txBody>
          <a:bodyPr/>
          <a:lstStyle/>
          <a:p>
            <a:r>
              <a:rPr lang="en-US" smtClean="0"/>
              <a:t>W. Thomas - EDDI2011</a:t>
            </a:r>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3C6F2B03-30EE-4BF7-8DA1-20D82BD0CE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0B29D519-2EFD-487B-B6E5-7EC6F7C3F920}" type="datetime1">
              <a:rPr lang="en-US" smtClean="0"/>
              <a:pPr/>
              <a:t>12/3/2011</a:t>
            </a:fld>
            <a:endParaRPr lang="en-US"/>
          </a:p>
        </p:txBody>
      </p:sp>
      <p:sp>
        <p:nvSpPr>
          <p:cNvPr id="19" name="Footer Placeholder 18"/>
          <p:cNvSpPr>
            <a:spLocks noGrp="1"/>
          </p:cNvSpPr>
          <p:nvPr>
            <p:ph type="ftr" sz="quarter" idx="11"/>
          </p:nvPr>
        </p:nvSpPr>
        <p:spPr>
          <a:xfrm>
            <a:off x="3581400" y="76200"/>
            <a:ext cx="2895600" cy="288925"/>
          </a:xfrm>
        </p:spPr>
        <p:txBody>
          <a:bodyPr/>
          <a:lstStyle/>
          <a:p>
            <a:r>
              <a:rPr lang="en-US" smtClean="0"/>
              <a:t>W. Thomas - EDDI2011</a:t>
            </a:r>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3C6F2B03-30EE-4BF7-8DA1-20D82BD0CE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60C1DF26-8EC7-4B4F-920C-7C83CB11FCA8}" type="datetime1">
              <a:rPr lang="en-US" smtClean="0"/>
              <a:pPr/>
              <a:t>12/3/2011</a:t>
            </a:fld>
            <a:endParaRPr lang="en-US"/>
          </a:p>
        </p:txBody>
      </p:sp>
      <p:sp>
        <p:nvSpPr>
          <p:cNvPr id="11" name="Footer Placeholder 10"/>
          <p:cNvSpPr>
            <a:spLocks noGrp="1"/>
          </p:cNvSpPr>
          <p:nvPr>
            <p:ph type="ftr" sz="quarter" idx="11"/>
          </p:nvPr>
        </p:nvSpPr>
        <p:spPr/>
        <p:txBody>
          <a:bodyPr/>
          <a:lstStyle/>
          <a:p>
            <a:r>
              <a:rPr lang="en-US" smtClean="0"/>
              <a:t>W. Thomas - EDDI2011</a:t>
            </a:r>
            <a:endParaRPr lang="en-US"/>
          </a:p>
        </p:txBody>
      </p:sp>
      <p:sp>
        <p:nvSpPr>
          <p:cNvPr id="16" name="Slide Number Placeholder 15"/>
          <p:cNvSpPr>
            <a:spLocks noGrp="1"/>
          </p:cNvSpPr>
          <p:nvPr>
            <p:ph type="sldNum" sz="quarter" idx="12"/>
          </p:nvPr>
        </p:nvSpPr>
        <p:spPr/>
        <p:txBody>
          <a:bodyPr/>
          <a:lstStyle/>
          <a:p>
            <a:fld id="{3C6F2B03-30EE-4BF7-8DA1-20D82BD0CEF9}" type="slidenum">
              <a:rPr lang="en-US" smtClean="0"/>
              <a:pPr/>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A4E11B39-BDCD-49E9-915A-A431E97E5D24}" type="datetime1">
              <a:rPr lang="en-US" smtClean="0"/>
              <a:pPr/>
              <a:t>12/3/2011</a:t>
            </a:fld>
            <a:endParaRPr lang="en-US"/>
          </a:p>
        </p:txBody>
      </p:sp>
      <p:sp>
        <p:nvSpPr>
          <p:cNvPr id="10" name="Footer Placeholder 9"/>
          <p:cNvSpPr>
            <a:spLocks noGrp="1"/>
          </p:cNvSpPr>
          <p:nvPr>
            <p:ph type="ftr" sz="quarter" idx="11"/>
          </p:nvPr>
        </p:nvSpPr>
        <p:spPr/>
        <p:txBody>
          <a:bodyPr/>
          <a:lstStyle/>
          <a:p>
            <a:r>
              <a:rPr lang="en-US" smtClean="0"/>
              <a:t>W. Thomas - EDDI2011</a:t>
            </a:r>
            <a:endParaRPr lang="en-US"/>
          </a:p>
        </p:txBody>
      </p:sp>
      <p:sp>
        <p:nvSpPr>
          <p:cNvPr id="31" name="Slide Number Placeholder 30"/>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E075680A-1AF1-4C31-828E-E185EDC156AC}" type="datetime1">
              <a:rPr lang="en-US" smtClean="0"/>
              <a:pPr/>
              <a:t>12/3/2011</a:t>
            </a:fld>
            <a:endParaRPr lang="en-US"/>
          </a:p>
        </p:txBody>
      </p:sp>
      <p:sp>
        <p:nvSpPr>
          <p:cNvPr id="6" name="Footer Placeholder 5"/>
          <p:cNvSpPr>
            <a:spLocks noGrp="1"/>
          </p:cNvSpPr>
          <p:nvPr>
            <p:ph type="ftr" sz="quarter" idx="11"/>
          </p:nvPr>
        </p:nvSpPr>
        <p:spPr/>
        <p:txBody>
          <a:bodyPr/>
          <a:lstStyle/>
          <a:p>
            <a:r>
              <a:rPr lang="en-US" smtClean="0"/>
              <a:t>W. Thomas - EDDI2011</a:t>
            </a:r>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3C6F2B03-30EE-4BF7-8DA1-20D82BD0CEF9}" type="slidenum">
              <a:rPr lang="en-US" smtClean="0"/>
              <a:pPr/>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492FF6FA-269F-4A3A-A29B-CDD51E211221}" type="datetime1">
              <a:rPr lang="en-US" smtClean="0"/>
              <a:pPr/>
              <a:t>12/3/2011</a:t>
            </a:fld>
            <a:endParaRPr lang="en-US"/>
          </a:p>
        </p:txBody>
      </p:sp>
      <p:sp>
        <p:nvSpPr>
          <p:cNvPr id="21" name="Footer Placeholder 20"/>
          <p:cNvSpPr>
            <a:spLocks noGrp="1"/>
          </p:cNvSpPr>
          <p:nvPr>
            <p:ph type="ftr" sz="quarter" idx="11"/>
          </p:nvPr>
        </p:nvSpPr>
        <p:spPr/>
        <p:txBody>
          <a:bodyPr/>
          <a:lstStyle/>
          <a:p>
            <a:r>
              <a:rPr lang="en-US" smtClean="0"/>
              <a:t>W. Thomas - EDDI2011</a:t>
            </a:r>
            <a:endParaRPr lang="en-US"/>
          </a:p>
        </p:txBody>
      </p:sp>
      <p:sp>
        <p:nvSpPr>
          <p:cNvPr id="6" name="Slide Number Placeholder 5"/>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6AFDB70-CEED-4741-A03C-E66DA876963A}" type="datetime1">
              <a:rPr lang="en-US" smtClean="0"/>
              <a:pPr/>
              <a:t>12/3/2011</a:t>
            </a:fld>
            <a:endParaRPr lang="en-US"/>
          </a:p>
        </p:txBody>
      </p:sp>
      <p:sp>
        <p:nvSpPr>
          <p:cNvPr id="24" name="Footer Placeholder 23"/>
          <p:cNvSpPr>
            <a:spLocks noGrp="1"/>
          </p:cNvSpPr>
          <p:nvPr>
            <p:ph type="ftr" sz="quarter" idx="11"/>
          </p:nvPr>
        </p:nvSpPr>
        <p:spPr/>
        <p:txBody>
          <a:bodyPr/>
          <a:lstStyle/>
          <a:p>
            <a:r>
              <a:rPr lang="en-US" smtClean="0"/>
              <a:t>W. Thomas - EDDI2011</a:t>
            </a:r>
            <a:endParaRPr lang="en-US"/>
          </a:p>
        </p:txBody>
      </p:sp>
      <p:sp>
        <p:nvSpPr>
          <p:cNvPr id="7" name="Slide Number Placeholder 6"/>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3ADBD781-2A0F-497B-A03E-E84C47CF3978}" type="datetime1">
              <a:rPr lang="en-US" smtClean="0"/>
              <a:pPr/>
              <a:t>12/3/2011</a:t>
            </a:fld>
            <a:endParaRPr lang="en-US"/>
          </a:p>
        </p:txBody>
      </p:sp>
      <p:sp>
        <p:nvSpPr>
          <p:cNvPr id="29" name="Footer Placeholder 28"/>
          <p:cNvSpPr>
            <a:spLocks noGrp="1"/>
          </p:cNvSpPr>
          <p:nvPr>
            <p:ph type="ftr" sz="quarter" idx="11"/>
          </p:nvPr>
        </p:nvSpPr>
        <p:spPr/>
        <p:txBody>
          <a:bodyPr/>
          <a:lstStyle/>
          <a:p>
            <a:r>
              <a:rPr lang="en-US" smtClean="0"/>
              <a:t>W. Thomas - EDDI2011</a:t>
            </a:r>
            <a:endParaRPr lang="en-US"/>
          </a:p>
        </p:txBody>
      </p:sp>
      <p:sp>
        <p:nvSpPr>
          <p:cNvPr id="7" name="Slide Number Placeholder 6"/>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80DF07E5-23B4-4338-A0AF-70202639E1B3}" type="datetime1">
              <a:rPr lang="en-US" smtClean="0"/>
              <a:pPr/>
              <a:t>12/3/2011</a:t>
            </a:fld>
            <a:endParaRPr lang="en-US"/>
          </a:p>
        </p:txBody>
      </p:sp>
      <p:sp>
        <p:nvSpPr>
          <p:cNvPr id="5" name="Footer Placeholder 4"/>
          <p:cNvSpPr>
            <a:spLocks noGrp="1"/>
          </p:cNvSpPr>
          <p:nvPr>
            <p:ph type="ftr" sz="quarter" idx="11"/>
          </p:nvPr>
        </p:nvSpPr>
        <p:spPr/>
        <p:txBody>
          <a:bodyPr/>
          <a:lstStyle/>
          <a:p>
            <a:r>
              <a:rPr lang="en-US" smtClean="0"/>
              <a:t>W. Thomas - EDDI2011</a:t>
            </a:r>
            <a:endParaRPr lang="en-US"/>
          </a:p>
        </p:txBody>
      </p:sp>
      <p:sp>
        <p:nvSpPr>
          <p:cNvPr id="31" name="Slide Number Placeholder 30"/>
          <p:cNvSpPr>
            <a:spLocks noGrp="1"/>
          </p:cNvSpPr>
          <p:nvPr>
            <p:ph type="sldNum" sz="quarter" idx="12"/>
          </p:nvPr>
        </p:nvSpPr>
        <p:spPr/>
        <p:txBody>
          <a:bodyPr/>
          <a:lstStyle/>
          <a:p>
            <a:fld id="{3C6F2B03-30EE-4BF7-8DA1-20D82BD0CEF9}" type="slidenum">
              <a:rPr lang="en-US" smtClean="0"/>
              <a:pPr/>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A904305-CE2E-4CAD-B64F-9EEF3E5D3878}" type="datetime1">
              <a:rPr lang="en-US" smtClean="0"/>
              <a:pPr/>
              <a:t>12/3/2011</a:t>
            </a:fld>
            <a:endParaRPr lang="en-US"/>
          </a:p>
        </p:txBody>
      </p:sp>
      <p:sp>
        <p:nvSpPr>
          <p:cNvPr id="5" name="Footer Placeholder 4"/>
          <p:cNvSpPr>
            <a:spLocks noGrp="1"/>
          </p:cNvSpPr>
          <p:nvPr>
            <p:ph type="ftr" sz="quarter" idx="11"/>
          </p:nvPr>
        </p:nvSpPr>
        <p:spPr/>
        <p:txBody>
          <a:bodyPr/>
          <a:lstStyle/>
          <a:p>
            <a:r>
              <a:rPr lang="en-US" smtClean="0"/>
              <a:t>W. Thomas - EDDI2011</a:t>
            </a:r>
            <a:endParaRPr lang="en-US"/>
          </a:p>
        </p:txBody>
      </p:sp>
      <p:sp>
        <p:nvSpPr>
          <p:cNvPr id="6" name="Slide Number Placeholder 5"/>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7FBBE3B-9B1E-491F-82CD-684DDA2CE783}" type="datetime1">
              <a:rPr lang="en-US" smtClean="0"/>
              <a:pPr/>
              <a:t>12/3/2011</a:t>
            </a:fld>
            <a:endParaRPr lang="en-US"/>
          </a:p>
        </p:txBody>
      </p:sp>
      <p:sp>
        <p:nvSpPr>
          <p:cNvPr id="5" name="Footer Placeholder 4"/>
          <p:cNvSpPr>
            <a:spLocks noGrp="1"/>
          </p:cNvSpPr>
          <p:nvPr>
            <p:ph type="ftr" sz="quarter" idx="11"/>
          </p:nvPr>
        </p:nvSpPr>
        <p:spPr/>
        <p:txBody>
          <a:bodyPr/>
          <a:lstStyle/>
          <a:p>
            <a:r>
              <a:rPr lang="en-US" smtClean="0"/>
              <a:t>W. Thomas - EDDI2011</a:t>
            </a:r>
            <a:endParaRPr lang="en-US"/>
          </a:p>
        </p:txBody>
      </p:sp>
      <p:sp>
        <p:nvSpPr>
          <p:cNvPr id="6" name="Slide Number Placeholder 5"/>
          <p:cNvSpPr>
            <a:spLocks noGrp="1"/>
          </p:cNvSpPr>
          <p:nvPr>
            <p:ph type="sldNum" sz="quarter" idx="12"/>
          </p:nvPr>
        </p:nvSpPr>
        <p:spPr/>
        <p:txBody>
          <a:bodyPr/>
          <a:lstStyle/>
          <a:p>
            <a:fld id="{3C6F2B03-30EE-4BF7-8DA1-20D82BD0CE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BAAA3561-5ECF-49BC-904F-1F1ABB2AA448}" type="datetime1">
              <a:rPr lang="en-US" smtClean="0"/>
              <a:pPr/>
              <a:t>12/3/2011</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r>
              <a:rPr lang="en-US" smtClean="0"/>
              <a:t>W. Thomas - EDDI2011</a:t>
            </a:r>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3C6F2B03-30EE-4BF7-8DA1-20D82BD0CEF9}" type="slidenum">
              <a:rPr lang="en-US" smtClean="0"/>
              <a:pPr/>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hyperlink" Target="http://www.ddialliance.org/resources/publications/working/usecases" TargetMode="External"/><Relationship Id="rId2" Type="http://schemas.openxmlformats.org/officeDocument/2006/relationships/hyperlink" Target="http://www.ddialliance.org/resources/publications/working/bestpractices" TargetMode="External"/><Relationship Id="rId1" Type="http://schemas.openxmlformats.org/officeDocument/2006/relationships/slideLayout" Target="../slideLayouts/slideLayout2.xml"/><Relationship Id="rId4" Type="http://schemas.openxmlformats.org/officeDocument/2006/relationships/hyperlink" Target="http://www.iassistdata.org/i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[Meta]-Data Management using DDI</a:t>
            </a:r>
            <a:endParaRPr lang="en-US" dirty="0"/>
          </a:p>
        </p:txBody>
      </p:sp>
      <p:sp>
        <p:nvSpPr>
          <p:cNvPr id="3" name="Subtitle 2"/>
          <p:cNvSpPr>
            <a:spLocks noGrp="1"/>
          </p:cNvSpPr>
          <p:nvPr>
            <p:ph type="subTitle" idx="1"/>
          </p:nvPr>
        </p:nvSpPr>
        <p:spPr/>
        <p:txBody>
          <a:bodyPr/>
          <a:lstStyle/>
          <a:p>
            <a:r>
              <a:rPr lang="en-US" dirty="0" smtClean="0"/>
              <a:t>Making the Business Case for Implementing DDI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Introductions</a:t>
            </a:r>
          </a:p>
          <a:p>
            <a:r>
              <a:rPr lang="en-US" b="1" dirty="0" smtClean="0"/>
              <a:t>Business goals:</a:t>
            </a:r>
            <a:endParaRPr lang="en-US" dirty="0" smtClean="0"/>
          </a:p>
          <a:p>
            <a:pPr lvl="1"/>
            <a:r>
              <a:rPr lang="en-US" i="1" dirty="0" smtClean="0"/>
              <a:t>What are the internal and external goals for your organization? Do they differ between types of organizations?</a:t>
            </a:r>
            <a:endParaRPr lang="en-US" dirty="0" smtClean="0"/>
          </a:p>
          <a:p>
            <a:r>
              <a:rPr lang="en-US" b="1" dirty="0" smtClean="0"/>
              <a:t>Features of DDI that can help address those goals:</a:t>
            </a:r>
            <a:endParaRPr lang="en-US" dirty="0" smtClean="0"/>
          </a:p>
          <a:p>
            <a:pPr lvl="1"/>
            <a:r>
              <a:rPr lang="en-US" i="1" dirty="0" smtClean="0"/>
              <a:t>What is the coverage of DDI? What content can be used to drive production and what is just informational? What additions are under development? What are the basic structural components of DDI? How does DDI interact with other standards used by data organizations?</a:t>
            </a:r>
            <a:endParaRPr lang="en-US" dirty="0" smtClean="0"/>
          </a:p>
          <a:p>
            <a:r>
              <a:rPr lang="en-US" b="1" dirty="0" smtClean="0"/>
              <a:t>How to integrate DDI into an existing system:</a:t>
            </a:r>
            <a:endParaRPr lang="en-US" dirty="0" smtClean="0"/>
          </a:p>
          <a:p>
            <a:pPr lvl="1"/>
            <a:r>
              <a:rPr lang="en-US" i="1" dirty="0" smtClean="0"/>
              <a:t>Where and do you start within different organizational types and in different situations? How do you develop buy in from management, funders, and staff?</a:t>
            </a:r>
            <a:endParaRPr lang="en-US"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Introductions</a:t>
            </a:r>
            <a:endParaRPr lang="en-US" dirty="0"/>
          </a:p>
        </p:txBody>
      </p:sp>
      <p:sp>
        <p:nvSpPr>
          <p:cNvPr id="3" name="Content Placeholder 2"/>
          <p:cNvSpPr>
            <a:spLocks noGrp="1"/>
          </p:cNvSpPr>
          <p:nvPr>
            <p:ph idx="1"/>
          </p:nvPr>
        </p:nvSpPr>
        <p:spPr/>
        <p:txBody>
          <a:bodyPr/>
          <a:lstStyle/>
          <a:p>
            <a:r>
              <a:rPr lang="en-US" dirty="0" smtClean="0"/>
              <a:t>Who are you?</a:t>
            </a:r>
          </a:p>
          <a:p>
            <a:r>
              <a:rPr lang="en-US" dirty="0" smtClean="0"/>
              <a:t>What does your organization do?</a:t>
            </a:r>
          </a:p>
          <a:p>
            <a:pPr lvl="1"/>
            <a:r>
              <a:rPr lang="en-US" dirty="0" smtClean="0"/>
              <a:t>Data collection</a:t>
            </a:r>
          </a:p>
          <a:p>
            <a:pPr lvl="1"/>
            <a:r>
              <a:rPr lang="en-US" dirty="0" smtClean="0"/>
              <a:t>Data production </a:t>
            </a:r>
          </a:p>
          <a:p>
            <a:pPr lvl="1"/>
            <a:r>
              <a:rPr lang="en-US" dirty="0" smtClean="0"/>
              <a:t>User access</a:t>
            </a:r>
          </a:p>
          <a:p>
            <a:pPr lvl="1"/>
            <a:r>
              <a:rPr lang="en-US" dirty="0" smtClean="0"/>
              <a:t>Preservation</a:t>
            </a:r>
          </a:p>
          <a:p>
            <a:pPr lvl="1"/>
            <a:r>
              <a:rPr lang="en-US" dirty="0" smtClean="0"/>
              <a:t>Scale of operations</a:t>
            </a:r>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goals</a:t>
            </a:r>
            <a:endParaRPr lang="en-US" dirty="0"/>
          </a:p>
        </p:txBody>
      </p:sp>
      <p:sp>
        <p:nvSpPr>
          <p:cNvPr id="3" name="Content Placeholder 2"/>
          <p:cNvSpPr>
            <a:spLocks noGrp="1"/>
          </p:cNvSpPr>
          <p:nvPr>
            <p:ph idx="1"/>
          </p:nvPr>
        </p:nvSpPr>
        <p:spPr/>
        <p:txBody>
          <a:bodyPr/>
          <a:lstStyle/>
          <a:p>
            <a:r>
              <a:rPr lang="en-US" dirty="0" smtClean="0"/>
              <a:t>Internal</a:t>
            </a:r>
          </a:p>
          <a:p>
            <a:pPr lvl="1"/>
            <a:r>
              <a:rPr lang="en-US" dirty="0" smtClean="0"/>
              <a:t>i.e. cost reduction</a:t>
            </a:r>
          </a:p>
          <a:p>
            <a:r>
              <a:rPr lang="en-US" dirty="0" smtClean="0"/>
              <a:t>External</a:t>
            </a:r>
          </a:p>
          <a:p>
            <a:pPr lvl="1"/>
            <a:r>
              <a:rPr lang="en-US" dirty="0" smtClean="0"/>
              <a:t>i.e. funder demands</a:t>
            </a:r>
          </a:p>
          <a:p>
            <a:r>
              <a:rPr lang="en-US" dirty="0" smtClean="0"/>
              <a:t>Process</a:t>
            </a:r>
          </a:p>
          <a:p>
            <a:pPr lvl="1"/>
            <a:r>
              <a:rPr lang="en-US" dirty="0" smtClean="0"/>
              <a:t>i.e. quality control</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structures</a:t>
            </a:r>
            <a:endParaRPr lang="en-US" dirty="0"/>
          </a:p>
        </p:txBody>
      </p:sp>
      <p:sp>
        <p:nvSpPr>
          <p:cNvPr id="3" name="Content Placeholder 2"/>
          <p:cNvSpPr>
            <a:spLocks noGrp="1"/>
          </p:cNvSpPr>
          <p:nvPr>
            <p:ph idx="1"/>
          </p:nvPr>
        </p:nvSpPr>
        <p:spPr/>
        <p:txBody>
          <a:bodyPr/>
          <a:lstStyle/>
          <a:p>
            <a:r>
              <a:rPr lang="en-US" dirty="0" smtClean="0"/>
              <a:t>Coverage – what’s captured, informational vs. machine-actionable</a:t>
            </a:r>
          </a:p>
          <a:p>
            <a:r>
              <a:rPr lang="en-US" dirty="0" smtClean="0"/>
              <a:t>Future features to prepare for</a:t>
            </a:r>
          </a:p>
          <a:p>
            <a:r>
              <a:rPr lang="en-US" dirty="0" smtClean="0"/>
              <a:t>Basic structure – purpose</a:t>
            </a:r>
          </a:p>
          <a:p>
            <a:r>
              <a:rPr lang="en-US" dirty="0" smtClean="0"/>
              <a:t>Interaction with other major standards in the social, </a:t>
            </a:r>
            <a:r>
              <a:rPr lang="en-US" dirty="0" err="1" smtClean="0"/>
              <a:t>behavioural</a:t>
            </a:r>
            <a:r>
              <a:rPr lang="en-US" dirty="0" smtClean="0"/>
              <a:t>, economic, and related study areas</a:t>
            </a:r>
            <a:endParaRPr lang="en-US" sz="4000" dirty="0" smtClean="0"/>
          </a:p>
          <a:p>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944562"/>
          </a:xfrm>
        </p:spPr>
        <p:txBody>
          <a:bodyPr/>
          <a:lstStyle/>
          <a:p>
            <a:r>
              <a:rPr lang="en-US" dirty="0" smtClean="0"/>
              <a:t>DDI Development</a:t>
            </a:r>
            <a:endParaRPr lang="en-US" dirty="0"/>
          </a:p>
        </p:txBody>
      </p:sp>
      <p:sp>
        <p:nvSpPr>
          <p:cNvPr id="5" name="TextBox 4"/>
          <p:cNvSpPr txBox="1"/>
          <p:nvPr/>
        </p:nvSpPr>
        <p:spPr>
          <a:xfrm>
            <a:off x="744463" y="2057400"/>
            <a:ext cx="1760034" cy="1077218"/>
          </a:xfrm>
          <a:prstGeom prst="rect">
            <a:avLst/>
          </a:prstGeom>
          <a:noFill/>
        </p:spPr>
        <p:txBody>
          <a:bodyPr wrap="none" rtlCol="0">
            <a:spAutoFit/>
          </a:bodyPr>
          <a:lstStyle/>
          <a:p>
            <a:pPr algn="ctr"/>
            <a:r>
              <a:rPr lang="en-US" sz="3200" b="1" dirty="0" smtClean="0"/>
              <a:t>Version 1</a:t>
            </a:r>
          </a:p>
          <a:p>
            <a:pPr algn="ctr"/>
            <a:r>
              <a:rPr lang="en-US" sz="3200" b="1" dirty="0" smtClean="0"/>
              <a:t>2000</a:t>
            </a:r>
            <a:endParaRPr lang="en-US" sz="3200" b="1" dirty="0"/>
          </a:p>
        </p:txBody>
      </p:sp>
      <p:sp>
        <p:nvSpPr>
          <p:cNvPr id="6" name="TextBox 5"/>
          <p:cNvSpPr txBox="1"/>
          <p:nvPr/>
        </p:nvSpPr>
        <p:spPr>
          <a:xfrm>
            <a:off x="2649463" y="2057400"/>
            <a:ext cx="1760034" cy="1077218"/>
          </a:xfrm>
          <a:prstGeom prst="rect">
            <a:avLst/>
          </a:prstGeom>
          <a:noFill/>
        </p:spPr>
        <p:txBody>
          <a:bodyPr wrap="none" rtlCol="0">
            <a:spAutoFit/>
          </a:bodyPr>
          <a:lstStyle/>
          <a:p>
            <a:pPr algn="ctr"/>
            <a:r>
              <a:rPr lang="en-US" sz="3200" b="1" dirty="0" smtClean="0"/>
              <a:t>Version 2</a:t>
            </a:r>
          </a:p>
          <a:p>
            <a:pPr algn="ctr"/>
            <a:r>
              <a:rPr lang="en-US" sz="3200" b="1" dirty="0" smtClean="0"/>
              <a:t>2003</a:t>
            </a:r>
            <a:endParaRPr lang="en-US" sz="3200" b="1" dirty="0"/>
          </a:p>
        </p:txBody>
      </p:sp>
      <p:sp>
        <p:nvSpPr>
          <p:cNvPr id="7" name="TextBox 6"/>
          <p:cNvSpPr txBox="1"/>
          <p:nvPr/>
        </p:nvSpPr>
        <p:spPr>
          <a:xfrm>
            <a:off x="4859263" y="2057400"/>
            <a:ext cx="1760034" cy="1077218"/>
          </a:xfrm>
          <a:prstGeom prst="rect">
            <a:avLst/>
          </a:prstGeom>
          <a:noFill/>
        </p:spPr>
        <p:txBody>
          <a:bodyPr wrap="none" rtlCol="0">
            <a:spAutoFit/>
          </a:bodyPr>
          <a:lstStyle/>
          <a:p>
            <a:pPr algn="ctr"/>
            <a:r>
              <a:rPr lang="en-US" sz="3200" b="1" dirty="0" smtClean="0"/>
              <a:t>Version 3</a:t>
            </a:r>
          </a:p>
          <a:p>
            <a:pPr algn="ctr"/>
            <a:r>
              <a:rPr lang="en-US" sz="3200" b="1" dirty="0" smtClean="0"/>
              <a:t>2008</a:t>
            </a:r>
            <a:endParaRPr lang="en-US" sz="3200" b="1" dirty="0"/>
          </a:p>
        </p:txBody>
      </p:sp>
      <p:sp>
        <p:nvSpPr>
          <p:cNvPr id="8" name="TextBox 7"/>
          <p:cNvSpPr txBox="1"/>
          <p:nvPr/>
        </p:nvSpPr>
        <p:spPr>
          <a:xfrm>
            <a:off x="838200" y="3429000"/>
            <a:ext cx="1828800" cy="830997"/>
          </a:xfrm>
          <a:prstGeom prst="rect">
            <a:avLst/>
          </a:prstGeom>
          <a:noFill/>
        </p:spPr>
        <p:txBody>
          <a:bodyPr wrap="square" rtlCol="0">
            <a:spAutoFit/>
          </a:bodyPr>
          <a:lstStyle/>
          <a:p>
            <a:pPr algn="ctr"/>
            <a:r>
              <a:rPr lang="en-US" sz="2400" i="1" dirty="0" smtClean="0"/>
              <a:t>Version 1.01</a:t>
            </a:r>
          </a:p>
          <a:p>
            <a:pPr algn="ctr"/>
            <a:r>
              <a:rPr lang="en-US" sz="2400" i="1" dirty="0" smtClean="0"/>
              <a:t>2001</a:t>
            </a:r>
          </a:p>
        </p:txBody>
      </p:sp>
      <p:sp>
        <p:nvSpPr>
          <p:cNvPr id="9" name="TextBox 8"/>
          <p:cNvSpPr txBox="1"/>
          <p:nvPr/>
        </p:nvSpPr>
        <p:spPr>
          <a:xfrm>
            <a:off x="2743200" y="3429000"/>
            <a:ext cx="1571520" cy="830997"/>
          </a:xfrm>
          <a:prstGeom prst="rect">
            <a:avLst/>
          </a:prstGeom>
          <a:noFill/>
        </p:spPr>
        <p:txBody>
          <a:bodyPr wrap="none" rtlCol="0">
            <a:spAutoFit/>
          </a:bodyPr>
          <a:lstStyle/>
          <a:p>
            <a:pPr algn="ctr"/>
            <a:r>
              <a:rPr lang="en-US" sz="2400" i="1" dirty="0" smtClean="0"/>
              <a:t>Version 2.1</a:t>
            </a:r>
          </a:p>
          <a:p>
            <a:pPr algn="ctr"/>
            <a:r>
              <a:rPr lang="en-US" sz="2400" i="1" dirty="0" smtClean="0"/>
              <a:t>2005</a:t>
            </a:r>
            <a:endParaRPr lang="en-US" sz="2400" i="1" dirty="0"/>
          </a:p>
        </p:txBody>
      </p:sp>
      <p:sp>
        <p:nvSpPr>
          <p:cNvPr id="10" name="TextBox 9"/>
          <p:cNvSpPr txBox="1"/>
          <p:nvPr/>
        </p:nvSpPr>
        <p:spPr>
          <a:xfrm>
            <a:off x="4876800" y="3429000"/>
            <a:ext cx="1571520" cy="830997"/>
          </a:xfrm>
          <a:prstGeom prst="rect">
            <a:avLst/>
          </a:prstGeom>
          <a:noFill/>
        </p:spPr>
        <p:txBody>
          <a:bodyPr wrap="none" rtlCol="0">
            <a:spAutoFit/>
          </a:bodyPr>
          <a:lstStyle/>
          <a:p>
            <a:pPr algn="ctr"/>
            <a:r>
              <a:rPr lang="en-US" sz="2400" i="1" dirty="0" smtClean="0"/>
              <a:t>Version 3.1</a:t>
            </a:r>
          </a:p>
          <a:p>
            <a:pPr algn="ctr"/>
            <a:r>
              <a:rPr lang="en-US" sz="2400" i="1" dirty="0" smtClean="0"/>
              <a:t>2009</a:t>
            </a:r>
          </a:p>
        </p:txBody>
      </p:sp>
      <p:sp>
        <p:nvSpPr>
          <p:cNvPr id="11" name="TextBox 10"/>
          <p:cNvSpPr txBox="1"/>
          <p:nvPr/>
        </p:nvSpPr>
        <p:spPr>
          <a:xfrm>
            <a:off x="4830890" y="4343400"/>
            <a:ext cx="1663340" cy="830997"/>
          </a:xfrm>
          <a:prstGeom prst="rect">
            <a:avLst/>
          </a:prstGeom>
          <a:noFill/>
        </p:spPr>
        <p:txBody>
          <a:bodyPr wrap="none" rtlCol="0">
            <a:spAutoFit/>
          </a:bodyPr>
          <a:lstStyle/>
          <a:p>
            <a:pPr algn="ctr"/>
            <a:r>
              <a:rPr lang="en-US" sz="2400" i="1" dirty="0" smtClean="0"/>
              <a:t>Version 3.2</a:t>
            </a:r>
          </a:p>
          <a:p>
            <a:pPr algn="ctr"/>
            <a:r>
              <a:rPr lang="en-US" sz="2400" i="1" dirty="0" smtClean="0"/>
              <a:t>[</a:t>
            </a:r>
            <a:r>
              <a:rPr lang="en-US" sz="2400" i="1" dirty="0" smtClean="0"/>
              <a:t>2012]</a:t>
            </a:r>
            <a:endParaRPr lang="en-US" sz="2400" i="1" dirty="0"/>
          </a:p>
        </p:txBody>
      </p:sp>
      <p:sp>
        <p:nvSpPr>
          <p:cNvPr id="12" name="TextBox 11"/>
          <p:cNvSpPr txBox="1"/>
          <p:nvPr/>
        </p:nvSpPr>
        <p:spPr>
          <a:xfrm>
            <a:off x="838200" y="4343400"/>
            <a:ext cx="1727011" cy="830997"/>
          </a:xfrm>
          <a:prstGeom prst="rect">
            <a:avLst/>
          </a:prstGeom>
          <a:noFill/>
        </p:spPr>
        <p:txBody>
          <a:bodyPr wrap="none" rtlCol="0">
            <a:spAutoFit/>
          </a:bodyPr>
          <a:lstStyle/>
          <a:p>
            <a:pPr algn="ctr"/>
            <a:r>
              <a:rPr lang="en-US" sz="2400" i="1" dirty="0" smtClean="0"/>
              <a:t>Version 1.02</a:t>
            </a:r>
          </a:p>
          <a:p>
            <a:pPr algn="ctr"/>
            <a:r>
              <a:rPr lang="en-US" sz="2400" i="1" dirty="0" smtClean="0"/>
              <a:t>2001</a:t>
            </a:r>
            <a:endParaRPr lang="en-US" sz="2400" i="1" dirty="0"/>
          </a:p>
        </p:txBody>
      </p:sp>
      <p:sp>
        <p:nvSpPr>
          <p:cNvPr id="13" name="TextBox 12"/>
          <p:cNvSpPr txBox="1"/>
          <p:nvPr/>
        </p:nvSpPr>
        <p:spPr>
          <a:xfrm>
            <a:off x="838200" y="5334000"/>
            <a:ext cx="1571520" cy="830997"/>
          </a:xfrm>
          <a:prstGeom prst="rect">
            <a:avLst/>
          </a:prstGeom>
          <a:noFill/>
        </p:spPr>
        <p:txBody>
          <a:bodyPr wrap="none" rtlCol="0">
            <a:spAutoFit/>
          </a:bodyPr>
          <a:lstStyle/>
          <a:p>
            <a:pPr algn="ctr"/>
            <a:r>
              <a:rPr lang="en-US" sz="2400" i="1" dirty="0" smtClean="0"/>
              <a:t>Version 1.3</a:t>
            </a:r>
          </a:p>
          <a:p>
            <a:pPr algn="ctr"/>
            <a:r>
              <a:rPr lang="en-US" sz="2400" i="1" dirty="0" smtClean="0"/>
              <a:t>2002</a:t>
            </a:r>
            <a:endParaRPr lang="en-US" sz="2400" i="1" dirty="0"/>
          </a:p>
        </p:txBody>
      </p:sp>
      <p:sp>
        <p:nvSpPr>
          <p:cNvPr id="14" name="TextBox 13"/>
          <p:cNvSpPr txBox="1"/>
          <p:nvPr/>
        </p:nvSpPr>
        <p:spPr>
          <a:xfrm>
            <a:off x="6703252" y="2057400"/>
            <a:ext cx="1882055" cy="1077218"/>
          </a:xfrm>
          <a:prstGeom prst="rect">
            <a:avLst/>
          </a:prstGeom>
          <a:noFill/>
        </p:spPr>
        <p:txBody>
          <a:bodyPr wrap="none" rtlCol="0">
            <a:spAutoFit/>
          </a:bodyPr>
          <a:lstStyle/>
          <a:p>
            <a:pPr algn="ctr"/>
            <a:r>
              <a:rPr lang="en-US" sz="3200" b="1" i="1" dirty="0" smtClean="0">
                <a:solidFill>
                  <a:schemeClr val="tx1">
                    <a:lumMod val="50000"/>
                    <a:lumOff val="50000"/>
                  </a:schemeClr>
                </a:solidFill>
              </a:rPr>
              <a:t>[Version 4</a:t>
            </a:r>
          </a:p>
          <a:p>
            <a:pPr algn="ctr"/>
            <a:r>
              <a:rPr lang="en-US" sz="3200" b="1" i="1" dirty="0" smtClean="0">
                <a:solidFill>
                  <a:schemeClr val="tx1">
                    <a:lumMod val="50000"/>
                    <a:lumOff val="50000"/>
                  </a:schemeClr>
                </a:solidFill>
              </a:rPr>
              <a:t>20??]</a:t>
            </a:r>
            <a:endParaRPr lang="en-US" sz="3200" b="1" i="1" dirty="0">
              <a:solidFill>
                <a:schemeClr val="tx1">
                  <a:lumMod val="50000"/>
                  <a:lumOff val="50000"/>
                </a:schemeClr>
              </a:solidFill>
            </a:endParaRPr>
          </a:p>
        </p:txBody>
      </p:sp>
      <p:sp>
        <p:nvSpPr>
          <p:cNvPr id="16" name="TextBox 15"/>
          <p:cNvSpPr txBox="1"/>
          <p:nvPr/>
        </p:nvSpPr>
        <p:spPr>
          <a:xfrm>
            <a:off x="2819400" y="4343400"/>
            <a:ext cx="1571520" cy="830997"/>
          </a:xfrm>
          <a:prstGeom prst="rect">
            <a:avLst/>
          </a:prstGeom>
          <a:noFill/>
        </p:spPr>
        <p:txBody>
          <a:bodyPr wrap="none" rtlCol="0">
            <a:spAutoFit/>
          </a:bodyPr>
          <a:lstStyle/>
          <a:p>
            <a:pPr algn="ctr"/>
            <a:r>
              <a:rPr lang="en-US" sz="2400" i="1" dirty="0" smtClean="0"/>
              <a:t>Version 2.5</a:t>
            </a:r>
          </a:p>
          <a:p>
            <a:pPr algn="ctr"/>
            <a:r>
              <a:rPr lang="en-US" sz="2400" i="1" dirty="0" smtClean="0"/>
              <a:t>[2011]</a:t>
            </a:r>
            <a:endParaRPr lang="en-US" sz="2400" i="1" dirty="0"/>
          </a:p>
        </p:txBody>
      </p:sp>
      <p:cxnSp>
        <p:nvCxnSpPr>
          <p:cNvPr id="18" name="Straight Connector 17"/>
          <p:cNvCxnSpPr>
            <a:stCxn id="4" idx="2"/>
          </p:cNvCxnSpPr>
          <p:nvPr/>
        </p:nvCxnSpPr>
        <p:spPr>
          <a:xfrm rot="5400000">
            <a:off x="1943100" y="3848100"/>
            <a:ext cx="5257800" cy="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90600" y="1219200"/>
            <a:ext cx="2971800" cy="830997"/>
          </a:xfrm>
          <a:prstGeom prst="rect">
            <a:avLst/>
          </a:prstGeom>
          <a:noFill/>
        </p:spPr>
        <p:txBody>
          <a:bodyPr wrap="square" rtlCol="0">
            <a:spAutoFit/>
          </a:bodyPr>
          <a:lstStyle/>
          <a:p>
            <a:pPr algn="ctr"/>
            <a:r>
              <a:rPr lang="en-US" sz="4800" b="1" dirty="0" smtClean="0">
                <a:solidFill>
                  <a:srgbClr val="FF0000"/>
                </a:solidFill>
              </a:rPr>
              <a:t>Codebook</a:t>
            </a:r>
            <a:endParaRPr lang="en-US" sz="4800" b="1" dirty="0">
              <a:solidFill>
                <a:srgbClr val="FF0000"/>
              </a:solidFill>
            </a:endParaRPr>
          </a:p>
        </p:txBody>
      </p:sp>
      <p:sp>
        <p:nvSpPr>
          <p:cNvPr id="22" name="TextBox 21"/>
          <p:cNvSpPr txBox="1"/>
          <p:nvPr/>
        </p:nvSpPr>
        <p:spPr>
          <a:xfrm>
            <a:off x="5105400" y="1219200"/>
            <a:ext cx="3200400" cy="830997"/>
          </a:xfrm>
          <a:prstGeom prst="rect">
            <a:avLst/>
          </a:prstGeom>
          <a:noFill/>
        </p:spPr>
        <p:txBody>
          <a:bodyPr wrap="square" rtlCol="0">
            <a:spAutoFit/>
          </a:bodyPr>
          <a:lstStyle/>
          <a:p>
            <a:pPr algn="ctr"/>
            <a:r>
              <a:rPr lang="en-US" sz="4800" b="1" dirty="0" smtClean="0">
                <a:solidFill>
                  <a:srgbClr val="FF0000"/>
                </a:solidFill>
              </a:rPr>
              <a:t>Lifecycle</a:t>
            </a:r>
            <a:endParaRPr lang="en-US" sz="4800" b="1" dirty="0">
              <a:solidFill>
                <a:srgbClr val="FF0000"/>
              </a:solidFill>
            </a:endParaRPr>
          </a:p>
        </p:txBody>
      </p:sp>
      <p:sp>
        <p:nvSpPr>
          <p:cNvPr id="23" name="TextBox 22"/>
          <p:cNvSpPr txBox="1"/>
          <p:nvPr/>
        </p:nvSpPr>
        <p:spPr>
          <a:xfrm>
            <a:off x="2852896" y="5257800"/>
            <a:ext cx="1656928" cy="830997"/>
          </a:xfrm>
          <a:prstGeom prst="rect">
            <a:avLst/>
          </a:prstGeom>
          <a:noFill/>
        </p:spPr>
        <p:txBody>
          <a:bodyPr wrap="none" rtlCol="0">
            <a:spAutoFit/>
          </a:bodyPr>
          <a:lstStyle/>
          <a:p>
            <a:pPr algn="ctr"/>
            <a:r>
              <a:rPr lang="en-US" sz="2400" i="1" dirty="0" smtClean="0">
                <a:solidFill>
                  <a:schemeClr val="tx1">
                    <a:lumMod val="50000"/>
                    <a:lumOff val="50000"/>
                  </a:schemeClr>
                </a:solidFill>
              </a:rPr>
              <a:t>[Version 2.6</a:t>
            </a:r>
          </a:p>
          <a:p>
            <a:pPr algn="ctr"/>
            <a:r>
              <a:rPr lang="en-US" sz="2400" i="1" dirty="0" smtClean="0">
                <a:solidFill>
                  <a:schemeClr val="tx1">
                    <a:lumMod val="50000"/>
                    <a:lumOff val="50000"/>
                  </a:schemeClr>
                </a:solidFill>
              </a:rPr>
              <a:t>20??]</a:t>
            </a:r>
            <a:endParaRPr lang="en-US" sz="2400" i="1" dirty="0">
              <a:solidFill>
                <a:schemeClr val="tx1">
                  <a:lumMod val="50000"/>
                  <a:lumOff val="50000"/>
                </a:schemeClr>
              </a:solidFill>
            </a:endParaRPr>
          </a:p>
        </p:txBody>
      </p:sp>
      <p:sp>
        <p:nvSpPr>
          <p:cNvPr id="24" name="TextBox 23"/>
          <p:cNvSpPr txBox="1"/>
          <p:nvPr/>
        </p:nvSpPr>
        <p:spPr>
          <a:xfrm>
            <a:off x="4910295" y="5257800"/>
            <a:ext cx="1656928" cy="830997"/>
          </a:xfrm>
          <a:prstGeom prst="rect">
            <a:avLst/>
          </a:prstGeom>
          <a:noFill/>
        </p:spPr>
        <p:txBody>
          <a:bodyPr wrap="none" rtlCol="0">
            <a:spAutoFit/>
          </a:bodyPr>
          <a:lstStyle/>
          <a:p>
            <a:pPr algn="ctr"/>
            <a:r>
              <a:rPr lang="en-US" sz="2400" i="1" dirty="0" smtClean="0">
                <a:solidFill>
                  <a:schemeClr val="tx1">
                    <a:lumMod val="50000"/>
                    <a:lumOff val="50000"/>
                  </a:schemeClr>
                </a:solidFill>
              </a:rPr>
              <a:t>[Version 3.3</a:t>
            </a:r>
          </a:p>
          <a:p>
            <a:pPr algn="ctr"/>
            <a:r>
              <a:rPr lang="en-US" sz="2400" i="1" dirty="0" smtClean="0">
                <a:solidFill>
                  <a:schemeClr val="tx1">
                    <a:lumMod val="50000"/>
                    <a:lumOff val="50000"/>
                  </a:schemeClr>
                </a:solidFill>
              </a:rPr>
              <a:t>20??]</a:t>
            </a:r>
            <a:endParaRPr lang="en-US" sz="2400" i="1" dirty="0">
              <a:solidFill>
                <a:schemeClr val="tx1">
                  <a:lumMod val="50000"/>
                  <a:lumOff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checkerboard(across)">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39" presetClass="entr" presetSubtype="0" accel="10000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18"/>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18"/>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checkerboard(across)">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7" presetClass="entr" presetSubtype="4"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2000" fill="hold"/>
                                        <p:tgtEl>
                                          <p:spTgt spid="11"/>
                                        </p:tgtEl>
                                        <p:attrNameLst>
                                          <p:attrName>ppt_x</p:attrName>
                                        </p:attrNameLst>
                                      </p:cBhvr>
                                      <p:tavLst>
                                        <p:tav tm="0">
                                          <p:val>
                                            <p:strVal val="#ppt_x"/>
                                          </p:val>
                                        </p:tav>
                                        <p:tav tm="100000">
                                          <p:val>
                                            <p:strVal val="#ppt_x"/>
                                          </p:val>
                                        </p:tav>
                                      </p:tavLst>
                                    </p:anim>
                                    <p:anim calcmode="lin" valueType="num">
                                      <p:cBhvr additive="base">
                                        <p:cTn id="49" dur="2000" fill="hold"/>
                                        <p:tgtEl>
                                          <p:spTgt spid="11"/>
                                        </p:tgtEl>
                                        <p:attrNameLst>
                                          <p:attrName>ppt_y</p:attrName>
                                        </p:attrNameLst>
                                      </p:cBhvr>
                                      <p:tavLst>
                                        <p:tav tm="0">
                                          <p:val>
                                            <p:strVal val="1+#ppt_h/2"/>
                                          </p:val>
                                        </p:tav>
                                        <p:tav tm="100000">
                                          <p:val>
                                            <p:strVal val="#ppt_y"/>
                                          </p:val>
                                        </p:tav>
                                      </p:tavLst>
                                    </p:anim>
                                  </p:childTnLst>
                                </p:cTn>
                              </p:par>
                              <p:par>
                                <p:cTn id="50" presetID="7" presetClass="entr" presetSubtype="4"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2000" fill="hold"/>
                                        <p:tgtEl>
                                          <p:spTgt spid="16"/>
                                        </p:tgtEl>
                                        <p:attrNameLst>
                                          <p:attrName>ppt_x</p:attrName>
                                        </p:attrNameLst>
                                      </p:cBhvr>
                                      <p:tavLst>
                                        <p:tav tm="0">
                                          <p:val>
                                            <p:strVal val="#ppt_x"/>
                                          </p:val>
                                        </p:tav>
                                        <p:tav tm="100000">
                                          <p:val>
                                            <p:strVal val="#ppt_x"/>
                                          </p:val>
                                        </p:tav>
                                      </p:tavLst>
                                    </p:anim>
                                    <p:anim calcmode="lin" valueType="num">
                                      <p:cBhvr additive="base">
                                        <p:cTn id="53" dur="20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ox(in)">
                                      <p:cBhvr>
                                        <p:cTn id="58" dur="500"/>
                                        <p:tgtEl>
                                          <p:spTgt spid="21"/>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ox(in)">
                                      <p:cBhvr>
                                        <p:cTn id="61"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checkerboard(across)">
                                      <p:cBhvr>
                                        <p:cTn id="66" dur="500"/>
                                        <p:tgtEl>
                                          <p:spTgt spid="23"/>
                                        </p:tgtEl>
                                      </p:cBhvr>
                                    </p:animEffect>
                                  </p:childTnLst>
                                </p:cTn>
                              </p:par>
                              <p:par>
                                <p:cTn id="67" presetID="5" presetClass="entr" presetSubtype="1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checkerboard(across)">
                                      <p:cBhvr>
                                        <p:cTn id="69" dur="5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6" grpId="0"/>
      <p:bldP spid="21" grpId="0"/>
      <p:bldP spid="22" grpId="0"/>
      <p:bldP spid="23"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Desired Areas of Coverage</a:t>
            </a:r>
            <a:endParaRPr lang="en-US" dirty="0"/>
          </a:p>
        </p:txBody>
      </p:sp>
      <p:sp>
        <p:nvSpPr>
          <p:cNvPr id="5" name="TextBox 4"/>
          <p:cNvSpPr txBox="1"/>
          <p:nvPr/>
        </p:nvSpPr>
        <p:spPr>
          <a:xfrm>
            <a:off x="533400" y="1524000"/>
            <a:ext cx="8610600" cy="4678204"/>
          </a:xfrm>
          <a:prstGeom prst="rect">
            <a:avLst/>
          </a:prstGeom>
          <a:noFill/>
        </p:spPr>
        <p:txBody>
          <a:bodyPr wrap="square" rtlCol="0">
            <a:spAutoFit/>
          </a:bodyPr>
          <a:lstStyle/>
          <a:p>
            <a:pPr>
              <a:spcAft>
                <a:spcPts val="600"/>
              </a:spcAft>
              <a:buFont typeface="Arial" pitchFamily="34" charset="0"/>
              <a:buChar char="•"/>
            </a:pPr>
            <a:r>
              <a:rPr lang="en-US" sz="3000" dirty="0" smtClean="0"/>
              <a:t> Simple survey</a:t>
            </a:r>
          </a:p>
          <a:p>
            <a:pPr>
              <a:spcAft>
                <a:spcPts val="600"/>
              </a:spcAft>
              <a:buFont typeface="Arial" pitchFamily="34" charset="0"/>
              <a:buChar char="•"/>
            </a:pPr>
            <a:r>
              <a:rPr lang="en-US" sz="3000" dirty="0" smtClean="0"/>
              <a:t> Aggregate data </a:t>
            </a:r>
          </a:p>
          <a:p>
            <a:pPr>
              <a:spcAft>
                <a:spcPts val="600"/>
              </a:spcAft>
              <a:buFont typeface="Arial" pitchFamily="34" charset="0"/>
              <a:buChar char="•"/>
            </a:pPr>
            <a:r>
              <a:rPr lang="en-US" sz="3000" dirty="0" smtClean="0"/>
              <a:t> Complex data file structures</a:t>
            </a:r>
          </a:p>
          <a:p>
            <a:pPr>
              <a:spcAft>
                <a:spcPts val="600"/>
              </a:spcAft>
              <a:buFont typeface="Arial" pitchFamily="34" charset="0"/>
              <a:buChar char="•"/>
            </a:pPr>
            <a:r>
              <a:rPr lang="en-US" sz="3000" dirty="0" smtClean="0"/>
              <a:t> Series (linkages between studies)</a:t>
            </a:r>
          </a:p>
          <a:p>
            <a:pPr>
              <a:spcAft>
                <a:spcPts val="600"/>
              </a:spcAft>
              <a:buFont typeface="Arial" pitchFamily="34" charset="0"/>
              <a:buChar char="•"/>
            </a:pPr>
            <a:r>
              <a:rPr lang="en-US" sz="3000" dirty="0" smtClean="0"/>
              <a:t> Programming and software support </a:t>
            </a:r>
          </a:p>
          <a:p>
            <a:pPr>
              <a:spcAft>
                <a:spcPts val="600"/>
              </a:spcAft>
              <a:buFont typeface="Arial" pitchFamily="34" charset="0"/>
              <a:buChar char="•"/>
            </a:pPr>
            <a:r>
              <a:rPr lang="en-US" sz="3000" dirty="0" smtClean="0"/>
              <a:t> Support for GIS users</a:t>
            </a:r>
          </a:p>
          <a:p>
            <a:pPr>
              <a:spcAft>
                <a:spcPts val="600"/>
              </a:spcAft>
              <a:buFont typeface="Arial" pitchFamily="34" charset="0"/>
              <a:buChar char="•"/>
            </a:pPr>
            <a:r>
              <a:rPr lang="en-US" sz="3000" dirty="0" smtClean="0"/>
              <a:t> Support for CAI systems</a:t>
            </a:r>
          </a:p>
          <a:p>
            <a:pPr>
              <a:spcAft>
                <a:spcPts val="600"/>
              </a:spcAft>
              <a:buFont typeface="Arial" pitchFamily="34" charset="0"/>
              <a:buChar char="•"/>
            </a:pPr>
            <a:r>
              <a:rPr lang="en-US" sz="3000" dirty="0" smtClean="0"/>
              <a:t> Support comparability (by-design, harmonization)</a:t>
            </a:r>
          </a:p>
          <a:p>
            <a:endParaRPr lang="en-US" dirty="0"/>
          </a:p>
        </p:txBody>
      </p:sp>
      <p:sp>
        <p:nvSpPr>
          <p:cNvPr id="6" name="TextBox 5"/>
          <p:cNvSpPr txBox="1"/>
          <p:nvPr/>
        </p:nvSpPr>
        <p:spPr>
          <a:xfrm>
            <a:off x="228600" y="1447800"/>
            <a:ext cx="4724400" cy="3293209"/>
          </a:xfrm>
          <a:prstGeom prst="rect">
            <a:avLst/>
          </a:prstGeom>
          <a:noFill/>
        </p:spPr>
        <p:txBody>
          <a:bodyPr wrap="square" rtlCol="0">
            <a:spAutoFit/>
          </a:bodyPr>
          <a:lstStyle/>
          <a:p>
            <a:r>
              <a:rPr lang="en-US" sz="3200" b="1" dirty="0" smtClean="0">
                <a:solidFill>
                  <a:srgbClr val="FF0000"/>
                </a:solidFill>
              </a:rPr>
              <a:t>Codebook</a:t>
            </a:r>
          </a:p>
          <a:p>
            <a:r>
              <a:rPr lang="en-US" sz="2800" i="1" dirty="0" smtClean="0"/>
              <a:t>Version 1</a:t>
            </a:r>
          </a:p>
          <a:p>
            <a:r>
              <a:rPr lang="en-US" sz="2400" dirty="0" smtClean="0"/>
              <a:t>    Simple survey</a:t>
            </a:r>
          </a:p>
          <a:p>
            <a:r>
              <a:rPr lang="en-US" sz="2400" dirty="0" smtClean="0"/>
              <a:t>    Option for some programming</a:t>
            </a:r>
          </a:p>
          <a:p>
            <a:r>
              <a:rPr lang="en-US" sz="2400" dirty="0"/>
              <a:t> </a:t>
            </a:r>
            <a:r>
              <a:rPr lang="en-US" sz="2400" dirty="0" smtClean="0"/>
              <a:t>        and software support</a:t>
            </a:r>
          </a:p>
          <a:p>
            <a:r>
              <a:rPr lang="en-US" sz="2800" i="1" dirty="0" smtClean="0"/>
              <a:t>Version 2</a:t>
            </a:r>
          </a:p>
          <a:p>
            <a:r>
              <a:rPr lang="en-US" sz="2400" dirty="0" smtClean="0"/>
              <a:t>    Aggregate data</a:t>
            </a:r>
          </a:p>
          <a:p>
            <a:r>
              <a:rPr lang="en-US" sz="2400" dirty="0" smtClean="0"/>
              <a:t>    Some support for GIS users</a:t>
            </a:r>
            <a:endParaRPr lang="en-US" sz="2400" dirty="0"/>
          </a:p>
        </p:txBody>
      </p:sp>
      <p:sp>
        <p:nvSpPr>
          <p:cNvPr id="7" name="TextBox 6"/>
          <p:cNvSpPr txBox="1"/>
          <p:nvPr/>
        </p:nvSpPr>
        <p:spPr>
          <a:xfrm>
            <a:off x="4572000" y="1447800"/>
            <a:ext cx="4343400" cy="4339650"/>
          </a:xfrm>
          <a:prstGeom prst="rect">
            <a:avLst/>
          </a:prstGeom>
          <a:noFill/>
        </p:spPr>
        <p:txBody>
          <a:bodyPr wrap="square" rtlCol="0">
            <a:spAutoFit/>
          </a:bodyPr>
          <a:lstStyle/>
          <a:p>
            <a:r>
              <a:rPr lang="en-US" sz="3200" b="1" dirty="0" smtClean="0">
                <a:solidFill>
                  <a:srgbClr val="FF0000"/>
                </a:solidFill>
              </a:rPr>
              <a:t>Lifecycle</a:t>
            </a:r>
          </a:p>
          <a:p>
            <a:r>
              <a:rPr lang="en-US" sz="2800" i="1" dirty="0" smtClean="0"/>
              <a:t>Version 3</a:t>
            </a:r>
          </a:p>
          <a:p>
            <a:r>
              <a:rPr lang="en-US" sz="2400" dirty="0" smtClean="0"/>
              <a:t>    Simple survey</a:t>
            </a:r>
          </a:p>
          <a:p>
            <a:r>
              <a:rPr lang="en-US" sz="2400" dirty="0" smtClean="0"/>
              <a:t>    Aggregate data</a:t>
            </a:r>
          </a:p>
          <a:p>
            <a:r>
              <a:rPr lang="en-US" sz="2400" dirty="0" smtClean="0"/>
              <a:t>    Programming and software</a:t>
            </a:r>
          </a:p>
          <a:p>
            <a:r>
              <a:rPr lang="en-US" sz="2400" dirty="0"/>
              <a:t> </a:t>
            </a:r>
            <a:r>
              <a:rPr lang="en-US" sz="2400" dirty="0" smtClean="0"/>
              <a:t>       support</a:t>
            </a:r>
          </a:p>
          <a:p>
            <a:r>
              <a:rPr lang="en-US" sz="2400" dirty="0" smtClean="0"/>
              <a:t>    GIS support</a:t>
            </a:r>
          </a:p>
          <a:p>
            <a:r>
              <a:rPr lang="en-US" sz="2400" dirty="0" smtClean="0"/>
              <a:t>    CAI support</a:t>
            </a:r>
          </a:p>
          <a:p>
            <a:r>
              <a:rPr lang="en-US" sz="2400" dirty="0" smtClean="0"/>
              <a:t>    Complex data files</a:t>
            </a:r>
          </a:p>
          <a:p>
            <a:r>
              <a:rPr lang="en-US" sz="2400" dirty="0" smtClean="0"/>
              <a:t>    Series</a:t>
            </a:r>
          </a:p>
          <a:p>
            <a:r>
              <a:rPr lang="en-US" sz="2400" dirty="0" smtClean="0"/>
              <a:t>    Comparability</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xit" presetSubtype="0" fill="hold" grpId="0" nodeType="clickEffect">
                                  <p:stCondLst>
                                    <p:cond delay="0"/>
                                  </p:stCondLst>
                                  <p:childTnLst>
                                    <p:anim calcmode="lin" valueType="num">
                                      <p:cBhvr>
                                        <p:cTn id="6" dur="1000"/>
                                        <p:tgtEl>
                                          <p:spTgt spid="5"/>
                                        </p:tgtEl>
                                        <p:attrNameLst>
                                          <p:attrName>ppt_w</p:attrName>
                                        </p:attrNameLst>
                                      </p:cBhvr>
                                      <p:tavLst>
                                        <p:tav tm="0">
                                          <p:val>
                                            <p:strVal val="ppt_w"/>
                                          </p:val>
                                        </p:tav>
                                        <p:tav tm="100000">
                                          <p:val>
                                            <p:strVal val="ppt_w*0.70"/>
                                          </p:val>
                                        </p:tav>
                                      </p:tavLst>
                                    </p:anim>
                                    <p:anim calcmode="lin" valueType="num">
                                      <p:cBhvr>
                                        <p:cTn id="7" dur="1000"/>
                                        <p:tgtEl>
                                          <p:spTgt spid="5"/>
                                        </p:tgtEl>
                                        <p:attrNameLst>
                                          <p:attrName>ppt_h</p:attrName>
                                        </p:attrNameLst>
                                      </p:cBhvr>
                                      <p:tavLst>
                                        <p:tav tm="0">
                                          <p:val>
                                            <p:strVal val="ppt_h"/>
                                          </p:val>
                                        </p:tav>
                                        <p:tav tm="100000">
                                          <p:val>
                                            <p:strVal val="ppt_h"/>
                                          </p:val>
                                        </p:tav>
                                      </p:tavLst>
                                    </p:anim>
                                    <p:animEffect transition="out" filter="fade">
                                      <p:cBhvr>
                                        <p:cTn id="8" dur="1000"/>
                                        <p:tgtEl>
                                          <p:spTgt spid="5"/>
                                        </p:tgtEl>
                                      </p:cBhvr>
                                    </p:animEffect>
                                    <p:set>
                                      <p:cBhvr>
                                        <p:cTn id="9" dur="1" fill="hold">
                                          <p:stCondLst>
                                            <p:cond delay="999"/>
                                          </p:stCondLst>
                                        </p:cTn>
                                        <p:tgtEl>
                                          <p:spTgt spid="5"/>
                                        </p:tgtEl>
                                        <p:attrNameLst>
                                          <p:attrName>style.visibility</p:attrName>
                                        </p:attrNameLst>
                                      </p:cBhvr>
                                      <p:to>
                                        <p:strVal val="hidden"/>
                                      </p:to>
                                    </p:set>
                                  </p:childTnLst>
                                </p:cTn>
                              </p:par>
                            </p:childTnLst>
                          </p:cTn>
                        </p:par>
                        <p:par>
                          <p:cTn id="10" fill="hold">
                            <p:stCondLst>
                              <p:cond delay="10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6"/>
                                        </p:tgtEl>
                                        <p:attrNameLst>
                                          <p:attrName>style.visibility</p:attrName>
                                        </p:attrNameLst>
                                      </p:cBhvr>
                                      <p:to>
                                        <p:strVal val="visible"/>
                                      </p:to>
                                    </p:set>
                                    <p:anim by="(-#ppt_w*2)" calcmode="lin" valueType="num">
                                      <p:cBhvr rctx="PPT">
                                        <p:cTn id="13" dur="250" autoRev="1" fill="hold">
                                          <p:stCondLst>
                                            <p:cond delay="0"/>
                                          </p:stCondLst>
                                        </p:cTn>
                                        <p:tgtEl>
                                          <p:spTgt spid="6"/>
                                        </p:tgtEl>
                                        <p:attrNameLst>
                                          <p:attrName>ppt_w</p:attrName>
                                        </p:attrNameLst>
                                      </p:cBhvr>
                                    </p:anim>
                                    <p:anim by="(#ppt_w*0.50)" calcmode="lin" valueType="num">
                                      <p:cBhvr>
                                        <p:cTn id="14" dur="250" decel="50000" autoRev="1" fill="hold">
                                          <p:stCondLst>
                                            <p:cond delay="0"/>
                                          </p:stCondLst>
                                        </p:cTn>
                                        <p:tgtEl>
                                          <p:spTgt spid="6"/>
                                        </p:tgtEl>
                                        <p:attrNameLst>
                                          <p:attrName>ppt_x</p:attrName>
                                        </p:attrNameLst>
                                      </p:cBhvr>
                                    </p:anim>
                                    <p:anim from="(-#ppt_h/2)" to="(#ppt_y)" calcmode="lin" valueType="num">
                                      <p:cBhvr>
                                        <p:cTn id="15" dur="500" fill="hold">
                                          <p:stCondLst>
                                            <p:cond delay="0"/>
                                          </p:stCondLst>
                                        </p:cTn>
                                        <p:tgtEl>
                                          <p:spTgt spid="6"/>
                                        </p:tgtEl>
                                        <p:attrNameLst>
                                          <p:attrName>ppt_y</p:attrName>
                                        </p:attrNameLst>
                                      </p:cBhvr>
                                    </p:anim>
                                    <p:animRot by="21600000">
                                      <p:cBhvr>
                                        <p:cTn id="16" dur="500" fill="hold">
                                          <p:stCondLst>
                                            <p:cond delay="0"/>
                                          </p:stCondLst>
                                        </p:cTn>
                                        <p:tgtEl>
                                          <p:spTgt spid="6"/>
                                        </p:tgtEl>
                                        <p:attrNameLst>
                                          <p:attrName>r</p:attrName>
                                        </p:attrNameLst>
                                      </p:cBhvr>
                                    </p:animRot>
                                  </p:childTnLst>
                                </p:cTn>
                              </p:par>
                              <p:par>
                                <p:cTn id="17" presetID="56" presetClass="entr" presetSubtype="0" fill="hold" grpId="0" nodeType="withEffect">
                                  <p:stCondLst>
                                    <p:cond delay="0"/>
                                  </p:stCondLst>
                                  <p:iterate type="lt">
                                    <p:tmPct val="10000"/>
                                  </p:iterate>
                                  <p:childTnLst>
                                    <p:set>
                                      <p:cBhvr>
                                        <p:cTn id="18" dur="1" fill="hold">
                                          <p:stCondLst>
                                            <p:cond delay="0"/>
                                          </p:stCondLst>
                                        </p:cTn>
                                        <p:tgtEl>
                                          <p:spTgt spid="7"/>
                                        </p:tgtEl>
                                        <p:attrNameLst>
                                          <p:attrName>style.visibility</p:attrName>
                                        </p:attrNameLst>
                                      </p:cBhvr>
                                      <p:to>
                                        <p:strVal val="visible"/>
                                      </p:to>
                                    </p:set>
                                    <p:anim by="(-#ppt_w*2)" calcmode="lin" valueType="num">
                                      <p:cBhvr rctx="PPT">
                                        <p:cTn id="19" dur="250" autoRev="1" fill="hold">
                                          <p:stCondLst>
                                            <p:cond delay="0"/>
                                          </p:stCondLst>
                                        </p:cTn>
                                        <p:tgtEl>
                                          <p:spTgt spid="7"/>
                                        </p:tgtEl>
                                        <p:attrNameLst>
                                          <p:attrName>ppt_w</p:attrName>
                                        </p:attrNameLst>
                                      </p:cBhvr>
                                    </p:anim>
                                    <p:anim by="(#ppt_w*0.50)" calcmode="lin" valueType="num">
                                      <p:cBhvr>
                                        <p:cTn id="20" dur="250" decel="50000" autoRev="1" fill="hold">
                                          <p:stCondLst>
                                            <p:cond delay="0"/>
                                          </p:stCondLst>
                                        </p:cTn>
                                        <p:tgtEl>
                                          <p:spTgt spid="7"/>
                                        </p:tgtEl>
                                        <p:attrNameLst>
                                          <p:attrName>ppt_x</p:attrName>
                                        </p:attrNameLst>
                                      </p:cBhvr>
                                    </p:anim>
                                    <p:anim from="(-#ppt_h/2)" to="(#ppt_y)" calcmode="lin" valueType="num">
                                      <p:cBhvr>
                                        <p:cTn id="21" dur="500" fill="hold">
                                          <p:stCondLst>
                                            <p:cond delay="0"/>
                                          </p:stCondLst>
                                        </p:cTn>
                                        <p:tgtEl>
                                          <p:spTgt spid="7"/>
                                        </p:tgtEl>
                                        <p:attrNameLst>
                                          <p:attrName>ppt_y</p:attrName>
                                        </p:attrNameLst>
                                      </p:cBhvr>
                                    </p:anim>
                                    <p:animRot by="21600000">
                                      <p:cBhvr>
                                        <p:cTn id="22" dur="500" fill="hold">
                                          <p:stCondLst>
                                            <p:cond delay="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0"/>
            <a:ext cx="8686800" cy="841248"/>
          </a:xfrm>
        </p:spPr>
        <p:txBody>
          <a:bodyPr>
            <a:noAutofit/>
          </a:bodyPr>
          <a:lstStyle/>
          <a:p>
            <a:pPr eaLnBrk="1" hangingPunct="1"/>
            <a:r>
              <a:rPr lang="en-US" sz="3200" dirty="0" smtClean="0"/>
              <a:t>Technical difference between</a:t>
            </a:r>
            <a:br>
              <a:rPr lang="en-US" sz="3200" dirty="0" smtClean="0"/>
            </a:br>
            <a:r>
              <a:rPr lang="en-US" sz="3200" dirty="0" smtClean="0"/>
              <a:t> Codebook and Lifecycle structures</a:t>
            </a:r>
          </a:p>
        </p:txBody>
      </p:sp>
      <p:sp>
        <p:nvSpPr>
          <p:cNvPr id="8195" name="Rectangle 3"/>
          <p:cNvSpPr>
            <a:spLocks noGrp="1" noChangeArrowheads="1"/>
          </p:cNvSpPr>
          <p:nvPr>
            <p:ph sz="half" idx="1"/>
          </p:nvPr>
        </p:nvSpPr>
        <p:spPr/>
        <p:txBody>
          <a:bodyPr/>
          <a:lstStyle/>
          <a:p>
            <a:pPr eaLnBrk="1" hangingPunct="1">
              <a:lnSpc>
                <a:spcPct val="90000"/>
              </a:lnSpc>
            </a:pPr>
            <a:r>
              <a:rPr lang="en-US" dirty="0" smtClean="0"/>
              <a:t>Codebook</a:t>
            </a:r>
          </a:p>
          <a:p>
            <a:pPr lvl="1" eaLnBrk="1" hangingPunct="1">
              <a:lnSpc>
                <a:spcPct val="90000"/>
              </a:lnSpc>
            </a:pPr>
            <a:r>
              <a:rPr lang="en-US" dirty="0" smtClean="0"/>
              <a:t>Codebook based</a:t>
            </a:r>
          </a:p>
          <a:p>
            <a:pPr lvl="1" eaLnBrk="1" hangingPunct="1">
              <a:lnSpc>
                <a:spcPct val="90000"/>
              </a:lnSpc>
            </a:pPr>
            <a:r>
              <a:rPr lang="en-US" dirty="0" smtClean="0"/>
              <a:t>Format XML DTD</a:t>
            </a:r>
          </a:p>
          <a:p>
            <a:pPr lvl="1" eaLnBrk="1" hangingPunct="1">
              <a:lnSpc>
                <a:spcPct val="90000"/>
              </a:lnSpc>
            </a:pPr>
            <a:r>
              <a:rPr lang="en-US" dirty="0" smtClean="0"/>
              <a:t>After-the-fact</a:t>
            </a:r>
          </a:p>
          <a:p>
            <a:pPr lvl="1" eaLnBrk="1" hangingPunct="1">
              <a:lnSpc>
                <a:spcPct val="90000"/>
              </a:lnSpc>
            </a:pPr>
            <a:r>
              <a:rPr lang="en-US" dirty="0" smtClean="0"/>
              <a:t>Static</a:t>
            </a:r>
          </a:p>
          <a:p>
            <a:pPr lvl="1" eaLnBrk="1" hangingPunct="1">
              <a:lnSpc>
                <a:spcPct val="90000"/>
              </a:lnSpc>
            </a:pPr>
            <a:r>
              <a:rPr lang="en-US" dirty="0" smtClean="0"/>
              <a:t>Metadata replicated</a:t>
            </a:r>
          </a:p>
          <a:p>
            <a:pPr lvl="1" eaLnBrk="1" hangingPunct="1">
              <a:lnSpc>
                <a:spcPct val="90000"/>
              </a:lnSpc>
            </a:pPr>
            <a:r>
              <a:rPr lang="en-US" dirty="0" smtClean="0"/>
              <a:t>Simple study</a:t>
            </a:r>
          </a:p>
          <a:p>
            <a:pPr lvl="1" eaLnBrk="1" hangingPunct="1">
              <a:lnSpc>
                <a:spcPct val="90000"/>
              </a:lnSpc>
            </a:pPr>
            <a:r>
              <a:rPr lang="en-US" dirty="0" smtClean="0"/>
              <a:t>Limited physical storage options</a:t>
            </a:r>
          </a:p>
        </p:txBody>
      </p:sp>
      <p:sp>
        <p:nvSpPr>
          <p:cNvPr id="8196" name="Rectangle 4"/>
          <p:cNvSpPr>
            <a:spLocks noGrp="1" noChangeArrowheads="1"/>
          </p:cNvSpPr>
          <p:nvPr>
            <p:ph sz="half" idx="2"/>
          </p:nvPr>
        </p:nvSpPr>
        <p:spPr/>
        <p:txBody>
          <a:bodyPr/>
          <a:lstStyle/>
          <a:p>
            <a:pPr eaLnBrk="1" hangingPunct="1">
              <a:lnSpc>
                <a:spcPct val="90000"/>
              </a:lnSpc>
            </a:pPr>
            <a:r>
              <a:rPr lang="en-US" dirty="0" smtClean="0"/>
              <a:t>Lifecycle</a:t>
            </a:r>
          </a:p>
          <a:p>
            <a:pPr lvl="1" eaLnBrk="1" hangingPunct="1">
              <a:lnSpc>
                <a:spcPct val="90000"/>
              </a:lnSpc>
            </a:pPr>
            <a:r>
              <a:rPr lang="en-US" dirty="0" smtClean="0"/>
              <a:t>Lifecycle based</a:t>
            </a:r>
          </a:p>
          <a:p>
            <a:pPr lvl="1" eaLnBrk="1" hangingPunct="1">
              <a:lnSpc>
                <a:spcPct val="90000"/>
              </a:lnSpc>
            </a:pPr>
            <a:r>
              <a:rPr lang="en-US" dirty="0" smtClean="0"/>
              <a:t>Format XML Schema</a:t>
            </a:r>
          </a:p>
          <a:p>
            <a:pPr lvl="1" eaLnBrk="1" hangingPunct="1">
              <a:lnSpc>
                <a:spcPct val="90000"/>
              </a:lnSpc>
            </a:pPr>
            <a:r>
              <a:rPr lang="en-US" dirty="0" smtClean="0"/>
              <a:t>Point of occurrence</a:t>
            </a:r>
          </a:p>
          <a:p>
            <a:pPr lvl="1" eaLnBrk="1" hangingPunct="1">
              <a:lnSpc>
                <a:spcPct val="90000"/>
              </a:lnSpc>
            </a:pPr>
            <a:r>
              <a:rPr lang="en-US" dirty="0" smtClean="0"/>
              <a:t>Dynamic</a:t>
            </a:r>
          </a:p>
          <a:p>
            <a:pPr lvl="1" eaLnBrk="1" hangingPunct="1">
              <a:lnSpc>
                <a:spcPct val="90000"/>
              </a:lnSpc>
            </a:pPr>
            <a:r>
              <a:rPr lang="en-US" dirty="0" smtClean="0"/>
              <a:t>Metadata reused</a:t>
            </a:r>
          </a:p>
          <a:p>
            <a:pPr lvl="1" eaLnBrk="1" hangingPunct="1">
              <a:lnSpc>
                <a:spcPct val="90000"/>
              </a:lnSpc>
            </a:pPr>
            <a:r>
              <a:rPr lang="en-US" dirty="0" smtClean="0"/>
              <a:t>Simple study, series, grouping, inter-study comparison</a:t>
            </a:r>
          </a:p>
          <a:p>
            <a:pPr lvl="1" eaLnBrk="1" hangingPunct="1">
              <a:lnSpc>
                <a:spcPct val="90000"/>
              </a:lnSpc>
            </a:pPr>
            <a:r>
              <a:rPr lang="en-US" dirty="0" smtClean="0"/>
              <a:t>Unlimited physical storage options</a:t>
            </a:r>
          </a:p>
        </p:txBody>
      </p:sp>
      <p:sp>
        <p:nvSpPr>
          <p:cNvPr id="8197" name="Date Placeholder 6"/>
          <p:cNvSpPr>
            <a:spLocks noGrp="1"/>
          </p:cNvSpPr>
          <p:nvPr>
            <p:ph type="dt" sz="half" idx="10"/>
          </p:nvPr>
        </p:nvSpPr>
        <p:spPr>
          <a:noFill/>
        </p:spPr>
        <p:txBody>
          <a:bodyPr/>
          <a:lstStyle/>
          <a:p>
            <a:r>
              <a:rPr lang="en-US" dirty="0" smtClean="0"/>
              <a:t>S05-3</a:t>
            </a:r>
          </a:p>
          <a:p>
            <a:endParaRPr lang="en-US" dirty="0" smtClean="0"/>
          </a:p>
        </p:txBody>
      </p:sp>
      <p:sp>
        <p:nvSpPr>
          <p:cNvPr id="7" name="Footer Placeholder 6"/>
          <p:cNvSpPr>
            <a:spLocks noGrp="1"/>
          </p:cNvSpPr>
          <p:nvPr>
            <p:ph type="ftr" sz="quarter" idx="11"/>
          </p:nvPr>
        </p:nvSpPr>
        <p:spPr>
          <a:xfrm>
            <a:off x="1828800" y="6096000"/>
            <a:ext cx="5486400" cy="625475"/>
          </a:xfrm>
        </p:spPr>
        <p:txBody>
          <a:bodyPr/>
          <a:lstStyle/>
          <a:p>
            <a:r>
              <a:rPr lang="en-US" dirty="0">
                <a:latin typeface="Calibri" pitchFamily="34" charset="0"/>
              </a:rPr>
              <a:t>Learning DDI: Pack S05</a:t>
            </a:r>
          </a:p>
          <a:p>
            <a:r>
              <a:rPr lang="en-US" dirty="0">
                <a:latin typeface="Calibri" pitchFamily="34" charset="0"/>
              </a:rPr>
              <a:t>Copyright © GESIS – Leibniz Institute for the Social Sciences, 2010</a:t>
            </a:r>
          </a:p>
          <a:p>
            <a:r>
              <a:rPr lang="en-US" dirty="0">
                <a:latin typeface="Calibri" pitchFamily="34" charset="0"/>
              </a:rPr>
              <a:t>Published under Creative Commons Attribute-</a:t>
            </a:r>
            <a:r>
              <a:rPr lang="en-US" dirty="0" err="1">
                <a:latin typeface="Calibri" pitchFamily="34" charset="0"/>
              </a:rPr>
              <a:t>ShareAlike</a:t>
            </a:r>
            <a:r>
              <a:rPr lang="en-US" dirty="0">
                <a:latin typeface="Calibri" pitchFamily="34" charset="0"/>
              </a:rPr>
              <a:t> 3.0 </a:t>
            </a:r>
            <a:r>
              <a:rPr lang="en-US" dirty="0" err="1">
                <a:latin typeface="Calibri" pitchFamily="34" charset="0"/>
              </a:rPr>
              <a:t>Unported</a:t>
            </a:r>
            <a:endParaRPr lang="en-US" dirty="0">
              <a:latin typeface="Calibri" pitchFamily="34" charset="0"/>
            </a:endParaRP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Date Placeholder 5"/>
          <p:cNvSpPr>
            <a:spLocks noGrp="1"/>
          </p:cNvSpPr>
          <p:nvPr>
            <p:ph type="dt" sz="half" idx="10"/>
          </p:nvPr>
        </p:nvSpPr>
        <p:spPr>
          <a:noFill/>
        </p:spPr>
        <p:txBody>
          <a:bodyPr/>
          <a:lstStyle/>
          <a:p>
            <a:r>
              <a:rPr lang="en-US" smtClean="0"/>
              <a:t>S03</a:t>
            </a:r>
          </a:p>
        </p:txBody>
      </p:sp>
      <p:sp>
        <p:nvSpPr>
          <p:cNvPr id="15367" name="Slide Number Placeholder 6"/>
          <p:cNvSpPr>
            <a:spLocks noGrp="1"/>
          </p:cNvSpPr>
          <p:nvPr>
            <p:ph type="sldNum" sz="quarter" idx="12"/>
          </p:nvPr>
        </p:nvSpPr>
        <p:spPr>
          <a:noFill/>
        </p:spPr>
        <p:txBody>
          <a:bodyPr/>
          <a:lstStyle/>
          <a:p>
            <a:fld id="{00B4CA25-80CF-4C37-9CE5-A28F7A32A4A9}" type="slidenum">
              <a:rPr lang="en-US" smtClean="0"/>
              <a:pPr/>
              <a:t>9</a:t>
            </a:fld>
            <a:endParaRPr lang="en-US" smtClean="0"/>
          </a:p>
        </p:txBody>
      </p:sp>
      <p:sp>
        <p:nvSpPr>
          <p:cNvPr id="15362" name="Rectangle 2"/>
          <p:cNvSpPr>
            <a:spLocks noGrp="1" noChangeArrowheads="1"/>
          </p:cNvSpPr>
          <p:nvPr>
            <p:ph type="title" idx="4294967295"/>
          </p:nvPr>
        </p:nvSpPr>
        <p:spPr>
          <a:xfrm>
            <a:off x="457200" y="457200"/>
            <a:ext cx="8686800" cy="838200"/>
          </a:xfrm>
        </p:spPr>
        <p:txBody>
          <a:bodyPr/>
          <a:lstStyle/>
          <a:p>
            <a:pPr eaLnBrk="1" hangingPunct="1"/>
            <a:r>
              <a:rPr lang="en-US" smtClean="0"/>
              <a:t>DDI 3 Lifecycle Model</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sp>
        <p:nvSpPr>
          <p:cNvPr id="52228" name="AutoShape 4"/>
          <p:cNvSpPr>
            <a:spLocks noChangeArrowheads="1"/>
          </p:cNvSpPr>
          <p:nvPr/>
        </p:nvSpPr>
        <p:spPr bwMode="auto">
          <a:xfrm rot="10800000">
            <a:off x="152400" y="4648200"/>
            <a:ext cx="7620000" cy="1219200"/>
          </a:xfrm>
          <a:prstGeom prst="curvedDownArrow">
            <a:avLst>
              <a:gd name="adj1" fmla="val 125000"/>
              <a:gd name="adj2" fmla="val 250000"/>
              <a:gd name="adj3" fmla="val 33333"/>
            </a:avLst>
          </a:prstGeom>
          <a:solidFill>
            <a:srgbClr val="FF0000"/>
          </a:solidFill>
          <a:ln w="9525">
            <a:solidFill>
              <a:schemeClr val="tx1"/>
            </a:solidFill>
            <a:miter lim="800000"/>
            <a:headEnd/>
            <a:tailEnd/>
          </a:ln>
        </p:spPr>
        <p:txBody>
          <a:bodyPr rot="10800000" wrap="none" anchor="ctr"/>
          <a:lstStyle/>
          <a:p>
            <a:pPr algn="ctr"/>
            <a:endParaRPr lang="en-US">
              <a:cs typeface="Arial" charset="0"/>
            </a:endParaRPr>
          </a:p>
        </p:txBody>
      </p:sp>
      <p:sp>
        <p:nvSpPr>
          <p:cNvPr id="52229" name="Text Box 5"/>
          <p:cNvSpPr txBox="1">
            <a:spLocks noChangeArrowheads="1"/>
          </p:cNvSpPr>
          <p:nvPr/>
        </p:nvSpPr>
        <p:spPr bwMode="auto">
          <a:xfrm>
            <a:off x="3048000" y="5943600"/>
            <a:ext cx="3101975" cy="457200"/>
          </a:xfrm>
          <a:prstGeom prst="rect">
            <a:avLst/>
          </a:prstGeom>
          <a:noFill/>
          <a:ln w="9525">
            <a:noFill/>
            <a:miter lim="800000"/>
            <a:headEnd/>
            <a:tailEnd/>
          </a:ln>
        </p:spPr>
        <p:txBody>
          <a:bodyPr>
            <a:spAutoFit/>
          </a:bodyPr>
          <a:lstStyle/>
          <a:p>
            <a:pPr>
              <a:spcBef>
                <a:spcPct val="50000"/>
              </a:spcBef>
            </a:pPr>
            <a:r>
              <a:rPr lang="en-US" sz="2400" b="1">
                <a:cs typeface="Arial" charset="0"/>
              </a:rPr>
              <a:t>Metadata Reuse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anim calcmode="lin" valueType="num">
                                      <p:cBhvr additive="base">
                                        <p:cTn id="11" dur="500" fill="hold"/>
                                        <p:tgtEl>
                                          <p:spTgt spid="52229"/>
                                        </p:tgtEl>
                                        <p:attrNameLst>
                                          <p:attrName>ppt_x</p:attrName>
                                        </p:attrNameLst>
                                      </p:cBhvr>
                                      <p:tavLst>
                                        <p:tav tm="0">
                                          <p:val>
                                            <p:strVal val="#ppt_x"/>
                                          </p:val>
                                        </p:tav>
                                        <p:tav tm="100000">
                                          <p:val>
                                            <p:strVal val="#ppt_x"/>
                                          </p:val>
                                        </p:tav>
                                      </p:tavLst>
                                    </p:anim>
                                    <p:anim calcmode="lin" valueType="num">
                                      <p:cBhvr additive="base">
                                        <p:cTn id="12"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nimBg="1"/>
      <p:bldP spid="522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Coverage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Structured information on the organizations and individuals involved in one or more studies</a:t>
            </a:r>
          </a:p>
          <a:p>
            <a:r>
              <a:rPr lang="en-US" dirty="0" smtClean="0"/>
              <a:t>Study level information</a:t>
            </a:r>
          </a:p>
          <a:p>
            <a:pPr lvl="1"/>
            <a:r>
              <a:rPr lang="en-US" dirty="0" smtClean="0"/>
              <a:t>Who, what, where, why, and how</a:t>
            </a:r>
          </a:p>
          <a:p>
            <a:r>
              <a:rPr lang="en-US" dirty="0" smtClean="0"/>
              <a:t>Data collection</a:t>
            </a:r>
          </a:p>
          <a:p>
            <a:pPr lvl="1"/>
            <a:r>
              <a:rPr lang="en-US" dirty="0" smtClean="0"/>
              <a:t>Questionnaire </a:t>
            </a:r>
            <a:r>
              <a:rPr lang="en-US" dirty="0" smtClean="0"/>
              <a:t>content and flow</a:t>
            </a:r>
            <a:endParaRPr lang="en-US" dirty="0" smtClean="0"/>
          </a:p>
          <a:p>
            <a:pPr lvl="1"/>
            <a:r>
              <a:rPr lang="en-US" dirty="0" smtClean="0"/>
              <a:t>Capture of existing data </a:t>
            </a:r>
            <a:r>
              <a:rPr lang="en-US" dirty="0" smtClean="0"/>
              <a:t>from questionnaire and other sources</a:t>
            </a:r>
            <a:endParaRPr lang="en-US" dirty="0" smtClean="0"/>
          </a:p>
          <a:p>
            <a:pPr lvl="1"/>
            <a:r>
              <a:rPr lang="en-US" dirty="0" smtClean="0"/>
              <a:t>Creation of </a:t>
            </a:r>
            <a:r>
              <a:rPr lang="en-US" dirty="0" smtClean="0"/>
              <a:t>derived variables and aggregates</a:t>
            </a:r>
            <a:endParaRPr lang="en-US" dirty="0" smtClean="0"/>
          </a:p>
          <a:p>
            <a:r>
              <a:rPr lang="en-US" dirty="0" smtClean="0"/>
              <a:t>Description of data and data store</a:t>
            </a:r>
          </a:p>
          <a:p>
            <a:r>
              <a:rPr lang="en-US" dirty="0" smtClean="0"/>
              <a:t>Relationship between studies</a:t>
            </a:r>
          </a:p>
          <a:p>
            <a:pPr lvl="1"/>
            <a:r>
              <a:rPr lang="en-US" dirty="0" smtClean="0"/>
              <a:t>Record relationships</a:t>
            </a:r>
          </a:p>
          <a:p>
            <a:pPr lvl="1"/>
            <a:r>
              <a:rPr lang="en-US" dirty="0" smtClean="0"/>
              <a:t>Study relationships</a:t>
            </a:r>
          </a:p>
          <a:p>
            <a:pPr lvl="1"/>
            <a:r>
              <a:rPr lang="en-US" dirty="0" smtClean="0"/>
              <a:t>Comparison of objects</a:t>
            </a:r>
          </a:p>
          <a:p>
            <a:r>
              <a:rPr lang="en-US" dirty="0" smtClean="0"/>
              <a:t>Lifecycle and basic preservation information</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features</a:t>
            </a:r>
            <a:endParaRPr lang="en-US" dirty="0"/>
          </a:p>
        </p:txBody>
      </p:sp>
      <p:sp>
        <p:nvSpPr>
          <p:cNvPr id="3" name="Content Placeholder 2"/>
          <p:cNvSpPr>
            <a:spLocks noGrp="1"/>
          </p:cNvSpPr>
          <p:nvPr>
            <p:ph idx="1"/>
          </p:nvPr>
        </p:nvSpPr>
        <p:spPr/>
        <p:txBody>
          <a:bodyPr>
            <a:normAutofit fontScale="92500"/>
          </a:bodyPr>
          <a:lstStyle/>
          <a:p>
            <a:r>
              <a:rPr lang="en-US" dirty="0" smtClean="0"/>
              <a:t>Sample </a:t>
            </a:r>
            <a:r>
              <a:rPr lang="en-US" dirty="0" smtClean="0"/>
              <a:t>design, methods </a:t>
            </a:r>
            <a:r>
              <a:rPr lang="en-US" dirty="0" smtClean="0"/>
              <a:t>and sampling frames</a:t>
            </a:r>
          </a:p>
          <a:p>
            <a:r>
              <a:rPr lang="en-US" dirty="0" smtClean="0"/>
              <a:t>Survey </a:t>
            </a:r>
            <a:r>
              <a:rPr lang="en-US" dirty="0" smtClean="0"/>
              <a:t>development </a:t>
            </a:r>
            <a:r>
              <a:rPr lang="en-US" dirty="0" smtClean="0"/>
              <a:t>process</a:t>
            </a:r>
          </a:p>
          <a:p>
            <a:r>
              <a:rPr lang="en-US" dirty="0" smtClean="0"/>
              <a:t>General process model</a:t>
            </a:r>
          </a:p>
          <a:p>
            <a:r>
              <a:rPr lang="en-US" dirty="0" smtClean="0"/>
              <a:t>Weighting</a:t>
            </a:r>
          </a:p>
          <a:p>
            <a:r>
              <a:rPr lang="en-US" dirty="0" smtClean="0"/>
              <a:t>Paradata</a:t>
            </a:r>
          </a:p>
          <a:p>
            <a:r>
              <a:rPr lang="en-US" dirty="0" smtClean="0"/>
              <a:t>Aggregate data and register data capture/creation</a:t>
            </a:r>
          </a:p>
          <a:p>
            <a:r>
              <a:rPr lang="en-US" dirty="0" smtClean="0"/>
              <a:t>Qualitative data sources</a:t>
            </a:r>
          </a:p>
          <a:p>
            <a:r>
              <a:rPr lang="en-US" dirty="0" smtClean="0"/>
              <a:t>Preservation</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future trends</a:t>
            </a:r>
            <a:endParaRPr lang="en-US" dirty="0"/>
          </a:p>
        </p:txBody>
      </p:sp>
      <p:sp>
        <p:nvSpPr>
          <p:cNvPr id="3" name="Content Placeholder 2"/>
          <p:cNvSpPr>
            <a:spLocks noGrp="1"/>
          </p:cNvSpPr>
          <p:nvPr>
            <p:ph idx="1"/>
          </p:nvPr>
        </p:nvSpPr>
        <p:spPr>
          <a:xfrm>
            <a:off x="304800" y="1554162"/>
            <a:ext cx="8686800" cy="4846638"/>
          </a:xfrm>
        </p:spPr>
        <p:txBody>
          <a:bodyPr>
            <a:normAutofit lnSpcReduction="10000"/>
          </a:bodyPr>
          <a:lstStyle/>
          <a:p>
            <a:r>
              <a:rPr lang="en-US" dirty="0" smtClean="0"/>
              <a:t>Clearer division between presentation information and machine-actionable metadata</a:t>
            </a:r>
          </a:p>
          <a:p>
            <a:r>
              <a:rPr lang="en-US" dirty="0" smtClean="0"/>
              <a:t>Better process models to support information capture and to drive metadata/data processes</a:t>
            </a:r>
          </a:p>
          <a:p>
            <a:r>
              <a:rPr lang="en-US" dirty="0" smtClean="0"/>
              <a:t>Expand beyond survey centric beginnings</a:t>
            </a:r>
          </a:p>
          <a:p>
            <a:r>
              <a:rPr lang="en-US" dirty="0" smtClean="0"/>
              <a:t>Improve </a:t>
            </a:r>
            <a:r>
              <a:rPr lang="en-US" dirty="0" smtClean="0"/>
              <a:t>process data </a:t>
            </a:r>
            <a:r>
              <a:rPr lang="en-US" dirty="0" smtClean="0"/>
              <a:t>capture and use</a:t>
            </a:r>
          </a:p>
          <a:p>
            <a:r>
              <a:rPr lang="en-US" dirty="0" smtClean="0"/>
              <a:t>Improve </a:t>
            </a:r>
            <a:r>
              <a:rPr lang="en-US" dirty="0" smtClean="0"/>
              <a:t>modularity</a:t>
            </a:r>
          </a:p>
          <a:p>
            <a:r>
              <a:rPr lang="en-US" dirty="0" smtClean="0"/>
              <a:t>Improve version management and expand  scheme coverage</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features</a:t>
            </a:r>
            <a:endParaRPr lang="en-US" dirty="0"/>
          </a:p>
        </p:txBody>
      </p:sp>
      <p:sp>
        <p:nvSpPr>
          <p:cNvPr id="3" name="Content Placeholder 2"/>
          <p:cNvSpPr>
            <a:spLocks noGrp="1"/>
          </p:cNvSpPr>
          <p:nvPr>
            <p:ph idx="1"/>
          </p:nvPr>
        </p:nvSpPr>
        <p:spPr/>
        <p:txBody>
          <a:bodyPr>
            <a:normAutofit lnSpcReduction="10000"/>
          </a:bodyPr>
          <a:lstStyle/>
          <a:p>
            <a:r>
              <a:rPr lang="en-US" dirty="0" smtClean="0"/>
              <a:t>Schemes – metadata management structures</a:t>
            </a:r>
          </a:p>
          <a:p>
            <a:r>
              <a:rPr lang="en-US" dirty="0" smtClean="0"/>
              <a:t>Modules – general organizational and publication structures</a:t>
            </a:r>
          </a:p>
          <a:p>
            <a:r>
              <a:rPr lang="en-US" dirty="0" smtClean="0"/>
              <a:t>The ABC’s of identification, versioning and reference</a:t>
            </a:r>
          </a:p>
          <a:p>
            <a:r>
              <a:rPr lang="en-US" dirty="0" smtClean="0"/>
              <a:t>Comparing </a:t>
            </a:r>
            <a:r>
              <a:rPr lang="en-US" dirty="0" smtClean="0"/>
              <a:t> studies, objects</a:t>
            </a:r>
            <a:r>
              <a:rPr lang="en-US" dirty="0" smtClean="0"/>
              <a:t>, </a:t>
            </a:r>
            <a:r>
              <a:rPr lang="en-US" dirty="0" smtClean="0"/>
              <a:t>and </a:t>
            </a:r>
            <a:r>
              <a:rPr lang="en-US" dirty="0" smtClean="0"/>
              <a:t>c</a:t>
            </a:r>
            <a:r>
              <a:rPr lang="en-US" dirty="0" smtClean="0"/>
              <a:t>omplex structures</a:t>
            </a:r>
            <a:endParaRPr lang="en-US" dirty="0" smtClean="0"/>
          </a:p>
          <a:p>
            <a:r>
              <a:rPr lang="en-US" dirty="0" smtClean="0"/>
              <a:t>Fitting DDI into a statistical / data process model</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Date Placeholder 26"/>
          <p:cNvSpPr>
            <a:spLocks noGrp="1"/>
          </p:cNvSpPr>
          <p:nvPr>
            <p:ph type="dt" sz="half" idx="10"/>
          </p:nvPr>
        </p:nvSpPr>
        <p:spPr>
          <a:noFill/>
        </p:spPr>
        <p:txBody>
          <a:bodyPr/>
          <a:lstStyle/>
          <a:p>
            <a:r>
              <a:rPr lang="en-US" smtClean="0"/>
              <a:t>S09</a:t>
            </a:r>
          </a:p>
        </p:txBody>
      </p:sp>
      <p:sp>
        <p:nvSpPr>
          <p:cNvPr id="6151" name="Slide Number Placeholder 27"/>
          <p:cNvSpPr>
            <a:spLocks noGrp="1"/>
          </p:cNvSpPr>
          <p:nvPr>
            <p:ph type="sldNum" sz="quarter" idx="12"/>
          </p:nvPr>
        </p:nvSpPr>
        <p:spPr>
          <a:noFill/>
        </p:spPr>
        <p:txBody>
          <a:bodyPr/>
          <a:lstStyle/>
          <a:p>
            <a:fld id="{9530185C-1420-451E-88E0-65A0CFD12DDF}" type="slidenum">
              <a:rPr lang="en-US" smtClean="0"/>
              <a:pPr/>
              <a:t>14</a:t>
            </a:fld>
            <a:endParaRPr lang="en-US" smtClean="0"/>
          </a:p>
        </p:txBody>
      </p:sp>
      <p:sp>
        <p:nvSpPr>
          <p:cNvPr id="6146"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solidFill>
                  <a:schemeClr val="tx1"/>
                </a:solidFill>
              </a:rPr>
              <a:t>XML Schemas, DDI Modules, </a:t>
            </a:r>
            <a:br>
              <a:rPr lang="en-US" sz="4000" smtClean="0">
                <a:solidFill>
                  <a:schemeClr val="tx1"/>
                </a:solidFill>
              </a:rPr>
            </a:br>
            <a:r>
              <a:rPr lang="en-US" sz="4000" smtClean="0">
                <a:solidFill>
                  <a:schemeClr val="tx1"/>
                </a:solidFill>
              </a:rPr>
              <a:t>and DDI Schemes</a:t>
            </a:r>
          </a:p>
        </p:txBody>
      </p:sp>
      <p:grpSp>
        <p:nvGrpSpPr>
          <p:cNvPr id="2" name="Group 4"/>
          <p:cNvGrpSpPr>
            <a:grpSpLocks noChangeAspect="1"/>
          </p:cNvGrpSpPr>
          <p:nvPr/>
        </p:nvGrpSpPr>
        <p:grpSpPr bwMode="auto">
          <a:xfrm>
            <a:off x="609600" y="1447800"/>
            <a:ext cx="8001000" cy="4667250"/>
            <a:chOff x="2455" y="2160"/>
            <a:chExt cx="7200" cy="4320"/>
          </a:xfrm>
        </p:grpSpPr>
        <p:sp>
          <p:nvSpPr>
            <p:cNvPr id="6152" name="AutoShape 5"/>
            <p:cNvSpPr>
              <a:spLocks noChangeAspect="1" noChangeArrowheads="1"/>
            </p:cNvSpPr>
            <p:nvPr/>
          </p:nvSpPr>
          <p:spPr bwMode="auto">
            <a:xfrm>
              <a:off x="2455" y="2160"/>
              <a:ext cx="7200" cy="4320"/>
            </a:xfrm>
            <a:prstGeom prst="rect">
              <a:avLst/>
            </a:prstGeom>
            <a:noFill/>
            <a:ln w="9525">
              <a:noFill/>
              <a:miter lim="800000"/>
              <a:headEnd/>
              <a:tailEnd/>
            </a:ln>
          </p:spPr>
          <p:txBody>
            <a:bodyPr/>
            <a:lstStyle/>
            <a:p>
              <a:endParaRPr lang="en-US"/>
            </a:p>
          </p:txBody>
        </p:sp>
        <p:sp>
          <p:nvSpPr>
            <p:cNvPr id="6153" name="Rectangle 6"/>
            <p:cNvSpPr>
              <a:spLocks noChangeArrowheads="1"/>
            </p:cNvSpPr>
            <p:nvPr/>
          </p:nvSpPr>
          <p:spPr bwMode="auto">
            <a:xfrm>
              <a:off x="2665" y="3086"/>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54" name="Rectangle 7"/>
            <p:cNvSpPr>
              <a:spLocks noChangeArrowheads="1"/>
            </p:cNvSpPr>
            <p:nvPr/>
          </p:nvSpPr>
          <p:spPr bwMode="auto">
            <a:xfrm>
              <a:off x="2815" y="3240"/>
              <a:ext cx="1200" cy="1233"/>
            </a:xfrm>
            <a:prstGeom prst="rect">
              <a:avLst/>
            </a:prstGeom>
            <a:solidFill>
              <a:srgbClr val="FFFFFF"/>
            </a:solidFill>
            <a:ln w="9525">
              <a:solidFill>
                <a:srgbClr val="000000"/>
              </a:solidFill>
              <a:miter lim="800000"/>
              <a:headEnd/>
              <a:tailEnd/>
            </a:ln>
          </p:spPr>
          <p:txBody>
            <a:bodyPr/>
            <a:lstStyle/>
            <a:p>
              <a:endParaRPr lang="en-US"/>
            </a:p>
          </p:txBody>
        </p:sp>
        <p:sp>
          <p:nvSpPr>
            <p:cNvPr id="6155" name="Rectangle 8"/>
            <p:cNvSpPr>
              <a:spLocks noChangeArrowheads="1"/>
            </p:cNvSpPr>
            <p:nvPr/>
          </p:nvSpPr>
          <p:spPr bwMode="auto">
            <a:xfrm>
              <a:off x="2965" y="3394"/>
              <a:ext cx="1200" cy="1233"/>
            </a:xfrm>
            <a:prstGeom prst="rect">
              <a:avLst/>
            </a:prstGeom>
            <a:solidFill>
              <a:srgbClr val="FFFFFF"/>
            </a:solidFill>
            <a:ln w="9525">
              <a:solidFill>
                <a:srgbClr val="000000"/>
              </a:solidFill>
              <a:miter lim="800000"/>
              <a:headEnd/>
              <a:tailEnd/>
            </a:ln>
          </p:spPr>
          <p:txBody>
            <a:bodyPr/>
            <a:lstStyle/>
            <a:p>
              <a:endParaRPr lang="en-US"/>
            </a:p>
          </p:txBody>
        </p:sp>
        <p:sp>
          <p:nvSpPr>
            <p:cNvPr id="6156" name="Rectangle 9"/>
            <p:cNvSpPr>
              <a:spLocks noChangeArrowheads="1"/>
            </p:cNvSpPr>
            <p:nvPr/>
          </p:nvSpPr>
          <p:spPr bwMode="auto">
            <a:xfrm>
              <a:off x="3115" y="3549"/>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57" name="Text Box 10"/>
            <p:cNvSpPr txBox="1">
              <a:spLocks noChangeArrowheads="1"/>
            </p:cNvSpPr>
            <p:nvPr/>
          </p:nvSpPr>
          <p:spPr bwMode="auto">
            <a:xfrm>
              <a:off x="3265" y="3703"/>
              <a:ext cx="1200" cy="1233"/>
            </a:xfrm>
            <a:prstGeom prst="rect">
              <a:avLst/>
            </a:prstGeom>
            <a:solidFill>
              <a:srgbClr val="FFFFFF"/>
            </a:solidFill>
            <a:ln w="9525">
              <a:solidFill>
                <a:srgbClr val="000000"/>
              </a:solidFill>
              <a:miter lim="800000"/>
              <a:headEnd/>
              <a:tailEnd/>
            </a:ln>
          </p:spPr>
          <p:txBody>
            <a:bodyPr/>
            <a:lstStyle/>
            <a:p>
              <a:r>
                <a:rPr lang="en-US"/>
                <a:t>&lt;file&gt;.xsd</a:t>
              </a:r>
            </a:p>
            <a:p>
              <a:r>
                <a:rPr lang="en-US"/>
                <a:t>&lt;file&gt;.xsd</a:t>
              </a:r>
            </a:p>
            <a:p>
              <a:r>
                <a:rPr lang="en-US"/>
                <a:t>&lt;file&gt;.xsd</a:t>
              </a:r>
            </a:p>
            <a:p>
              <a:r>
                <a:rPr lang="en-US"/>
                <a:t>&lt;file&gt;.xsd</a:t>
              </a:r>
            </a:p>
            <a:p>
              <a:endParaRPr lang="en-US"/>
            </a:p>
          </p:txBody>
        </p:sp>
        <p:sp>
          <p:nvSpPr>
            <p:cNvPr id="6158" name="Text Box 11"/>
            <p:cNvSpPr txBox="1">
              <a:spLocks noChangeArrowheads="1"/>
            </p:cNvSpPr>
            <p:nvPr/>
          </p:nvSpPr>
          <p:spPr bwMode="auto">
            <a:xfrm>
              <a:off x="2815" y="2469"/>
              <a:ext cx="2250" cy="462"/>
            </a:xfrm>
            <a:prstGeom prst="rect">
              <a:avLst/>
            </a:prstGeom>
            <a:noFill/>
            <a:ln w="9525">
              <a:noFill/>
              <a:miter lim="800000"/>
              <a:headEnd/>
              <a:tailEnd/>
            </a:ln>
          </p:spPr>
          <p:txBody>
            <a:bodyPr/>
            <a:lstStyle/>
            <a:p>
              <a:r>
                <a:rPr lang="en-US" sz="2800" dirty="0"/>
                <a:t>XML Schemas</a:t>
              </a:r>
            </a:p>
          </p:txBody>
        </p:sp>
        <p:sp>
          <p:nvSpPr>
            <p:cNvPr id="6159" name="Rectangle 12"/>
            <p:cNvSpPr>
              <a:spLocks noChangeArrowheads="1"/>
            </p:cNvSpPr>
            <p:nvPr/>
          </p:nvSpPr>
          <p:spPr bwMode="auto">
            <a:xfrm>
              <a:off x="5965" y="3086"/>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0" name="Rectangle 13"/>
            <p:cNvSpPr>
              <a:spLocks noChangeArrowheads="1"/>
            </p:cNvSpPr>
            <p:nvPr/>
          </p:nvSpPr>
          <p:spPr bwMode="auto">
            <a:xfrm>
              <a:off x="5815" y="3240"/>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1" name="Rectangle 14"/>
            <p:cNvSpPr>
              <a:spLocks noChangeArrowheads="1"/>
            </p:cNvSpPr>
            <p:nvPr/>
          </p:nvSpPr>
          <p:spPr bwMode="auto">
            <a:xfrm>
              <a:off x="5665" y="3394"/>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2" name="Rectangle 15"/>
            <p:cNvSpPr>
              <a:spLocks noChangeArrowheads="1"/>
            </p:cNvSpPr>
            <p:nvPr/>
          </p:nvSpPr>
          <p:spPr bwMode="auto">
            <a:xfrm>
              <a:off x="5515" y="3641"/>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3" name="Text Box 16"/>
            <p:cNvSpPr txBox="1">
              <a:spLocks noChangeArrowheads="1"/>
            </p:cNvSpPr>
            <p:nvPr/>
          </p:nvSpPr>
          <p:spPr bwMode="auto">
            <a:xfrm>
              <a:off x="5365" y="2469"/>
              <a:ext cx="2100" cy="462"/>
            </a:xfrm>
            <a:prstGeom prst="rect">
              <a:avLst/>
            </a:prstGeom>
            <a:noFill/>
            <a:ln w="9525">
              <a:noFill/>
              <a:miter lim="800000"/>
              <a:headEnd/>
              <a:tailEnd/>
            </a:ln>
          </p:spPr>
          <p:txBody>
            <a:bodyPr/>
            <a:lstStyle/>
            <a:p>
              <a:r>
                <a:rPr lang="en-US" sz="2800" dirty="0"/>
                <a:t>DDI Modules</a:t>
              </a:r>
            </a:p>
          </p:txBody>
        </p:sp>
        <p:sp>
          <p:nvSpPr>
            <p:cNvPr id="6164" name="Line 17"/>
            <p:cNvSpPr>
              <a:spLocks noChangeShapeType="1"/>
            </p:cNvSpPr>
            <p:nvPr/>
          </p:nvSpPr>
          <p:spPr bwMode="auto">
            <a:xfrm>
              <a:off x="4615" y="4166"/>
              <a:ext cx="750" cy="1"/>
            </a:xfrm>
            <a:prstGeom prst="line">
              <a:avLst/>
            </a:prstGeom>
            <a:noFill/>
            <a:ln w="57150">
              <a:solidFill>
                <a:srgbClr val="000000"/>
              </a:solidFill>
              <a:prstDash val="sysDot"/>
              <a:round/>
              <a:headEnd type="triangle" w="med" len="med"/>
              <a:tailEnd type="triangle" w="med" len="med"/>
            </a:ln>
          </p:spPr>
          <p:txBody>
            <a:bodyPr/>
            <a:lstStyle/>
            <a:p>
              <a:endParaRPr lang="en-US"/>
            </a:p>
          </p:txBody>
        </p:sp>
        <p:sp>
          <p:nvSpPr>
            <p:cNvPr id="6165" name="AutoShape 18"/>
            <p:cNvSpPr>
              <a:spLocks/>
            </p:cNvSpPr>
            <p:nvPr/>
          </p:nvSpPr>
          <p:spPr bwMode="auto">
            <a:xfrm>
              <a:off x="3115" y="5400"/>
              <a:ext cx="1350" cy="823"/>
            </a:xfrm>
            <a:prstGeom prst="borderCallout2">
              <a:avLst>
                <a:gd name="adj1" fmla="val 18750"/>
                <a:gd name="adj2" fmla="val 107407"/>
                <a:gd name="adj3" fmla="val 18750"/>
                <a:gd name="adj4" fmla="val 126667"/>
                <a:gd name="adj5" fmla="val -131250"/>
                <a:gd name="adj6" fmla="val 136296"/>
              </a:avLst>
            </a:prstGeom>
            <a:solidFill>
              <a:srgbClr val="FFFFFF"/>
            </a:solidFill>
            <a:ln w="9525">
              <a:solidFill>
                <a:srgbClr val="000000"/>
              </a:solidFill>
              <a:miter lim="800000"/>
              <a:headEnd/>
              <a:tailEnd/>
            </a:ln>
          </p:spPr>
          <p:txBody>
            <a:bodyPr/>
            <a:lstStyle/>
            <a:p>
              <a:r>
                <a:rPr lang="en-US" i="1"/>
                <a:t>May Correspond</a:t>
              </a:r>
              <a:endParaRPr lang="en-US"/>
            </a:p>
          </p:txBody>
        </p:sp>
        <p:sp>
          <p:nvSpPr>
            <p:cNvPr id="6166" name="Rectangle 19"/>
            <p:cNvSpPr>
              <a:spLocks noChangeArrowheads="1"/>
            </p:cNvSpPr>
            <p:nvPr/>
          </p:nvSpPr>
          <p:spPr bwMode="auto">
            <a:xfrm>
              <a:off x="8215" y="4166"/>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7" name="Rectangle 20"/>
            <p:cNvSpPr>
              <a:spLocks noChangeArrowheads="1"/>
            </p:cNvSpPr>
            <p:nvPr/>
          </p:nvSpPr>
          <p:spPr bwMode="auto">
            <a:xfrm>
              <a:off x="8065" y="4320"/>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8" name="Rectangle 21"/>
            <p:cNvSpPr>
              <a:spLocks noChangeArrowheads="1"/>
            </p:cNvSpPr>
            <p:nvPr/>
          </p:nvSpPr>
          <p:spPr bwMode="auto">
            <a:xfrm>
              <a:off x="7915" y="4474"/>
              <a:ext cx="1200" cy="1236"/>
            </a:xfrm>
            <a:prstGeom prst="rect">
              <a:avLst/>
            </a:prstGeom>
            <a:solidFill>
              <a:srgbClr val="FFFFFF"/>
            </a:solidFill>
            <a:ln w="9525">
              <a:solidFill>
                <a:srgbClr val="000000"/>
              </a:solidFill>
              <a:miter lim="800000"/>
              <a:headEnd/>
              <a:tailEnd/>
            </a:ln>
          </p:spPr>
          <p:txBody>
            <a:bodyPr/>
            <a:lstStyle/>
            <a:p>
              <a:endParaRPr lang="en-US"/>
            </a:p>
          </p:txBody>
        </p:sp>
        <p:sp>
          <p:nvSpPr>
            <p:cNvPr id="6169" name="Rectangle 22"/>
            <p:cNvSpPr>
              <a:spLocks noChangeArrowheads="1"/>
            </p:cNvSpPr>
            <p:nvPr/>
          </p:nvSpPr>
          <p:spPr bwMode="auto">
            <a:xfrm>
              <a:off x="7765" y="4639"/>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70" name="Line 23"/>
            <p:cNvSpPr>
              <a:spLocks noChangeShapeType="1"/>
            </p:cNvSpPr>
            <p:nvPr/>
          </p:nvSpPr>
          <p:spPr bwMode="auto">
            <a:xfrm>
              <a:off x="7315" y="4166"/>
              <a:ext cx="450" cy="308"/>
            </a:xfrm>
            <a:prstGeom prst="line">
              <a:avLst/>
            </a:prstGeom>
            <a:noFill/>
            <a:ln w="57150">
              <a:solidFill>
                <a:srgbClr val="000000"/>
              </a:solidFill>
              <a:round/>
              <a:headEnd/>
              <a:tailEnd type="triangle" w="med" len="med"/>
            </a:ln>
          </p:spPr>
          <p:txBody>
            <a:bodyPr/>
            <a:lstStyle/>
            <a:p>
              <a:endParaRPr lang="en-US"/>
            </a:p>
          </p:txBody>
        </p:sp>
        <p:sp>
          <p:nvSpPr>
            <p:cNvPr id="6171" name="Text Box 24"/>
            <p:cNvSpPr txBox="1">
              <a:spLocks noChangeArrowheads="1"/>
            </p:cNvSpPr>
            <p:nvPr/>
          </p:nvSpPr>
          <p:spPr bwMode="auto">
            <a:xfrm>
              <a:off x="7015" y="6017"/>
              <a:ext cx="2250" cy="462"/>
            </a:xfrm>
            <a:prstGeom prst="rect">
              <a:avLst/>
            </a:prstGeom>
            <a:noFill/>
            <a:ln w="9525">
              <a:noFill/>
              <a:miter lim="800000"/>
              <a:headEnd/>
              <a:tailEnd/>
            </a:ln>
          </p:spPr>
          <p:txBody>
            <a:bodyPr/>
            <a:lstStyle/>
            <a:p>
              <a:r>
                <a:rPr lang="en-US" sz="2800" dirty="0"/>
                <a:t>DDI Schemes</a:t>
              </a:r>
            </a:p>
          </p:txBody>
        </p:sp>
        <p:sp>
          <p:nvSpPr>
            <p:cNvPr id="6172" name="AutoShape 25"/>
            <p:cNvSpPr>
              <a:spLocks/>
            </p:cNvSpPr>
            <p:nvPr/>
          </p:nvSpPr>
          <p:spPr bwMode="auto">
            <a:xfrm>
              <a:off x="5965" y="5091"/>
              <a:ext cx="1050" cy="822"/>
            </a:xfrm>
            <a:prstGeom prst="borderCallout2">
              <a:avLst>
                <a:gd name="adj1" fmla="val 18769"/>
                <a:gd name="adj2" fmla="val 109523"/>
                <a:gd name="adj3" fmla="val 18769"/>
                <a:gd name="adj4" fmla="val 130477"/>
                <a:gd name="adj5" fmla="val -79560"/>
                <a:gd name="adj6" fmla="val 140954"/>
              </a:avLst>
            </a:prstGeom>
            <a:solidFill>
              <a:srgbClr val="FFFFFF"/>
            </a:solidFill>
            <a:ln w="9525">
              <a:solidFill>
                <a:srgbClr val="000000"/>
              </a:solidFill>
              <a:miter lim="800000"/>
              <a:headEnd/>
              <a:tailEnd/>
            </a:ln>
          </p:spPr>
          <p:txBody>
            <a:bodyPr/>
            <a:lstStyle/>
            <a:p>
              <a:r>
                <a:rPr lang="en-US" i="1"/>
                <a:t>May Contain</a:t>
              </a:r>
            </a:p>
          </p:txBody>
        </p:sp>
      </p:grpSp>
      <p:sp>
        <p:nvSpPr>
          <p:cNvPr id="195610" name="AutoShape 26"/>
          <p:cNvSpPr>
            <a:spLocks noChangeArrowheads="1"/>
          </p:cNvSpPr>
          <p:nvPr/>
        </p:nvSpPr>
        <p:spPr bwMode="auto">
          <a:xfrm>
            <a:off x="6477000" y="1600200"/>
            <a:ext cx="2209800" cy="1447800"/>
          </a:xfrm>
          <a:prstGeom prst="wedgeEllipseCallout">
            <a:avLst>
              <a:gd name="adj1" fmla="val -69972"/>
              <a:gd name="adj2" fmla="val 50546"/>
            </a:avLst>
          </a:prstGeom>
          <a:solidFill>
            <a:srgbClr val="FFFFFF"/>
          </a:solidFill>
          <a:ln w="38100">
            <a:solidFill>
              <a:srgbClr val="FF0000"/>
            </a:solidFill>
            <a:miter lim="800000"/>
            <a:headEnd/>
            <a:tailEnd/>
          </a:ln>
        </p:spPr>
        <p:txBody>
          <a:bodyPr/>
          <a:lstStyle/>
          <a:p>
            <a:r>
              <a:rPr lang="en-US" b="1"/>
              <a:t>Correspond to a stage in the lifecycle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95610"/>
                                        </p:tgtEl>
                                        <p:attrNameLst>
                                          <p:attrName>style.visibility</p:attrName>
                                        </p:attrNameLst>
                                      </p:cBhvr>
                                      <p:to>
                                        <p:strVal val="visible"/>
                                      </p:to>
                                    </p:set>
                                    <p:anim calcmode="lin" valueType="num">
                                      <p:cBhvr additive="base">
                                        <p:cTn id="7" dur="500" fill="hold"/>
                                        <p:tgtEl>
                                          <p:spTgt spid="195610"/>
                                        </p:tgtEl>
                                        <p:attrNameLst>
                                          <p:attrName>ppt_x</p:attrName>
                                        </p:attrNameLst>
                                      </p:cBhvr>
                                      <p:tavLst>
                                        <p:tav tm="0">
                                          <p:val>
                                            <p:strVal val="0-#ppt_w/2"/>
                                          </p:val>
                                        </p:tav>
                                        <p:tav tm="100000">
                                          <p:val>
                                            <p:strVal val="#ppt_x"/>
                                          </p:val>
                                        </p:tav>
                                      </p:tavLst>
                                    </p:anim>
                                    <p:anim calcmode="lin" valueType="num">
                                      <p:cBhvr additive="base">
                                        <p:cTn id="8" dur="500" fill="hold"/>
                                        <p:tgtEl>
                                          <p:spTgt spid="195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Why Schemes?</a:t>
            </a:r>
          </a:p>
        </p:txBody>
      </p:sp>
      <p:sp>
        <p:nvSpPr>
          <p:cNvPr id="20483" name="Rectangle 3"/>
          <p:cNvSpPr>
            <a:spLocks noGrp="1" noChangeArrowheads="1"/>
          </p:cNvSpPr>
          <p:nvPr>
            <p:ph idx="1"/>
          </p:nvPr>
        </p:nvSpPr>
        <p:spPr/>
        <p:txBody>
          <a:bodyPr/>
          <a:lstStyle/>
          <a:p>
            <a:pPr eaLnBrk="1" hangingPunct="1">
              <a:lnSpc>
                <a:spcPct val="90000"/>
              </a:lnSpc>
            </a:pPr>
            <a:r>
              <a:rPr lang="en-US" sz="2800" smtClean="0"/>
              <a:t>You could ask “Why do we have all these annoying schemes in DDI?”</a:t>
            </a:r>
          </a:p>
          <a:p>
            <a:pPr eaLnBrk="1" hangingPunct="1">
              <a:lnSpc>
                <a:spcPct val="90000"/>
              </a:lnSpc>
            </a:pPr>
            <a:r>
              <a:rPr lang="en-US" sz="2800" smtClean="0"/>
              <a:t>There is a simple answer: reuse!</a:t>
            </a:r>
          </a:p>
          <a:p>
            <a:pPr eaLnBrk="1" hangingPunct="1">
              <a:lnSpc>
                <a:spcPct val="90000"/>
              </a:lnSpc>
            </a:pPr>
            <a:r>
              <a:rPr lang="en-US" sz="2800" smtClean="0"/>
              <a:t>DDI 3 supports the concept of metadata registries (eg, question banks, variable banks)</a:t>
            </a:r>
          </a:p>
          <a:p>
            <a:pPr eaLnBrk="1" hangingPunct="1">
              <a:lnSpc>
                <a:spcPct val="90000"/>
              </a:lnSpc>
            </a:pPr>
            <a:r>
              <a:rPr lang="en-US" sz="2800" smtClean="0"/>
              <a:t>DDI 3 also needs to show specifically where something is reused</a:t>
            </a:r>
          </a:p>
          <a:p>
            <a:pPr lvl="1" eaLnBrk="1" hangingPunct="1">
              <a:lnSpc>
                <a:spcPct val="90000"/>
              </a:lnSpc>
            </a:pPr>
            <a:r>
              <a:rPr lang="en-US" sz="2400" smtClean="0"/>
              <a:t>Including metadata by reference helps avoid error and confusion</a:t>
            </a:r>
          </a:p>
          <a:p>
            <a:pPr lvl="1" eaLnBrk="1" hangingPunct="1">
              <a:lnSpc>
                <a:spcPct val="90000"/>
              </a:lnSpc>
            </a:pPr>
            <a:r>
              <a:rPr lang="en-US" sz="2400" smtClean="0"/>
              <a:t>Reuse is explicit</a:t>
            </a:r>
          </a:p>
        </p:txBody>
      </p:sp>
      <p:sp>
        <p:nvSpPr>
          <p:cNvPr id="20484" name="Date Placeholder 3"/>
          <p:cNvSpPr>
            <a:spLocks noGrp="1"/>
          </p:cNvSpPr>
          <p:nvPr>
            <p:ph type="dt" sz="half" idx="10"/>
          </p:nvPr>
        </p:nvSpPr>
        <p:spPr>
          <a:noFill/>
        </p:spPr>
        <p:txBody>
          <a:bodyPr/>
          <a:lstStyle/>
          <a:p>
            <a:r>
              <a:rPr lang="en-US" smtClean="0"/>
              <a:t>S09</a:t>
            </a:r>
          </a:p>
        </p:txBody>
      </p:sp>
      <p:sp>
        <p:nvSpPr>
          <p:cNvPr id="20485" name="Slide Number Placeholder 4"/>
          <p:cNvSpPr>
            <a:spLocks noGrp="1"/>
          </p:cNvSpPr>
          <p:nvPr>
            <p:ph type="sldNum" sz="quarter" idx="12"/>
          </p:nvPr>
        </p:nvSpPr>
        <p:spPr>
          <a:noFill/>
        </p:spPr>
        <p:txBody>
          <a:bodyPr/>
          <a:lstStyle/>
          <a:p>
            <a:fld id="{2703C068-0E66-4B04-83AA-BE699919A5A9}" type="slidenum">
              <a:rPr lang="en-US" smtClean="0"/>
              <a:pPr/>
              <a:t>15</a:t>
            </a:fld>
            <a:endParaRPr lang="en-US"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SCHEMES</a:t>
            </a:r>
            <a:endParaRPr lang="en-US" dirty="0"/>
          </a:p>
        </p:txBody>
      </p:sp>
      <p:sp>
        <p:nvSpPr>
          <p:cNvPr id="3" name="Content Placeholder 2"/>
          <p:cNvSpPr>
            <a:spLocks noGrp="1"/>
          </p:cNvSpPr>
          <p:nvPr>
            <p:ph idx="1"/>
          </p:nvPr>
        </p:nvSpPr>
        <p:spPr/>
        <p:txBody>
          <a:bodyPr>
            <a:normAutofit lnSpcReduction="10000"/>
          </a:bodyPr>
          <a:lstStyle/>
          <a:p>
            <a:r>
              <a:rPr lang="en-US" dirty="0" smtClean="0"/>
              <a:t>Primary purpose is for managing  sets of similar metadata objects such as concepts, questions, categories and </a:t>
            </a:r>
            <a:r>
              <a:rPr lang="en-US" dirty="0" smtClean="0"/>
              <a:t>codes; items often found in registries</a:t>
            </a:r>
            <a:endParaRPr lang="en-US" dirty="0" smtClean="0"/>
          </a:p>
          <a:p>
            <a:r>
              <a:rPr lang="en-US" dirty="0" smtClean="0"/>
              <a:t>Similar in concept to a database table</a:t>
            </a:r>
          </a:p>
          <a:p>
            <a:r>
              <a:rPr lang="en-US" dirty="0" smtClean="0"/>
              <a:t>The </a:t>
            </a:r>
            <a:r>
              <a:rPr lang="en-US" dirty="0" smtClean="0"/>
              <a:t>assumption is that the contents will change over time and that it may be important to be able to identify the specific </a:t>
            </a:r>
            <a:r>
              <a:rPr lang="en-US" dirty="0" smtClean="0"/>
              <a:t>objects </a:t>
            </a:r>
            <a:r>
              <a:rPr lang="en-US" dirty="0" smtClean="0"/>
              <a:t>that  are contained in a scheme at any point in time</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 schemes contain?</a:t>
            </a:r>
            <a:endParaRPr lang="en-US" dirty="0"/>
          </a:p>
        </p:txBody>
      </p:sp>
      <p:sp>
        <p:nvSpPr>
          <p:cNvPr id="3" name="Content Placeholder 2"/>
          <p:cNvSpPr>
            <a:spLocks noGrp="1"/>
          </p:cNvSpPr>
          <p:nvPr>
            <p:ph idx="1"/>
          </p:nvPr>
        </p:nvSpPr>
        <p:spPr/>
        <p:txBody>
          <a:bodyPr/>
          <a:lstStyle/>
          <a:p>
            <a:r>
              <a:rPr lang="en-US" dirty="0" smtClean="0"/>
              <a:t>A list of </a:t>
            </a:r>
            <a:r>
              <a:rPr lang="en-US" dirty="0" err="1" smtClean="0"/>
              <a:t>versionable</a:t>
            </a:r>
            <a:r>
              <a:rPr lang="en-US" dirty="0" smtClean="0"/>
              <a:t> objects of a set type (i.e., Variable, Category, Universe, Concept, Organization,  Control Constructs, etc.)</a:t>
            </a:r>
          </a:p>
          <a:p>
            <a:r>
              <a:rPr lang="en-US" dirty="0" smtClean="0"/>
              <a:t>A means of grouping or relating these object (i.e., </a:t>
            </a:r>
            <a:r>
              <a:rPr lang="en-US" dirty="0" smtClean="0"/>
              <a:t>C</a:t>
            </a:r>
            <a:r>
              <a:rPr lang="en-US" dirty="0" smtClean="0"/>
              <a:t>oncept </a:t>
            </a:r>
            <a:r>
              <a:rPr lang="en-US" dirty="0" smtClean="0"/>
              <a:t>G</a:t>
            </a:r>
            <a:r>
              <a:rPr lang="en-US" dirty="0" smtClean="0"/>
              <a:t>roup, NCube Group, Relation etc.)</a:t>
            </a:r>
          </a:p>
          <a:p>
            <a:r>
              <a:rPr lang="en-US" dirty="0" smtClean="0"/>
              <a:t>Other Material and Notes related to the contents of the scheme</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Currently available schemes</a:t>
            </a:r>
            <a:endParaRPr lang="en-US" dirty="0"/>
          </a:p>
        </p:txBody>
      </p:sp>
      <p:sp>
        <p:nvSpPr>
          <p:cNvPr id="3" name="Content Placeholder 2"/>
          <p:cNvSpPr>
            <a:spLocks noGrp="1"/>
          </p:cNvSpPr>
          <p:nvPr>
            <p:ph sz="half" idx="1"/>
          </p:nvPr>
        </p:nvSpPr>
        <p:spPr/>
        <p:txBody>
          <a:bodyPr/>
          <a:lstStyle/>
          <a:p>
            <a:r>
              <a:rPr lang="en-US" dirty="0" smtClean="0"/>
              <a:t>Concept</a:t>
            </a:r>
          </a:p>
          <a:p>
            <a:r>
              <a:rPr lang="en-US" dirty="0" smtClean="0"/>
              <a:t>Universe</a:t>
            </a:r>
          </a:p>
          <a:p>
            <a:r>
              <a:rPr lang="en-US" dirty="0" smtClean="0"/>
              <a:t>Geographic Structure</a:t>
            </a:r>
          </a:p>
          <a:p>
            <a:r>
              <a:rPr lang="en-US" dirty="0" smtClean="0"/>
              <a:t>Geographic Location</a:t>
            </a:r>
          </a:p>
          <a:p>
            <a:r>
              <a:rPr lang="en-US" dirty="0" smtClean="0"/>
              <a:t>Organization</a:t>
            </a:r>
          </a:p>
          <a:p>
            <a:r>
              <a:rPr lang="en-US" dirty="0" smtClean="0"/>
              <a:t>Question</a:t>
            </a:r>
          </a:p>
          <a:p>
            <a:r>
              <a:rPr lang="en-US" dirty="0" smtClean="0"/>
              <a:t>Control Construct</a:t>
            </a:r>
            <a:endParaRPr lang="en-US" dirty="0"/>
          </a:p>
        </p:txBody>
      </p:sp>
      <p:sp>
        <p:nvSpPr>
          <p:cNvPr id="4" name="Content Placeholder 3"/>
          <p:cNvSpPr>
            <a:spLocks noGrp="1"/>
          </p:cNvSpPr>
          <p:nvPr>
            <p:ph sz="half" idx="2"/>
          </p:nvPr>
        </p:nvSpPr>
        <p:spPr/>
        <p:txBody>
          <a:bodyPr/>
          <a:lstStyle/>
          <a:p>
            <a:r>
              <a:rPr lang="en-US" dirty="0" smtClean="0"/>
              <a:t>Interviewer Instruction</a:t>
            </a:r>
          </a:p>
          <a:p>
            <a:r>
              <a:rPr lang="en-US" dirty="0" smtClean="0"/>
              <a:t>Category</a:t>
            </a:r>
          </a:p>
          <a:p>
            <a:r>
              <a:rPr lang="en-US" dirty="0" smtClean="0"/>
              <a:t>Code</a:t>
            </a:r>
          </a:p>
          <a:p>
            <a:r>
              <a:rPr lang="en-US" dirty="0" smtClean="0"/>
              <a:t>Variable</a:t>
            </a:r>
          </a:p>
          <a:p>
            <a:r>
              <a:rPr lang="en-US" dirty="0" smtClean="0"/>
              <a:t>NCube</a:t>
            </a:r>
          </a:p>
          <a:p>
            <a:r>
              <a:rPr lang="en-US" dirty="0" smtClean="0"/>
              <a:t>Physical Structure</a:t>
            </a:r>
          </a:p>
          <a:p>
            <a:r>
              <a:rPr lang="en-US" dirty="0" smtClean="0"/>
              <a:t>Record Layout</a:t>
            </a:r>
            <a:endParaRPr lang="en-US" dirty="0"/>
          </a:p>
        </p:txBody>
      </p:sp>
      <p:sp>
        <p:nvSpPr>
          <p:cNvPr id="5" name="Footer Placeholder 4"/>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Schemes under consideration</a:t>
            </a:r>
            <a:endParaRPr lang="en-US" dirty="0"/>
          </a:p>
        </p:txBody>
      </p:sp>
      <p:sp>
        <p:nvSpPr>
          <p:cNvPr id="3" name="Content Placeholder 2"/>
          <p:cNvSpPr>
            <a:spLocks noGrp="1"/>
          </p:cNvSpPr>
          <p:nvPr>
            <p:ph idx="1"/>
          </p:nvPr>
        </p:nvSpPr>
        <p:spPr>
          <a:xfrm>
            <a:off x="304800" y="1554162"/>
            <a:ext cx="8686800" cy="5303838"/>
          </a:xfrm>
        </p:spPr>
        <p:txBody>
          <a:bodyPr>
            <a:normAutofit fontScale="92500" lnSpcReduction="10000"/>
          </a:bodyPr>
          <a:lstStyle/>
          <a:p>
            <a:r>
              <a:rPr lang="en-US" dirty="0" smtClean="0"/>
              <a:t>Instrument scheme (already added  to 3.2)</a:t>
            </a:r>
          </a:p>
          <a:p>
            <a:r>
              <a:rPr lang="en-US" dirty="0" smtClean="0"/>
              <a:t>Representation schemes for non-classification representations</a:t>
            </a:r>
          </a:p>
          <a:p>
            <a:pPr lvl="1"/>
            <a:r>
              <a:rPr lang="en-US" dirty="0" smtClean="0"/>
              <a:t>New geographic representation to directly use geographic structure and location content and new representation for scales</a:t>
            </a:r>
          </a:p>
          <a:p>
            <a:pPr lvl="1"/>
            <a:r>
              <a:rPr lang="en-US" dirty="0" smtClean="0"/>
              <a:t>Numeric, text and date-time representations</a:t>
            </a:r>
          </a:p>
          <a:p>
            <a:r>
              <a:rPr lang="en-US" dirty="0" smtClean="0"/>
              <a:t>Sample Frames</a:t>
            </a:r>
          </a:p>
          <a:p>
            <a:r>
              <a:rPr lang="en-US" dirty="0" smtClean="0"/>
              <a:t>Sample Method</a:t>
            </a:r>
          </a:p>
          <a:p>
            <a:r>
              <a:rPr lang="en-US" dirty="0" smtClean="0"/>
              <a:t>Process instructions</a:t>
            </a:r>
          </a:p>
          <a:p>
            <a:r>
              <a:rPr lang="en-US" dirty="0" smtClean="0"/>
              <a:t>Generation instructions</a:t>
            </a:r>
          </a:p>
          <a:p>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Date Placeholder 10"/>
          <p:cNvSpPr>
            <a:spLocks noGrp="1"/>
          </p:cNvSpPr>
          <p:nvPr>
            <p:ph type="dt" sz="half" idx="10"/>
          </p:nvPr>
        </p:nvSpPr>
        <p:spPr>
          <a:noFill/>
        </p:spPr>
        <p:txBody>
          <a:bodyPr/>
          <a:lstStyle/>
          <a:p>
            <a:r>
              <a:rPr lang="en-US" smtClean="0"/>
              <a:t>S09</a:t>
            </a:r>
          </a:p>
        </p:txBody>
      </p:sp>
      <p:sp>
        <p:nvSpPr>
          <p:cNvPr id="17414" name="Slide Number Placeholder 11"/>
          <p:cNvSpPr>
            <a:spLocks noGrp="1"/>
          </p:cNvSpPr>
          <p:nvPr>
            <p:ph type="sldNum" sz="quarter" idx="12"/>
          </p:nvPr>
        </p:nvSpPr>
        <p:spPr>
          <a:noFill/>
        </p:spPr>
        <p:txBody>
          <a:bodyPr/>
          <a:lstStyle/>
          <a:p>
            <a:fld id="{92588305-9BD1-4D07-A9D0-22EF908CBAD8}" type="slidenum">
              <a:rPr lang="en-US" smtClean="0"/>
              <a:pPr/>
              <a:t>20</a:t>
            </a:fld>
            <a:endParaRPr lang="en-US" smtClean="0"/>
          </a:p>
        </p:txBody>
      </p:sp>
      <p:sp>
        <p:nvSpPr>
          <p:cNvPr id="17410"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u="sng" smtClean="0"/>
              <a:t>XML Schemas</a:t>
            </a:r>
            <a:r>
              <a:rPr lang="en-US" sz="4000" smtClean="0">
                <a:solidFill>
                  <a:schemeClr val="bg2"/>
                </a:solidFill>
              </a:rPr>
              <a:t>, DDI Modules, </a:t>
            </a:r>
            <a:br>
              <a:rPr lang="en-US" sz="4000" smtClean="0">
                <a:solidFill>
                  <a:schemeClr val="bg2"/>
                </a:solidFill>
              </a:rPr>
            </a:br>
            <a:r>
              <a:rPr lang="en-US" sz="4000" smtClean="0">
                <a:solidFill>
                  <a:schemeClr val="bg2"/>
                </a:solidFill>
              </a:rPr>
              <a:t>and DDI Schemes</a:t>
            </a:r>
          </a:p>
        </p:txBody>
      </p:sp>
      <p:grpSp>
        <p:nvGrpSpPr>
          <p:cNvPr id="2" name="Group 4"/>
          <p:cNvGrpSpPr>
            <a:grpSpLocks noChangeAspect="1"/>
          </p:cNvGrpSpPr>
          <p:nvPr/>
        </p:nvGrpSpPr>
        <p:grpSpPr bwMode="auto">
          <a:xfrm>
            <a:off x="533400" y="1739900"/>
            <a:ext cx="7543800" cy="4400550"/>
            <a:chOff x="2455" y="1837"/>
            <a:chExt cx="7200" cy="4320"/>
          </a:xfrm>
        </p:grpSpPr>
        <p:sp>
          <p:nvSpPr>
            <p:cNvPr id="17415"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7416"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7417" name="Oval 7"/>
            <p:cNvSpPr>
              <a:spLocks noChangeArrowheads="1"/>
            </p:cNvSpPr>
            <p:nvPr/>
          </p:nvSpPr>
          <p:spPr bwMode="auto">
            <a:xfrm>
              <a:off x="3265" y="2146"/>
              <a:ext cx="4350" cy="3702"/>
            </a:xfrm>
            <a:prstGeom prst="ellipse">
              <a:avLst/>
            </a:prstGeom>
            <a:solidFill>
              <a:srgbClr val="FFFFFF"/>
            </a:solidFill>
            <a:ln w="57150">
              <a:noFill/>
              <a:round/>
              <a:headEnd/>
              <a:tailEnd/>
            </a:ln>
          </p:spPr>
          <p:txBody>
            <a:bodyPr/>
            <a:lstStyle/>
            <a:p>
              <a:endParaRPr lang="en-US"/>
            </a:p>
          </p:txBody>
        </p:sp>
        <p:sp>
          <p:nvSpPr>
            <p:cNvPr id="17418"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600" b="1"/>
                <a:t>Instance</a:t>
              </a:r>
            </a:p>
            <a:p>
              <a:endParaRPr lang="en-US" sz="1600" b="1"/>
            </a:p>
            <a:p>
              <a:r>
                <a:rPr lang="en-US" sz="1600" b="1"/>
                <a:t>Study Unit</a:t>
              </a:r>
            </a:p>
            <a:p>
              <a:endParaRPr lang="en-US" sz="1600" b="1"/>
            </a:p>
            <a:p>
              <a:r>
                <a:rPr lang="en-US" sz="1600" b="1"/>
                <a:t>Physical Instance</a:t>
              </a:r>
            </a:p>
            <a:p>
              <a:endParaRPr lang="en-US" sz="1600" b="1"/>
            </a:p>
            <a:p>
              <a:r>
                <a:rPr lang="en-US" sz="1600" b="1"/>
                <a:t>DDI Profile</a:t>
              </a:r>
            </a:p>
            <a:p>
              <a:endParaRPr lang="en-US" sz="1600" b="1"/>
            </a:p>
            <a:p>
              <a:r>
                <a:rPr lang="en-US" sz="1600" b="1"/>
                <a:t>Comparative</a:t>
              </a:r>
              <a:endParaRPr lang="en-US" sz="1600"/>
            </a:p>
          </p:txBody>
        </p:sp>
        <p:sp>
          <p:nvSpPr>
            <p:cNvPr id="17419" name="Text Box 9"/>
            <p:cNvSpPr txBox="1">
              <a:spLocks noChangeArrowheads="1"/>
            </p:cNvSpPr>
            <p:nvPr/>
          </p:nvSpPr>
          <p:spPr bwMode="auto">
            <a:xfrm>
              <a:off x="5515" y="2608"/>
              <a:ext cx="2100" cy="3086"/>
            </a:xfrm>
            <a:prstGeom prst="rect">
              <a:avLst/>
            </a:prstGeom>
            <a:noFill/>
            <a:ln w="9525">
              <a:noFill/>
              <a:miter lim="800000"/>
              <a:headEnd/>
              <a:tailEnd/>
            </a:ln>
          </p:spPr>
          <p:txBody>
            <a:bodyPr/>
            <a:lstStyle/>
            <a:p>
              <a:r>
                <a:rPr lang="en-US" sz="1600" b="1"/>
                <a:t>Data Collection</a:t>
              </a:r>
            </a:p>
            <a:p>
              <a:endParaRPr lang="en-US" sz="1600" b="1"/>
            </a:p>
            <a:p>
              <a:r>
                <a:rPr lang="en-US" sz="1600" b="1"/>
                <a:t>Logical Product</a:t>
              </a:r>
            </a:p>
            <a:p>
              <a:endParaRPr lang="en-US" sz="1600" b="1"/>
            </a:p>
            <a:p>
              <a:r>
                <a:rPr lang="en-US" sz="1600" b="1"/>
                <a:t>Physical Data Structure</a:t>
              </a:r>
            </a:p>
            <a:p>
              <a:endParaRPr lang="en-US" sz="1600" b="1"/>
            </a:p>
            <a:p>
              <a:r>
                <a:rPr lang="en-US" sz="1600" b="1"/>
                <a:t>Archive</a:t>
              </a:r>
            </a:p>
            <a:p>
              <a:endParaRPr lang="en-US" sz="1600" b="1"/>
            </a:p>
            <a:p>
              <a:r>
                <a:rPr lang="en-US" sz="1600" b="1"/>
                <a:t>Conceptual Component</a:t>
              </a:r>
            </a:p>
          </p:txBody>
        </p:sp>
        <p:sp>
          <p:nvSpPr>
            <p:cNvPr id="17420"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600" b="1"/>
                <a:t>Reusable</a:t>
              </a:r>
            </a:p>
            <a:p>
              <a:endParaRPr lang="en-US" sz="1600" b="1"/>
            </a:p>
            <a:p>
              <a:r>
                <a:rPr lang="en-US" sz="1600" b="1"/>
                <a:t>Ncube</a:t>
              </a:r>
            </a:p>
            <a:p>
              <a:endParaRPr lang="en-US" sz="1600" b="1"/>
            </a:p>
            <a:p>
              <a:r>
                <a:rPr lang="en-US" sz="1600" b="1"/>
                <a:t>Inline ncube</a:t>
              </a:r>
            </a:p>
            <a:p>
              <a:endParaRPr lang="en-US" sz="1600" b="1"/>
            </a:p>
            <a:p>
              <a:r>
                <a:rPr lang="en-US" sz="1600" b="1"/>
                <a:t>Tabular ncube</a:t>
              </a:r>
            </a:p>
            <a:p>
              <a:endParaRPr lang="en-US" sz="1600" b="1"/>
            </a:p>
            <a:p>
              <a:r>
                <a:rPr lang="en-US" sz="1600" b="1"/>
                <a:t>Proprietary</a:t>
              </a:r>
            </a:p>
            <a:p>
              <a:endParaRPr lang="en-US" sz="1600" b="1"/>
            </a:p>
            <a:p>
              <a:r>
                <a:rPr lang="en-US" sz="1600" b="1"/>
                <a:t>Dataset</a:t>
              </a:r>
            </a:p>
            <a:p>
              <a:endParaRPr lang="en-US" sz="1600" b="1"/>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Date Placeholder 10"/>
          <p:cNvSpPr>
            <a:spLocks noGrp="1"/>
          </p:cNvSpPr>
          <p:nvPr>
            <p:ph type="dt" sz="half" idx="10"/>
          </p:nvPr>
        </p:nvSpPr>
        <p:spPr>
          <a:noFill/>
        </p:spPr>
        <p:txBody>
          <a:bodyPr/>
          <a:lstStyle/>
          <a:p>
            <a:r>
              <a:rPr lang="en-US" smtClean="0"/>
              <a:t>S09</a:t>
            </a:r>
          </a:p>
        </p:txBody>
      </p:sp>
      <p:sp>
        <p:nvSpPr>
          <p:cNvPr id="18438" name="Slide Number Placeholder 11"/>
          <p:cNvSpPr>
            <a:spLocks noGrp="1"/>
          </p:cNvSpPr>
          <p:nvPr>
            <p:ph type="sldNum" sz="quarter" idx="12"/>
          </p:nvPr>
        </p:nvSpPr>
        <p:spPr>
          <a:noFill/>
        </p:spPr>
        <p:txBody>
          <a:bodyPr/>
          <a:lstStyle/>
          <a:p>
            <a:fld id="{79688711-9FF2-4D30-9DE2-A35989521078}" type="slidenum">
              <a:rPr lang="en-US" smtClean="0"/>
              <a:pPr/>
              <a:t>21</a:t>
            </a:fld>
            <a:endParaRPr lang="en-US" smtClean="0"/>
          </a:p>
        </p:txBody>
      </p:sp>
      <p:sp>
        <p:nvSpPr>
          <p:cNvPr id="18434"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solidFill>
                  <a:schemeClr val="bg2"/>
                </a:solidFill>
              </a:rPr>
              <a:t>XML Schemas,</a:t>
            </a:r>
            <a:r>
              <a:rPr lang="en-US" sz="4000" smtClean="0"/>
              <a:t> </a:t>
            </a:r>
            <a:r>
              <a:rPr lang="en-US" sz="4000" u="sng" smtClean="0"/>
              <a:t>DDI Modules</a:t>
            </a:r>
            <a:r>
              <a:rPr lang="en-US" sz="4000" smtClean="0">
                <a:solidFill>
                  <a:schemeClr val="bg2"/>
                </a:solidFill>
              </a:rPr>
              <a:t>, </a:t>
            </a:r>
            <a:br>
              <a:rPr lang="en-US" sz="4000" smtClean="0">
                <a:solidFill>
                  <a:schemeClr val="bg2"/>
                </a:solidFill>
              </a:rPr>
            </a:br>
            <a:r>
              <a:rPr lang="en-US" sz="4000" smtClean="0">
                <a:solidFill>
                  <a:schemeClr val="bg2"/>
                </a:solidFill>
              </a:rPr>
              <a:t>and DDI Schemes</a:t>
            </a:r>
          </a:p>
        </p:txBody>
      </p:sp>
      <p:grpSp>
        <p:nvGrpSpPr>
          <p:cNvPr id="2" name="Group 4"/>
          <p:cNvGrpSpPr>
            <a:grpSpLocks noChangeAspect="1"/>
          </p:cNvGrpSpPr>
          <p:nvPr/>
        </p:nvGrpSpPr>
        <p:grpSpPr bwMode="auto">
          <a:xfrm>
            <a:off x="533400" y="1739900"/>
            <a:ext cx="7543800" cy="4400550"/>
            <a:chOff x="2455" y="1837"/>
            <a:chExt cx="7200" cy="4320"/>
          </a:xfrm>
        </p:grpSpPr>
        <p:sp>
          <p:nvSpPr>
            <p:cNvPr id="18439"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8440"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8441" name="Oval 7"/>
            <p:cNvSpPr>
              <a:spLocks noChangeArrowheads="1"/>
            </p:cNvSpPr>
            <p:nvPr/>
          </p:nvSpPr>
          <p:spPr bwMode="auto">
            <a:xfrm>
              <a:off x="3265" y="2146"/>
              <a:ext cx="4350" cy="3702"/>
            </a:xfrm>
            <a:prstGeom prst="ellipse">
              <a:avLst/>
            </a:prstGeom>
            <a:solidFill>
              <a:srgbClr val="FFFFFF"/>
            </a:solidFill>
            <a:ln w="57150">
              <a:solidFill>
                <a:srgbClr val="FF0000"/>
              </a:solidFill>
              <a:round/>
              <a:headEnd/>
              <a:tailEnd/>
            </a:ln>
          </p:spPr>
          <p:txBody>
            <a:bodyPr/>
            <a:lstStyle/>
            <a:p>
              <a:endParaRPr lang="en-US"/>
            </a:p>
          </p:txBody>
        </p:sp>
        <p:sp>
          <p:nvSpPr>
            <p:cNvPr id="18442"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600" b="1"/>
                <a:t>Instance</a:t>
              </a:r>
            </a:p>
            <a:p>
              <a:endParaRPr lang="en-US" sz="1600" b="1"/>
            </a:p>
            <a:p>
              <a:r>
                <a:rPr lang="en-US" sz="1600" b="1"/>
                <a:t>Study Unit</a:t>
              </a:r>
            </a:p>
            <a:p>
              <a:endParaRPr lang="en-US" sz="1600" b="1"/>
            </a:p>
            <a:p>
              <a:r>
                <a:rPr lang="en-US" sz="1600" b="1"/>
                <a:t>Physical Instance</a:t>
              </a:r>
            </a:p>
            <a:p>
              <a:endParaRPr lang="en-US" sz="1600" b="1"/>
            </a:p>
            <a:p>
              <a:r>
                <a:rPr lang="en-US" sz="1600" b="1"/>
                <a:t>DDI Profile</a:t>
              </a:r>
            </a:p>
            <a:p>
              <a:endParaRPr lang="en-US" sz="1600" b="1"/>
            </a:p>
            <a:p>
              <a:r>
                <a:rPr lang="en-US" sz="1600" b="1"/>
                <a:t>Comparative</a:t>
              </a:r>
              <a:endParaRPr lang="en-US" sz="1600"/>
            </a:p>
          </p:txBody>
        </p:sp>
        <p:sp>
          <p:nvSpPr>
            <p:cNvPr id="18443" name="Text Box 9"/>
            <p:cNvSpPr txBox="1">
              <a:spLocks noChangeArrowheads="1"/>
            </p:cNvSpPr>
            <p:nvPr/>
          </p:nvSpPr>
          <p:spPr bwMode="auto">
            <a:xfrm>
              <a:off x="5515" y="2608"/>
              <a:ext cx="2100" cy="3086"/>
            </a:xfrm>
            <a:prstGeom prst="rect">
              <a:avLst/>
            </a:prstGeom>
            <a:noFill/>
            <a:ln w="9525">
              <a:noFill/>
              <a:miter lim="800000"/>
              <a:headEnd/>
              <a:tailEnd/>
            </a:ln>
          </p:spPr>
          <p:txBody>
            <a:bodyPr/>
            <a:lstStyle/>
            <a:p>
              <a:r>
                <a:rPr lang="en-US" sz="1600" b="1"/>
                <a:t>Data Collection</a:t>
              </a:r>
            </a:p>
            <a:p>
              <a:endParaRPr lang="en-US" sz="1600" b="1"/>
            </a:p>
            <a:p>
              <a:r>
                <a:rPr lang="en-US" sz="1600" b="1"/>
                <a:t>Logical Product</a:t>
              </a:r>
            </a:p>
            <a:p>
              <a:endParaRPr lang="en-US" sz="1600" b="1"/>
            </a:p>
            <a:p>
              <a:r>
                <a:rPr lang="en-US" sz="1600" b="1"/>
                <a:t>Physical Data Structure</a:t>
              </a:r>
            </a:p>
            <a:p>
              <a:endParaRPr lang="en-US" sz="1600" b="1"/>
            </a:p>
            <a:p>
              <a:r>
                <a:rPr lang="en-US" sz="1600" b="1"/>
                <a:t>Archive</a:t>
              </a:r>
            </a:p>
            <a:p>
              <a:endParaRPr lang="en-US" sz="1600" b="1"/>
            </a:p>
            <a:p>
              <a:r>
                <a:rPr lang="en-US" sz="1600" b="1"/>
                <a:t>Conceptual Component</a:t>
              </a:r>
            </a:p>
          </p:txBody>
        </p:sp>
        <p:sp>
          <p:nvSpPr>
            <p:cNvPr id="18444"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600" b="1"/>
                <a:t>Reusable</a:t>
              </a:r>
            </a:p>
            <a:p>
              <a:endParaRPr lang="en-US" sz="1600" b="1"/>
            </a:p>
            <a:p>
              <a:r>
                <a:rPr lang="en-US" sz="1600" b="1"/>
                <a:t>Ncube</a:t>
              </a:r>
            </a:p>
            <a:p>
              <a:endParaRPr lang="en-US" sz="1600" b="1"/>
            </a:p>
            <a:p>
              <a:r>
                <a:rPr lang="en-US" sz="1600" b="1"/>
                <a:t>Inline ncube</a:t>
              </a:r>
            </a:p>
            <a:p>
              <a:endParaRPr lang="en-US" sz="1600" b="1"/>
            </a:p>
            <a:p>
              <a:r>
                <a:rPr lang="en-US" sz="1600" b="1"/>
                <a:t>Tabular ncube</a:t>
              </a:r>
            </a:p>
            <a:p>
              <a:endParaRPr lang="en-US" sz="1600" b="1"/>
            </a:p>
            <a:p>
              <a:r>
                <a:rPr lang="en-US" sz="1600" b="1"/>
                <a:t>Proprietary</a:t>
              </a:r>
            </a:p>
            <a:p>
              <a:endParaRPr lang="en-US" sz="1600" b="1"/>
            </a:p>
            <a:p>
              <a:r>
                <a:rPr lang="en-US" sz="1600" b="1"/>
                <a:t>Dataset</a:t>
              </a:r>
            </a:p>
            <a:p>
              <a:endParaRPr lang="en-US" sz="1600" b="1"/>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Date Placeholder 10"/>
          <p:cNvSpPr>
            <a:spLocks noGrp="1"/>
          </p:cNvSpPr>
          <p:nvPr>
            <p:ph type="dt" sz="half" idx="10"/>
          </p:nvPr>
        </p:nvSpPr>
        <p:spPr>
          <a:noFill/>
        </p:spPr>
        <p:txBody>
          <a:bodyPr/>
          <a:lstStyle/>
          <a:p>
            <a:r>
              <a:rPr lang="en-US" smtClean="0"/>
              <a:t>S09</a:t>
            </a:r>
          </a:p>
        </p:txBody>
      </p:sp>
      <p:sp>
        <p:nvSpPr>
          <p:cNvPr id="19462" name="Slide Number Placeholder 11"/>
          <p:cNvSpPr>
            <a:spLocks noGrp="1"/>
          </p:cNvSpPr>
          <p:nvPr>
            <p:ph type="sldNum" sz="quarter" idx="12"/>
          </p:nvPr>
        </p:nvSpPr>
        <p:spPr>
          <a:noFill/>
        </p:spPr>
        <p:txBody>
          <a:bodyPr/>
          <a:lstStyle/>
          <a:p>
            <a:fld id="{AB4F0CBE-D63E-45FA-AC1B-EC1A397FD69D}" type="slidenum">
              <a:rPr lang="en-US" smtClean="0"/>
              <a:pPr/>
              <a:t>22</a:t>
            </a:fld>
            <a:endParaRPr lang="en-US" smtClean="0"/>
          </a:p>
        </p:txBody>
      </p:sp>
      <p:sp>
        <p:nvSpPr>
          <p:cNvPr id="19458"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solidFill>
                  <a:schemeClr val="bg2"/>
                </a:solidFill>
              </a:rPr>
              <a:t>XML Schemas, DDI Modules,</a:t>
            </a:r>
            <a:r>
              <a:rPr lang="en-US" sz="4000" smtClean="0"/>
              <a:t> </a:t>
            </a:r>
            <a:br>
              <a:rPr lang="en-US" sz="4000" smtClean="0"/>
            </a:br>
            <a:r>
              <a:rPr lang="en-US" sz="4000" smtClean="0"/>
              <a:t>and </a:t>
            </a:r>
            <a:r>
              <a:rPr lang="en-US" sz="4000" u="sng" smtClean="0"/>
              <a:t>DDI Schemes</a:t>
            </a:r>
          </a:p>
        </p:txBody>
      </p:sp>
      <p:grpSp>
        <p:nvGrpSpPr>
          <p:cNvPr id="2" name="Group 4"/>
          <p:cNvGrpSpPr>
            <a:grpSpLocks noChangeAspect="1"/>
          </p:cNvGrpSpPr>
          <p:nvPr/>
        </p:nvGrpSpPr>
        <p:grpSpPr bwMode="auto">
          <a:xfrm>
            <a:off x="457200" y="1600200"/>
            <a:ext cx="8077200" cy="4711700"/>
            <a:chOff x="2455" y="1837"/>
            <a:chExt cx="7200" cy="4320"/>
          </a:xfrm>
        </p:grpSpPr>
        <p:sp>
          <p:nvSpPr>
            <p:cNvPr id="19463"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9464"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9465" name="Oval 7"/>
            <p:cNvSpPr>
              <a:spLocks noChangeArrowheads="1"/>
            </p:cNvSpPr>
            <p:nvPr/>
          </p:nvSpPr>
          <p:spPr bwMode="auto">
            <a:xfrm>
              <a:off x="3265" y="2146"/>
              <a:ext cx="4350" cy="3702"/>
            </a:xfrm>
            <a:prstGeom prst="ellipse">
              <a:avLst/>
            </a:prstGeom>
            <a:solidFill>
              <a:srgbClr val="FFFFFF"/>
            </a:solidFill>
            <a:ln w="38100">
              <a:solidFill>
                <a:srgbClr val="FF0000"/>
              </a:solidFill>
              <a:round/>
              <a:headEnd/>
              <a:tailEnd/>
            </a:ln>
          </p:spPr>
          <p:txBody>
            <a:bodyPr/>
            <a:lstStyle/>
            <a:p>
              <a:endParaRPr lang="en-US"/>
            </a:p>
          </p:txBody>
        </p:sp>
        <p:sp>
          <p:nvSpPr>
            <p:cNvPr id="19466"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200" b="1">
                  <a:solidFill>
                    <a:srgbClr val="999999"/>
                  </a:solidFill>
                </a:rPr>
                <a:t>Instance</a:t>
              </a:r>
            </a:p>
            <a:p>
              <a:endParaRPr lang="en-US" sz="1200" b="1">
                <a:solidFill>
                  <a:srgbClr val="999999"/>
                </a:solidFill>
              </a:endParaRPr>
            </a:p>
            <a:p>
              <a:r>
                <a:rPr lang="en-US" sz="1200" b="1">
                  <a:solidFill>
                    <a:srgbClr val="999999"/>
                  </a:solidFill>
                </a:rPr>
                <a:t>Study Unit</a:t>
              </a:r>
            </a:p>
            <a:p>
              <a:endParaRPr lang="en-US" sz="1200" b="1">
                <a:solidFill>
                  <a:srgbClr val="999999"/>
                </a:solidFill>
              </a:endParaRPr>
            </a:p>
            <a:p>
              <a:r>
                <a:rPr lang="en-US" sz="1200" b="1">
                  <a:solidFill>
                    <a:srgbClr val="999999"/>
                  </a:solidFill>
                </a:rPr>
                <a:t>Physical Instance</a:t>
              </a:r>
            </a:p>
            <a:p>
              <a:endParaRPr lang="en-US" sz="1200" b="1">
                <a:solidFill>
                  <a:srgbClr val="999999"/>
                </a:solidFill>
              </a:endParaRPr>
            </a:p>
            <a:p>
              <a:r>
                <a:rPr lang="en-US" sz="1200" b="1">
                  <a:solidFill>
                    <a:srgbClr val="999999"/>
                  </a:solidFill>
                </a:rPr>
                <a:t>DDI Profile</a:t>
              </a:r>
            </a:p>
            <a:p>
              <a:endParaRPr lang="en-US" sz="1200" b="1">
                <a:solidFill>
                  <a:srgbClr val="999999"/>
                </a:solidFill>
              </a:endParaRPr>
            </a:p>
            <a:p>
              <a:r>
                <a:rPr lang="en-US" sz="1200" b="1">
                  <a:solidFill>
                    <a:srgbClr val="999999"/>
                  </a:solidFill>
                </a:rPr>
                <a:t>Comparative</a:t>
              </a:r>
              <a:endParaRPr lang="en-US"/>
            </a:p>
          </p:txBody>
        </p:sp>
        <p:sp>
          <p:nvSpPr>
            <p:cNvPr id="19467" name="Text Box 9"/>
            <p:cNvSpPr txBox="1">
              <a:spLocks noChangeArrowheads="1"/>
            </p:cNvSpPr>
            <p:nvPr/>
          </p:nvSpPr>
          <p:spPr bwMode="auto">
            <a:xfrm>
              <a:off x="3865" y="1837"/>
              <a:ext cx="4500" cy="4320"/>
            </a:xfrm>
            <a:prstGeom prst="rect">
              <a:avLst/>
            </a:prstGeom>
            <a:noFill/>
            <a:ln w="9525">
              <a:noFill/>
              <a:miter lim="800000"/>
              <a:headEnd/>
              <a:tailEnd/>
            </a:ln>
          </p:spPr>
          <p:txBody>
            <a:bodyPr/>
            <a:lstStyle/>
            <a:p>
              <a:pPr lvl="2"/>
              <a:r>
                <a:rPr lang="en-US" sz="1600" b="1"/>
                <a:t>Data Collection</a:t>
              </a:r>
            </a:p>
            <a:p>
              <a:pPr lvl="3">
                <a:buFont typeface="Symbol" pitchFamily="18" charset="2"/>
                <a:buChar char="·"/>
              </a:pPr>
              <a:r>
                <a:rPr lang="en-US" sz="1600" b="1"/>
                <a:t>Question Scheme</a:t>
              </a:r>
            </a:p>
            <a:p>
              <a:pPr lvl="3">
                <a:buFont typeface="Symbol" pitchFamily="18" charset="2"/>
                <a:buChar char="·"/>
              </a:pPr>
              <a:r>
                <a:rPr lang="en-US" sz="1600" b="1"/>
                <a:t>Control Construct Scheme</a:t>
              </a:r>
            </a:p>
            <a:p>
              <a:pPr lvl="3">
                <a:buFont typeface="Symbol" pitchFamily="18" charset="2"/>
                <a:buChar char="·"/>
              </a:pPr>
              <a:r>
                <a:rPr lang="en-US" sz="1600" b="1"/>
                <a:t>Interviewer Instruction Scheme</a:t>
              </a:r>
            </a:p>
            <a:p>
              <a:pPr lvl="2"/>
              <a:r>
                <a:rPr lang="en-US" sz="1600" b="1"/>
                <a:t>Logical Product</a:t>
              </a:r>
            </a:p>
            <a:p>
              <a:pPr lvl="3">
                <a:buFont typeface="Symbol" pitchFamily="18" charset="2"/>
                <a:buChar char="·"/>
              </a:pPr>
              <a:r>
                <a:rPr lang="en-US" sz="1600" b="1"/>
                <a:t>Category Scheme</a:t>
              </a:r>
            </a:p>
            <a:p>
              <a:pPr lvl="3">
                <a:buFont typeface="Symbol" pitchFamily="18" charset="2"/>
                <a:buChar char="·"/>
              </a:pPr>
              <a:r>
                <a:rPr lang="en-US" sz="1600" b="1"/>
                <a:t>Code Scheme</a:t>
              </a:r>
            </a:p>
            <a:p>
              <a:pPr lvl="3">
                <a:buFont typeface="Symbol" pitchFamily="18" charset="2"/>
                <a:buChar char="·"/>
              </a:pPr>
              <a:r>
                <a:rPr lang="en-US" sz="1600" b="1"/>
                <a:t>Variable Scheme</a:t>
              </a:r>
            </a:p>
            <a:p>
              <a:pPr lvl="3">
                <a:buFont typeface="Symbol" pitchFamily="18" charset="2"/>
                <a:buChar char="·"/>
              </a:pPr>
              <a:r>
                <a:rPr lang="en-US" sz="1600" b="1"/>
                <a:t>NCube Scheme</a:t>
              </a:r>
            </a:p>
            <a:p>
              <a:pPr lvl="2"/>
              <a:r>
                <a:rPr lang="en-US" sz="1600" b="1"/>
                <a:t>Physical Data Structure</a:t>
              </a:r>
            </a:p>
            <a:p>
              <a:pPr lvl="3">
                <a:buFont typeface="Symbol" pitchFamily="18" charset="2"/>
                <a:buChar char="·"/>
              </a:pPr>
              <a:r>
                <a:rPr lang="en-US" sz="1600" b="1"/>
                <a:t>Physical Structure Scheme</a:t>
              </a:r>
            </a:p>
            <a:p>
              <a:pPr lvl="3">
                <a:buFont typeface="Symbol" pitchFamily="18" charset="2"/>
                <a:buChar char="·"/>
              </a:pPr>
              <a:r>
                <a:rPr lang="en-US" sz="1600" b="1"/>
                <a:t>Record Layout Scheme</a:t>
              </a:r>
            </a:p>
            <a:p>
              <a:pPr lvl="2"/>
              <a:r>
                <a:rPr lang="en-US" sz="1600" b="1"/>
                <a:t>Archive</a:t>
              </a:r>
            </a:p>
            <a:p>
              <a:pPr lvl="3">
                <a:buFont typeface="Symbol" pitchFamily="18" charset="2"/>
                <a:buChar char="·"/>
              </a:pPr>
              <a:r>
                <a:rPr lang="en-US" sz="1600" b="1"/>
                <a:t>Organization Scheme</a:t>
              </a:r>
            </a:p>
            <a:p>
              <a:pPr lvl="2"/>
              <a:r>
                <a:rPr lang="en-US" sz="1600" b="1"/>
                <a:t>Conceptual Component</a:t>
              </a:r>
            </a:p>
            <a:p>
              <a:pPr lvl="3">
                <a:buFont typeface="Symbol" pitchFamily="18" charset="2"/>
                <a:buChar char="·"/>
              </a:pPr>
              <a:r>
                <a:rPr lang="en-US" sz="1600" b="1"/>
                <a:t>Concept Scheme</a:t>
              </a:r>
            </a:p>
            <a:p>
              <a:pPr lvl="3">
                <a:buFont typeface="Symbol" pitchFamily="18" charset="2"/>
                <a:buChar char="·"/>
              </a:pPr>
              <a:r>
                <a:rPr lang="en-US" sz="1600" b="1"/>
                <a:t>Universe Scheme</a:t>
              </a:r>
            </a:p>
            <a:p>
              <a:pPr lvl="3">
                <a:buFont typeface="Symbol" pitchFamily="18" charset="2"/>
                <a:buChar char="·"/>
              </a:pPr>
              <a:r>
                <a:rPr lang="en-US" sz="1600" b="1"/>
                <a:t>Geographic Structure Scheme</a:t>
              </a:r>
            </a:p>
            <a:p>
              <a:pPr lvl="3">
                <a:buFont typeface="Symbol" pitchFamily="18" charset="2"/>
                <a:buChar char="·"/>
              </a:pPr>
              <a:r>
                <a:rPr lang="en-US" sz="1600" b="1"/>
                <a:t>Geographic Location Scheme</a:t>
              </a:r>
              <a:endParaRPr lang="en-US" sz="1600"/>
            </a:p>
          </p:txBody>
        </p:sp>
        <p:sp>
          <p:nvSpPr>
            <p:cNvPr id="19468"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200" b="1">
                  <a:solidFill>
                    <a:srgbClr val="999999"/>
                  </a:solidFill>
                </a:rPr>
                <a:t>Reusable</a:t>
              </a:r>
            </a:p>
            <a:p>
              <a:endParaRPr lang="en-US" sz="1200" b="1">
                <a:solidFill>
                  <a:srgbClr val="999999"/>
                </a:solidFill>
              </a:endParaRPr>
            </a:p>
            <a:p>
              <a:r>
                <a:rPr lang="en-US" sz="1200" b="1">
                  <a:solidFill>
                    <a:srgbClr val="999999"/>
                  </a:solidFill>
                </a:rPr>
                <a:t>Ncube</a:t>
              </a:r>
            </a:p>
            <a:p>
              <a:endParaRPr lang="en-US" sz="1200" b="1">
                <a:solidFill>
                  <a:srgbClr val="999999"/>
                </a:solidFill>
              </a:endParaRPr>
            </a:p>
            <a:p>
              <a:r>
                <a:rPr lang="en-US" sz="1200" b="1">
                  <a:solidFill>
                    <a:srgbClr val="999999"/>
                  </a:solidFill>
                </a:rPr>
                <a:t>Inline ncube</a:t>
              </a:r>
            </a:p>
            <a:p>
              <a:endParaRPr lang="en-US" sz="1200" b="1">
                <a:solidFill>
                  <a:srgbClr val="999999"/>
                </a:solidFill>
              </a:endParaRPr>
            </a:p>
            <a:p>
              <a:r>
                <a:rPr lang="en-US" sz="1200" b="1">
                  <a:solidFill>
                    <a:srgbClr val="999999"/>
                  </a:solidFill>
                </a:rPr>
                <a:t>Tabular ncube</a:t>
              </a:r>
            </a:p>
            <a:p>
              <a:endParaRPr lang="en-US" sz="1200" b="1">
                <a:solidFill>
                  <a:srgbClr val="999999"/>
                </a:solidFill>
              </a:endParaRPr>
            </a:p>
            <a:p>
              <a:r>
                <a:rPr lang="en-US" sz="1200" b="1">
                  <a:solidFill>
                    <a:srgbClr val="999999"/>
                  </a:solidFill>
                </a:rPr>
                <a:t>Proprietary</a:t>
              </a:r>
            </a:p>
            <a:p>
              <a:endParaRPr lang="en-US" sz="1200" b="1">
                <a:solidFill>
                  <a:srgbClr val="999999"/>
                </a:solidFill>
              </a:endParaRPr>
            </a:p>
            <a:p>
              <a:r>
                <a:rPr lang="en-US" sz="1200" b="1">
                  <a:solidFill>
                    <a:srgbClr val="999999"/>
                  </a:solidFill>
                </a:rPr>
                <a:t>Dataset</a:t>
              </a:r>
            </a:p>
            <a:p>
              <a:endParaRPr 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219200" y="762000"/>
            <a:ext cx="6781800" cy="510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262" name="Date Placeholder 25"/>
          <p:cNvSpPr>
            <a:spLocks noGrp="1"/>
          </p:cNvSpPr>
          <p:nvPr>
            <p:ph type="dt" sz="half" idx="10"/>
          </p:nvPr>
        </p:nvSpPr>
        <p:spPr>
          <a:noFill/>
        </p:spPr>
        <p:txBody>
          <a:bodyPr/>
          <a:lstStyle/>
          <a:p>
            <a:r>
              <a:rPr lang="en-US" smtClean="0"/>
              <a:t>S04</a:t>
            </a:r>
          </a:p>
        </p:txBody>
      </p:sp>
      <p:sp>
        <p:nvSpPr>
          <p:cNvPr id="10263" name="Slide Number Placeholder 26"/>
          <p:cNvSpPr>
            <a:spLocks noGrp="1"/>
          </p:cNvSpPr>
          <p:nvPr>
            <p:ph type="sldNum" sz="quarter" idx="12"/>
          </p:nvPr>
        </p:nvSpPr>
        <p:spPr>
          <a:noFill/>
        </p:spPr>
        <p:txBody>
          <a:bodyPr/>
          <a:lstStyle/>
          <a:p>
            <a:fld id="{2091C8A5-3B57-4B26-AB83-20091D3B9CA8}" type="slidenum">
              <a:rPr lang="en-US" smtClean="0"/>
              <a:pPr/>
              <a:t>23</a:t>
            </a:fld>
            <a:endParaRPr lang="en-US" smtClean="0"/>
          </a:p>
        </p:txBody>
      </p:sp>
      <p:sp>
        <p:nvSpPr>
          <p:cNvPr id="10244" name="Content Placeholder 3"/>
          <p:cNvSpPr>
            <a:spLocks noGrp="1"/>
          </p:cNvSpPr>
          <p:nvPr>
            <p:ph idx="4294967295"/>
          </p:nvPr>
        </p:nvSpPr>
        <p:spPr>
          <a:xfrm>
            <a:off x="0" y="152400"/>
            <a:ext cx="8229600" cy="5851525"/>
          </a:xfrm>
        </p:spPr>
        <p:txBody>
          <a:bodyPr/>
          <a:lstStyle/>
          <a:p>
            <a:pPr eaLnBrk="1" hangingPunct="1">
              <a:buFontTx/>
              <a:buNone/>
            </a:pPr>
            <a:r>
              <a:rPr lang="en-US" smtClean="0"/>
              <a:t>DDI Instance</a:t>
            </a:r>
          </a:p>
        </p:txBody>
      </p:sp>
      <p:sp>
        <p:nvSpPr>
          <p:cNvPr id="10245" name="TextBox 8"/>
          <p:cNvSpPr txBox="1">
            <a:spLocks noChangeArrowheads="1"/>
          </p:cNvSpPr>
          <p:nvPr/>
        </p:nvSpPr>
        <p:spPr bwMode="auto">
          <a:xfrm>
            <a:off x="2971800" y="1143000"/>
            <a:ext cx="3124200" cy="1200150"/>
          </a:xfrm>
          <a:prstGeom prst="rect">
            <a:avLst/>
          </a:prstGeom>
          <a:noFill/>
          <a:ln w="9525">
            <a:noFill/>
            <a:miter lim="800000"/>
            <a:headEnd/>
            <a:tailEnd/>
          </a:ln>
        </p:spPr>
        <p:txBody>
          <a:bodyPr>
            <a:spAutoFit/>
          </a:bodyPr>
          <a:lstStyle/>
          <a:p>
            <a:pPr algn="ctr"/>
            <a:r>
              <a:rPr lang="en-US"/>
              <a:t>Citation </a:t>
            </a:r>
          </a:p>
          <a:p>
            <a:pPr algn="ctr"/>
            <a:r>
              <a:rPr lang="en-US"/>
              <a:t>Coverage</a:t>
            </a:r>
          </a:p>
          <a:p>
            <a:pPr algn="ctr"/>
            <a:r>
              <a:rPr lang="en-US"/>
              <a:t>Other Material / Notes</a:t>
            </a:r>
          </a:p>
          <a:p>
            <a:pPr algn="ctr"/>
            <a:r>
              <a:rPr lang="en-US"/>
              <a:t>Translation Information</a:t>
            </a:r>
          </a:p>
        </p:txBody>
      </p:sp>
      <p:sp>
        <p:nvSpPr>
          <p:cNvPr id="10" name="Rectangle 9"/>
          <p:cNvSpPr>
            <a:spLocks noChangeArrowheads="1"/>
          </p:cNvSpPr>
          <p:nvPr/>
        </p:nvSpPr>
        <p:spPr bwMode="auto">
          <a:xfrm>
            <a:off x="1981200" y="2514600"/>
            <a:ext cx="11430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2" name="Rectangle 11"/>
          <p:cNvSpPr>
            <a:spLocks noChangeArrowheads="1"/>
          </p:cNvSpPr>
          <p:nvPr/>
        </p:nvSpPr>
        <p:spPr bwMode="auto">
          <a:xfrm>
            <a:off x="4953000" y="41910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4" name="Rectangle 13"/>
          <p:cNvSpPr>
            <a:spLocks noChangeArrowheads="1"/>
          </p:cNvSpPr>
          <p:nvPr/>
        </p:nvSpPr>
        <p:spPr bwMode="auto">
          <a:xfrm>
            <a:off x="2362200" y="2819400"/>
            <a:ext cx="11430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1" name="Rectangle 10"/>
          <p:cNvSpPr>
            <a:spLocks noChangeArrowheads="1"/>
          </p:cNvSpPr>
          <p:nvPr/>
        </p:nvSpPr>
        <p:spPr bwMode="auto">
          <a:xfrm>
            <a:off x="4876800" y="2514600"/>
            <a:ext cx="11430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5" name="Rectangle 14"/>
          <p:cNvSpPr>
            <a:spLocks noChangeArrowheads="1"/>
          </p:cNvSpPr>
          <p:nvPr/>
        </p:nvSpPr>
        <p:spPr bwMode="auto">
          <a:xfrm>
            <a:off x="5181600" y="2819400"/>
            <a:ext cx="12192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3" name="Rectangle 12"/>
          <p:cNvSpPr>
            <a:spLocks noChangeArrowheads="1"/>
          </p:cNvSpPr>
          <p:nvPr/>
        </p:nvSpPr>
        <p:spPr bwMode="auto">
          <a:xfrm>
            <a:off x="5562600" y="3124200"/>
            <a:ext cx="12954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6" name="Rectangle 15"/>
          <p:cNvSpPr>
            <a:spLocks noChangeArrowheads="1"/>
          </p:cNvSpPr>
          <p:nvPr/>
        </p:nvSpPr>
        <p:spPr bwMode="auto">
          <a:xfrm>
            <a:off x="2667000" y="3124200"/>
            <a:ext cx="12954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8" name="Rectangle 17"/>
          <p:cNvSpPr>
            <a:spLocks noChangeArrowheads="1"/>
          </p:cNvSpPr>
          <p:nvPr/>
        </p:nvSpPr>
        <p:spPr bwMode="auto">
          <a:xfrm>
            <a:off x="5334000" y="44958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54" name="TextBox 5"/>
          <p:cNvSpPr txBox="1">
            <a:spLocks noChangeArrowheads="1"/>
          </p:cNvSpPr>
          <p:nvPr/>
        </p:nvSpPr>
        <p:spPr bwMode="auto">
          <a:xfrm>
            <a:off x="2667000" y="3276600"/>
            <a:ext cx="1447800" cy="369888"/>
          </a:xfrm>
          <a:prstGeom prst="rect">
            <a:avLst/>
          </a:prstGeom>
          <a:noFill/>
          <a:ln w="9525">
            <a:noFill/>
            <a:miter lim="800000"/>
            <a:headEnd/>
            <a:tailEnd/>
          </a:ln>
        </p:spPr>
        <p:txBody>
          <a:bodyPr>
            <a:spAutoFit/>
          </a:bodyPr>
          <a:lstStyle/>
          <a:p>
            <a:r>
              <a:rPr lang="en-US" dirty="0"/>
              <a:t>Study Unit</a:t>
            </a:r>
          </a:p>
        </p:txBody>
      </p:sp>
      <p:sp>
        <p:nvSpPr>
          <p:cNvPr id="10255" name="TextBox 6"/>
          <p:cNvSpPr txBox="1">
            <a:spLocks noChangeArrowheads="1"/>
          </p:cNvSpPr>
          <p:nvPr/>
        </p:nvSpPr>
        <p:spPr bwMode="auto">
          <a:xfrm>
            <a:off x="5562600" y="3276600"/>
            <a:ext cx="1295400" cy="369888"/>
          </a:xfrm>
          <a:prstGeom prst="rect">
            <a:avLst/>
          </a:prstGeom>
          <a:noFill/>
          <a:ln w="9525">
            <a:noFill/>
            <a:miter lim="800000"/>
            <a:headEnd/>
            <a:tailEnd/>
          </a:ln>
        </p:spPr>
        <p:txBody>
          <a:bodyPr>
            <a:spAutoFit/>
          </a:bodyPr>
          <a:lstStyle/>
          <a:p>
            <a:r>
              <a:rPr lang="en-US"/>
              <a:t>Group</a:t>
            </a:r>
          </a:p>
        </p:txBody>
      </p:sp>
      <p:sp>
        <p:nvSpPr>
          <p:cNvPr id="21" name="Rectangle 20"/>
          <p:cNvSpPr>
            <a:spLocks noChangeArrowheads="1"/>
          </p:cNvSpPr>
          <p:nvPr/>
        </p:nvSpPr>
        <p:spPr bwMode="auto">
          <a:xfrm>
            <a:off x="1981200" y="4191000"/>
            <a:ext cx="1143000" cy="8382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22" name="Rectangle 21"/>
          <p:cNvSpPr>
            <a:spLocks noChangeArrowheads="1"/>
          </p:cNvSpPr>
          <p:nvPr/>
        </p:nvSpPr>
        <p:spPr bwMode="auto">
          <a:xfrm>
            <a:off x="2362200" y="4419600"/>
            <a:ext cx="1143000" cy="8382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23" name="Rectangle 22"/>
          <p:cNvSpPr>
            <a:spLocks noChangeArrowheads="1"/>
          </p:cNvSpPr>
          <p:nvPr/>
        </p:nvSpPr>
        <p:spPr bwMode="auto">
          <a:xfrm>
            <a:off x="5791200" y="48006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59" name="TextBox 7"/>
          <p:cNvSpPr txBox="1">
            <a:spLocks noChangeArrowheads="1"/>
          </p:cNvSpPr>
          <p:nvPr/>
        </p:nvSpPr>
        <p:spPr bwMode="auto">
          <a:xfrm>
            <a:off x="5791200" y="4876800"/>
            <a:ext cx="1447800" cy="646113"/>
          </a:xfrm>
          <a:prstGeom prst="rect">
            <a:avLst/>
          </a:prstGeom>
          <a:noFill/>
          <a:ln w="9525">
            <a:noFill/>
            <a:miter lim="800000"/>
            <a:headEnd/>
            <a:tailEnd/>
          </a:ln>
        </p:spPr>
        <p:txBody>
          <a:bodyPr>
            <a:spAutoFit/>
          </a:bodyPr>
          <a:lstStyle/>
          <a:p>
            <a:r>
              <a:rPr lang="en-US"/>
              <a:t>Resource Package</a:t>
            </a:r>
          </a:p>
        </p:txBody>
      </p:sp>
      <p:sp>
        <p:nvSpPr>
          <p:cNvPr id="20" name="Rectangle 19"/>
          <p:cNvSpPr>
            <a:spLocks noChangeArrowheads="1"/>
          </p:cNvSpPr>
          <p:nvPr/>
        </p:nvSpPr>
        <p:spPr bwMode="auto">
          <a:xfrm>
            <a:off x="2743200" y="4724400"/>
            <a:ext cx="1295400" cy="9144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61" name="TextBox 23"/>
          <p:cNvSpPr txBox="1">
            <a:spLocks noChangeArrowheads="1"/>
          </p:cNvSpPr>
          <p:nvPr/>
        </p:nvSpPr>
        <p:spPr bwMode="auto">
          <a:xfrm>
            <a:off x="2743200" y="4724400"/>
            <a:ext cx="1219200" cy="915988"/>
          </a:xfrm>
          <a:prstGeom prst="rect">
            <a:avLst/>
          </a:prstGeom>
          <a:noFill/>
          <a:ln w="9525">
            <a:noFill/>
            <a:miter lim="800000"/>
            <a:headEnd/>
            <a:tailEnd/>
          </a:ln>
        </p:spPr>
        <p:txBody>
          <a:bodyPr>
            <a:spAutoFit/>
          </a:bodyPr>
          <a:lstStyle/>
          <a:p>
            <a:r>
              <a:rPr lang="en-US"/>
              <a:t>3.1 Local Holding Package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1066800" y="914400"/>
            <a:ext cx="7010400" cy="5029200"/>
          </a:xfrm>
          <a:prstGeom prst="rect">
            <a:avLst/>
          </a:prstGeom>
          <a:solidFill>
            <a:srgbClr val="6FB99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296" name="Date Placeholder 38"/>
          <p:cNvSpPr>
            <a:spLocks noGrp="1"/>
          </p:cNvSpPr>
          <p:nvPr>
            <p:ph type="dt" sz="half" idx="10"/>
          </p:nvPr>
        </p:nvSpPr>
        <p:spPr>
          <a:noFill/>
        </p:spPr>
        <p:txBody>
          <a:bodyPr/>
          <a:lstStyle/>
          <a:p>
            <a:r>
              <a:rPr lang="en-US" smtClean="0"/>
              <a:t>S04</a:t>
            </a:r>
          </a:p>
        </p:txBody>
      </p:sp>
      <p:sp>
        <p:nvSpPr>
          <p:cNvPr id="11297" name="Slide Number Placeholder 39"/>
          <p:cNvSpPr>
            <a:spLocks noGrp="1"/>
          </p:cNvSpPr>
          <p:nvPr>
            <p:ph type="sldNum" sz="quarter" idx="12"/>
          </p:nvPr>
        </p:nvSpPr>
        <p:spPr>
          <a:noFill/>
        </p:spPr>
        <p:txBody>
          <a:bodyPr/>
          <a:lstStyle/>
          <a:p>
            <a:fld id="{87A91AB3-5B93-48C2-A1BB-6066FB579FDE}" type="slidenum">
              <a:rPr lang="en-US" smtClean="0"/>
              <a:pPr/>
              <a:t>24</a:t>
            </a:fld>
            <a:endParaRPr lang="en-US" smtClean="0"/>
          </a:p>
        </p:txBody>
      </p:sp>
      <p:sp>
        <p:nvSpPr>
          <p:cNvPr id="11268" name="TextBox 8"/>
          <p:cNvSpPr txBox="1">
            <a:spLocks noChangeArrowheads="1"/>
          </p:cNvSpPr>
          <p:nvPr/>
        </p:nvSpPr>
        <p:spPr bwMode="auto">
          <a:xfrm>
            <a:off x="1752600" y="1143000"/>
            <a:ext cx="5562600" cy="1477963"/>
          </a:xfrm>
          <a:prstGeom prst="rect">
            <a:avLst/>
          </a:prstGeom>
          <a:noFill/>
          <a:ln w="9525">
            <a:noFill/>
            <a:miter lim="800000"/>
            <a:headEnd/>
            <a:tailEnd/>
          </a:ln>
        </p:spPr>
        <p:txBody>
          <a:bodyPr>
            <a:spAutoFit/>
          </a:bodyPr>
          <a:lstStyle/>
          <a:p>
            <a:pPr algn="ctr"/>
            <a:r>
              <a:rPr lang="en-US"/>
              <a:t>Citation / Series Statement</a:t>
            </a:r>
          </a:p>
          <a:p>
            <a:pPr algn="ctr"/>
            <a:r>
              <a:rPr lang="en-US"/>
              <a:t>Abstract / Purpose</a:t>
            </a:r>
          </a:p>
          <a:p>
            <a:pPr algn="ctr"/>
            <a:r>
              <a:rPr lang="en-US"/>
              <a:t>Coverage / Universe / Analysis Unit / Kind of Data</a:t>
            </a:r>
          </a:p>
          <a:p>
            <a:pPr algn="ctr"/>
            <a:r>
              <a:rPr lang="en-US"/>
              <a:t>Other Material / Notes</a:t>
            </a:r>
          </a:p>
          <a:p>
            <a:pPr algn="ctr"/>
            <a:r>
              <a:rPr lang="en-US"/>
              <a:t>Funding Information / Embargo</a:t>
            </a:r>
          </a:p>
        </p:txBody>
      </p:sp>
      <p:sp>
        <p:nvSpPr>
          <p:cNvPr id="12" name="Rectangle 11"/>
          <p:cNvSpPr/>
          <p:nvPr/>
        </p:nvSpPr>
        <p:spPr>
          <a:xfrm>
            <a:off x="1447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2971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724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17526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p:cNvSpPr/>
          <p:nvPr/>
        </p:nvSpPr>
        <p:spPr>
          <a:xfrm>
            <a:off x="3810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ectangle 22"/>
          <p:cNvSpPr/>
          <p:nvPr/>
        </p:nvSpPr>
        <p:spPr>
          <a:xfrm>
            <a:off x="5715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1524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a:off x="3048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800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6248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6324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1600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3124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876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6400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18288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57912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ectangle 35"/>
          <p:cNvSpPr/>
          <p:nvPr/>
        </p:nvSpPr>
        <p:spPr>
          <a:xfrm>
            <a:off x="1905000" y="4343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58674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288" name="TextBox 38"/>
          <p:cNvSpPr txBox="1">
            <a:spLocks noChangeArrowheads="1"/>
          </p:cNvSpPr>
          <p:nvPr/>
        </p:nvSpPr>
        <p:spPr bwMode="auto">
          <a:xfrm>
            <a:off x="1600200" y="3048000"/>
            <a:ext cx="1200150" cy="523875"/>
          </a:xfrm>
          <a:prstGeom prst="rect">
            <a:avLst/>
          </a:prstGeom>
          <a:noFill/>
          <a:ln w="9525">
            <a:noFill/>
            <a:miter lim="800000"/>
            <a:headEnd/>
            <a:tailEnd/>
          </a:ln>
        </p:spPr>
        <p:txBody>
          <a:bodyPr wrap="none">
            <a:spAutoFit/>
          </a:bodyPr>
          <a:lstStyle/>
          <a:p>
            <a:r>
              <a:rPr lang="en-US" sz="1400"/>
              <a:t>Conceptual </a:t>
            </a:r>
          </a:p>
          <a:p>
            <a:r>
              <a:rPr lang="en-US" sz="1400"/>
              <a:t>Components</a:t>
            </a:r>
          </a:p>
        </p:txBody>
      </p:sp>
      <p:sp>
        <p:nvSpPr>
          <p:cNvPr id="11289" name="TextBox 40"/>
          <p:cNvSpPr txBox="1">
            <a:spLocks noChangeArrowheads="1"/>
          </p:cNvSpPr>
          <p:nvPr/>
        </p:nvSpPr>
        <p:spPr bwMode="auto">
          <a:xfrm>
            <a:off x="3124200" y="3048000"/>
            <a:ext cx="971550" cy="523875"/>
          </a:xfrm>
          <a:prstGeom prst="rect">
            <a:avLst/>
          </a:prstGeom>
          <a:noFill/>
          <a:ln w="9525">
            <a:noFill/>
            <a:miter lim="800000"/>
            <a:headEnd/>
            <a:tailEnd/>
          </a:ln>
        </p:spPr>
        <p:txBody>
          <a:bodyPr wrap="none">
            <a:spAutoFit/>
          </a:bodyPr>
          <a:lstStyle/>
          <a:p>
            <a:r>
              <a:rPr lang="en-US" sz="1400"/>
              <a:t>Data</a:t>
            </a:r>
          </a:p>
          <a:p>
            <a:r>
              <a:rPr lang="en-US" sz="1400"/>
              <a:t>Collection</a:t>
            </a:r>
          </a:p>
        </p:txBody>
      </p:sp>
      <p:sp>
        <p:nvSpPr>
          <p:cNvPr id="11290" name="TextBox 41"/>
          <p:cNvSpPr txBox="1">
            <a:spLocks noChangeArrowheads="1"/>
          </p:cNvSpPr>
          <p:nvPr/>
        </p:nvSpPr>
        <p:spPr bwMode="auto">
          <a:xfrm>
            <a:off x="4876800" y="3048000"/>
            <a:ext cx="801688" cy="523875"/>
          </a:xfrm>
          <a:prstGeom prst="rect">
            <a:avLst/>
          </a:prstGeom>
          <a:noFill/>
          <a:ln w="9525">
            <a:noFill/>
            <a:miter lim="800000"/>
            <a:headEnd/>
            <a:tailEnd/>
          </a:ln>
        </p:spPr>
        <p:txBody>
          <a:bodyPr wrap="none">
            <a:spAutoFit/>
          </a:bodyPr>
          <a:lstStyle/>
          <a:p>
            <a:r>
              <a:rPr lang="en-US" sz="1400"/>
              <a:t>Logical</a:t>
            </a:r>
          </a:p>
          <a:p>
            <a:r>
              <a:rPr lang="en-US" sz="1400"/>
              <a:t>Product</a:t>
            </a:r>
          </a:p>
        </p:txBody>
      </p:sp>
      <p:sp>
        <p:nvSpPr>
          <p:cNvPr id="11291" name="TextBox 42"/>
          <p:cNvSpPr txBox="1">
            <a:spLocks noChangeArrowheads="1"/>
          </p:cNvSpPr>
          <p:nvPr/>
        </p:nvSpPr>
        <p:spPr bwMode="auto">
          <a:xfrm>
            <a:off x="6400800" y="3048000"/>
            <a:ext cx="1276350" cy="738188"/>
          </a:xfrm>
          <a:prstGeom prst="rect">
            <a:avLst/>
          </a:prstGeom>
          <a:noFill/>
          <a:ln w="9525">
            <a:noFill/>
            <a:miter lim="800000"/>
            <a:headEnd/>
            <a:tailEnd/>
          </a:ln>
        </p:spPr>
        <p:txBody>
          <a:bodyPr>
            <a:spAutoFit/>
          </a:bodyPr>
          <a:lstStyle/>
          <a:p>
            <a:r>
              <a:rPr lang="en-US" sz="1400"/>
              <a:t>Physical</a:t>
            </a:r>
          </a:p>
          <a:p>
            <a:r>
              <a:rPr lang="en-US" sz="1400"/>
              <a:t>Data</a:t>
            </a:r>
          </a:p>
          <a:p>
            <a:r>
              <a:rPr lang="en-US" sz="1400"/>
              <a:t>Product</a:t>
            </a:r>
          </a:p>
        </p:txBody>
      </p:sp>
      <p:sp>
        <p:nvSpPr>
          <p:cNvPr id="11292" name="TextBox 43"/>
          <p:cNvSpPr txBox="1">
            <a:spLocks noChangeArrowheads="1"/>
          </p:cNvSpPr>
          <p:nvPr/>
        </p:nvSpPr>
        <p:spPr bwMode="auto">
          <a:xfrm>
            <a:off x="1905000" y="4419600"/>
            <a:ext cx="903288" cy="523875"/>
          </a:xfrm>
          <a:prstGeom prst="rect">
            <a:avLst/>
          </a:prstGeom>
          <a:noFill/>
          <a:ln w="9525">
            <a:noFill/>
            <a:miter lim="800000"/>
            <a:headEnd/>
            <a:tailEnd/>
          </a:ln>
        </p:spPr>
        <p:txBody>
          <a:bodyPr wrap="none">
            <a:spAutoFit/>
          </a:bodyPr>
          <a:lstStyle/>
          <a:p>
            <a:r>
              <a:rPr lang="en-US" sz="1400"/>
              <a:t>Physical </a:t>
            </a:r>
          </a:p>
          <a:p>
            <a:r>
              <a:rPr lang="en-US" sz="1400"/>
              <a:t>Instance</a:t>
            </a:r>
          </a:p>
        </p:txBody>
      </p:sp>
      <p:sp>
        <p:nvSpPr>
          <p:cNvPr id="11293" name="TextBox 44"/>
          <p:cNvSpPr txBox="1">
            <a:spLocks noChangeArrowheads="1"/>
          </p:cNvSpPr>
          <p:nvPr/>
        </p:nvSpPr>
        <p:spPr bwMode="auto">
          <a:xfrm>
            <a:off x="3962400" y="4343400"/>
            <a:ext cx="782638" cy="307975"/>
          </a:xfrm>
          <a:prstGeom prst="rect">
            <a:avLst/>
          </a:prstGeom>
          <a:noFill/>
          <a:ln w="9525">
            <a:noFill/>
            <a:miter lim="800000"/>
            <a:headEnd/>
            <a:tailEnd/>
          </a:ln>
        </p:spPr>
        <p:txBody>
          <a:bodyPr wrap="none">
            <a:spAutoFit/>
          </a:bodyPr>
          <a:lstStyle/>
          <a:p>
            <a:r>
              <a:rPr lang="en-US" sz="1400"/>
              <a:t>Archive</a:t>
            </a:r>
          </a:p>
        </p:txBody>
      </p:sp>
      <p:sp>
        <p:nvSpPr>
          <p:cNvPr id="11294" name="TextBox 45"/>
          <p:cNvSpPr txBox="1">
            <a:spLocks noChangeArrowheads="1"/>
          </p:cNvSpPr>
          <p:nvPr/>
        </p:nvSpPr>
        <p:spPr bwMode="auto">
          <a:xfrm>
            <a:off x="5867400" y="4343400"/>
            <a:ext cx="692150" cy="523875"/>
          </a:xfrm>
          <a:prstGeom prst="rect">
            <a:avLst/>
          </a:prstGeom>
          <a:noFill/>
          <a:ln w="9525">
            <a:noFill/>
            <a:miter lim="800000"/>
            <a:headEnd/>
            <a:tailEnd/>
          </a:ln>
        </p:spPr>
        <p:txBody>
          <a:bodyPr wrap="none">
            <a:spAutoFit/>
          </a:bodyPr>
          <a:lstStyle/>
          <a:p>
            <a:r>
              <a:rPr lang="en-US" sz="1400"/>
              <a:t>DDI </a:t>
            </a:r>
          </a:p>
          <a:p>
            <a:r>
              <a:rPr lang="en-US" sz="1400"/>
              <a:t>Profile</a:t>
            </a:r>
          </a:p>
        </p:txBody>
      </p:sp>
      <p:sp>
        <p:nvSpPr>
          <p:cNvPr id="11295" name="Text Box 32"/>
          <p:cNvSpPr txBox="1">
            <a:spLocks noChangeArrowheads="1"/>
          </p:cNvSpPr>
          <p:nvPr/>
        </p:nvSpPr>
        <p:spPr bwMode="auto">
          <a:xfrm>
            <a:off x="1050925" y="92075"/>
            <a:ext cx="2057400" cy="579438"/>
          </a:xfrm>
          <a:prstGeom prst="rect">
            <a:avLst/>
          </a:prstGeom>
          <a:noFill/>
          <a:ln w="9525">
            <a:noFill/>
            <a:miter lim="800000"/>
            <a:headEnd/>
            <a:tailEnd/>
          </a:ln>
        </p:spPr>
        <p:txBody>
          <a:bodyPr wrap="none">
            <a:spAutoFit/>
          </a:bodyPr>
          <a:lstStyle/>
          <a:p>
            <a:r>
              <a:rPr lang="en-US" sz="3200"/>
              <a:t>Study Unit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5105400"/>
          </a:xfrm>
          <a:prstGeom prst="rect">
            <a:avLst/>
          </a:prstGeom>
          <a:solidFill>
            <a:srgbClr val="6769B9"/>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2328" name="Date Placeholder 42"/>
          <p:cNvSpPr>
            <a:spLocks noGrp="1"/>
          </p:cNvSpPr>
          <p:nvPr>
            <p:ph type="dt" sz="half" idx="10"/>
          </p:nvPr>
        </p:nvSpPr>
        <p:spPr>
          <a:noFill/>
        </p:spPr>
        <p:txBody>
          <a:bodyPr/>
          <a:lstStyle/>
          <a:p>
            <a:r>
              <a:rPr lang="en-US" smtClean="0"/>
              <a:t>S04</a:t>
            </a:r>
          </a:p>
        </p:txBody>
      </p:sp>
      <p:sp>
        <p:nvSpPr>
          <p:cNvPr id="12329" name="Slide Number Placeholder 43"/>
          <p:cNvSpPr>
            <a:spLocks noGrp="1"/>
          </p:cNvSpPr>
          <p:nvPr>
            <p:ph type="sldNum" sz="quarter" idx="12"/>
          </p:nvPr>
        </p:nvSpPr>
        <p:spPr>
          <a:noFill/>
        </p:spPr>
        <p:txBody>
          <a:bodyPr/>
          <a:lstStyle/>
          <a:p>
            <a:fld id="{EC10F534-F79E-4CAD-8C3A-A98E4B46B41D}" type="slidenum">
              <a:rPr lang="en-US" smtClean="0"/>
              <a:pPr/>
              <a:t>25</a:t>
            </a:fld>
            <a:endParaRPr lang="en-US" smtClean="0"/>
          </a:p>
        </p:txBody>
      </p:sp>
      <p:sp>
        <p:nvSpPr>
          <p:cNvPr id="12292" name="Content Placeholder 3"/>
          <p:cNvSpPr>
            <a:spLocks noGrp="1"/>
          </p:cNvSpPr>
          <p:nvPr>
            <p:ph idx="4294967295"/>
          </p:nvPr>
        </p:nvSpPr>
        <p:spPr>
          <a:xfrm>
            <a:off x="0" y="152400"/>
            <a:ext cx="8229600" cy="5851525"/>
          </a:xfrm>
        </p:spPr>
        <p:txBody>
          <a:bodyPr/>
          <a:lstStyle/>
          <a:p>
            <a:pPr eaLnBrk="1" hangingPunct="1">
              <a:buFontTx/>
              <a:buNone/>
            </a:pPr>
            <a:r>
              <a:rPr lang="en-US" smtClean="0"/>
              <a:t>Group</a:t>
            </a:r>
          </a:p>
        </p:txBody>
      </p:sp>
      <p:sp>
        <p:nvSpPr>
          <p:cNvPr id="12" name="Rectangle 11"/>
          <p:cNvSpPr/>
          <p:nvPr/>
        </p:nvSpPr>
        <p:spPr>
          <a:xfrm>
            <a:off x="1447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2971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724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13716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p:cNvSpPr/>
          <p:nvPr/>
        </p:nvSpPr>
        <p:spPr>
          <a:xfrm>
            <a:off x="4038600" y="5181600"/>
            <a:ext cx="1143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ectangle 22"/>
          <p:cNvSpPr/>
          <p:nvPr/>
        </p:nvSpPr>
        <p:spPr>
          <a:xfrm>
            <a:off x="62484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1524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a:off x="3048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800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6248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6324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1600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3124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876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6400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14478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63246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ectangle 35"/>
          <p:cNvSpPr/>
          <p:nvPr/>
        </p:nvSpPr>
        <p:spPr>
          <a:xfrm>
            <a:off x="16002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64770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12" name="TextBox 38"/>
          <p:cNvSpPr txBox="1">
            <a:spLocks noChangeArrowheads="1"/>
          </p:cNvSpPr>
          <p:nvPr/>
        </p:nvSpPr>
        <p:spPr bwMode="auto">
          <a:xfrm>
            <a:off x="1600200" y="3048000"/>
            <a:ext cx="1200150" cy="523875"/>
          </a:xfrm>
          <a:prstGeom prst="rect">
            <a:avLst/>
          </a:prstGeom>
          <a:noFill/>
          <a:ln w="9525">
            <a:noFill/>
            <a:miter lim="800000"/>
            <a:headEnd/>
            <a:tailEnd/>
          </a:ln>
        </p:spPr>
        <p:txBody>
          <a:bodyPr wrap="none">
            <a:spAutoFit/>
          </a:bodyPr>
          <a:lstStyle/>
          <a:p>
            <a:r>
              <a:rPr lang="en-US" sz="1400"/>
              <a:t>Conceptual </a:t>
            </a:r>
          </a:p>
          <a:p>
            <a:r>
              <a:rPr lang="en-US" sz="1400"/>
              <a:t>Components</a:t>
            </a:r>
          </a:p>
        </p:txBody>
      </p:sp>
      <p:sp>
        <p:nvSpPr>
          <p:cNvPr id="12313" name="TextBox 40"/>
          <p:cNvSpPr txBox="1">
            <a:spLocks noChangeArrowheads="1"/>
          </p:cNvSpPr>
          <p:nvPr/>
        </p:nvSpPr>
        <p:spPr bwMode="auto">
          <a:xfrm>
            <a:off x="3124200" y="3048000"/>
            <a:ext cx="971550" cy="523875"/>
          </a:xfrm>
          <a:prstGeom prst="rect">
            <a:avLst/>
          </a:prstGeom>
          <a:noFill/>
          <a:ln w="9525">
            <a:noFill/>
            <a:miter lim="800000"/>
            <a:headEnd/>
            <a:tailEnd/>
          </a:ln>
        </p:spPr>
        <p:txBody>
          <a:bodyPr wrap="none">
            <a:spAutoFit/>
          </a:bodyPr>
          <a:lstStyle/>
          <a:p>
            <a:r>
              <a:rPr lang="en-US" sz="1400"/>
              <a:t>Data</a:t>
            </a:r>
          </a:p>
          <a:p>
            <a:r>
              <a:rPr lang="en-US" sz="1400"/>
              <a:t>Collection</a:t>
            </a:r>
          </a:p>
        </p:txBody>
      </p:sp>
      <p:sp>
        <p:nvSpPr>
          <p:cNvPr id="12314" name="TextBox 41"/>
          <p:cNvSpPr txBox="1">
            <a:spLocks noChangeArrowheads="1"/>
          </p:cNvSpPr>
          <p:nvPr/>
        </p:nvSpPr>
        <p:spPr bwMode="auto">
          <a:xfrm>
            <a:off x="4876800" y="3048000"/>
            <a:ext cx="801688" cy="523875"/>
          </a:xfrm>
          <a:prstGeom prst="rect">
            <a:avLst/>
          </a:prstGeom>
          <a:noFill/>
          <a:ln w="9525">
            <a:noFill/>
            <a:miter lim="800000"/>
            <a:headEnd/>
            <a:tailEnd/>
          </a:ln>
        </p:spPr>
        <p:txBody>
          <a:bodyPr wrap="none">
            <a:spAutoFit/>
          </a:bodyPr>
          <a:lstStyle/>
          <a:p>
            <a:r>
              <a:rPr lang="en-US" sz="1400"/>
              <a:t>Logical</a:t>
            </a:r>
          </a:p>
          <a:p>
            <a:r>
              <a:rPr lang="en-US" sz="1400"/>
              <a:t>Product</a:t>
            </a:r>
          </a:p>
        </p:txBody>
      </p:sp>
      <p:sp>
        <p:nvSpPr>
          <p:cNvPr id="12315" name="TextBox 42"/>
          <p:cNvSpPr txBox="1">
            <a:spLocks noChangeArrowheads="1"/>
          </p:cNvSpPr>
          <p:nvPr/>
        </p:nvSpPr>
        <p:spPr bwMode="auto">
          <a:xfrm>
            <a:off x="6400800" y="3048000"/>
            <a:ext cx="1276350" cy="738188"/>
          </a:xfrm>
          <a:prstGeom prst="rect">
            <a:avLst/>
          </a:prstGeom>
          <a:noFill/>
          <a:ln w="9525">
            <a:noFill/>
            <a:miter lim="800000"/>
            <a:headEnd/>
            <a:tailEnd/>
          </a:ln>
        </p:spPr>
        <p:txBody>
          <a:bodyPr>
            <a:spAutoFit/>
          </a:bodyPr>
          <a:lstStyle/>
          <a:p>
            <a:r>
              <a:rPr lang="en-US" sz="1400"/>
              <a:t>Physical</a:t>
            </a:r>
          </a:p>
          <a:p>
            <a:r>
              <a:rPr lang="en-US" sz="1400"/>
              <a:t>Data</a:t>
            </a:r>
          </a:p>
          <a:p>
            <a:r>
              <a:rPr lang="en-US" sz="1400"/>
              <a:t>Product</a:t>
            </a:r>
          </a:p>
        </p:txBody>
      </p:sp>
      <p:sp>
        <p:nvSpPr>
          <p:cNvPr id="12316" name="TextBox 43"/>
          <p:cNvSpPr txBox="1">
            <a:spLocks noChangeArrowheads="1"/>
          </p:cNvSpPr>
          <p:nvPr/>
        </p:nvSpPr>
        <p:spPr bwMode="auto">
          <a:xfrm>
            <a:off x="1600200" y="4343400"/>
            <a:ext cx="1050925" cy="307975"/>
          </a:xfrm>
          <a:prstGeom prst="rect">
            <a:avLst/>
          </a:prstGeom>
          <a:noFill/>
          <a:ln w="9525">
            <a:noFill/>
            <a:miter lim="800000"/>
            <a:headEnd/>
            <a:tailEnd/>
          </a:ln>
        </p:spPr>
        <p:txBody>
          <a:bodyPr wrap="none">
            <a:spAutoFit/>
          </a:bodyPr>
          <a:lstStyle/>
          <a:p>
            <a:r>
              <a:rPr lang="en-US" sz="1400"/>
              <a:t>Sub Group</a:t>
            </a:r>
          </a:p>
        </p:txBody>
      </p:sp>
      <p:sp>
        <p:nvSpPr>
          <p:cNvPr id="12317" name="TextBox 44"/>
          <p:cNvSpPr txBox="1">
            <a:spLocks noChangeArrowheads="1"/>
          </p:cNvSpPr>
          <p:nvPr/>
        </p:nvSpPr>
        <p:spPr bwMode="auto">
          <a:xfrm>
            <a:off x="4191000" y="5334000"/>
            <a:ext cx="782638" cy="307975"/>
          </a:xfrm>
          <a:prstGeom prst="rect">
            <a:avLst/>
          </a:prstGeom>
          <a:noFill/>
          <a:ln w="9525">
            <a:noFill/>
            <a:miter lim="800000"/>
            <a:headEnd/>
            <a:tailEnd/>
          </a:ln>
        </p:spPr>
        <p:txBody>
          <a:bodyPr wrap="none">
            <a:spAutoFit/>
          </a:bodyPr>
          <a:lstStyle/>
          <a:p>
            <a:r>
              <a:rPr lang="en-US" sz="1400"/>
              <a:t>Archive</a:t>
            </a:r>
          </a:p>
        </p:txBody>
      </p:sp>
      <p:sp>
        <p:nvSpPr>
          <p:cNvPr id="12318" name="TextBox 45"/>
          <p:cNvSpPr txBox="1">
            <a:spLocks noChangeArrowheads="1"/>
          </p:cNvSpPr>
          <p:nvPr/>
        </p:nvSpPr>
        <p:spPr bwMode="auto">
          <a:xfrm>
            <a:off x="6629400" y="4267200"/>
            <a:ext cx="692150" cy="523875"/>
          </a:xfrm>
          <a:prstGeom prst="rect">
            <a:avLst/>
          </a:prstGeom>
          <a:noFill/>
          <a:ln w="9525">
            <a:noFill/>
            <a:miter lim="800000"/>
            <a:headEnd/>
            <a:tailEnd/>
          </a:ln>
        </p:spPr>
        <p:txBody>
          <a:bodyPr wrap="none">
            <a:spAutoFit/>
          </a:bodyPr>
          <a:lstStyle/>
          <a:p>
            <a:r>
              <a:rPr lang="en-US" sz="1400"/>
              <a:t>DDI </a:t>
            </a:r>
          </a:p>
          <a:p>
            <a:r>
              <a:rPr lang="en-US" sz="1400"/>
              <a:t>Profile</a:t>
            </a:r>
          </a:p>
        </p:txBody>
      </p:sp>
      <p:sp>
        <p:nvSpPr>
          <p:cNvPr id="12319" name="TextBox 33"/>
          <p:cNvSpPr txBox="1">
            <a:spLocks noChangeArrowheads="1"/>
          </p:cNvSpPr>
          <p:nvPr/>
        </p:nvSpPr>
        <p:spPr bwMode="auto">
          <a:xfrm>
            <a:off x="1905000" y="1143000"/>
            <a:ext cx="5562600" cy="1477963"/>
          </a:xfrm>
          <a:prstGeom prst="rect">
            <a:avLst/>
          </a:prstGeom>
          <a:noFill/>
          <a:ln w="9525">
            <a:noFill/>
            <a:miter lim="800000"/>
            <a:headEnd/>
            <a:tailEnd/>
          </a:ln>
        </p:spPr>
        <p:txBody>
          <a:bodyPr>
            <a:spAutoFit/>
          </a:bodyPr>
          <a:lstStyle/>
          <a:p>
            <a:pPr algn="ctr"/>
            <a:r>
              <a:rPr lang="en-US"/>
              <a:t>Citation / Series Statement</a:t>
            </a:r>
          </a:p>
          <a:p>
            <a:pPr algn="ctr"/>
            <a:r>
              <a:rPr lang="en-US"/>
              <a:t>Abstract / Purpose</a:t>
            </a:r>
          </a:p>
          <a:p>
            <a:pPr algn="ctr"/>
            <a:r>
              <a:rPr lang="en-US"/>
              <a:t>Coverage / Universe</a:t>
            </a:r>
          </a:p>
          <a:p>
            <a:pPr algn="ctr"/>
            <a:r>
              <a:rPr lang="en-US"/>
              <a:t>Other Material / Notes</a:t>
            </a:r>
          </a:p>
          <a:p>
            <a:pPr algn="ctr"/>
            <a:r>
              <a:rPr lang="en-US"/>
              <a:t>Funding Information / Embargo</a:t>
            </a:r>
          </a:p>
        </p:txBody>
      </p:sp>
      <p:sp>
        <p:nvSpPr>
          <p:cNvPr id="37" name="Rectangle 36"/>
          <p:cNvSpPr/>
          <p:nvPr/>
        </p:nvSpPr>
        <p:spPr>
          <a:xfrm>
            <a:off x="28956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3048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7" name="Rectangle 46"/>
          <p:cNvSpPr/>
          <p:nvPr/>
        </p:nvSpPr>
        <p:spPr>
          <a:xfrm>
            <a:off x="32004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 name="Rectangle 47"/>
          <p:cNvSpPr/>
          <p:nvPr/>
        </p:nvSpPr>
        <p:spPr>
          <a:xfrm>
            <a:off x="46482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9" name="Rectangle 48"/>
          <p:cNvSpPr/>
          <p:nvPr/>
        </p:nvSpPr>
        <p:spPr>
          <a:xfrm>
            <a:off x="48006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0" name="Rectangle 49"/>
          <p:cNvSpPr/>
          <p:nvPr/>
        </p:nvSpPr>
        <p:spPr>
          <a:xfrm>
            <a:off x="49530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26" name="TextBox 51"/>
          <p:cNvSpPr txBox="1">
            <a:spLocks noChangeArrowheads="1"/>
          </p:cNvSpPr>
          <p:nvPr/>
        </p:nvSpPr>
        <p:spPr bwMode="auto">
          <a:xfrm>
            <a:off x="3200400" y="4419600"/>
            <a:ext cx="1011238" cy="307975"/>
          </a:xfrm>
          <a:prstGeom prst="rect">
            <a:avLst/>
          </a:prstGeom>
          <a:noFill/>
          <a:ln w="9525">
            <a:noFill/>
            <a:miter lim="800000"/>
            <a:headEnd/>
            <a:tailEnd/>
          </a:ln>
        </p:spPr>
        <p:txBody>
          <a:bodyPr wrap="none">
            <a:spAutoFit/>
          </a:bodyPr>
          <a:lstStyle/>
          <a:p>
            <a:r>
              <a:rPr lang="en-US" sz="1400"/>
              <a:t>Study Unit</a:t>
            </a:r>
          </a:p>
        </p:txBody>
      </p:sp>
      <p:sp>
        <p:nvSpPr>
          <p:cNvPr id="12327" name="TextBox 52"/>
          <p:cNvSpPr txBox="1">
            <a:spLocks noChangeArrowheads="1"/>
          </p:cNvSpPr>
          <p:nvPr/>
        </p:nvSpPr>
        <p:spPr bwMode="auto">
          <a:xfrm>
            <a:off x="4953000" y="4419600"/>
            <a:ext cx="1149350" cy="307975"/>
          </a:xfrm>
          <a:prstGeom prst="rect">
            <a:avLst/>
          </a:prstGeom>
          <a:noFill/>
          <a:ln w="9525">
            <a:noFill/>
            <a:miter lim="800000"/>
            <a:headEnd/>
            <a:tailEnd/>
          </a:ln>
        </p:spPr>
        <p:txBody>
          <a:bodyPr wrap="none">
            <a:spAutoFit/>
          </a:bodyPr>
          <a:lstStyle/>
          <a:p>
            <a:r>
              <a:rPr lang="en-US" sz="1400"/>
              <a:t>Comparison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5105400"/>
          </a:xfrm>
          <a:prstGeom prst="rect">
            <a:avLst/>
          </a:prstGeom>
          <a:solidFill>
            <a:srgbClr val="CCBD4C"/>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3326" name="Date Placeholder 20"/>
          <p:cNvSpPr>
            <a:spLocks noGrp="1"/>
          </p:cNvSpPr>
          <p:nvPr>
            <p:ph type="dt" sz="half" idx="10"/>
          </p:nvPr>
        </p:nvSpPr>
        <p:spPr>
          <a:noFill/>
        </p:spPr>
        <p:txBody>
          <a:bodyPr/>
          <a:lstStyle/>
          <a:p>
            <a:r>
              <a:rPr lang="en-US" smtClean="0"/>
              <a:t>S04</a:t>
            </a:r>
          </a:p>
        </p:txBody>
      </p:sp>
      <p:sp>
        <p:nvSpPr>
          <p:cNvPr id="13327" name="Slide Number Placeholder 21"/>
          <p:cNvSpPr>
            <a:spLocks noGrp="1"/>
          </p:cNvSpPr>
          <p:nvPr>
            <p:ph type="sldNum" sz="quarter" idx="12"/>
          </p:nvPr>
        </p:nvSpPr>
        <p:spPr>
          <a:noFill/>
        </p:spPr>
        <p:txBody>
          <a:bodyPr/>
          <a:lstStyle/>
          <a:p>
            <a:fld id="{2F918004-EAC8-4341-9F45-F4BBE27A1169}" type="slidenum">
              <a:rPr lang="en-US" smtClean="0"/>
              <a:pPr/>
              <a:t>26</a:t>
            </a:fld>
            <a:endParaRPr lang="en-US" smtClean="0"/>
          </a:p>
        </p:txBody>
      </p:sp>
      <p:sp>
        <p:nvSpPr>
          <p:cNvPr id="13316" name="Content Placeholder 3"/>
          <p:cNvSpPr>
            <a:spLocks noGrp="1"/>
          </p:cNvSpPr>
          <p:nvPr>
            <p:ph idx="4294967295"/>
          </p:nvPr>
        </p:nvSpPr>
        <p:spPr>
          <a:xfrm>
            <a:off x="914400" y="228600"/>
            <a:ext cx="8229600" cy="5791200"/>
          </a:xfrm>
        </p:spPr>
        <p:txBody>
          <a:bodyPr/>
          <a:lstStyle/>
          <a:p>
            <a:pPr eaLnBrk="1" hangingPunct="1">
              <a:buFontTx/>
              <a:buNone/>
            </a:pPr>
            <a:r>
              <a:rPr lang="en-US" smtClean="0"/>
              <a:t>Resource Package</a:t>
            </a:r>
          </a:p>
        </p:txBody>
      </p:sp>
      <p:sp>
        <p:nvSpPr>
          <p:cNvPr id="10" name="Rectangle 9"/>
          <p:cNvSpPr/>
          <p:nvPr/>
        </p:nvSpPr>
        <p:spPr>
          <a:xfrm>
            <a:off x="1524000" y="2438400"/>
            <a:ext cx="19812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4648200" y="2438400"/>
            <a:ext cx="21336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1676400" y="2590800"/>
            <a:ext cx="20574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1828800" y="2743200"/>
            <a:ext cx="2209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4800600" y="2590800"/>
            <a:ext cx="2133600" cy="281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953000" y="2743200"/>
            <a:ext cx="2209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23" name="TextBox 5"/>
          <p:cNvSpPr txBox="1">
            <a:spLocks noChangeArrowheads="1"/>
          </p:cNvSpPr>
          <p:nvPr/>
        </p:nvSpPr>
        <p:spPr bwMode="auto">
          <a:xfrm>
            <a:off x="1905000" y="2895600"/>
            <a:ext cx="1828800" cy="2032000"/>
          </a:xfrm>
          <a:prstGeom prst="rect">
            <a:avLst/>
          </a:prstGeom>
          <a:noFill/>
          <a:ln w="9525">
            <a:noFill/>
            <a:miter lim="800000"/>
            <a:headEnd/>
            <a:tailEnd/>
          </a:ln>
        </p:spPr>
        <p:txBody>
          <a:bodyPr>
            <a:spAutoFit/>
          </a:bodyPr>
          <a:lstStyle/>
          <a:p>
            <a:r>
              <a:rPr lang="en-US"/>
              <a:t>Any module </a:t>
            </a:r>
          </a:p>
          <a:p>
            <a:r>
              <a:rPr lang="en-US" b="1"/>
              <a:t>EXCEPT</a:t>
            </a:r>
          </a:p>
          <a:p>
            <a:r>
              <a:rPr lang="en-US"/>
              <a:t>Study Unit, </a:t>
            </a:r>
          </a:p>
          <a:p>
            <a:r>
              <a:rPr lang="en-US"/>
              <a:t>Group</a:t>
            </a:r>
          </a:p>
          <a:p>
            <a:r>
              <a:rPr lang="en-US"/>
              <a:t>Or</a:t>
            </a:r>
          </a:p>
          <a:p>
            <a:r>
              <a:rPr lang="en-US"/>
              <a:t>Local Holding Package</a:t>
            </a:r>
          </a:p>
        </p:txBody>
      </p:sp>
      <p:sp>
        <p:nvSpPr>
          <p:cNvPr id="13324" name="TextBox 6"/>
          <p:cNvSpPr txBox="1">
            <a:spLocks noChangeArrowheads="1"/>
          </p:cNvSpPr>
          <p:nvPr/>
        </p:nvSpPr>
        <p:spPr bwMode="auto">
          <a:xfrm>
            <a:off x="4953000" y="2743200"/>
            <a:ext cx="2133600" cy="2954338"/>
          </a:xfrm>
          <a:prstGeom prst="rect">
            <a:avLst/>
          </a:prstGeom>
          <a:noFill/>
          <a:ln w="9525">
            <a:noFill/>
            <a:miter lim="800000"/>
            <a:headEnd/>
            <a:tailEnd/>
          </a:ln>
        </p:spPr>
        <p:txBody>
          <a:bodyPr>
            <a:spAutoFit/>
          </a:bodyPr>
          <a:lstStyle/>
          <a:p>
            <a:r>
              <a:rPr lang="en-US" b="1"/>
              <a:t>Any Scheme:</a:t>
            </a:r>
          </a:p>
          <a:p>
            <a:r>
              <a:rPr lang="en-US" sz="1200"/>
              <a:t>Organization</a:t>
            </a:r>
          </a:p>
          <a:p>
            <a:r>
              <a:rPr lang="en-US" sz="1200"/>
              <a:t>Concept</a:t>
            </a:r>
          </a:p>
          <a:p>
            <a:r>
              <a:rPr lang="en-US" sz="1200"/>
              <a:t>Universe</a:t>
            </a:r>
          </a:p>
          <a:p>
            <a:r>
              <a:rPr lang="en-US" sz="1200"/>
              <a:t>Geographic Structure Geographic Location Question</a:t>
            </a:r>
          </a:p>
          <a:p>
            <a:r>
              <a:rPr lang="en-US" sz="1200"/>
              <a:t>Interviewer Instruction</a:t>
            </a:r>
          </a:p>
          <a:p>
            <a:r>
              <a:rPr lang="en-US" sz="1200"/>
              <a:t>Control Construct </a:t>
            </a:r>
          </a:p>
          <a:p>
            <a:r>
              <a:rPr lang="en-US" sz="1200"/>
              <a:t>Category</a:t>
            </a:r>
          </a:p>
          <a:p>
            <a:r>
              <a:rPr lang="en-US" sz="1200"/>
              <a:t>Code</a:t>
            </a:r>
          </a:p>
          <a:p>
            <a:r>
              <a:rPr lang="en-US" sz="1200"/>
              <a:t>Variable</a:t>
            </a:r>
          </a:p>
          <a:p>
            <a:r>
              <a:rPr lang="en-US" sz="1200"/>
              <a:t>NCube</a:t>
            </a:r>
          </a:p>
          <a:p>
            <a:r>
              <a:rPr lang="en-US" sz="1200"/>
              <a:t>Physical Structure</a:t>
            </a:r>
          </a:p>
          <a:p>
            <a:r>
              <a:rPr lang="en-US" sz="1200"/>
              <a:t>Record Layout </a:t>
            </a:r>
          </a:p>
        </p:txBody>
      </p:sp>
      <p:sp>
        <p:nvSpPr>
          <p:cNvPr id="13325" name="TextBox 20"/>
          <p:cNvSpPr txBox="1">
            <a:spLocks noChangeArrowheads="1"/>
          </p:cNvSpPr>
          <p:nvPr/>
        </p:nvSpPr>
        <p:spPr bwMode="auto">
          <a:xfrm>
            <a:off x="1752600" y="990600"/>
            <a:ext cx="5562600" cy="1465263"/>
          </a:xfrm>
          <a:prstGeom prst="rect">
            <a:avLst/>
          </a:prstGeom>
          <a:noFill/>
          <a:ln w="9525">
            <a:noFill/>
            <a:miter lim="800000"/>
            <a:headEnd/>
            <a:tailEnd/>
          </a:ln>
        </p:spPr>
        <p:txBody>
          <a:bodyPr>
            <a:spAutoFit/>
          </a:bodyPr>
          <a:lstStyle/>
          <a:p>
            <a:pPr algn="ctr"/>
            <a:r>
              <a:rPr lang="en-US"/>
              <a:t>Citation / Series Statement</a:t>
            </a:r>
          </a:p>
          <a:p>
            <a:pPr algn="ctr"/>
            <a:r>
              <a:rPr lang="en-US"/>
              <a:t>Abstract / Purpose</a:t>
            </a:r>
          </a:p>
          <a:p>
            <a:pPr algn="ctr"/>
            <a:r>
              <a:rPr lang="en-US"/>
              <a:t>Coverage / Universe</a:t>
            </a:r>
          </a:p>
          <a:p>
            <a:pPr algn="ctr"/>
            <a:r>
              <a:rPr lang="en-US"/>
              <a:t>Other Material / Notes</a:t>
            </a:r>
          </a:p>
          <a:p>
            <a:pPr algn="ctr"/>
            <a:r>
              <a:rPr lang="en-US"/>
              <a:t>Funding Information / Embargo</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5105400"/>
          </a:xfrm>
          <a:prstGeom prst="rect">
            <a:avLst/>
          </a:prstGeom>
          <a:solidFill>
            <a:srgbClr val="A8687A"/>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4346" name="Date Placeholder 11"/>
          <p:cNvSpPr>
            <a:spLocks noGrp="1"/>
          </p:cNvSpPr>
          <p:nvPr>
            <p:ph type="dt" sz="half" idx="10"/>
          </p:nvPr>
        </p:nvSpPr>
        <p:spPr>
          <a:noFill/>
        </p:spPr>
        <p:txBody>
          <a:bodyPr/>
          <a:lstStyle/>
          <a:p>
            <a:r>
              <a:rPr lang="en-US" smtClean="0"/>
              <a:t>S04</a:t>
            </a:r>
          </a:p>
        </p:txBody>
      </p:sp>
      <p:sp>
        <p:nvSpPr>
          <p:cNvPr id="14347" name="Slide Number Placeholder 12"/>
          <p:cNvSpPr>
            <a:spLocks noGrp="1"/>
          </p:cNvSpPr>
          <p:nvPr>
            <p:ph type="sldNum" sz="quarter" idx="12"/>
          </p:nvPr>
        </p:nvSpPr>
        <p:spPr>
          <a:noFill/>
        </p:spPr>
        <p:txBody>
          <a:bodyPr/>
          <a:lstStyle/>
          <a:p>
            <a:fld id="{16ADE54A-61E8-4FCD-8B7E-D076223C5854}" type="slidenum">
              <a:rPr lang="en-US" smtClean="0"/>
              <a:pPr/>
              <a:t>27</a:t>
            </a:fld>
            <a:endParaRPr lang="en-US" smtClean="0"/>
          </a:p>
        </p:txBody>
      </p:sp>
      <p:sp>
        <p:nvSpPr>
          <p:cNvPr id="14340" name="Content Placeholder 3"/>
          <p:cNvSpPr>
            <a:spLocks noGrp="1"/>
          </p:cNvSpPr>
          <p:nvPr>
            <p:ph idx="4294967295"/>
          </p:nvPr>
        </p:nvSpPr>
        <p:spPr>
          <a:xfrm>
            <a:off x="914400" y="152400"/>
            <a:ext cx="8229600" cy="5851525"/>
          </a:xfrm>
        </p:spPr>
        <p:txBody>
          <a:bodyPr/>
          <a:lstStyle/>
          <a:p>
            <a:pPr eaLnBrk="1" hangingPunct="1">
              <a:buFontTx/>
              <a:buNone/>
            </a:pPr>
            <a:r>
              <a:rPr lang="en-US" smtClean="0"/>
              <a:t>3.1 Local Holding Package</a:t>
            </a:r>
          </a:p>
        </p:txBody>
      </p:sp>
      <p:sp>
        <p:nvSpPr>
          <p:cNvPr id="16" name="Rectangle 15"/>
          <p:cNvSpPr/>
          <p:nvPr/>
        </p:nvSpPr>
        <p:spPr>
          <a:xfrm>
            <a:off x="1828800" y="2743200"/>
            <a:ext cx="2209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953000" y="2743200"/>
            <a:ext cx="2209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343" name="TextBox 5"/>
          <p:cNvSpPr txBox="1">
            <a:spLocks noChangeArrowheads="1"/>
          </p:cNvSpPr>
          <p:nvPr/>
        </p:nvSpPr>
        <p:spPr bwMode="auto">
          <a:xfrm>
            <a:off x="1905000" y="2819400"/>
            <a:ext cx="1981200" cy="2838450"/>
          </a:xfrm>
          <a:prstGeom prst="rect">
            <a:avLst/>
          </a:prstGeom>
          <a:noFill/>
          <a:ln w="9525">
            <a:noFill/>
            <a:miter lim="800000"/>
            <a:headEnd/>
            <a:tailEnd/>
          </a:ln>
        </p:spPr>
        <p:txBody>
          <a:bodyPr>
            <a:spAutoFit/>
          </a:bodyPr>
          <a:lstStyle/>
          <a:p>
            <a:r>
              <a:rPr lang="en-US" b="1"/>
              <a:t>Depository Study Unit OR Group Reference:</a:t>
            </a:r>
          </a:p>
          <a:p>
            <a:r>
              <a:rPr lang="en-US"/>
              <a:t>[A reference to the stored version of the deposited study unit.]</a:t>
            </a:r>
          </a:p>
          <a:p>
            <a:endParaRPr lang="en-US"/>
          </a:p>
        </p:txBody>
      </p:sp>
      <p:sp>
        <p:nvSpPr>
          <p:cNvPr id="14344" name="TextBox 6"/>
          <p:cNvSpPr txBox="1">
            <a:spLocks noChangeArrowheads="1"/>
          </p:cNvSpPr>
          <p:nvPr/>
        </p:nvSpPr>
        <p:spPr bwMode="auto">
          <a:xfrm>
            <a:off x="4953000" y="2743200"/>
            <a:ext cx="2133600" cy="2032000"/>
          </a:xfrm>
          <a:prstGeom prst="rect">
            <a:avLst/>
          </a:prstGeom>
          <a:noFill/>
          <a:ln w="9525">
            <a:noFill/>
            <a:miter lim="800000"/>
            <a:headEnd/>
            <a:tailEnd/>
          </a:ln>
        </p:spPr>
        <p:txBody>
          <a:bodyPr>
            <a:spAutoFit/>
          </a:bodyPr>
          <a:lstStyle/>
          <a:p>
            <a:r>
              <a:rPr lang="en-US" b="1"/>
              <a:t>Local Added Content:</a:t>
            </a:r>
          </a:p>
          <a:p>
            <a:r>
              <a:rPr lang="en-US"/>
              <a:t>[This contains all content available in a Study Unit whose source is the local archive.]</a:t>
            </a:r>
          </a:p>
        </p:txBody>
      </p:sp>
      <p:sp>
        <p:nvSpPr>
          <p:cNvPr id="14345" name="TextBox 20"/>
          <p:cNvSpPr txBox="1">
            <a:spLocks noChangeArrowheads="1"/>
          </p:cNvSpPr>
          <p:nvPr/>
        </p:nvSpPr>
        <p:spPr bwMode="auto">
          <a:xfrm>
            <a:off x="1752600" y="990600"/>
            <a:ext cx="5562600" cy="1465263"/>
          </a:xfrm>
          <a:prstGeom prst="rect">
            <a:avLst/>
          </a:prstGeom>
          <a:noFill/>
          <a:ln w="9525">
            <a:noFill/>
            <a:miter lim="800000"/>
            <a:headEnd/>
            <a:tailEnd/>
          </a:ln>
        </p:spPr>
        <p:txBody>
          <a:bodyPr>
            <a:spAutoFit/>
          </a:bodyPr>
          <a:lstStyle/>
          <a:p>
            <a:pPr algn="ctr"/>
            <a:r>
              <a:rPr lang="en-US"/>
              <a:t>Citation / Series Statement</a:t>
            </a:r>
          </a:p>
          <a:p>
            <a:pPr algn="ctr"/>
            <a:r>
              <a:rPr lang="en-US"/>
              <a:t>Abstract / Purpose</a:t>
            </a:r>
          </a:p>
          <a:p>
            <a:pPr algn="ctr"/>
            <a:r>
              <a:rPr lang="en-US"/>
              <a:t>Coverage / Universe </a:t>
            </a:r>
          </a:p>
          <a:p>
            <a:pPr algn="ctr"/>
            <a:r>
              <a:rPr lang="en-US"/>
              <a:t>Other Material / Notes</a:t>
            </a:r>
          </a:p>
          <a:p>
            <a:pPr algn="ctr"/>
            <a:r>
              <a:rPr lang="en-US"/>
              <a:t>Funding Information / Embargo</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8" name="Date Placeholder 29"/>
          <p:cNvSpPr>
            <a:spLocks noGrp="1"/>
          </p:cNvSpPr>
          <p:nvPr>
            <p:ph type="dt" sz="half" idx="10"/>
          </p:nvPr>
        </p:nvSpPr>
        <p:spPr>
          <a:noFill/>
        </p:spPr>
        <p:txBody>
          <a:bodyPr/>
          <a:lstStyle/>
          <a:p>
            <a:r>
              <a:rPr lang="en-US" smtClean="0"/>
              <a:t>S04</a:t>
            </a:r>
          </a:p>
        </p:txBody>
      </p:sp>
      <p:sp>
        <p:nvSpPr>
          <p:cNvPr id="15389" name="Slide Number Placeholder 30"/>
          <p:cNvSpPr>
            <a:spLocks noGrp="1"/>
          </p:cNvSpPr>
          <p:nvPr>
            <p:ph type="sldNum" sz="quarter" idx="12"/>
          </p:nvPr>
        </p:nvSpPr>
        <p:spPr>
          <a:noFill/>
        </p:spPr>
        <p:txBody>
          <a:bodyPr/>
          <a:lstStyle/>
          <a:p>
            <a:fld id="{005D8116-BA39-45AE-BD57-83941F5AE065}" type="slidenum">
              <a:rPr lang="en-US" smtClean="0"/>
              <a:pPr/>
              <a:t>28</a:t>
            </a:fld>
            <a:endParaRPr lang="en-US" smtClean="0"/>
          </a:p>
        </p:txBody>
      </p:sp>
      <p:sp>
        <p:nvSpPr>
          <p:cNvPr id="15362" name="Rectangle 2"/>
          <p:cNvSpPr>
            <a:spLocks noGrp="1" noChangeArrowheads="1"/>
          </p:cNvSpPr>
          <p:nvPr>
            <p:ph type="title" idx="4294967295"/>
          </p:nvPr>
        </p:nvSpPr>
        <p:spPr>
          <a:xfrm>
            <a:off x="0" y="274638"/>
            <a:ext cx="8229600" cy="639762"/>
          </a:xfrm>
        </p:spPr>
        <p:txBody>
          <a:bodyPr>
            <a:normAutofit fontScale="90000"/>
          </a:bodyPr>
          <a:lstStyle/>
          <a:p>
            <a:pPr eaLnBrk="1" hangingPunct="1"/>
            <a:r>
              <a:rPr lang="en-US" sz="3200" smtClean="0"/>
              <a:t>DDI 3 Lifecycle Model and Related Modules</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914400"/>
            <a:ext cx="8686800" cy="4538663"/>
          </a:xfrm>
          <a:prstGeom prst="rect">
            <a:avLst/>
          </a:prstGeom>
          <a:noFill/>
          <a:ln w="9525">
            <a:noFill/>
            <a:miter lim="800000"/>
            <a:headEnd/>
            <a:tailEnd/>
          </a:ln>
        </p:spPr>
      </p:pic>
      <p:sp>
        <p:nvSpPr>
          <p:cNvPr id="15364" name="Rectangle 4"/>
          <p:cNvSpPr>
            <a:spLocks noChangeArrowheads="1"/>
          </p:cNvSpPr>
          <p:nvPr/>
        </p:nvSpPr>
        <p:spPr bwMode="auto">
          <a:xfrm>
            <a:off x="381000" y="5181600"/>
            <a:ext cx="1219200" cy="914400"/>
          </a:xfrm>
          <a:prstGeom prst="rect">
            <a:avLst/>
          </a:prstGeom>
          <a:noFill/>
          <a:ln w="28575">
            <a:solidFill>
              <a:schemeClr val="hlink"/>
            </a:solidFill>
            <a:miter lim="800000"/>
            <a:headEnd/>
            <a:tailEnd/>
          </a:ln>
        </p:spPr>
        <p:txBody>
          <a:bodyPr wrap="none" anchor="ctr"/>
          <a:lstStyle/>
          <a:p>
            <a:endParaRPr lang="en-US"/>
          </a:p>
        </p:txBody>
      </p:sp>
      <p:sp>
        <p:nvSpPr>
          <p:cNvPr id="15365" name="Rectangle 5"/>
          <p:cNvSpPr>
            <a:spLocks noChangeArrowheads="1"/>
          </p:cNvSpPr>
          <p:nvPr/>
        </p:nvSpPr>
        <p:spPr bwMode="auto">
          <a:xfrm>
            <a:off x="1752600" y="5181600"/>
            <a:ext cx="1219200" cy="914400"/>
          </a:xfrm>
          <a:prstGeom prst="rect">
            <a:avLst/>
          </a:prstGeom>
          <a:noFill/>
          <a:ln w="28575">
            <a:solidFill>
              <a:schemeClr val="hlink"/>
            </a:solidFill>
            <a:miter lim="800000"/>
            <a:headEnd/>
            <a:tailEnd/>
          </a:ln>
        </p:spPr>
        <p:txBody>
          <a:bodyPr wrap="none" anchor="ctr"/>
          <a:lstStyle/>
          <a:p>
            <a:endParaRPr lang="en-US"/>
          </a:p>
        </p:txBody>
      </p:sp>
      <p:sp>
        <p:nvSpPr>
          <p:cNvPr id="15366" name="Rectangle 6"/>
          <p:cNvSpPr>
            <a:spLocks noChangeArrowheads="1"/>
          </p:cNvSpPr>
          <p:nvPr/>
        </p:nvSpPr>
        <p:spPr bwMode="auto">
          <a:xfrm>
            <a:off x="3124200" y="5181600"/>
            <a:ext cx="1219200" cy="914400"/>
          </a:xfrm>
          <a:prstGeom prst="rect">
            <a:avLst/>
          </a:prstGeom>
          <a:noFill/>
          <a:ln w="28575">
            <a:solidFill>
              <a:schemeClr val="hlink"/>
            </a:solidFill>
            <a:miter lim="800000"/>
            <a:headEnd/>
            <a:tailEnd/>
          </a:ln>
        </p:spPr>
        <p:txBody>
          <a:bodyPr wrap="none" anchor="ctr"/>
          <a:lstStyle/>
          <a:p>
            <a:endParaRPr lang="en-US"/>
          </a:p>
        </p:txBody>
      </p:sp>
      <p:sp>
        <p:nvSpPr>
          <p:cNvPr id="15367" name="Rectangle 7"/>
          <p:cNvSpPr>
            <a:spLocks noChangeArrowheads="1"/>
          </p:cNvSpPr>
          <p:nvPr/>
        </p:nvSpPr>
        <p:spPr bwMode="auto">
          <a:xfrm>
            <a:off x="4495800" y="5181600"/>
            <a:ext cx="1219200" cy="914400"/>
          </a:xfrm>
          <a:prstGeom prst="rect">
            <a:avLst/>
          </a:prstGeom>
          <a:noFill/>
          <a:ln w="28575">
            <a:solidFill>
              <a:schemeClr val="hlink"/>
            </a:solidFill>
            <a:miter lim="800000"/>
            <a:headEnd/>
            <a:tailEnd/>
          </a:ln>
        </p:spPr>
        <p:txBody>
          <a:bodyPr wrap="none" anchor="ctr"/>
          <a:lstStyle/>
          <a:p>
            <a:endParaRPr lang="en-US"/>
          </a:p>
        </p:txBody>
      </p:sp>
      <p:sp>
        <p:nvSpPr>
          <p:cNvPr id="15368" name="Rectangle 8"/>
          <p:cNvSpPr>
            <a:spLocks noChangeArrowheads="1"/>
          </p:cNvSpPr>
          <p:nvPr/>
        </p:nvSpPr>
        <p:spPr bwMode="auto">
          <a:xfrm>
            <a:off x="5867400" y="5181600"/>
            <a:ext cx="1143000" cy="914400"/>
          </a:xfrm>
          <a:prstGeom prst="rect">
            <a:avLst/>
          </a:prstGeom>
          <a:noFill/>
          <a:ln w="28575">
            <a:solidFill>
              <a:schemeClr val="hlink"/>
            </a:solidFill>
            <a:miter lim="800000"/>
            <a:headEnd/>
            <a:tailEnd/>
          </a:ln>
        </p:spPr>
        <p:txBody>
          <a:bodyPr wrap="none" anchor="ctr"/>
          <a:lstStyle/>
          <a:p>
            <a:endParaRPr lang="en-US"/>
          </a:p>
        </p:txBody>
      </p:sp>
      <p:sp>
        <p:nvSpPr>
          <p:cNvPr id="15369" name="Rectangle 9"/>
          <p:cNvSpPr>
            <a:spLocks noChangeArrowheads="1"/>
          </p:cNvSpPr>
          <p:nvPr/>
        </p:nvSpPr>
        <p:spPr bwMode="auto">
          <a:xfrm>
            <a:off x="7239000" y="5181600"/>
            <a:ext cx="1143000" cy="914400"/>
          </a:xfrm>
          <a:prstGeom prst="rect">
            <a:avLst/>
          </a:prstGeom>
          <a:noFill/>
          <a:ln w="28575">
            <a:solidFill>
              <a:schemeClr val="hlink"/>
            </a:solidFill>
            <a:miter lim="800000"/>
            <a:headEnd/>
            <a:tailEnd/>
          </a:ln>
        </p:spPr>
        <p:txBody>
          <a:bodyPr wrap="none" anchor="ctr"/>
          <a:lstStyle/>
          <a:p>
            <a:endParaRPr lang="en-US"/>
          </a:p>
        </p:txBody>
      </p:sp>
      <p:sp>
        <p:nvSpPr>
          <p:cNvPr id="15370" name="Text Box 10"/>
          <p:cNvSpPr txBox="1">
            <a:spLocks noChangeArrowheads="1"/>
          </p:cNvSpPr>
          <p:nvPr/>
        </p:nvSpPr>
        <p:spPr bwMode="auto">
          <a:xfrm>
            <a:off x="457200" y="5334000"/>
            <a:ext cx="768350" cy="641350"/>
          </a:xfrm>
          <a:prstGeom prst="rect">
            <a:avLst/>
          </a:prstGeom>
          <a:noFill/>
          <a:ln w="9525">
            <a:noFill/>
            <a:miter lim="800000"/>
            <a:headEnd/>
            <a:tailEnd/>
          </a:ln>
        </p:spPr>
        <p:txBody>
          <a:bodyPr wrap="none">
            <a:spAutoFit/>
          </a:bodyPr>
          <a:lstStyle/>
          <a:p>
            <a:r>
              <a:rPr lang="en-US"/>
              <a:t>Study</a:t>
            </a:r>
          </a:p>
          <a:p>
            <a:r>
              <a:rPr lang="en-US"/>
              <a:t>Unit</a:t>
            </a:r>
          </a:p>
        </p:txBody>
      </p:sp>
      <p:sp>
        <p:nvSpPr>
          <p:cNvPr id="15371" name="Text Box 11"/>
          <p:cNvSpPr txBox="1">
            <a:spLocks noChangeArrowheads="1"/>
          </p:cNvSpPr>
          <p:nvPr/>
        </p:nvSpPr>
        <p:spPr bwMode="auto">
          <a:xfrm>
            <a:off x="1828800" y="5334000"/>
            <a:ext cx="1187450" cy="641350"/>
          </a:xfrm>
          <a:prstGeom prst="rect">
            <a:avLst/>
          </a:prstGeom>
          <a:noFill/>
          <a:ln w="9525">
            <a:noFill/>
            <a:miter lim="800000"/>
            <a:headEnd/>
            <a:tailEnd/>
          </a:ln>
        </p:spPr>
        <p:txBody>
          <a:bodyPr wrap="none">
            <a:spAutoFit/>
          </a:bodyPr>
          <a:lstStyle/>
          <a:p>
            <a:r>
              <a:rPr lang="en-US"/>
              <a:t>Data </a:t>
            </a:r>
          </a:p>
          <a:p>
            <a:r>
              <a:rPr lang="en-US"/>
              <a:t>Collection</a:t>
            </a:r>
          </a:p>
        </p:txBody>
      </p:sp>
      <p:sp>
        <p:nvSpPr>
          <p:cNvPr id="15372" name="Text Box 12"/>
          <p:cNvSpPr txBox="1">
            <a:spLocks noChangeArrowheads="1"/>
          </p:cNvSpPr>
          <p:nvPr/>
        </p:nvSpPr>
        <p:spPr bwMode="auto">
          <a:xfrm>
            <a:off x="3200400" y="5257800"/>
            <a:ext cx="971550" cy="641350"/>
          </a:xfrm>
          <a:prstGeom prst="rect">
            <a:avLst/>
          </a:prstGeom>
          <a:noFill/>
          <a:ln w="9525">
            <a:noFill/>
            <a:miter lim="800000"/>
            <a:headEnd/>
            <a:tailEnd/>
          </a:ln>
        </p:spPr>
        <p:txBody>
          <a:bodyPr wrap="none">
            <a:spAutoFit/>
          </a:bodyPr>
          <a:lstStyle/>
          <a:p>
            <a:r>
              <a:rPr lang="en-US"/>
              <a:t>Logical</a:t>
            </a:r>
          </a:p>
          <a:p>
            <a:r>
              <a:rPr lang="en-US"/>
              <a:t>Product</a:t>
            </a:r>
          </a:p>
        </p:txBody>
      </p:sp>
      <p:sp>
        <p:nvSpPr>
          <p:cNvPr id="15373" name="Text Box 13"/>
          <p:cNvSpPr txBox="1">
            <a:spLocks noChangeArrowheads="1"/>
          </p:cNvSpPr>
          <p:nvPr/>
        </p:nvSpPr>
        <p:spPr bwMode="auto">
          <a:xfrm>
            <a:off x="4572000" y="5181600"/>
            <a:ext cx="1035050" cy="915988"/>
          </a:xfrm>
          <a:prstGeom prst="rect">
            <a:avLst/>
          </a:prstGeom>
          <a:noFill/>
          <a:ln w="9525">
            <a:noFill/>
            <a:miter lim="800000"/>
            <a:headEnd/>
            <a:tailEnd/>
          </a:ln>
        </p:spPr>
        <p:txBody>
          <a:bodyPr wrap="none">
            <a:spAutoFit/>
          </a:bodyPr>
          <a:lstStyle/>
          <a:p>
            <a:r>
              <a:rPr lang="en-US"/>
              <a:t>Physical</a:t>
            </a:r>
          </a:p>
          <a:p>
            <a:r>
              <a:rPr lang="en-US"/>
              <a:t>Data </a:t>
            </a:r>
          </a:p>
          <a:p>
            <a:r>
              <a:rPr lang="en-US"/>
              <a:t>Product</a:t>
            </a:r>
          </a:p>
        </p:txBody>
      </p:sp>
      <p:sp>
        <p:nvSpPr>
          <p:cNvPr id="15374" name="Text Box 14"/>
          <p:cNvSpPr txBox="1">
            <a:spLocks noChangeArrowheads="1"/>
          </p:cNvSpPr>
          <p:nvPr/>
        </p:nvSpPr>
        <p:spPr bwMode="auto">
          <a:xfrm>
            <a:off x="5867400" y="5334000"/>
            <a:ext cx="1047750" cy="641350"/>
          </a:xfrm>
          <a:prstGeom prst="rect">
            <a:avLst/>
          </a:prstGeom>
          <a:noFill/>
          <a:ln w="9525">
            <a:noFill/>
            <a:miter lim="800000"/>
            <a:headEnd/>
            <a:tailEnd/>
          </a:ln>
        </p:spPr>
        <p:txBody>
          <a:bodyPr wrap="none">
            <a:spAutoFit/>
          </a:bodyPr>
          <a:lstStyle/>
          <a:p>
            <a:r>
              <a:rPr lang="en-US"/>
              <a:t>Physical</a:t>
            </a:r>
          </a:p>
          <a:p>
            <a:r>
              <a:rPr lang="en-US"/>
              <a:t>Instance</a:t>
            </a:r>
          </a:p>
        </p:txBody>
      </p:sp>
      <p:sp>
        <p:nvSpPr>
          <p:cNvPr id="15375" name="Text Box 15"/>
          <p:cNvSpPr txBox="1">
            <a:spLocks noChangeArrowheads="1"/>
          </p:cNvSpPr>
          <p:nvPr/>
        </p:nvSpPr>
        <p:spPr bwMode="auto">
          <a:xfrm>
            <a:off x="7391400" y="5410200"/>
            <a:ext cx="946150" cy="366713"/>
          </a:xfrm>
          <a:prstGeom prst="rect">
            <a:avLst/>
          </a:prstGeom>
          <a:noFill/>
          <a:ln w="9525">
            <a:noFill/>
            <a:miter lim="800000"/>
            <a:headEnd/>
            <a:tailEnd/>
          </a:ln>
        </p:spPr>
        <p:txBody>
          <a:bodyPr wrap="none">
            <a:spAutoFit/>
          </a:bodyPr>
          <a:lstStyle/>
          <a:p>
            <a:r>
              <a:rPr lang="en-US"/>
              <a:t>Archive</a:t>
            </a:r>
          </a:p>
        </p:txBody>
      </p:sp>
      <p:sp>
        <p:nvSpPr>
          <p:cNvPr id="15376" name="Text Box 16"/>
          <p:cNvSpPr txBox="1">
            <a:spLocks noChangeArrowheads="1"/>
          </p:cNvSpPr>
          <p:nvPr/>
        </p:nvSpPr>
        <p:spPr bwMode="auto">
          <a:xfrm>
            <a:off x="152400" y="1143000"/>
            <a:ext cx="3505200" cy="730250"/>
          </a:xfrm>
          <a:prstGeom prst="rect">
            <a:avLst/>
          </a:prstGeom>
          <a:noFill/>
          <a:ln w="9525">
            <a:noFill/>
            <a:miter lim="800000"/>
            <a:headEnd/>
            <a:tailEnd/>
          </a:ln>
        </p:spPr>
        <p:txBody>
          <a:bodyPr>
            <a:spAutoFit/>
          </a:bodyPr>
          <a:lstStyle/>
          <a:p>
            <a:r>
              <a:rPr lang="en-US" sz="1400">
                <a:solidFill>
                  <a:schemeClr val="hlink"/>
                </a:solidFill>
              </a:rPr>
              <a:t>Groups and Resource Packages are a means of publishing any portion or combination of sections of the life cycle</a:t>
            </a:r>
          </a:p>
        </p:txBody>
      </p:sp>
      <p:sp>
        <p:nvSpPr>
          <p:cNvPr id="15377" name="Rectangle 17"/>
          <p:cNvSpPr>
            <a:spLocks noChangeArrowheads="1"/>
          </p:cNvSpPr>
          <p:nvPr/>
        </p:nvSpPr>
        <p:spPr bwMode="auto">
          <a:xfrm>
            <a:off x="7086600" y="990600"/>
            <a:ext cx="1600200" cy="1219200"/>
          </a:xfrm>
          <a:prstGeom prst="rect">
            <a:avLst/>
          </a:prstGeom>
          <a:solidFill>
            <a:schemeClr val="hlink"/>
          </a:solidFill>
          <a:ln w="28575">
            <a:solidFill>
              <a:schemeClr val="tx1"/>
            </a:solidFill>
            <a:miter lim="800000"/>
            <a:headEnd/>
            <a:tailEnd/>
          </a:ln>
        </p:spPr>
        <p:txBody>
          <a:bodyPr wrap="none" anchor="ctr"/>
          <a:lstStyle/>
          <a:p>
            <a:endParaRPr lang="en-US"/>
          </a:p>
        </p:txBody>
      </p:sp>
      <p:sp>
        <p:nvSpPr>
          <p:cNvPr id="15378" name="Text Box 18"/>
          <p:cNvSpPr txBox="1">
            <a:spLocks noChangeArrowheads="1"/>
          </p:cNvSpPr>
          <p:nvPr/>
        </p:nvSpPr>
        <p:spPr bwMode="auto">
          <a:xfrm>
            <a:off x="7391400" y="1143000"/>
            <a:ext cx="1073150" cy="915988"/>
          </a:xfrm>
          <a:prstGeom prst="rect">
            <a:avLst/>
          </a:prstGeom>
          <a:noFill/>
          <a:ln w="9525">
            <a:noFill/>
            <a:miter lim="800000"/>
            <a:headEnd/>
            <a:tailEnd/>
          </a:ln>
        </p:spPr>
        <p:txBody>
          <a:bodyPr wrap="none">
            <a:spAutoFit/>
          </a:bodyPr>
          <a:lstStyle/>
          <a:p>
            <a:r>
              <a:rPr lang="en-US"/>
              <a:t>Local </a:t>
            </a:r>
          </a:p>
          <a:p>
            <a:r>
              <a:rPr lang="en-US"/>
              <a:t>Holding </a:t>
            </a:r>
          </a:p>
          <a:p>
            <a:r>
              <a:rPr lang="en-US"/>
              <a:t>Package</a:t>
            </a:r>
          </a:p>
        </p:txBody>
      </p:sp>
      <p:sp>
        <p:nvSpPr>
          <p:cNvPr id="10259" name="Line 19"/>
          <p:cNvSpPr>
            <a:spLocks noChangeShapeType="1"/>
          </p:cNvSpPr>
          <p:nvPr/>
        </p:nvSpPr>
        <p:spPr bwMode="auto">
          <a:xfrm flipV="1">
            <a:off x="914400" y="3962400"/>
            <a:ext cx="304800" cy="1219200"/>
          </a:xfrm>
          <a:prstGeom prst="line">
            <a:avLst/>
          </a:prstGeom>
          <a:noFill/>
          <a:ln w="57150">
            <a:solidFill>
              <a:schemeClr val="tx1"/>
            </a:solidFill>
            <a:round/>
            <a:headEnd/>
            <a:tailEnd type="triangle" w="med" len="med"/>
          </a:ln>
        </p:spPr>
        <p:txBody>
          <a:bodyPr/>
          <a:lstStyle/>
          <a:p>
            <a:endParaRPr lang="en-US"/>
          </a:p>
        </p:txBody>
      </p:sp>
      <p:sp>
        <p:nvSpPr>
          <p:cNvPr id="10260" name="Line 20"/>
          <p:cNvSpPr>
            <a:spLocks noChangeShapeType="1"/>
          </p:cNvSpPr>
          <p:nvPr/>
        </p:nvSpPr>
        <p:spPr bwMode="auto">
          <a:xfrm flipV="1">
            <a:off x="2438400" y="3962400"/>
            <a:ext cx="0" cy="1219200"/>
          </a:xfrm>
          <a:prstGeom prst="line">
            <a:avLst/>
          </a:prstGeom>
          <a:noFill/>
          <a:ln w="57150">
            <a:solidFill>
              <a:schemeClr val="tx1"/>
            </a:solidFill>
            <a:round/>
            <a:headEnd/>
            <a:tailEnd type="triangle" w="med" len="med"/>
          </a:ln>
        </p:spPr>
        <p:txBody>
          <a:bodyPr/>
          <a:lstStyle/>
          <a:p>
            <a:endParaRPr lang="en-US"/>
          </a:p>
        </p:txBody>
      </p:sp>
      <p:sp>
        <p:nvSpPr>
          <p:cNvPr id="10261" name="Line 21"/>
          <p:cNvSpPr>
            <a:spLocks noChangeShapeType="1"/>
          </p:cNvSpPr>
          <p:nvPr/>
        </p:nvSpPr>
        <p:spPr bwMode="auto">
          <a:xfrm flipV="1">
            <a:off x="2438400" y="3962400"/>
            <a:ext cx="838200" cy="1219200"/>
          </a:xfrm>
          <a:prstGeom prst="line">
            <a:avLst/>
          </a:prstGeom>
          <a:noFill/>
          <a:ln w="57150">
            <a:solidFill>
              <a:schemeClr val="tx1"/>
            </a:solidFill>
            <a:round/>
            <a:headEnd/>
            <a:tailEnd type="triangle" w="med" len="med"/>
          </a:ln>
        </p:spPr>
        <p:txBody>
          <a:bodyPr/>
          <a:lstStyle/>
          <a:p>
            <a:endParaRPr lang="en-US"/>
          </a:p>
        </p:txBody>
      </p:sp>
      <p:sp>
        <p:nvSpPr>
          <p:cNvPr id="10262" name="Line 22"/>
          <p:cNvSpPr>
            <a:spLocks noChangeShapeType="1"/>
          </p:cNvSpPr>
          <p:nvPr/>
        </p:nvSpPr>
        <p:spPr bwMode="auto">
          <a:xfrm flipV="1">
            <a:off x="3657600" y="3962400"/>
            <a:ext cx="76200" cy="1219200"/>
          </a:xfrm>
          <a:prstGeom prst="line">
            <a:avLst/>
          </a:prstGeom>
          <a:noFill/>
          <a:ln w="57150">
            <a:solidFill>
              <a:schemeClr val="tx1"/>
            </a:solidFill>
            <a:round/>
            <a:headEnd/>
            <a:tailEnd type="triangle" w="med" len="med"/>
          </a:ln>
        </p:spPr>
        <p:txBody>
          <a:bodyPr/>
          <a:lstStyle/>
          <a:p>
            <a:endParaRPr lang="en-US"/>
          </a:p>
        </p:txBody>
      </p:sp>
      <p:sp>
        <p:nvSpPr>
          <p:cNvPr id="10263" name="Line 23"/>
          <p:cNvSpPr>
            <a:spLocks noChangeShapeType="1"/>
          </p:cNvSpPr>
          <p:nvPr/>
        </p:nvSpPr>
        <p:spPr bwMode="auto">
          <a:xfrm flipH="1" flipV="1">
            <a:off x="3962400" y="3886200"/>
            <a:ext cx="1066800" cy="1295400"/>
          </a:xfrm>
          <a:prstGeom prst="line">
            <a:avLst/>
          </a:prstGeom>
          <a:noFill/>
          <a:ln w="57150">
            <a:solidFill>
              <a:schemeClr val="tx1"/>
            </a:solidFill>
            <a:round/>
            <a:headEnd/>
            <a:tailEnd type="triangle" w="med" len="med"/>
          </a:ln>
        </p:spPr>
        <p:txBody>
          <a:bodyPr/>
          <a:lstStyle/>
          <a:p>
            <a:endParaRPr lang="en-US"/>
          </a:p>
        </p:txBody>
      </p:sp>
      <p:sp>
        <p:nvSpPr>
          <p:cNvPr id="10264" name="Line 24"/>
          <p:cNvSpPr>
            <a:spLocks noChangeShapeType="1"/>
          </p:cNvSpPr>
          <p:nvPr/>
        </p:nvSpPr>
        <p:spPr bwMode="auto">
          <a:xfrm flipH="1" flipV="1">
            <a:off x="4191000" y="3733800"/>
            <a:ext cx="2286000" cy="1447800"/>
          </a:xfrm>
          <a:prstGeom prst="line">
            <a:avLst/>
          </a:prstGeom>
          <a:noFill/>
          <a:ln w="57150">
            <a:solidFill>
              <a:schemeClr val="tx1"/>
            </a:solidFill>
            <a:round/>
            <a:headEnd/>
            <a:tailEnd type="triangle" w="med" len="med"/>
          </a:ln>
        </p:spPr>
        <p:txBody>
          <a:bodyPr/>
          <a:lstStyle/>
          <a:p>
            <a:endParaRPr lang="en-US"/>
          </a:p>
        </p:txBody>
      </p:sp>
      <p:sp>
        <p:nvSpPr>
          <p:cNvPr id="10265" name="Line 25"/>
          <p:cNvSpPr>
            <a:spLocks noChangeShapeType="1"/>
          </p:cNvSpPr>
          <p:nvPr/>
        </p:nvSpPr>
        <p:spPr bwMode="auto">
          <a:xfrm flipH="1" flipV="1">
            <a:off x="7543800" y="4648200"/>
            <a:ext cx="304800" cy="533400"/>
          </a:xfrm>
          <a:prstGeom prst="line">
            <a:avLst/>
          </a:prstGeom>
          <a:noFill/>
          <a:ln w="57150">
            <a:solidFill>
              <a:schemeClr val="tx1"/>
            </a:solidFill>
            <a:round/>
            <a:headEnd/>
            <a:tailEnd type="triangle" w="med" len="med"/>
          </a:ln>
        </p:spPr>
        <p:txBody>
          <a:bodyPr/>
          <a:lstStyle/>
          <a:p>
            <a:endParaRPr lang="en-US"/>
          </a:p>
        </p:txBody>
      </p:sp>
      <p:sp>
        <p:nvSpPr>
          <p:cNvPr id="10266" name="AutoShape 26"/>
          <p:cNvSpPr>
            <a:spLocks noChangeArrowheads="1"/>
          </p:cNvSpPr>
          <p:nvPr/>
        </p:nvSpPr>
        <p:spPr bwMode="auto">
          <a:xfrm>
            <a:off x="838200" y="1447800"/>
            <a:ext cx="7315200" cy="3200400"/>
          </a:xfrm>
          <a:prstGeom prst="flowChartAlternateProcess">
            <a:avLst/>
          </a:prstGeom>
          <a:solidFill>
            <a:srgbClr val="6FC3B3">
              <a:alpha val="59999"/>
            </a:srgbClr>
          </a:solidFill>
          <a:ln w="9525">
            <a:solidFill>
              <a:schemeClr val="tx1"/>
            </a:solidFill>
            <a:miter lim="800000"/>
            <a:headEnd/>
            <a:tailEnd/>
          </a:ln>
        </p:spPr>
        <p:txBody>
          <a:bodyPr wrap="none" anchor="ctr"/>
          <a:lstStyle/>
          <a:p>
            <a:endParaRPr lang="en-US"/>
          </a:p>
        </p:txBody>
      </p:sp>
      <p:sp>
        <p:nvSpPr>
          <p:cNvPr id="10267" name="Line 27"/>
          <p:cNvSpPr>
            <a:spLocks noChangeShapeType="1"/>
          </p:cNvSpPr>
          <p:nvPr/>
        </p:nvSpPr>
        <p:spPr bwMode="auto">
          <a:xfrm flipH="1">
            <a:off x="5791200" y="1447800"/>
            <a:ext cx="1295400" cy="228600"/>
          </a:xfrm>
          <a:prstGeom prst="line">
            <a:avLst/>
          </a:prstGeom>
          <a:noFill/>
          <a:ln w="57150">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9" grpId="0" animBg="1"/>
      <p:bldP spid="10260" grpId="0" animBg="1"/>
      <p:bldP spid="10261" grpId="0" animBg="1"/>
      <p:bldP spid="10262" grpId="0" animBg="1"/>
      <p:bldP spid="10263" grpId="0" animBg="1"/>
      <p:bldP spid="10264" grpId="0" animBg="1"/>
      <p:bldP spid="10265" grpId="0" animBg="1"/>
      <p:bldP spid="10266" grpId="0" animBg="1"/>
      <p:bldP spid="1026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2"/>
          <p:cNvSpPr>
            <a:spLocks noChangeShapeType="1"/>
          </p:cNvSpPr>
          <p:nvPr/>
        </p:nvSpPr>
        <p:spPr bwMode="auto">
          <a:xfrm>
            <a:off x="5410200" y="1981200"/>
            <a:ext cx="533400" cy="0"/>
          </a:xfrm>
          <a:prstGeom prst="line">
            <a:avLst/>
          </a:prstGeom>
          <a:noFill/>
          <a:ln w="38100">
            <a:solidFill>
              <a:schemeClr val="tx1"/>
            </a:solidFill>
            <a:round/>
            <a:headEnd type="triangle" w="med" len="med"/>
            <a:tailEnd/>
          </a:ln>
        </p:spPr>
        <p:txBody>
          <a:bodyPr/>
          <a:lstStyle/>
          <a:p>
            <a:endParaRPr lang="en-US"/>
          </a:p>
        </p:txBody>
      </p:sp>
      <p:sp>
        <p:nvSpPr>
          <p:cNvPr id="31747" name="Line 3"/>
          <p:cNvSpPr>
            <a:spLocks noChangeShapeType="1"/>
          </p:cNvSpPr>
          <p:nvPr/>
        </p:nvSpPr>
        <p:spPr bwMode="auto">
          <a:xfrm>
            <a:off x="5410200" y="2209800"/>
            <a:ext cx="990600" cy="2286000"/>
          </a:xfrm>
          <a:prstGeom prst="line">
            <a:avLst/>
          </a:prstGeom>
          <a:noFill/>
          <a:ln w="38100">
            <a:solidFill>
              <a:schemeClr val="tx1"/>
            </a:solidFill>
            <a:round/>
            <a:headEnd type="triangle" w="med" len="med"/>
            <a:tailEnd/>
          </a:ln>
        </p:spPr>
        <p:txBody>
          <a:bodyPr/>
          <a:lstStyle/>
          <a:p>
            <a:endParaRPr lang="en-US"/>
          </a:p>
        </p:txBody>
      </p:sp>
      <p:sp>
        <p:nvSpPr>
          <p:cNvPr id="31748" name="Rectangle 4"/>
          <p:cNvSpPr>
            <a:spLocks noChangeArrowheads="1"/>
          </p:cNvSpPr>
          <p:nvPr/>
        </p:nvSpPr>
        <p:spPr bwMode="auto">
          <a:xfrm>
            <a:off x="1752600" y="1600200"/>
            <a:ext cx="1447800" cy="990600"/>
          </a:xfrm>
          <a:prstGeom prst="rect">
            <a:avLst/>
          </a:prstGeom>
          <a:solidFill>
            <a:schemeClr val="accent1"/>
          </a:solidFill>
          <a:ln w="9525">
            <a:solidFill>
              <a:schemeClr val="tx1"/>
            </a:solidFill>
            <a:miter lim="800000"/>
            <a:headEnd/>
            <a:tailEnd/>
          </a:ln>
        </p:spPr>
        <p:txBody>
          <a:bodyPr wrap="none" anchor="ctr"/>
          <a:lstStyle/>
          <a:p>
            <a:pPr algn="ctr"/>
            <a:r>
              <a:rPr lang="en-US"/>
              <a:t>Concepts</a:t>
            </a:r>
          </a:p>
        </p:txBody>
      </p:sp>
      <p:sp>
        <p:nvSpPr>
          <p:cNvPr id="31749" name="Rectangle 5"/>
          <p:cNvSpPr>
            <a:spLocks noChangeArrowheads="1"/>
          </p:cNvSpPr>
          <p:nvPr/>
        </p:nvSpPr>
        <p:spPr bwMode="auto">
          <a:xfrm>
            <a:off x="1752600" y="2819400"/>
            <a:ext cx="1447800" cy="990600"/>
          </a:xfrm>
          <a:prstGeom prst="rect">
            <a:avLst/>
          </a:prstGeom>
          <a:solidFill>
            <a:schemeClr val="accent1"/>
          </a:solidFill>
          <a:ln w="9525">
            <a:solidFill>
              <a:schemeClr val="tx1"/>
            </a:solidFill>
            <a:miter lim="800000"/>
            <a:headEnd/>
            <a:tailEnd/>
          </a:ln>
        </p:spPr>
        <p:txBody>
          <a:bodyPr wrap="none" anchor="ctr"/>
          <a:lstStyle/>
          <a:p>
            <a:pPr algn="ctr"/>
            <a:r>
              <a:rPr lang="en-US"/>
              <a:t>Universes</a:t>
            </a:r>
          </a:p>
        </p:txBody>
      </p:sp>
      <p:sp>
        <p:nvSpPr>
          <p:cNvPr id="31750" name="Rectangle 6"/>
          <p:cNvSpPr>
            <a:spLocks noChangeArrowheads="1"/>
          </p:cNvSpPr>
          <p:nvPr/>
        </p:nvSpPr>
        <p:spPr bwMode="auto">
          <a:xfrm>
            <a:off x="3962400" y="1600200"/>
            <a:ext cx="1447800" cy="990600"/>
          </a:xfrm>
          <a:prstGeom prst="rect">
            <a:avLst/>
          </a:prstGeom>
          <a:solidFill>
            <a:schemeClr val="folHlink"/>
          </a:solidFill>
          <a:ln w="9525">
            <a:solidFill>
              <a:schemeClr val="tx1"/>
            </a:solidFill>
            <a:miter lim="800000"/>
            <a:headEnd/>
            <a:tailEnd/>
          </a:ln>
        </p:spPr>
        <p:txBody>
          <a:bodyPr wrap="none" anchor="ctr"/>
          <a:lstStyle/>
          <a:p>
            <a:pPr algn="ctr"/>
            <a:r>
              <a:rPr lang="en-US"/>
              <a:t>Variables</a:t>
            </a:r>
          </a:p>
        </p:txBody>
      </p:sp>
      <p:sp>
        <p:nvSpPr>
          <p:cNvPr id="31751" name="Rectangle 7"/>
          <p:cNvSpPr>
            <a:spLocks noChangeArrowheads="1"/>
          </p:cNvSpPr>
          <p:nvPr/>
        </p:nvSpPr>
        <p:spPr bwMode="auto">
          <a:xfrm>
            <a:off x="3962400" y="2819400"/>
            <a:ext cx="1447800" cy="990600"/>
          </a:xfrm>
          <a:prstGeom prst="rect">
            <a:avLst/>
          </a:prstGeom>
          <a:solidFill>
            <a:schemeClr val="folHlink"/>
          </a:solidFill>
          <a:ln w="9525">
            <a:solidFill>
              <a:schemeClr val="tx1"/>
            </a:solidFill>
            <a:miter lim="800000"/>
            <a:headEnd/>
            <a:tailEnd/>
          </a:ln>
        </p:spPr>
        <p:txBody>
          <a:bodyPr wrap="none" anchor="ctr"/>
          <a:lstStyle/>
          <a:p>
            <a:pPr algn="ctr"/>
            <a:r>
              <a:rPr lang="en-US"/>
              <a:t>Codes</a:t>
            </a:r>
          </a:p>
        </p:txBody>
      </p:sp>
      <p:sp>
        <p:nvSpPr>
          <p:cNvPr id="31752" name="Rectangle 8"/>
          <p:cNvSpPr>
            <a:spLocks noChangeArrowheads="1"/>
          </p:cNvSpPr>
          <p:nvPr/>
        </p:nvSpPr>
        <p:spPr bwMode="auto">
          <a:xfrm>
            <a:off x="3962400" y="4038600"/>
            <a:ext cx="1447800" cy="990600"/>
          </a:xfrm>
          <a:prstGeom prst="rect">
            <a:avLst/>
          </a:prstGeom>
          <a:solidFill>
            <a:schemeClr val="folHlink"/>
          </a:solidFill>
          <a:ln w="9525">
            <a:solidFill>
              <a:schemeClr val="tx1"/>
            </a:solidFill>
            <a:miter lim="800000"/>
            <a:headEnd/>
            <a:tailEnd/>
          </a:ln>
        </p:spPr>
        <p:txBody>
          <a:bodyPr wrap="none" anchor="ctr"/>
          <a:lstStyle/>
          <a:p>
            <a:pPr algn="ctr"/>
            <a:r>
              <a:rPr lang="en-US"/>
              <a:t>Categories</a:t>
            </a:r>
          </a:p>
        </p:txBody>
      </p:sp>
      <p:sp>
        <p:nvSpPr>
          <p:cNvPr id="31753" name="Text Box 9"/>
          <p:cNvSpPr txBox="1">
            <a:spLocks noChangeArrowheads="1"/>
          </p:cNvSpPr>
          <p:nvPr/>
        </p:nvSpPr>
        <p:spPr bwMode="auto">
          <a:xfrm>
            <a:off x="1708150" y="914400"/>
            <a:ext cx="1339850" cy="641350"/>
          </a:xfrm>
          <a:prstGeom prst="rect">
            <a:avLst/>
          </a:prstGeom>
          <a:noFill/>
          <a:ln w="9525">
            <a:noFill/>
            <a:miter lim="800000"/>
            <a:headEnd/>
            <a:tailEnd/>
          </a:ln>
        </p:spPr>
        <p:txBody>
          <a:bodyPr wrap="none">
            <a:spAutoFit/>
          </a:bodyPr>
          <a:lstStyle/>
          <a:p>
            <a:r>
              <a:rPr lang="en-US" u="sng"/>
              <a:t>Conceptual</a:t>
            </a:r>
          </a:p>
          <a:p>
            <a:r>
              <a:rPr lang="en-US" u="sng"/>
              <a:t>component</a:t>
            </a:r>
          </a:p>
        </p:txBody>
      </p:sp>
      <p:sp>
        <p:nvSpPr>
          <p:cNvPr id="31754" name="Line 10"/>
          <p:cNvSpPr>
            <a:spLocks noChangeShapeType="1"/>
          </p:cNvSpPr>
          <p:nvPr/>
        </p:nvSpPr>
        <p:spPr bwMode="auto">
          <a:xfrm>
            <a:off x="3200400" y="2057400"/>
            <a:ext cx="762000" cy="0"/>
          </a:xfrm>
          <a:prstGeom prst="line">
            <a:avLst/>
          </a:prstGeom>
          <a:noFill/>
          <a:ln w="38100">
            <a:solidFill>
              <a:schemeClr val="tx1"/>
            </a:solidFill>
            <a:round/>
            <a:headEnd type="triangle" w="med" len="med"/>
            <a:tailEnd/>
          </a:ln>
        </p:spPr>
        <p:txBody>
          <a:bodyPr/>
          <a:lstStyle/>
          <a:p>
            <a:endParaRPr lang="en-US"/>
          </a:p>
        </p:txBody>
      </p:sp>
      <p:sp>
        <p:nvSpPr>
          <p:cNvPr id="31755" name="Line 11"/>
          <p:cNvSpPr>
            <a:spLocks noChangeShapeType="1"/>
          </p:cNvSpPr>
          <p:nvPr/>
        </p:nvSpPr>
        <p:spPr bwMode="auto">
          <a:xfrm flipV="1">
            <a:off x="3200400" y="2362200"/>
            <a:ext cx="762000" cy="990600"/>
          </a:xfrm>
          <a:prstGeom prst="line">
            <a:avLst/>
          </a:prstGeom>
          <a:noFill/>
          <a:ln w="38100">
            <a:solidFill>
              <a:schemeClr val="tx1"/>
            </a:solidFill>
            <a:round/>
            <a:headEnd type="triangle" w="med" len="med"/>
            <a:tailEnd/>
          </a:ln>
        </p:spPr>
        <p:txBody>
          <a:bodyPr/>
          <a:lstStyle/>
          <a:p>
            <a:endParaRPr lang="en-US"/>
          </a:p>
        </p:txBody>
      </p:sp>
      <p:sp>
        <p:nvSpPr>
          <p:cNvPr id="31756" name="Text Box 12"/>
          <p:cNvSpPr txBox="1">
            <a:spLocks noChangeArrowheads="1"/>
          </p:cNvSpPr>
          <p:nvPr/>
        </p:nvSpPr>
        <p:spPr bwMode="auto">
          <a:xfrm>
            <a:off x="4159250" y="874713"/>
            <a:ext cx="946150" cy="641350"/>
          </a:xfrm>
          <a:prstGeom prst="rect">
            <a:avLst/>
          </a:prstGeom>
          <a:noFill/>
          <a:ln w="9525">
            <a:noFill/>
            <a:miter lim="800000"/>
            <a:headEnd/>
            <a:tailEnd/>
          </a:ln>
        </p:spPr>
        <p:txBody>
          <a:bodyPr wrap="none">
            <a:spAutoFit/>
          </a:bodyPr>
          <a:lstStyle/>
          <a:p>
            <a:r>
              <a:rPr lang="en-US" u="sng"/>
              <a:t>Logical</a:t>
            </a:r>
          </a:p>
          <a:p>
            <a:r>
              <a:rPr lang="en-US" u="sng"/>
              <a:t>product</a:t>
            </a:r>
          </a:p>
        </p:txBody>
      </p:sp>
      <p:sp>
        <p:nvSpPr>
          <p:cNvPr id="31757" name="Text Box 13"/>
          <p:cNvSpPr txBox="1">
            <a:spLocks noChangeArrowheads="1"/>
          </p:cNvSpPr>
          <p:nvPr/>
        </p:nvSpPr>
        <p:spPr bwMode="auto">
          <a:xfrm>
            <a:off x="1584325" y="4191000"/>
            <a:ext cx="1682750" cy="366713"/>
          </a:xfrm>
          <a:prstGeom prst="rect">
            <a:avLst/>
          </a:prstGeom>
          <a:noFill/>
          <a:ln w="9525">
            <a:noFill/>
            <a:miter lim="800000"/>
            <a:headEnd/>
            <a:tailEnd/>
          </a:ln>
        </p:spPr>
        <p:txBody>
          <a:bodyPr wrap="none">
            <a:spAutoFit/>
          </a:bodyPr>
          <a:lstStyle/>
          <a:p>
            <a:r>
              <a:rPr lang="en-US" u="sng"/>
              <a:t>Data collection</a:t>
            </a:r>
          </a:p>
        </p:txBody>
      </p:sp>
      <p:sp>
        <p:nvSpPr>
          <p:cNvPr id="31758" name="Rectangle 14"/>
          <p:cNvSpPr>
            <a:spLocks noChangeArrowheads="1"/>
          </p:cNvSpPr>
          <p:nvPr/>
        </p:nvSpPr>
        <p:spPr bwMode="auto">
          <a:xfrm>
            <a:off x="1676400" y="4648200"/>
            <a:ext cx="1524000" cy="1066800"/>
          </a:xfrm>
          <a:prstGeom prst="rect">
            <a:avLst/>
          </a:prstGeom>
          <a:solidFill>
            <a:srgbClr val="FF33CC"/>
          </a:solidFill>
          <a:ln w="9525">
            <a:solidFill>
              <a:schemeClr val="tx1"/>
            </a:solidFill>
            <a:miter lim="800000"/>
            <a:headEnd/>
            <a:tailEnd/>
          </a:ln>
        </p:spPr>
        <p:txBody>
          <a:bodyPr wrap="none" anchor="ctr"/>
          <a:lstStyle/>
          <a:p>
            <a:pPr algn="ctr"/>
            <a:r>
              <a:rPr lang="en-US"/>
              <a:t>Questions</a:t>
            </a:r>
          </a:p>
        </p:txBody>
      </p:sp>
      <p:sp>
        <p:nvSpPr>
          <p:cNvPr id="31759" name="Line 15"/>
          <p:cNvSpPr>
            <a:spLocks noChangeShapeType="1"/>
          </p:cNvSpPr>
          <p:nvPr/>
        </p:nvSpPr>
        <p:spPr bwMode="auto">
          <a:xfrm flipV="1">
            <a:off x="3200400" y="2514600"/>
            <a:ext cx="762000" cy="2209800"/>
          </a:xfrm>
          <a:prstGeom prst="line">
            <a:avLst/>
          </a:prstGeom>
          <a:noFill/>
          <a:ln w="38100">
            <a:solidFill>
              <a:schemeClr val="tx1"/>
            </a:solidFill>
            <a:round/>
            <a:headEnd type="triangle" w="med" len="med"/>
            <a:tailEnd/>
          </a:ln>
        </p:spPr>
        <p:txBody>
          <a:bodyPr/>
          <a:lstStyle/>
          <a:p>
            <a:endParaRPr lang="en-US"/>
          </a:p>
        </p:txBody>
      </p:sp>
      <p:sp>
        <p:nvSpPr>
          <p:cNvPr id="31760" name="Line 16"/>
          <p:cNvSpPr>
            <a:spLocks noChangeShapeType="1"/>
          </p:cNvSpPr>
          <p:nvPr/>
        </p:nvSpPr>
        <p:spPr bwMode="auto">
          <a:xfrm>
            <a:off x="3200400" y="5791200"/>
            <a:ext cx="0" cy="0"/>
          </a:xfrm>
          <a:prstGeom prst="line">
            <a:avLst/>
          </a:prstGeom>
          <a:noFill/>
          <a:ln w="9525">
            <a:solidFill>
              <a:schemeClr val="tx1"/>
            </a:solidFill>
            <a:round/>
            <a:headEnd/>
            <a:tailEnd/>
          </a:ln>
        </p:spPr>
        <p:txBody>
          <a:bodyPr/>
          <a:lstStyle/>
          <a:p>
            <a:endParaRPr lang="en-US"/>
          </a:p>
        </p:txBody>
      </p:sp>
      <p:sp>
        <p:nvSpPr>
          <p:cNvPr id="31761" name="Line 17"/>
          <p:cNvSpPr>
            <a:spLocks noChangeShapeType="1"/>
          </p:cNvSpPr>
          <p:nvPr/>
        </p:nvSpPr>
        <p:spPr bwMode="auto">
          <a:xfrm flipV="1">
            <a:off x="3200400" y="3581400"/>
            <a:ext cx="762000" cy="1524000"/>
          </a:xfrm>
          <a:prstGeom prst="line">
            <a:avLst/>
          </a:prstGeom>
          <a:noFill/>
          <a:ln w="38100">
            <a:solidFill>
              <a:schemeClr val="tx1"/>
            </a:solidFill>
            <a:round/>
            <a:headEnd/>
            <a:tailEnd type="triangle" w="med" len="med"/>
          </a:ln>
        </p:spPr>
        <p:txBody>
          <a:bodyPr/>
          <a:lstStyle/>
          <a:p>
            <a:endParaRPr lang="en-US"/>
          </a:p>
        </p:txBody>
      </p:sp>
      <p:sp>
        <p:nvSpPr>
          <p:cNvPr id="31762" name="Line 18"/>
          <p:cNvSpPr>
            <a:spLocks noChangeShapeType="1"/>
          </p:cNvSpPr>
          <p:nvPr/>
        </p:nvSpPr>
        <p:spPr bwMode="auto">
          <a:xfrm flipH="1">
            <a:off x="1295400" y="2514600"/>
            <a:ext cx="457200" cy="1524000"/>
          </a:xfrm>
          <a:prstGeom prst="line">
            <a:avLst/>
          </a:prstGeom>
          <a:noFill/>
          <a:ln w="38100">
            <a:solidFill>
              <a:schemeClr val="tx1"/>
            </a:solidFill>
            <a:round/>
            <a:headEnd type="triangle" w="med" len="med"/>
            <a:tailEnd/>
          </a:ln>
        </p:spPr>
        <p:txBody>
          <a:bodyPr/>
          <a:lstStyle/>
          <a:p>
            <a:endParaRPr lang="en-US"/>
          </a:p>
        </p:txBody>
      </p:sp>
      <p:sp>
        <p:nvSpPr>
          <p:cNvPr id="31763" name="Line 19"/>
          <p:cNvSpPr>
            <a:spLocks noChangeShapeType="1"/>
          </p:cNvSpPr>
          <p:nvPr/>
        </p:nvSpPr>
        <p:spPr bwMode="auto">
          <a:xfrm>
            <a:off x="1295400" y="4038600"/>
            <a:ext cx="381000" cy="1066800"/>
          </a:xfrm>
          <a:prstGeom prst="line">
            <a:avLst/>
          </a:prstGeom>
          <a:noFill/>
          <a:ln w="38100">
            <a:solidFill>
              <a:schemeClr val="tx1"/>
            </a:solidFill>
            <a:round/>
            <a:headEnd/>
            <a:tailEnd/>
          </a:ln>
        </p:spPr>
        <p:txBody>
          <a:bodyPr/>
          <a:lstStyle/>
          <a:p>
            <a:endParaRPr lang="en-US"/>
          </a:p>
        </p:txBody>
      </p:sp>
      <p:sp>
        <p:nvSpPr>
          <p:cNvPr id="31764" name="Text Box 20"/>
          <p:cNvSpPr txBox="1">
            <a:spLocks noChangeArrowheads="1"/>
          </p:cNvSpPr>
          <p:nvPr/>
        </p:nvSpPr>
        <p:spPr bwMode="auto">
          <a:xfrm>
            <a:off x="5851525" y="882650"/>
            <a:ext cx="1543050" cy="641350"/>
          </a:xfrm>
          <a:prstGeom prst="rect">
            <a:avLst/>
          </a:prstGeom>
          <a:noFill/>
          <a:ln w="9525">
            <a:noFill/>
            <a:miter lim="800000"/>
            <a:headEnd/>
            <a:tailEnd/>
          </a:ln>
        </p:spPr>
        <p:txBody>
          <a:bodyPr wrap="none">
            <a:spAutoFit/>
          </a:bodyPr>
          <a:lstStyle/>
          <a:p>
            <a:r>
              <a:rPr lang="en-US" u="sng"/>
              <a:t>Physical data</a:t>
            </a:r>
          </a:p>
          <a:p>
            <a:r>
              <a:rPr lang="en-US" u="sng"/>
              <a:t>product</a:t>
            </a:r>
          </a:p>
        </p:txBody>
      </p:sp>
      <p:sp>
        <p:nvSpPr>
          <p:cNvPr id="31765" name="Rectangle 21"/>
          <p:cNvSpPr>
            <a:spLocks noChangeArrowheads="1"/>
          </p:cNvSpPr>
          <p:nvPr/>
        </p:nvSpPr>
        <p:spPr bwMode="auto">
          <a:xfrm>
            <a:off x="5943600" y="1676400"/>
            <a:ext cx="1371600" cy="990600"/>
          </a:xfrm>
          <a:prstGeom prst="rect">
            <a:avLst/>
          </a:prstGeom>
          <a:solidFill>
            <a:srgbClr val="00CC99"/>
          </a:solidFill>
          <a:ln w="9525">
            <a:solidFill>
              <a:schemeClr val="tx1"/>
            </a:solidFill>
            <a:miter lim="800000"/>
            <a:headEnd/>
            <a:tailEnd/>
          </a:ln>
        </p:spPr>
        <p:txBody>
          <a:bodyPr wrap="none" anchor="ctr"/>
          <a:lstStyle/>
          <a:p>
            <a:pPr algn="ctr"/>
            <a:r>
              <a:rPr lang="en-US"/>
              <a:t>Record</a:t>
            </a:r>
          </a:p>
          <a:p>
            <a:pPr algn="ctr"/>
            <a:r>
              <a:rPr lang="en-US"/>
              <a:t>Layout</a:t>
            </a:r>
          </a:p>
        </p:txBody>
      </p:sp>
      <p:sp>
        <p:nvSpPr>
          <p:cNvPr id="31766" name="Rectangle 22"/>
          <p:cNvSpPr>
            <a:spLocks noChangeArrowheads="1"/>
          </p:cNvSpPr>
          <p:nvPr/>
        </p:nvSpPr>
        <p:spPr bwMode="auto">
          <a:xfrm>
            <a:off x="1676400" y="990600"/>
            <a:ext cx="1600200" cy="3048000"/>
          </a:xfrm>
          <a:prstGeom prst="rect">
            <a:avLst/>
          </a:prstGeom>
          <a:noFill/>
          <a:ln w="19050">
            <a:solidFill>
              <a:srgbClr val="FF0000"/>
            </a:solidFill>
            <a:miter lim="800000"/>
            <a:headEnd/>
            <a:tailEnd/>
          </a:ln>
        </p:spPr>
        <p:txBody>
          <a:bodyPr wrap="none" anchor="ctr"/>
          <a:lstStyle/>
          <a:p>
            <a:endParaRPr lang="en-US"/>
          </a:p>
        </p:txBody>
      </p:sp>
      <p:sp>
        <p:nvSpPr>
          <p:cNvPr id="31767" name="Rectangle 23"/>
          <p:cNvSpPr>
            <a:spLocks noChangeArrowheads="1"/>
          </p:cNvSpPr>
          <p:nvPr/>
        </p:nvSpPr>
        <p:spPr bwMode="auto">
          <a:xfrm>
            <a:off x="1600200" y="4191000"/>
            <a:ext cx="1676400" cy="1752600"/>
          </a:xfrm>
          <a:prstGeom prst="rect">
            <a:avLst/>
          </a:prstGeom>
          <a:noFill/>
          <a:ln w="19050">
            <a:solidFill>
              <a:srgbClr val="FF0000"/>
            </a:solidFill>
            <a:miter lim="800000"/>
            <a:headEnd/>
            <a:tailEnd/>
          </a:ln>
        </p:spPr>
        <p:txBody>
          <a:bodyPr wrap="none" anchor="ctr"/>
          <a:lstStyle/>
          <a:p>
            <a:endParaRPr lang="en-US"/>
          </a:p>
        </p:txBody>
      </p:sp>
      <p:sp>
        <p:nvSpPr>
          <p:cNvPr id="31768" name="Rectangle 24"/>
          <p:cNvSpPr>
            <a:spLocks noChangeArrowheads="1"/>
          </p:cNvSpPr>
          <p:nvPr/>
        </p:nvSpPr>
        <p:spPr bwMode="auto">
          <a:xfrm>
            <a:off x="3810000" y="914400"/>
            <a:ext cx="1752600" cy="4267200"/>
          </a:xfrm>
          <a:prstGeom prst="rect">
            <a:avLst/>
          </a:prstGeom>
          <a:noFill/>
          <a:ln w="19050">
            <a:solidFill>
              <a:srgbClr val="FF0000"/>
            </a:solidFill>
            <a:miter lim="800000"/>
            <a:headEnd/>
            <a:tailEnd/>
          </a:ln>
        </p:spPr>
        <p:txBody>
          <a:bodyPr wrap="none" anchor="ctr"/>
          <a:lstStyle/>
          <a:p>
            <a:endParaRPr lang="en-US"/>
          </a:p>
        </p:txBody>
      </p:sp>
      <p:sp>
        <p:nvSpPr>
          <p:cNvPr id="31769" name="Rectangle 25"/>
          <p:cNvSpPr>
            <a:spLocks noChangeArrowheads="1"/>
          </p:cNvSpPr>
          <p:nvPr/>
        </p:nvSpPr>
        <p:spPr bwMode="auto">
          <a:xfrm>
            <a:off x="5791200" y="914400"/>
            <a:ext cx="1600200" cy="1981200"/>
          </a:xfrm>
          <a:prstGeom prst="rect">
            <a:avLst/>
          </a:prstGeom>
          <a:noFill/>
          <a:ln w="19050">
            <a:solidFill>
              <a:srgbClr val="FF0000"/>
            </a:solidFill>
            <a:miter lim="800000"/>
            <a:headEnd/>
            <a:tailEnd/>
          </a:ln>
        </p:spPr>
        <p:txBody>
          <a:bodyPr wrap="none" anchor="ctr"/>
          <a:lstStyle/>
          <a:p>
            <a:endParaRPr lang="en-US"/>
          </a:p>
        </p:txBody>
      </p:sp>
      <p:sp>
        <p:nvSpPr>
          <p:cNvPr id="31770" name="Line 26"/>
          <p:cNvSpPr>
            <a:spLocks noChangeShapeType="1"/>
          </p:cNvSpPr>
          <p:nvPr/>
        </p:nvSpPr>
        <p:spPr bwMode="auto">
          <a:xfrm>
            <a:off x="5562600" y="1295400"/>
            <a:ext cx="228600" cy="0"/>
          </a:xfrm>
          <a:prstGeom prst="line">
            <a:avLst/>
          </a:prstGeom>
          <a:noFill/>
          <a:ln w="38100">
            <a:solidFill>
              <a:schemeClr val="tx1"/>
            </a:solidFill>
            <a:round/>
            <a:headEnd type="triangle" w="med" len="med"/>
            <a:tailEnd/>
          </a:ln>
        </p:spPr>
        <p:txBody>
          <a:bodyPr/>
          <a:lstStyle/>
          <a:p>
            <a:endParaRPr lang="en-US"/>
          </a:p>
        </p:txBody>
      </p:sp>
      <p:sp>
        <p:nvSpPr>
          <p:cNvPr id="31771" name="Text Box 27"/>
          <p:cNvSpPr txBox="1">
            <a:spLocks noChangeArrowheads="1"/>
          </p:cNvSpPr>
          <p:nvPr/>
        </p:nvSpPr>
        <p:spPr bwMode="auto">
          <a:xfrm>
            <a:off x="6232525" y="3694113"/>
            <a:ext cx="1035050" cy="641350"/>
          </a:xfrm>
          <a:prstGeom prst="rect">
            <a:avLst/>
          </a:prstGeom>
          <a:noFill/>
          <a:ln w="9525">
            <a:noFill/>
            <a:miter lim="800000"/>
            <a:headEnd/>
            <a:tailEnd/>
          </a:ln>
        </p:spPr>
        <p:txBody>
          <a:bodyPr wrap="none">
            <a:spAutoFit/>
          </a:bodyPr>
          <a:lstStyle/>
          <a:p>
            <a:r>
              <a:rPr lang="en-US" u="sng"/>
              <a:t>Physical</a:t>
            </a:r>
          </a:p>
          <a:p>
            <a:r>
              <a:rPr lang="en-US" u="sng"/>
              <a:t>instance</a:t>
            </a:r>
          </a:p>
        </p:txBody>
      </p:sp>
      <p:sp>
        <p:nvSpPr>
          <p:cNvPr id="31772" name="Rectangle 28"/>
          <p:cNvSpPr>
            <a:spLocks noChangeArrowheads="1"/>
          </p:cNvSpPr>
          <p:nvPr/>
        </p:nvSpPr>
        <p:spPr bwMode="auto">
          <a:xfrm>
            <a:off x="6172200" y="4495800"/>
            <a:ext cx="1371600" cy="990600"/>
          </a:xfrm>
          <a:prstGeom prst="rect">
            <a:avLst/>
          </a:prstGeom>
          <a:solidFill>
            <a:srgbClr val="3366CC"/>
          </a:solidFill>
          <a:ln w="9525">
            <a:solidFill>
              <a:schemeClr val="tx1"/>
            </a:solidFill>
            <a:miter lim="800000"/>
            <a:headEnd/>
            <a:tailEnd/>
          </a:ln>
        </p:spPr>
        <p:txBody>
          <a:bodyPr wrap="none" anchor="ctr"/>
          <a:lstStyle/>
          <a:p>
            <a:pPr algn="ctr"/>
            <a:r>
              <a:rPr lang="en-US"/>
              <a:t>Category</a:t>
            </a:r>
          </a:p>
          <a:p>
            <a:pPr algn="ctr"/>
            <a:r>
              <a:rPr lang="en-US"/>
              <a:t>Stats</a:t>
            </a:r>
          </a:p>
        </p:txBody>
      </p:sp>
      <p:sp>
        <p:nvSpPr>
          <p:cNvPr id="31773" name="Rectangle 29"/>
          <p:cNvSpPr>
            <a:spLocks noChangeArrowheads="1"/>
          </p:cNvSpPr>
          <p:nvPr/>
        </p:nvSpPr>
        <p:spPr bwMode="auto">
          <a:xfrm>
            <a:off x="6096000" y="3657600"/>
            <a:ext cx="1524000" cy="1981200"/>
          </a:xfrm>
          <a:prstGeom prst="rect">
            <a:avLst/>
          </a:prstGeom>
          <a:noFill/>
          <a:ln w="19050">
            <a:solidFill>
              <a:srgbClr val="FF0000"/>
            </a:solidFill>
            <a:miter lim="800000"/>
            <a:headEnd/>
            <a:tailEnd/>
          </a:ln>
        </p:spPr>
        <p:txBody>
          <a:bodyPr wrap="none" anchor="ctr"/>
          <a:lstStyle/>
          <a:p>
            <a:endParaRPr lang="en-US"/>
          </a:p>
        </p:txBody>
      </p:sp>
      <p:sp>
        <p:nvSpPr>
          <p:cNvPr id="31774" name="Line 30"/>
          <p:cNvSpPr>
            <a:spLocks noChangeShapeType="1"/>
          </p:cNvSpPr>
          <p:nvPr/>
        </p:nvSpPr>
        <p:spPr bwMode="auto">
          <a:xfrm>
            <a:off x="6477000" y="2895600"/>
            <a:ext cx="152400" cy="762000"/>
          </a:xfrm>
          <a:prstGeom prst="line">
            <a:avLst/>
          </a:prstGeom>
          <a:noFill/>
          <a:ln w="38100">
            <a:solidFill>
              <a:schemeClr val="tx1"/>
            </a:solidFill>
            <a:round/>
            <a:headEnd type="triangle" w="med" len="med"/>
            <a:tailEnd/>
          </a:ln>
        </p:spPr>
        <p:txBody>
          <a:bodyPr/>
          <a:lstStyle/>
          <a:p>
            <a:endParaRPr lang="en-US"/>
          </a:p>
        </p:txBody>
      </p:sp>
      <p:sp>
        <p:nvSpPr>
          <p:cNvPr id="31775" name="Text Box 31"/>
          <p:cNvSpPr txBox="1">
            <a:spLocks noChangeArrowheads="1"/>
          </p:cNvSpPr>
          <p:nvPr/>
        </p:nvSpPr>
        <p:spPr bwMode="auto">
          <a:xfrm>
            <a:off x="212725" y="188913"/>
            <a:ext cx="6186488" cy="369887"/>
          </a:xfrm>
          <a:prstGeom prst="rect">
            <a:avLst/>
          </a:prstGeom>
          <a:noFill/>
          <a:ln w="9525">
            <a:noFill/>
            <a:miter lim="800000"/>
            <a:headEnd/>
            <a:tailEnd/>
          </a:ln>
        </p:spPr>
        <p:txBody>
          <a:bodyPr wrap="none">
            <a:spAutoFit/>
          </a:bodyPr>
          <a:lstStyle/>
          <a:p>
            <a:r>
              <a:rPr lang="en-US" b="1"/>
              <a:t>American National Election Study Example: Schematic</a:t>
            </a:r>
          </a:p>
        </p:txBody>
      </p:sp>
      <p:sp>
        <p:nvSpPr>
          <p:cNvPr id="31776" name="Line 32"/>
          <p:cNvSpPr>
            <a:spLocks noChangeShapeType="1"/>
          </p:cNvSpPr>
          <p:nvPr/>
        </p:nvSpPr>
        <p:spPr bwMode="auto">
          <a:xfrm flipV="1">
            <a:off x="4648200" y="3810000"/>
            <a:ext cx="0" cy="228600"/>
          </a:xfrm>
          <a:prstGeom prst="line">
            <a:avLst/>
          </a:prstGeom>
          <a:noFill/>
          <a:ln w="28575">
            <a:solidFill>
              <a:schemeClr val="tx1"/>
            </a:solidFill>
            <a:round/>
            <a:headEnd/>
            <a:tailEnd type="triangle" w="med" len="med"/>
          </a:ln>
        </p:spPr>
        <p:txBody>
          <a:bodyPr/>
          <a:lstStyle/>
          <a:p>
            <a:endParaRPr lang="en-US"/>
          </a:p>
        </p:txBody>
      </p:sp>
      <p:sp>
        <p:nvSpPr>
          <p:cNvPr id="31777" name="Line 33"/>
          <p:cNvSpPr>
            <a:spLocks noChangeShapeType="1"/>
          </p:cNvSpPr>
          <p:nvPr/>
        </p:nvSpPr>
        <p:spPr bwMode="auto">
          <a:xfrm flipH="1" flipV="1">
            <a:off x="4648200" y="2590800"/>
            <a:ext cx="0" cy="228600"/>
          </a:xfrm>
          <a:prstGeom prst="line">
            <a:avLst/>
          </a:prstGeom>
          <a:noFill/>
          <a:ln w="28575">
            <a:solidFill>
              <a:schemeClr val="tx1"/>
            </a:solidFill>
            <a:round/>
            <a:headEnd/>
            <a:tailEnd type="triangle" w="med" len="med"/>
          </a:ln>
        </p:spPr>
        <p:txBody>
          <a:bodyPr/>
          <a:lstStyle/>
          <a:p>
            <a:endParaRPr lang="en-US"/>
          </a:p>
        </p:txBody>
      </p:sp>
      <p:sp>
        <p:nvSpPr>
          <p:cNvPr id="31778" name="Rectangle 34"/>
          <p:cNvSpPr>
            <a:spLocks noChangeArrowheads="1"/>
          </p:cNvSpPr>
          <p:nvPr/>
        </p:nvSpPr>
        <p:spPr bwMode="auto">
          <a:xfrm>
            <a:off x="609600" y="685800"/>
            <a:ext cx="8153400" cy="5562600"/>
          </a:xfrm>
          <a:prstGeom prst="rect">
            <a:avLst/>
          </a:prstGeom>
          <a:noFill/>
          <a:ln w="38100">
            <a:solidFill>
              <a:srgbClr val="FF0000"/>
            </a:solidFill>
            <a:miter lim="800000"/>
            <a:headEnd/>
            <a:tailEnd/>
          </a:ln>
        </p:spPr>
        <p:txBody>
          <a:bodyPr wrap="none" anchor="ctr"/>
          <a:lstStyle/>
          <a:p>
            <a:endParaRPr lang="en-US"/>
          </a:p>
        </p:txBody>
      </p:sp>
      <p:sp>
        <p:nvSpPr>
          <p:cNvPr id="31779" name="Line 35"/>
          <p:cNvSpPr>
            <a:spLocks noChangeShapeType="1"/>
          </p:cNvSpPr>
          <p:nvPr/>
        </p:nvSpPr>
        <p:spPr bwMode="auto">
          <a:xfrm flipH="1">
            <a:off x="3200400" y="4648200"/>
            <a:ext cx="762000" cy="838200"/>
          </a:xfrm>
          <a:prstGeom prst="line">
            <a:avLst/>
          </a:prstGeom>
          <a:noFill/>
          <a:ln w="38100">
            <a:solidFill>
              <a:schemeClr val="tx1"/>
            </a:solidFill>
            <a:round/>
            <a:headEnd type="triangle" w="med" len="med"/>
            <a:tailEnd/>
          </a:ln>
        </p:spPr>
        <p:txBody>
          <a:bodyPr/>
          <a:lstStyle/>
          <a:p>
            <a:endParaRPr lang="en-US"/>
          </a:p>
        </p:txBody>
      </p:sp>
      <p:sp>
        <p:nvSpPr>
          <p:cNvPr id="31780" name="TextBox 35"/>
          <p:cNvSpPr txBox="1">
            <a:spLocks noChangeArrowheads="1"/>
          </p:cNvSpPr>
          <p:nvPr/>
        </p:nvSpPr>
        <p:spPr bwMode="auto">
          <a:xfrm>
            <a:off x="609600" y="685800"/>
            <a:ext cx="1249363" cy="369888"/>
          </a:xfrm>
          <a:prstGeom prst="rect">
            <a:avLst/>
          </a:prstGeom>
          <a:noFill/>
          <a:ln w="9525">
            <a:noFill/>
            <a:miter lim="800000"/>
            <a:headEnd/>
            <a:tailEnd/>
          </a:ln>
        </p:spPr>
        <p:txBody>
          <a:bodyPr wrap="none">
            <a:spAutoFit/>
          </a:bodyPr>
          <a:lstStyle/>
          <a:p>
            <a:r>
              <a:rPr lang="en-US"/>
              <a:t>Study Unit</a:t>
            </a:r>
          </a:p>
        </p:txBody>
      </p:sp>
      <p:sp>
        <p:nvSpPr>
          <p:cNvPr id="31781" name="Date Placeholder 36"/>
          <p:cNvSpPr>
            <a:spLocks noGrp="1"/>
          </p:cNvSpPr>
          <p:nvPr>
            <p:ph type="dt" sz="half" idx="10"/>
          </p:nvPr>
        </p:nvSpPr>
        <p:spPr>
          <a:noFill/>
        </p:spPr>
        <p:txBody>
          <a:bodyPr/>
          <a:lstStyle/>
          <a:p>
            <a:r>
              <a:rPr lang="en-US" smtClean="0"/>
              <a:t>S09</a:t>
            </a:r>
          </a:p>
        </p:txBody>
      </p:sp>
      <p:sp>
        <p:nvSpPr>
          <p:cNvPr id="31782" name="Slide Number Placeholder 37"/>
          <p:cNvSpPr>
            <a:spLocks noGrp="1"/>
          </p:cNvSpPr>
          <p:nvPr>
            <p:ph type="sldNum" sz="quarter" idx="12"/>
          </p:nvPr>
        </p:nvSpPr>
        <p:spPr>
          <a:noFill/>
        </p:spPr>
        <p:txBody>
          <a:bodyPr/>
          <a:lstStyle/>
          <a:p>
            <a:fld id="{266EB343-F4C3-47E1-903A-2C67EA789B5F}" type="slidenum">
              <a:rPr lang="en-US" smtClean="0"/>
              <a:pPr/>
              <a:t>29</a:t>
            </a:fld>
            <a:endParaRPr 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571500"/>
            <a:ext cx="9144000" cy="0"/>
          </a:xfrm>
          <a:prstGeom prst="rect">
            <a:avLst/>
          </a:prstGeom>
          <a:noFill/>
          <a:ln w="9525">
            <a:noFill/>
            <a:miter lim="800000"/>
            <a:headEnd/>
            <a:tailEnd/>
          </a:ln>
        </p:spPr>
        <p:txBody>
          <a:bodyPr wrap="none" anchor="ctr">
            <a:spAutoFit/>
          </a:bodyPr>
          <a:lstStyle/>
          <a:p>
            <a:endParaRPr lang="en-US"/>
          </a:p>
        </p:txBody>
      </p:sp>
      <p:grpSp>
        <p:nvGrpSpPr>
          <p:cNvPr id="2" name="Group 3"/>
          <p:cNvGrpSpPr>
            <a:grpSpLocks noChangeAspect="1"/>
          </p:cNvGrpSpPr>
          <p:nvPr/>
        </p:nvGrpSpPr>
        <p:grpSpPr bwMode="auto">
          <a:xfrm>
            <a:off x="457200" y="533400"/>
            <a:ext cx="8229600" cy="5943600"/>
            <a:chOff x="4327" y="3750"/>
            <a:chExt cx="7200" cy="5259"/>
          </a:xfrm>
        </p:grpSpPr>
        <p:sp>
          <p:nvSpPr>
            <p:cNvPr id="12297" name="AutoShape 4"/>
            <p:cNvSpPr>
              <a:spLocks noChangeAspect="1" noChangeArrowheads="1" noTextEdit="1"/>
            </p:cNvSpPr>
            <p:nvPr/>
          </p:nvSpPr>
          <p:spPr bwMode="auto">
            <a:xfrm>
              <a:off x="4327" y="3750"/>
              <a:ext cx="7200" cy="5023"/>
            </a:xfrm>
            <a:prstGeom prst="rect">
              <a:avLst/>
            </a:prstGeom>
            <a:noFill/>
            <a:ln w="9525">
              <a:noFill/>
              <a:miter lim="800000"/>
              <a:headEnd/>
              <a:tailEnd/>
            </a:ln>
          </p:spPr>
          <p:txBody>
            <a:bodyPr/>
            <a:lstStyle/>
            <a:p>
              <a:endParaRPr lang="en-US"/>
            </a:p>
          </p:txBody>
        </p:sp>
        <p:sp>
          <p:nvSpPr>
            <p:cNvPr id="12298" name="Rectangle 5" descr="10%"/>
            <p:cNvSpPr>
              <a:spLocks noChangeArrowheads="1"/>
            </p:cNvSpPr>
            <p:nvPr/>
          </p:nvSpPr>
          <p:spPr bwMode="auto">
            <a:xfrm>
              <a:off x="9727" y="7567"/>
              <a:ext cx="1400" cy="1005"/>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299" name="Rectangle 6" descr="10%"/>
            <p:cNvSpPr>
              <a:spLocks noChangeArrowheads="1"/>
            </p:cNvSpPr>
            <p:nvPr/>
          </p:nvSpPr>
          <p:spPr bwMode="auto">
            <a:xfrm>
              <a:off x="9727" y="6262"/>
              <a:ext cx="1400" cy="1004"/>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0" name="Rectangle 7" descr="10%"/>
            <p:cNvSpPr>
              <a:spLocks noChangeArrowheads="1"/>
            </p:cNvSpPr>
            <p:nvPr/>
          </p:nvSpPr>
          <p:spPr bwMode="auto">
            <a:xfrm>
              <a:off x="9727" y="4051"/>
              <a:ext cx="1400" cy="2010"/>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1" name="Rectangle 8" descr="10%"/>
            <p:cNvSpPr>
              <a:spLocks noChangeArrowheads="1"/>
            </p:cNvSpPr>
            <p:nvPr/>
          </p:nvSpPr>
          <p:spPr bwMode="auto">
            <a:xfrm>
              <a:off x="8027" y="4051"/>
              <a:ext cx="1300" cy="3317"/>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2" name="Rectangle 9" descr="10%"/>
            <p:cNvSpPr>
              <a:spLocks noChangeArrowheads="1"/>
            </p:cNvSpPr>
            <p:nvPr/>
          </p:nvSpPr>
          <p:spPr bwMode="auto">
            <a:xfrm>
              <a:off x="6227" y="4051"/>
              <a:ext cx="1500" cy="1809"/>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3" name="Rectangle 10" descr="10%"/>
            <p:cNvSpPr>
              <a:spLocks noChangeArrowheads="1"/>
            </p:cNvSpPr>
            <p:nvPr/>
          </p:nvSpPr>
          <p:spPr bwMode="auto">
            <a:xfrm>
              <a:off x="6227" y="6061"/>
              <a:ext cx="1500" cy="2948"/>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4" name="Rectangle 11" descr="10%"/>
            <p:cNvSpPr>
              <a:spLocks noChangeArrowheads="1"/>
            </p:cNvSpPr>
            <p:nvPr/>
          </p:nvSpPr>
          <p:spPr bwMode="auto">
            <a:xfrm>
              <a:off x="4427" y="4051"/>
              <a:ext cx="1300" cy="3919"/>
            </a:xfrm>
            <a:prstGeom prst="rect">
              <a:avLst/>
            </a:prstGeom>
            <a:pattFill prst="pct10">
              <a:fgClr>
                <a:srgbClr val="000000"/>
              </a:fgClr>
              <a:bgClr>
                <a:srgbClr val="FFFFFF"/>
              </a:bgClr>
            </a:pattFill>
            <a:ln w="38100" cmpd="dbl">
              <a:solidFill>
                <a:srgbClr val="000000"/>
              </a:solidFill>
              <a:miter lim="800000"/>
              <a:headEnd/>
              <a:tailEnd/>
            </a:ln>
          </p:spPr>
          <p:txBody>
            <a:bodyPr/>
            <a:lstStyle/>
            <a:p>
              <a:endParaRPr lang="en-US"/>
            </a:p>
          </p:txBody>
        </p:sp>
        <p:sp>
          <p:nvSpPr>
            <p:cNvPr id="12305" name="Text Box 12"/>
            <p:cNvSpPr txBox="1">
              <a:spLocks noChangeArrowheads="1"/>
            </p:cNvSpPr>
            <p:nvPr/>
          </p:nvSpPr>
          <p:spPr bwMode="auto">
            <a:xfrm>
              <a:off x="4527" y="4453"/>
              <a:ext cx="1000" cy="403"/>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Universe </a:t>
              </a:r>
              <a:endParaRPr lang="en-US" sz="900"/>
            </a:p>
            <a:p>
              <a:pPr eaLnBrk="0" hangingPunct="0"/>
              <a:r>
                <a:rPr lang="en-US" sz="1200">
                  <a:cs typeface="Times New Roman" pitchFamily="18" charset="0"/>
                </a:rPr>
                <a:t>Scheme</a:t>
              </a:r>
              <a:endParaRPr lang="en-US"/>
            </a:p>
          </p:txBody>
        </p:sp>
        <p:sp>
          <p:nvSpPr>
            <p:cNvPr id="12306" name="Text Box 13"/>
            <p:cNvSpPr txBox="1">
              <a:spLocks noChangeArrowheads="1"/>
            </p:cNvSpPr>
            <p:nvPr/>
          </p:nvSpPr>
          <p:spPr bwMode="auto">
            <a:xfrm>
              <a:off x="4527" y="5056"/>
              <a:ext cx="1000" cy="503"/>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Concept</a:t>
              </a:r>
              <a:endParaRPr lang="en-US" sz="900"/>
            </a:p>
            <a:p>
              <a:pPr eaLnBrk="0" hangingPunct="0"/>
              <a:r>
                <a:rPr lang="en-US" sz="1200">
                  <a:cs typeface="Times New Roman" pitchFamily="18" charset="0"/>
                </a:rPr>
                <a:t>Scheme</a:t>
              </a:r>
              <a:endParaRPr lang="en-US"/>
            </a:p>
          </p:txBody>
        </p:sp>
        <p:sp>
          <p:nvSpPr>
            <p:cNvPr id="12307" name="Text Box 14" descr="Wide upward diagonal"/>
            <p:cNvSpPr txBox="1">
              <a:spLocks noChangeArrowheads="1"/>
            </p:cNvSpPr>
            <p:nvPr/>
          </p:nvSpPr>
          <p:spPr bwMode="auto">
            <a:xfrm>
              <a:off x="4527" y="5860"/>
              <a:ext cx="1000" cy="503"/>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Organization / </a:t>
              </a:r>
              <a:endParaRPr lang="en-US" sz="900"/>
            </a:p>
            <a:p>
              <a:pPr eaLnBrk="0" hangingPunct="0"/>
              <a:r>
                <a:rPr lang="en-US" sz="1200">
                  <a:cs typeface="Times New Roman" pitchFamily="18" charset="0"/>
                </a:rPr>
                <a:t>Individual</a:t>
              </a:r>
              <a:endParaRPr lang="en-US"/>
            </a:p>
          </p:txBody>
        </p:sp>
        <p:sp>
          <p:nvSpPr>
            <p:cNvPr id="12308" name="Text Box 15"/>
            <p:cNvSpPr txBox="1">
              <a:spLocks noChangeArrowheads="1"/>
            </p:cNvSpPr>
            <p:nvPr/>
          </p:nvSpPr>
          <p:spPr bwMode="auto">
            <a:xfrm>
              <a:off x="4527" y="6563"/>
              <a:ext cx="1000" cy="502"/>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StudyUnit</a:t>
              </a:r>
              <a:endParaRPr lang="en-US" sz="900"/>
            </a:p>
            <a:p>
              <a:pPr eaLnBrk="0" hangingPunct="0"/>
              <a:r>
                <a:rPr lang="en-US" sz="1200">
                  <a:cs typeface="Times New Roman" pitchFamily="18" charset="0"/>
                </a:rPr>
                <a:t>Citation</a:t>
              </a:r>
              <a:endParaRPr lang="en-US"/>
            </a:p>
          </p:txBody>
        </p:sp>
        <p:sp>
          <p:nvSpPr>
            <p:cNvPr id="12309" name="Text Box 16"/>
            <p:cNvSpPr txBox="1">
              <a:spLocks noChangeArrowheads="1"/>
            </p:cNvSpPr>
            <p:nvPr/>
          </p:nvSpPr>
          <p:spPr bwMode="auto">
            <a:xfrm>
              <a:off x="4527" y="7367"/>
              <a:ext cx="1000" cy="501"/>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StudyUnit</a:t>
              </a:r>
              <a:endParaRPr lang="en-US" sz="900"/>
            </a:p>
            <a:p>
              <a:pPr eaLnBrk="0" hangingPunct="0"/>
              <a:r>
                <a:rPr lang="en-US" sz="1200">
                  <a:cs typeface="Times New Roman" pitchFamily="18" charset="0"/>
                </a:rPr>
                <a:t>Coverage</a:t>
              </a:r>
              <a:endParaRPr lang="en-US"/>
            </a:p>
          </p:txBody>
        </p:sp>
        <p:sp>
          <p:nvSpPr>
            <p:cNvPr id="12310" name="Text Box 17"/>
            <p:cNvSpPr txBox="1">
              <a:spLocks noChangeArrowheads="1"/>
            </p:cNvSpPr>
            <p:nvPr/>
          </p:nvSpPr>
          <p:spPr bwMode="auto">
            <a:xfrm>
              <a:off x="6327" y="4453"/>
              <a:ext cx="1000" cy="501"/>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Category</a:t>
              </a:r>
              <a:endParaRPr lang="en-US" sz="900"/>
            </a:p>
            <a:p>
              <a:pPr eaLnBrk="0" hangingPunct="0"/>
              <a:r>
                <a:rPr lang="en-US" sz="1200">
                  <a:cs typeface="Times New Roman" pitchFamily="18" charset="0"/>
                </a:rPr>
                <a:t>Scheme</a:t>
              </a:r>
              <a:endParaRPr lang="en-US"/>
            </a:p>
          </p:txBody>
        </p:sp>
        <p:sp>
          <p:nvSpPr>
            <p:cNvPr id="12311" name="Text Box 18"/>
            <p:cNvSpPr txBox="1">
              <a:spLocks noChangeArrowheads="1"/>
            </p:cNvSpPr>
            <p:nvPr/>
          </p:nvSpPr>
          <p:spPr bwMode="auto">
            <a:xfrm>
              <a:off x="6327" y="5257"/>
              <a:ext cx="1000" cy="504"/>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Coding</a:t>
              </a:r>
              <a:endParaRPr lang="en-US" sz="900"/>
            </a:p>
            <a:p>
              <a:pPr eaLnBrk="0" hangingPunct="0"/>
              <a:r>
                <a:rPr lang="en-US" sz="1200">
                  <a:cs typeface="Times New Roman" pitchFamily="18" charset="0"/>
                </a:rPr>
                <a:t>Scheme</a:t>
              </a:r>
              <a:endParaRPr lang="en-US"/>
            </a:p>
          </p:txBody>
        </p:sp>
        <p:sp>
          <p:nvSpPr>
            <p:cNvPr id="12312" name="Text Box 19" descr="Wide upward diagonal"/>
            <p:cNvSpPr txBox="1">
              <a:spLocks noChangeArrowheads="1"/>
            </p:cNvSpPr>
            <p:nvPr/>
          </p:nvSpPr>
          <p:spPr bwMode="auto">
            <a:xfrm>
              <a:off x="6460" y="6447"/>
              <a:ext cx="1000" cy="500"/>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Question</a:t>
              </a:r>
              <a:endParaRPr lang="en-US" sz="900"/>
            </a:p>
            <a:p>
              <a:pPr eaLnBrk="0" hangingPunct="0"/>
              <a:r>
                <a:rPr lang="en-US" sz="1200">
                  <a:cs typeface="Times New Roman" pitchFamily="18" charset="0"/>
                </a:rPr>
                <a:t>Scheme</a:t>
              </a:r>
              <a:endParaRPr lang="en-US"/>
            </a:p>
          </p:txBody>
        </p:sp>
        <p:sp>
          <p:nvSpPr>
            <p:cNvPr id="12313" name="Text Box 20"/>
            <p:cNvSpPr txBox="1">
              <a:spLocks noChangeArrowheads="1"/>
            </p:cNvSpPr>
            <p:nvPr/>
          </p:nvSpPr>
          <p:spPr bwMode="auto">
            <a:xfrm>
              <a:off x="8127" y="4453"/>
              <a:ext cx="1000" cy="500"/>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Variable</a:t>
              </a:r>
              <a:endParaRPr lang="en-US" sz="900"/>
            </a:p>
            <a:p>
              <a:pPr eaLnBrk="0" hangingPunct="0"/>
              <a:r>
                <a:rPr lang="en-US" sz="1200">
                  <a:cs typeface="Times New Roman" pitchFamily="18" charset="0"/>
                </a:rPr>
                <a:t>Scheme</a:t>
              </a:r>
              <a:endParaRPr lang="en-US"/>
            </a:p>
          </p:txBody>
        </p:sp>
        <p:sp>
          <p:nvSpPr>
            <p:cNvPr id="12314" name="Text Box 21" descr="Wide upward diagonal"/>
            <p:cNvSpPr txBox="1">
              <a:spLocks noChangeArrowheads="1"/>
            </p:cNvSpPr>
            <p:nvPr/>
          </p:nvSpPr>
          <p:spPr bwMode="auto">
            <a:xfrm>
              <a:off x="6460" y="8267"/>
              <a:ext cx="1000" cy="604"/>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Processing</a:t>
              </a:r>
              <a:endParaRPr lang="en-US" sz="900"/>
            </a:p>
            <a:p>
              <a:pPr eaLnBrk="0" hangingPunct="0"/>
              <a:r>
                <a:rPr lang="en-US" sz="1200">
                  <a:cs typeface="Times New Roman" pitchFamily="18" charset="0"/>
                </a:rPr>
                <a:t>Event</a:t>
              </a:r>
              <a:endParaRPr lang="en-US" sz="900"/>
            </a:p>
            <a:p>
              <a:pPr eaLnBrk="0" hangingPunct="0"/>
              <a:r>
                <a:rPr lang="en-US" sz="1200">
                  <a:cs typeface="Times New Roman" pitchFamily="18" charset="0"/>
                </a:rPr>
                <a:t>(coding)</a:t>
              </a:r>
              <a:endParaRPr lang="en-US"/>
            </a:p>
          </p:txBody>
        </p:sp>
        <p:sp>
          <p:nvSpPr>
            <p:cNvPr id="12315" name="Text Box 22"/>
            <p:cNvSpPr txBox="1">
              <a:spLocks noChangeArrowheads="1"/>
            </p:cNvSpPr>
            <p:nvPr/>
          </p:nvSpPr>
          <p:spPr bwMode="auto">
            <a:xfrm>
              <a:off x="8127" y="5157"/>
              <a:ext cx="1000" cy="502"/>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Data</a:t>
              </a:r>
              <a:endParaRPr lang="en-US" sz="900"/>
            </a:p>
            <a:p>
              <a:pPr eaLnBrk="0" hangingPunct="0"/>
              <a:r>
                <a:rPr lang="en-US" sz="1200">
                  <a:cs typeface="Times New Roman" pitchFamily="18" charset="0"/>
                </a:rPr>
                <a:t>Relationships</a:t>
              </a:r>
              <a:endParaRPr lang="en-US"/>
            </a:p>
          </p:txBody>
        </p:sp>
        <p:sp>
          <p:nvSpPr>
            <p:cNvPr id="12316" name="Text Box 23" descr="Wide upward diagonal"/>
            <p:cNvSpPr txBox="1">
              <a:spLocks noChangeArrowheads="1"/>
            </p:cNvSpPr>
            <p:nvPr/>
          </p:nvSpPr>
          <p:spPr bwMode="auto">
            <a:xfrm>
              <a:off x="8127" y="5960"/>
              <a:ext cx="1000" cy="400"/>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NCube</a:t>
              </a:r>
              <a:endParaRPr lang="en-US"/>
            </a:p>
          </p:txBody>
        </p:sp>
        <p:sp>
          <p:nvSpPr>
            <p:cNvPr id="12317" name="Text Box 24"/>
            <p:cNvSpPr txBox="1">
              <a:spLocks noChangeArrowheads="1"/>
            </p:cNvSpPr>
            <p:nvPr/>
          </p:nvSpPr>
          <p:spPr bwMode="auto">
            <a:xfrm>
              <a:off x="9927" y="4453"/>
              <a:ext cx="1000" cy="503"/>
            </a:xfrm>
            <a:prstGeom prst="rect">
              <a:avLst/>
            </a:prstGeom>
            <a:solidFill>
              <a:srgbClr val="FFFF99"/>
            </a:solidFill>
            <a:ln w="9525">
              <a:solidFill>
                <a:srgbClr val="000000"/>
              </a:solidFill>
              <a:miter lim="800000"/>
              <a:headEnd/>
              <a:tailEnd/>
            </a:ln>
          </p:spPr>
          <p:txBody>
            <a:bodyPr/>
            <a:lstStyle/>
            <a:p>
              <a:r>
                <a:rPr lang="en-US" sz="1200">
                  <a:cs typeface="Times New Roman" pitchFamily="18" charset="0"/>
                </a:rPr>
                <a:t>Record</a:t>
              </a:r>
              <a:endParaRPr lang="en-US" sz="900"/>
            </a:p>
            <a:p>
              <a:pPr eaLnBrk="0" hangingPunct="0"/>
              <a:r>
                <a:rPr lang="en-US" sz="1200">
                  <a:cs typeface="Times New Roman" pitchFamily="18" charset="0"/>
                </a:rPr>
                <a:t>Structure</a:t>
              </a:r>
              <a:endParaRPr lang="en-US"/>
            </a:p>
          </p:txBody>
        </p:sp>
        <p:sp>
          <p:nvSpPr>
            <p:cNvPr id="12318" name="Text Box 25"/>
            <p:cNvSpPr txBox="1">
              <a:spLocks noChangeArrowheads="1"/>
            </p:cNvSpPr>
            <p:nvPr/>
          </p:nvSpPr>
          <p:spPr bwMode="auto">
            <a:xfrm>
              <a:off x="9927" y="5257"/>
              <a:ext cx="1000" cy="603"/>
            </a:xfrm>
            <a:prstGeom prst="rect">
              <a:avLst/>
            </a:prstGeom>
            <a:solidFill>
              <a:srgbClr val="FFFFFF"/>
            </a:solidFill>
            <a:ln w="9525">
              <a:solidFill>
                <a:srgbClr val="000000"/>
              </a:solidFill>
              <a:miter lim="800000"/>
              <a:headEnd/>
              <a:tailEnd/>
            </a:ln>
          </p:spPr>
          <p:txBody>
            <a:bodyPr/>
            <a:lstStyle/>
            <a:p>
              <a:r>
                <a:rPr lang="en-US" sz="1200">
                  <a:cs typeface="Times New Roman" pitchFamily="18" charset="0"/>
                </a:rPr>
                <a:t>Remaining Physical Data Product Items</a:t>
              </a:r>
              <a:endParaRPr lang="en-US"/>
            </a:p>
          </p:txBody>
        </p:sp>
        <p:sp>
          <p:nvSpPr>
            <p:cNvPr id="12319" name="Text Box 26"/>
            <p:cNvSpPr txBox="1">
              <a:spLocks noChangeArrowheads="1"/>
            </p:cNvSpPr>
            <p:nvPr/>
          </p:nvSpPr>
          <p:spPr bwMode="auto">
            <a:xfrm>
              <a:off x="9827" y="6663"/>
              <a:ext cx="1000" cy="402"/>
            </a:xfrm>
            <a:prstGeom prst="rect">
              <a:avLst/>
            </a:prstGeom>
            <a:solidFill>
              <a:srgbClr val="FFFFFF"/>
            </a:solidFill>
            <a:ln w="9525">
              <a:solidFill>
                <a:srgbClr val="000000"/>
              </a:solidFill>
              <a:miter lim="800000"/>
              <a:headEnd/>
              <a:tailEnd/>
            </a:ln>
          </p:spPr>
          <p:txBody>
            <a:bodyPr/>
            <a:lstStyle/>
            <a:p>
              <a:r>
                <a:rPr lang="en-US" sz="1200">
                  <a:cs typeface="Times New Roman" pitchFamily="18" charset="0"/>
                </a:rPr>
                <a:t>Physical Instance</a:t>
              </a:r>
              <a:endParaRPr lang="en-US"/>
            </a:p>
          </p:txBody>
        </p:sp>
        <p:sp>
          <p:nvSpPr>
            <p:cNvPr id="12320" name="Text Box 27"/>
            <p:cNvSpPr txBox="1">
              <a:spLocks noChangeArrowheads="1"/>
            </p:cNvSpPr>
            <p:nvPr/>
          </p:nvSpPr>
          <p:spPr bwMode="auto">
            <a:xfrm>
              <a:off x="9827" y="7869"/>
              <a:ext cx="1100" cy="503"/>
            </a:xfrm>
            <a:prstGeom prst="rect">
              <a:avLst/>
            </a:prstGeom>
            <a:solidFill>
              <a:srgbClr val="FFFFFF"/>
            </a:solidFill>
            <a:ln w="9525">
              <a:solidFill>
                <a:srgbClr val="000000"/>
              </a:solidFill>
              <a:miter lim="800000"/>
              <a:headEnd/>
              <a:tailEnd/>
            </a:ln>
          </p:spPr>
          <p:txBody>
            <a:bodyPr/>
            <a:lstStyle/>
            <a:p>
              <a:r>
                <a:rPr lang="en-US" sz="1200">
                  <a:cs typeface="Times New Roman" pitchFamily="18" charset="0"/>
                </a:rPr>
                <a:t>Archive / Group / etc.</a:t>
              </a:r>
              <a:endParaRPr lang="en-US"/>
            </a:p>
          </p:txBody>
        </p:sp>
        <p:sp>
          <p:nvSpPr>
            <p:cNvPr id="12321" name="Text Box 28"/>
            <p:cNvSpPr txBox="1">
              <a:spLocks noChangeArrowheads="1"/>
            </p:cNvSpPr>
            <p:nvPr/>
          </p:nvSpPr>
          <p:spPr bwMode="auto">
            <a:xfrm>
              <a:off x="4627" y="4152"/>
              <a:ext cx="800" cy="201"/>
            </a:xfrm>
            <a:prstGeom prst="rect">
              <a:avLst/>
            </a:prstGeom>
            <a:noFill/>
            <a:ln w="9525">
              <a:noFill/>
              <a:miter lim="800000"/>
              <a:headEnd/>
              <a:tailEnd/>
            </a:ln>
          </p:spPr>
          <p:txBody>
            <a:bodyPr/>
            <a:lstStyle/>
            <a:p>
              <a:r>
                <a:rPr lang="en-US" sz="1200" b="1">
                  <a:cs typeface="Times New Roman" pitchFamily="18" charset="0"/>
                </a:rPr>
                <a:t>STEP 1</a:t>
              </a:r>
              <a:endParaRPr lang="en-US"/>
            </a:p>
          </p:txBody>
        </p:sp>
        <p:sp>
          <p:nvSpPr>
            <p:cNvPr id="12322" name="Text Box 29"/>
            <p:cNvSpPr txBox="1">
              <a:spLocks noChangeArrowheads="1"/>
            </p:cNvSpPr>
            <p:nvPr/>
          </p:nvSpPr>
          <p:spPr bwMode="auto">
            <a:xfrm>
              <a:off x="6427" y="4152"/>
              <a:ext cx="800" cy="201"/>
            </a:xfrm>
            <a:prstGeom prst="rect">
              <a:avLst/>
            </a:prstGeom>
            <a:noFill/>
            <a:ln w="9525">
              <a:noFill/>
              <a:miter lim="800000"/>
              <a:headEnd/>
              <a:tailEnd/>
            </a:ln>
          </p:spPr>
          <p:txBody>
            <a:bodyPr/>
            <a:lstStyle/>
            <a:p>
              <a:r>
                <a:rPr lang="en-US" sz="1200" b="1">
                  <a:cs typeface="Times New Roman" pitchFamily="18" charset="0"/>
                </a:rPr>
                <a:t>STEP 2</a:t>
              </a:r>
              <a:endParaRPr lang="en-US"/>
            </a:p>
          </p:txBody>
        </p:sp>
        <p:sp>
          <p:nvSpPr>
            <p:cNvPr id="12323" name="Text Box 30"/>
            <p:cNvSpPr txBox="1">
              <a:spLocks noChangeArrowheads="1"/>
            </p:cNvSpPr>
            <p:nvPr/>
          </p:nvSpPr>
          <p:spPr bwMode="auto">
            <a:xfrm>
              <a:off x="6327" y="6161"/>
              <a:ext cx="1200" cy="301"/>
            </a:xfrm>
            <a:prstGeom prst="rect">
              <a:avLst/>
            </a:prstGeom>
            <a:noFill/>
            <a:ln w="9525">
              <a:noFill/>
              <a:miter lim="800000"/>
              <a:headEnd/>
              <a:tailEnd/>
            </a:ln>
          </p:spPr>
          <p:txBody>
            <a:bodyPr/>
            <a:lstStyle/>
            <a:p>
              <a:r>
                <a:rPr lang="en-US" sz="1200" b="1">
                  <a:cs typeface="Times New Roman" pitchFamily="18" charset="0"/>
                </a:rPr>
                <a:t>STEP 3 optional</a:t>
              </a:r>
              <a:endParaRPr lang="en-US"/>
            </a:p>
          </p:txBody>
        </p:sp>
        <p:sp>
          <p:nvSpPr>
            <p:cNvPr id="12324" name="Text Box 31"/>
            <p:cNvSpPr txBox="1">
              <a:spLocks noChangeArrowheads="1"/>
            </p:cNvSpPr>
            <p:nvPr/>
          </p:nvSpPr>
          <p:spPr bwMode="auto">
            <a:xfrm>
              <a:off x="8127" y="6563"/>
              <a:ext cx="1100" cy="703"/>
            </a:xfrm>
            <a:prstGeom prst="rect">
              <a:avLst/>
            </a:prstGeom>
            <a:solidFill>
              <a:srgbClr val="FFFFFF"/>
            </a:solidFill>
            <a:ln w="9525">
              <a:solidFill>
                <a:srgbClr val="000000"/>
              </a:solidFill>
              <a:miter lim="800000"/>
              <a:headEnd/>
              <a:tailEnd/>
            </a:ln>
          </p:spPr>
          <p:txBody>
            <a:bodyPr/>
            <a:lstStyle/>
            <a:p>
              <a:r>
                <a:rPr lang="en-US" sz="1200">
                  <a:cs typeface="Times New Roman" pitchFamily="18" charset="0"/>
                </a:rPr>
                <a:t>Remaining Logical Product items</a:t>
              </a:r>
              <a:endParaRPr lang="en-US"/>
            </a:p>
          </p:txBody>
        </p:sp>
        <p:sp>
          <p:nvSpPr>
            <p:cNvPr id="12325" name="Text Box 32"/>
            <p:cNvSpPr txBox="1">
              <a:spLocks noChangeArrowheads="1"/>
            </p:cNvSpPr>
            <p:nvPr/>
          </p:nvSpPr>
          <p:spPr bwMode="auto">
            <a:xfrm>
              <a:off x="8227" y="4051"/>
              <a:ext cx="800" cy="302"/>
            </a:xfrm>
            <a:prstGeom prst="rect">
              <a:avLst/>
            </a:prstGeom>
            <a:noFill/>
            <a:ln w="9525">
              <a:noFill/>
              <a:miter lim="800000"/>
              <a:headEnd/>
              <a:tailEnd/>
            </a:ln>
          </p:spPr>
          <p:txBody>
            <a:bodyPr/>
            <a:lstStyle/>
            <a:p>
              <a:r>
                <a:rPr lang="en-US" sz="1200" b="1">
                  <a:cs typeface="Times New Roman" pitchFamily="18" charset="0"/>
                </a:rPr>
                <a:t>STEP 4</a:t>
              </a:r>
              <a:endParaRPr lang="en-US"/>
            </a:p>
          </p:txBody>
        </p:sp>
        <p:sp>
          <p:nvSpPr>
            <p:cNvPr id="12326" name="Text Box 33"/>
            <p:cNvSpPr txBox="1">
              <a:spLocks noChangeArrowheads="1"/>
            </p:cNvSpPr>
            <p:nvPr/>
          </p:nvSpPr>
          <p:spPr bwMode="auto">
            <a:xfrm>
              <a:off x="10027" y="4051"/>
              <a:ext cx="800" cy="303"/>
            </a:xfrm>
            <a:prstGeom prst="rect">
              <a:avLst/>
            </a:prstGeom>
            <a:noFill/>
            <a:ln w="9525">
              <a:noFill/>
              <a:miter lim="800000"/>
              <a:headEnd/>
              <a:tailEnd/>
            </a:ln>
          </p:spPr>
          <p:txBody>
            <a:bodyPr/>
            <a:lstStyle/>
            <a:p>
              <a:r>
                <a:rPr lang="en-US" sz="1200" b="1">
                  <a:cs typeface="Times New Roman" pitchFamily="18" charset="0"/>
                </a:rPr>
                <a:t>STEP 5</a:t>
              </a:r>
              <a:endParaRPr lang="en-US"/>
            </a:p>
          </p:txBody>
        </p:sp>
        <p:sp>
          <p:nvSpPr>
            <p:cNvPr id="12327" name="Text Box 34"/>
            <p:cNvSpPr txBox="1">
              <a:spLocks noChangeArrowheads="1"/>
            </p:cNvSpPr>
            <p:nvPr/>
          </p:nvSpPr>
          <p:spPr bwMode="auto">
            <a:xfrm>
              <a:off x="10027" y="6362"/>
              <a:ext cx="800" cy="201"/>
            </a:xfrm>
            <a:prstGeom prst="rect">
              <a:avLst/>
            </a:prstGeom>
            <a:noFill/>
            <a:ln w="9525">
              <a:noFill/>
              <a:miter lim="800000"/>
              <a:headEnd/>
              <a:tailEnd/>
            </a:ln>
          </p:spPr>
          <p:txBody>
            <a:bodyPr/>
            <a:lstStyle/>
            <a:p>
              <a:r>
                <a:rPr lang="en-US" sz="1200" b="1">
                  <a:cs typeface="Times New Roman" pitchFamily="18" charset="0"/>
                </a:rPr>
                <a:t>STEP 6</a:t>
              </a:r>
              <a:endParaRPr lang="en-US"/>
            </a:p>
          </p:txBody>
        </p:sp>
        <p:sp>
          <p:nvSpPr>
            <p:cNvPr id="12328" name="Text Box 35"/>
            <p:cNvSpPr txBox="1">
              <a:spLocks noChangeArrowheads="1"/>
            </p:cNvSpPr>
            <p:nvPr/>
          </p:nvSpPr>
          <p:spPr bwMode="auto">
            <a:xfrm>
              <a:off x="10027" y="7567"/>
              <a:ext cx="800" cy="301"/>
            </a:xfrm>
            <a:prstGeom prst="rect">
              <a:avLst/>
            </a:prstGeom>
            <a:noFill/>
            <a:ln w="9525">
              <a:noFill/>
              <a:miter lim="800000"/>
              <a:headEnd/>
              <a:tailEnd/>
            </a:ln>
          </p:spPr>
          <p:txBody>
            <a:bodyPr/>
            <a:lstStyle/>
            <a:p>
              <a:r>
                <a:rPr lang="en-US" sz="1200" b="1">
                  <a:cs typeface="Times New Roman" pitchFamily="18" charset="0"/>
                </a:rPr>
                <a:t>STEP 7</a:t>
              </a:r>
              <a:endParaRPr lang="en-US"/>
            </a:p>
          </p:txBody>
        </p:sp>
        <p:sp>
          <p:nvSpPr>
            <p:cNvPr id="12329" name="Line 36"/>
            <p:cNvSpPr>
              <a:spLocks noChangeShapeType="1"/>
            </p:cNvSpPr>
            <p:nvPr/>
          </p:nvSpPr>
          <p:spPr bwMode="auto">
            <a:xfrm flipV="1">
              <a:off x="8627" y="4956"/>
              <a:ext cx="0" cy="200"/>
            </a:xfrm>
            <a:prstGeom prst="line">
              <a:avLst/>
            </a:prstGeom>
            <a:noFill/>
            <a:ln w="9525">
              <a:solidFill>
                <a:srgbClr val="000000"/>
              </a:solidFill>
              <a:round/>
              <a:headEnd/>
              <a:tailEnd type="triangle" w="med" len="med"/>
            </a:ln>
          </p:spPr>
          <p:txBody>
            <a:bodyPr/>
            <a:lstStyle/>
            <a:p>
              <a:endParaRPr lang="en-US"/>
            </a:p>
          </p:txBody>
        </p:sp>
        <p:sp>
          <p:nvSpPr>
            <p:cNvPr id="12330" name="Line 37"/>
            <p:cNvSpPr>
              <a:spLocks noChangeShapeType="1"/>
            </p:cNvSpPr>
            <p:nvPr/>
          </p:nvSpPr>
          <p:spPr bwMode="auto">
            <a:xfrm>
              <a:off x="9127" y="6061"/>
              <a:ext cx="100" cy="1"/>
            </a:xfrm>
            <a:prstGeom prst="line">
              <a:avLst/>
            </a:prstGeom>
            <a:noFill/>
            <a:ln w="9525">
              <a:solidFill>
                <a:srgbClr val="000000"/>
              </a:solidFill>
              <a:round/>
              <a:headEnd/>
              <a:tailEnd/>
            </a:ln>
          </p:spPr>
          <p:txBody>
            <a:bodyPr/>
            <a:lstStyle/>
            <a:p>
              <a:endParaRPr lang="en-US"/>
            </a:p>
          </p:txBody>
        </p:sp>
        <p:sp>
          <p:nvSpPr>
            <p:cNvPr id="12331" name="Line 38"/>
            <p:cNvSpPr>
              <a:spLocks noChangeShapeType="1"/>
            </p:cNvSpPr>
            <p:nvPr/>
          </p:nvSpPr>
          <p:spPr bwMode="auto">
            <a:xfrm flipV="1">
              <a:off x="9227" y="4755"/>
              <a:ext cx="1" cy="1305"/>
            </a:xfrm>
            <a:prstGeom prst="line">
              <a:avLst/>
            </a:prstGeom>
            <a:noFill/>
            <a:ln w="9525">
              <a:solidFill>
                <a:srgbClr val="000000"/>
              </a:solidFill>
              <a:round/>
              <a:headEnd/>
              <a:tailEnd/>
            </a:ln>
          </p:spPr>
          <p:txBody>
            <a:bodyPr/>
            <a:lstStyle/>
            <a:p>
              <a:endParaRPr lang="en-US"/>
            </a:p>
          </p:txBody>
        </p:sp>
        <p:sp>
          <p:nvSpPr>
            <p:cNvPr id="12332" name="Line 39"/>
            <p:cNvSpPr>
              <a:spLocks noChangeShapeType="1"/>
            </p:cNvSpPr>
            <p:nvPr/>
          </p:nvSpPr>
          <p:spPr bwMode="auto">
            <a:xfrm flipH="1" flipV="1">
              <a:off x="9127" y="4755"/>
              <a:ext cx="100" cy="1"/>
            </a:xfrm>
            <a:prstGeom prst="line">
              <a:avLst/>
            </a:prstGeom>
            <a:noFill/>
            <a:ln w="9525">
              <a:solidFill>
                <a:srgbClr val="000000"/>
              </a:solidFill>
              <a:round/>
              <a:headEnd/>
              <a:tailEnd type="triangle" w="med" len="med"/>
            </a:ln>
          </p:spPr>
          <p:txBody>
            <a:bodyPr/>
            <a:lstStyle/>
            <a:p>
              <a:endParaRPr lang="en-US"/>
            </a:p>
          </p:txBody>
        </p:sp>
        <p:sp>
          <p:nvSpPr>
            <p:cNvPr id="12333" name="Line 40"/>
            <p:cNvSpPr>
              <a:spLocks noChangeShapeType="1"/>
            </p:cNvSpPr>
            <p:nvPr/>
          </p:nvSpPr>
          <p:spPr bwMode="auto">
            <a:xfrm flipV="1">
              <a:off x="10427" y="4956"/>
              <a:ext cx="0" cy="301"/>
            </a:xfrm>
            <a:prstGeom prst="line">
              <a:avLst/>
            </a:prstGeom>
            <a:noFill/>
            <a:ln w="9525">
              <a:solidFill>
                <a:srgbClr val="000000"/>
              </a:solidFill>
              <a:round/>
              <a:headEnd/>
              <a:tailEnd type="triangle" w="med" len="med"/>
            </a:ln>
          </p:spPr>
          <p:txBody>
            <a:bodyPr/>
            <a:lstStyle/>
            <a:p>
              <a:endParaRPr lang="en-US"/>
            </a:p>
          </p:txBody>
        </p:sp>
        <p:sp>
          <p:nvSpPr>
            <p:cNvPr id="12334" name="Line 41"/>
            <p:cNvSpPr>
              <a:spLocks noChangeShapeType="1"/>
            </p:cNvSpPr>
            <p:nvPr/>
          </p:nvSpPr>
          <p:spPr bwMode="auto">
            <a:xfrm>
              <a:off x="10827" y="6864"/>
              <a:ext cx="200" cy="0"/>
            </a:xfrm>
            <a:prstGeom prst="line">
              <a:avLst/>
            </a:prstGeom>
            <a:noFill/>
            <a:ln w="9525">
              <a:solidFill>
                <a:srgbClr val="000000"/>
              </a:solidFill>
              <a:round/>
              <a:headEnd/>
              <a:tailEnd/>
            </a:ln>
          </p:spPr>
          <p:txBody>
            <a:bodyPr/>
            <a:lstStyle/>
            <a:p>
              <a:endParaRPr lang="en-US"/>
            </a:p>
          </p:txBody>
        </p:sp>
        <p:sp>
          <p:nvSpPr>
            <p:cNvPr id="12335" name="Line 42"/>
            <p:cNvSpPr>
              <a:spLocks noChangeShapeType="1"/>
            </p:cNvSpPr>
            <p:nvPr/>
          </p:nvSpPr>
          <p:spPr bwMode="auto">
            <a:xfrm flipV="1">
              <a:off x="11027" y="4654"/>
              <a:ext cx="0" cy="2210"/>
            </a:xfrm>
            <a:prstGeom prst="line">
              <a:avLst/>
            </a:prstGeom>
            <a:noFill/>
            <a:ln w="9525">
              <a:solidFill>
                <a:srgbClr val="000000"/>
              </a:solidFill>
              <a:round/>
              <a:headEnd/>
              <a:tailEnd/>
            </a:ln>
          </p:spPr>
          <p:txBody>
            <a:bodyPr/>
            <a:lstStyle/>
            <a:p>
              <a:endParaRPr lang="en-US"/>
            </a:p>
          </p:txBody>
        </p:sp>
        <p:sp>
          <p:nvSpPr>
            <p:cNvPr id="12336" name="Line 43"/>
            <p:cNvSpPr>
              <a:spLocks noChangeShapeType="1"/>
            </p:cNvSpPr>
            <p:nvPr/>
          </p:nvSpPr>
          <p:spPr bwMode="auto">
            <a:xfrm flipH="1">
              <a:off x="10927" y="4654"/>
              <a:ext cx="100" cy="0"/>
            </a:xfrm>
            <a:prstGeom prst="line">
              <a:avLst/>
            </a:prstGeom>
            <a:noFill/>
            <a:ln w="9525">
              <a:solidFill>
                <a:srgbClr val="000000"/>
              </a:solidFill>
              <a:round/>
              <a:headEnd/>
              <a:tailEnd type="triangle" w="med" len="med"/>
            </a:ln>
          </p:spPr>
          <p:txBody>
            <a:bodyPr/>
            <a:lstStyle/>
            <a:p>
              <a:endParaRPr lang="en-US"/>
            </a:p>
          </p:txBody>
        </p:sp>
        <p:sp>
          <p:nvSpPr>
            <p:cNvPr id="12337" name="Line 44"/>
            <p:cNvSpPr>
              <a:spLocks noChangeShapeType="1"/>
            </p:cNvSpPr>
            <p:nvPr/>
          </p:nvSpPr>
          <p:spPr bwMode="auto">
            <a:xfrm flipH="1" flipV="1">
              <a:off x="9127" y="4554"/>
              <a:ext cx="800" cy="903"/>
            </a:xfrm>
            <a:prstGeom prst="line">
              <a:avLst/>
            </a:prstGeom>
            <a:noFill/>
            <a:ln w="9525">
              <a:solidFill>
                <a:srgbClr val="000000"/>
              </a:solidFill>
              <a:round/>
              <a:headEnd/>
              <a:tailEnd type="triangle" w="med" len="med"/>
            </a:ln>
          </p:spPr>
          <p:txBody>
            <a:bodyPr/>
            <a:lstStyle/>
            <a:p>
              <a:endParaRPr lang="en-US"/>
            </a:p>
          </p:txBody>
        </p:sp>
        <p:sp>
          <p:nvSpPr>
            <p:cNvPr id="12338" name="Line 45"/>
            <p:cNvSpPr>
              <a:spLocks noChangeShapeType="1"/>
            </p:cNvSpPr>
            <p:nvPr/>
          </p:nvSpPr>
          <p:spPr bwMode="auto">
            <a:xfrm flipH="1">
              <a:off x="9127" y="5759"/>
              <a:ext cx="800" cy="503"/>
            </a:xfrm>
            <a:prstGeom prst="line">
              <a:avLst/>
            </a:prstGeom>
            <a:noFill/>
            <a:ln w="9525">
              <a:solidFill>
                <a:srgbClr val="000000"/>
              </a:solidFill>
              <a:prstDash val="dash"/>
              <a:round/>
              <a:headEnd/>
              <a:tailEnd type="triangle" w="med" len="med"/>
            </a:ln>
          </p:spPr>
          <p:txBody>
            <a:bodyPr/>
            <a:lstStyle/>
            <a:p>
              <a:endParaRPr lang="en-US"/>
            </a:p>
          </p:txBody>
        </p:sp>
        <p:sp>
          <p:nvSpPr>
            <p:cNvPr id="12339" name="Line 46"/>
            <p:cNvSpPr>
              <a:spLocks noChangeShapeType="1"/>
            </p:cNvSpPr>
            <p:nvPr/>
          </p:nvSpPr>
          <p:spPr bwMode="auto">
            <a:xfrm>
              <a:off x="10227" y="7065"/>
              <a:ext cx="0" cy="402"/>
            </a:xfrm>
            <a:prstGeom prst="line">
              <a:avLst/>
            </a:prstGeom>
            <a:noFill/>
            <a:ln w="9525">
              <a:solidFill>
                <a:srgbClr val="000000"/>
              </a:solidFill>
              <a:round/>
              <a:headEnd/>
              <a:tailEnd/>
            </a:ln>
          </p:spPr>
          <p:txBody>
            <a:bodyPr/>
            <a:lstStyle/>
            <a:p>
              <a:endParaRPr lang="en-US"/>
            </a:p>
          </p:txBody>
        </p:sp>
        <p:sp>
          <p:nvSpPr>
            <p:cNvPr id="12340" name="Line 47"/>
            <p:cNvSpPr>
              <a:spLocks noChangeShapeType="1"/>
            </p:cNvSpPr>
            <p:nvPr/>
          </p:nvSpPr>
          <p:spPr bwMode="auto">
            <a:xfrm flipH="1">
              <a:off x="9527" y="7467"/>
              <a:ext cx="700" cy="1"/>
            </a:xfrm>
            <a:prstGeom prst="line">
              <a:avLst/>
            </a:prstGeom>
            <a:noFill/>
            <a:ln w="9525">
              <a:solidFill>
                <a:srgbClr val="000000"/>
              </a:solidFill>
              <a:round/>
              <a:headEnd/>
              <a:tailEnd/>
            </a:ln>
          </p:spPr>
          <p:txBody>
            <a:bodyPr/>
            <a:lstStyle/>
            <a:p>
              <a:endParaRPr lang="en-US"/>
            </a:p>
          </p:txBody>
        </p:sp>
        <p:sp>
          <p:nvSpPr>
            <p:cNvPr id="12341" name="Line 48"/>
            <p:cNvSpPr>
              <a:spLocks noChangeShapeType="1"/>
            </p:cNvSpPr>
            <p:nvPr/>
          </p:nvSpPr>
          <p:spPr bwMode="auto">
            <a:xfrm flipV="1">
              <a:off x="9527" y="4654"/>
              <a:ext cx="1" cy="2813"/>
            </a:xfrm>
            <a:prstGeom prst="line">
              <a:avLst/>
            </a:prstGeom>
            <a:noFill/>
            <a:ln w="9525">
              <a:solidFill>
                <a:srgbClr val="000000"/>
              </a:solidFill>
              <a:round/>
              <a:headEnd/>
              <a:tailEnd/>
            </a:ln>
          </p:spPr>
          <p:txBody>
            <a:bodyPr/>
            <a:lstStyle/>
            <a:p>
              <a:endParaRPr lang="en-US"/>
            </a:p>
          </p:txBody>
        </p:sp>
        <p:sp>
          <p:nvSpPr>
            <p:cNvPr id="12342" name="Line 49"/>
            <p:cNvSpPr>
              <a:spLocks noChangeShapeType="1"/>
            </p:cNvSpPr>
            <p:nvPr/>
          </p:nvSpPr>
          <p:spPr bwMode="auto">
            <a:xfrm flipH="1">
              <a:off x="9127" y="4654"/>
              <a:ext cx="400" cy="0"/>
            </a:xfrm>
            <a:prstGeom prst="line">
              <a:avLst/>
            </a:prstGeom>
            <a:noFill/>
            <a:ln w="9525">
              <a:solidFill>
                <a:srgbClr val="000000"/>
              </a:solidFill>
              <a:round/>
              <a:headEnd/>
              <a:tailEnd type="triangle" w="med" len="med"/>
            </a:ln>
          </p:spPr>
          <p:txBody>
            <a:bodyPr/>
            <a:lstStyle/>
            <a:p>
              <a:endParaRPr lang="en-US"/>
            </a:p>
          </p:txBody>
        </p:sp>
        <p:sp>
          <p:nvSpPr>
            <p:cNvPr id="12343" name="Line 50"/>
            <p:cNvSpPr>
              <a:spLocks noChangeShapeType="1"/>
            </p:cNvSpPr>
            <p:nvPr/>
          </p:nvSpPr>
          <p:spPr bwMode="auto">
            <a:xfrm flipH="1">
              <a:off x="7327" y="4654"/>
              <a:ext cx="800" cy="804"/>
            </a:xfrm>
            <a:prstGeom prst="line">
              <a:avLst/>
            </a:prstGeom>
            <a:noFill/>
            <a:ln w="9525">
              <a:solidFill>
                <a:srgbClr val="000000"/>
              </a:solidFill>
              <a:round/>
              <a:headEnd/>
              <a:tailEnd type="triangle" w="med" len="med"/>
            </a:ln>
          </p:spPr>
          <p:txBody>
            <a:bodyPr/>
            <a:lstStyle/>
            <a:p>
              <a:endParaRPr lang="en-US"/>
            </a:p>
          </p:txBody>
        </p:sp>
        <p:sp>
          <p:nvSpPr>
            <p:cNvPr id="12344" name="Line 51"/>
            <p:cNvSpPr>
              <a:spLocks noChangeShapeType="1"/>
            </p:cNvSpPr>
            <p:nvPr/>
          </p:nvSpPr>
          <p:spPr bwMode="auto">
            <a:xfrm flipV="1">
              <a:off x="6827" y="4956"/>
              <a:ext cx="0" cy="301"/>
            </a:xfrm>
            <a:prstGeom prst="line">
              <a:avLst/>
            </a:prstGeom>
            <a:noFill/>
            <a:ln w="9525">
              <a:solidFill>
                <a:srgbClr val="000000"/>
              </a:solidFill>
              <a:round/>
              <a:headEnd/>
              <a:tailEnd type="triangle" w="med" len="med"/>
            </a:ln>
          </p:spPr>
          <p:txBody>
            <a:bodyPr/>
            <a:lstStyle/>
            <a:p>
              <a:endParaRPr lang="en-US"/>
            </a:p>
          </p:txBody>
        </p:sp>
        <p:sp>
          <p:nvSpPr>
            <p:cNvPr id="12345" name="Line 52"/>
            <p:cNvSpPr>
              <a:spLocks noChangeShapeType="1"/>
            </p:cNvSpPr>
            <p:nvPr/>
          </p:nvSpPr>
          <p:spPr bwMode="auto">
            <a:xfrm flipH="1">
              <a:off x="5927" y="6649"/>
              <a:ext cx="500" cy="0"/>
            </a:xfrm>
            <a:prstGeom prst="line">
              <a:avLst/>
            </a:prstGeom>
            <a:noFill/>
            <a:ln w="9525">
              <a:solidFill>
                <a:srgbClr val="000000"/>
              </a:solidFill>
              <a:round/>
              <a:headEnd/>
              <a:tailEnd/>
            </a:ln>
          </p:spPr>
          <p:txBody>
            <a:bodyPr/>
            <a:lstStyle/>
            <a:p>
              <a:endParaRPr lang="en-US"/>
            </a:p>
          </p:txBody>
        </p:sp>
        <p:sp>
          <p:nvSpPr>
            <p:cNvPr id="12346" name="Line 53"/>
            <p:cNvSpPr>
              <a:spLocks noChangeShapeType="1"/>
            </p:cNvSpPr>
            <p:nvPr/>
          </p:nvSpPr>
          <p:spPr bwMode="auto">
            <a:xfrm flipV="1">
              <a:off x="5927" y="4855"/>
              <a:ext cx="0" cy="1794"/>
            </a:xfrm>
            <a:prstGeom prst="line">
              <a:avLst/>
            </a:prstGeom>
            <a:noFill/>
            <a:ln w="9525">
              <a:solidFill>
                <a:srgbClr val="000000"/>
              </a:solidFill>
              <a:round/>
              <a:headEnd/>
              <a:tailEnd/>
            </a:ln>
          </p:spPr>
          <p:txBody>
            <a:bodyPr/>
            <a:lstStyle/>
            <a:p>
              <a:endParaRPr lang="en-US"/>
            </a:p>
          </p:txBody>
        </p:sp>
        <p:sp>
          <p:nvSpPr>
            <p:cNvPr id="12347" name="Line 54"/>
            <p:cNvSpPr>
              <a:spLocks noChangeShapeType="1"/>
            </p:cNvSpPr>
            <p:nvPr/>
          </p:nvSpPr>
          <p:spPr bwMode="auto">
            <a:xfrm>
              <a:off x="5927" y="4855"/>
              <a:ext cx="400" cy="0"/>
            </a:xfrm>
            <a:prstGeom prst="line">
              <a:avLst/>
            </a:prstGeom>
            <a:noFill/>
            <a:ln w="9525">
              <a:solidFill>
                <a:srgbClr val="000000"/>
              </a:solidFill>
              <a:round/>
              <a:headEnd/>
              <a:tailEnd type="triangle" w="med" len="med"/>
            </a:ln>
          </p:spPr>
          <p:txBody>
            <a:bodyPr/>
            <a:lstStyle/>
            <a:p>
              <a:endParaRPr lang="en-US"/>
            </a:p>
          </p:txBody>
        </p:sp>
        <p:sp>
          <p:nvSpPr>
            <p:cNvPr id="12348" name="Line 55"/>
            <p:cNvSpPr>
              <a:spLocks noChangeShapeType="1"/>
            </p:cNvSpPr>
            <p:nvPr/>
          </p:nvSpPr>
          <p:spPr bwMode="auto">
            <a:xfrm>
              <a:off x="5927" y="5458"/>
              <a:ext cx="400" cy="0"/>
            </a:xfrm>
            <a:prstGeom prst="line">
              <a:avLst/>
            </a:prstGeom>
            <a:noFill/>
            <a:ln w="9525">
              <a:solidFill>
                <a:srgbClr val="000000"/>
              </a:solidFill>
              <a:round/>
              <a:headEnd/>
              <a:tailEnd type="triangle" w="med" len="med"/>
            </a:ln>
          </p:spPr>
          <p:txBody>
            <a:bodyPr/>
            <a:lstStyle/>
            <a:p>
              <a:endParaRPr lang="en-US"/>
            </a:p>
          </p:txBody>
        </p:sp>
        <p:sp>
          <p:nvSpPr>
            <p:cNvPr id="12349" name="Line 56"/>
            <p:cNvSpPr>
              <a:spLocks noChangeShapeType="1"/>
            </p:cNvSpPr>
            <p:nvPr/>
          </p:nvSpPr>
          <p:spPr bwMode="auto">
            <a:xfrm flipV="1">
              <a:off x="8927" y="3951"/>
              <a:ext cx="0" cy="502"/>
            </a:xfrm>
            <a:prstGeom prst="line">
              <a:avLst/>
            </a:prstGeom>
            <a:noFill/>
            <a:ln w="9525">
              <a:solidFill>
                <a:srgbClr val="000000"/>
              </a:solidFill>
              <a:round/>
              <a:headEnd/>
              <a:tailEnd/>
            </a:ln>
          </p:spPr>
          <p:txBody>
            <a:bodyPr/>
            <a:lstStyle/>
            <a:p>
              <a:endParaRPr lang="en-US"/>
            </a:p>
          </p:txBody>
        </p:sp>
        <p:sp>
          <p:nvSpPr>
            <p:cNvPr id="12350" name="Line 57"/>
            <p:cNvSpPr>
              <a:spLocks noChangeShapeType="1"/>
            </p:cNvSpPr>
            <p:nvPr/>
          </p:nvSpPr>
          <p:spPr bwMode="auto">
            <a:xfrm flipH="1">
              <a:off x="5827" y="3951"/>
              <a:ext cx="3100" cy="0"/>
            </a:xfrm>
            <a:prstGeom prst="line">
              <a:avLst/>
            </a:prstGeom>
            <a:noFill/>
            <a:ln w="9525">
              <a:solidFill>
                <a:srgbClr val="000000"/>
              </a:solidFill>
              <a:round/>
              <a:headEnd/>
              <a:tailEnd/>
            </a:ln>
          </p:spPr>
          <p:txBody>
            <a:bodyPr/>
            <a:lstStyle/>
            <a:p>
              <a:endParaRPr lang="en-US"/>
            </a:p>
          </p:txBody>
        </p:sp>
        <p:sp>
          <p:nvSpPr>
            <p:cNvPr id="12351" name="Line 58"/>
            <p:cNvSpPr>
              <a:spLocks noChangeShapeType="1"/>
            </p:cNvSpPr>
            <p:nvPr/>
          </p:nvSpPr>
          <p:spPr bwMode="auto">
            <a:xfrm>
              <a:off x="5827" y="3951"/>
              <a:ext cx="0" cy="1406"/>
            </a:xfrm>
            <a:prstGeom prst="line">
              <a:avLst/>
            </a:prstGeom>
            <a:noFill/>
            <a:ln w="9525">
              <a:solidFill>
                <a:srgbClr val="000000"/>
              </a:solidFill>
              <a:round/>
              <a:headEnd/>
              <a:tailEnd/>
            </a:ln>
          </p:spPr>
          <p:txBody>
            <a:bodyPr/>
            <a:lstStyle/>
            <a:p>
              <a:endParaRPr lang="en-US"/>
            </a:p>
          </p:txBody>
        </p:sp>
        <p:sp>
          <p:nvSpPr>
            <p:cNvPr id="12352" name="Line 59"/>
            <p:cNvSpPr>
              <a:spLocks noChangeShapeType="1"/>
            </p:cNvSpPr>
            <p:nvPr/>
          </p:nvSpPr>
          <p:spPr bwMode="auto">
            <a:xfrm flipH="1">
              <a:off x="5527" y="5357"/>
              <a:ext cx="300" cy="0"/>
            </a:xfrm>
            <a:prstGeom prst="line">
              <a:avLst/>
            </a:prstGeom>
            <a:noFill/>
            <a:ln w="9525">
              <a:solidFill>
                <a:srgbClr val="000000"/>
              </a:solidFill>
              <a:round/>
              <a:headEnd/>
              <a:tailEnd type="triangle" w="med" len="med"/>
            </a:ln>
          </p:spPr>
          <p:txBody>
            <a:bodyPr/>
            <a:lstStyle/>
            <a:p>
              <a:endParaRPr lang="en-US"/>
            </a:p>
          </p:txBody>
        </p:sp>
        <p:sp>
          <p:nvSpPr>
            <p:cNvPr id="12353" name="Line 60"/>
            <p:cNvSpPr>
              <a:spLocks noChangeShapeType="1"/>
            </p:cNvSpPr>
            <p:nvPr/>
          </p:nvSpPr>
          <p:spPr bwMode="auto">
            <a:xfrm flipH="1">
              <a:off x="5527" y="4654"/>
              <a:ext cx="300" cy="0"/>
            </a:xfrm>
            <a:prstGeom prst="line">
              <a:avLst/>
            </a:prstGeom>
            <a:noFill/>
            <a:ln w="9525">
              <a:solidFill>
                <a:srgbClr val="000000"/>
              </a:solidFill>
              <a:round/>
              <a:headEnd/>
              <a:tailEnd type="triangle" w="med" len="med"/>
            </a:ln>
          </p:spPr>
          <p:txBody>
            <a:bodyPr/>
            <a:lstStyle/>
            <a:p>
              <a:endParaRPr lang="en-US"/>
            </a:p>
          </p:txBody>
        </p:sp>
        <p:sp>
          <p:nvSpPr>
            <p:cNvPr id="12354" name="Text Box 61" descr="Wide upward diagonal"/>
            <p:cNvSpPr txBox="1">
              <a:spLocks noChangeArrowheads="1"/>
            </p:cNvSpPr>
            <p:nvPr/>
          </p:nvSpPr>
          <p:spPr bwMode="auto">
            <a:xfrm>
              <a:off x="6460" y="7863"/>
              <a:ext cx="1000" cy="269"/>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Instrument</a:t>
              </a:r>
              <a:endParaRPr lang="en-US"/>
            </a:p>
          </p:txBody>
        </p:sp>
        <p:sp>
          <p:nvSpPr>
            <p:cNvPr id="12355" name="Line 62"/>
            <p:cNvSpPr>
              <a:spLocks noChangeShapeType="1"/>
            </p:cNvSpPr>
            <p:nvPr/>
          </p:nvSpPr>
          <p:spPr bwMode="auto">
            <a:xfrm flipV="1">
              <a:off x="6927" y="6919"/>
              <a:ext cx="0" cy="201"/>
            </a:xfrm>
            <a:prstGeom prst="line">
              <a:avLst/>
            </a:prstGeom>
            <a:noFill/>
            <a:ln w="9525">
              <a:solidFill>
                <a:srgbClr val="000000"/>
              </a:solidFill>
              <a:round/>
              <a:headEnd/>
              <a:tailEnd type="triangle" w="med" len="med"/>
            </a:ln>
          </p:spPr>
          <p:txBody>
            <a:bodyPr/>
            <a:lstStyle/>
            <a:p>
              <a:endParaRPr lang="en-US"/>
            </a:p>
          </p:txBody>
        </p:sp>
        <p:sp>
          <p:nvSpPr>
            <p:cNvPr id="12356" name="Line 63"/>
            <p:cNvSpPr>
              <a:spLocks noChangeShapeType="1"/>
            </p:cNvSpPr>
            <p:nvPr/>
          </p:nvSpPr>
          <p:spPr bwMode="auto">
            <a:xfrm flipH="1">
              <a:off x="6327" y="8537"/>
              <a:ext cx="133" cy="0"/>
            </a:xfrm>
            <a:prstGeom prst="line">
              <a:avLst/>
            </a:prstGeom>
            <a:noFill/>
            <a:ln w="9525">
              <a:solidFill>
                <a:srgbClr val="000000"/>
              </a:solidFill>
              <a:round/>
              <a:headEnd/>
              <a:tailEnd/>
            </a:ln>
          </p:spPr>
          <p:txBody>
            <a:bodyPr/>
            <a:lstStyle/>
            <a:p>
              <a:endParaRPr lang="en-US"/>
            </a:p>
          </p:txBody>
        </p:sp>
        <p:sp>
          <p:nvSpPr>
            <p:cNvPr id="12357" name="Line 64"/>
            <p:cNvSpPr>
              <a:spLocks noChangeShapeType="1"/>
            </p:cNvSpPr>
            <p:nvPr/>
          </p:nvSpPr>
          <p:spPr bwMode="auto">
            <a:xfrm flipV="1">
              <a:off x="6327" y="6784"/>
              <a:ext cx="0" cy="1753"/>
            </a:xfrm>
            <a:prstGeom prst="line">
              <a:avLst/>
            </a:prstGeom>
            <a:noFill/>
            <a:ln w="9525">
              <a:solidFill>
                <a:srgbClr val="000000"/>
              </a:solidFill>
              <a:round/>
              <a:headEnd/>
              <a:tailEnd/>
            </a:ln>
          </p:spPr>
          <p:txBody>
            <a:bodyPr/>
            <a:lstStyle/>
            <a:p>
              <a:endParaRPr lang="en-US"/>
            </a:p>
          </p:txBody>
        </p:sp>
        <p:sp>
          <p:nvSpPr>
            <p:cNvPr id="12358" name="Line 65"/>
            <p:cNvSpPr>
              <a:spLocks noChangeShapeType="1"/>
            </p:cNvSpPr>
            <p:nvPr/>
          </p:nvSpPr>
          <p:spPr bwMode="auto">
            <a:xfrm flipV="1">
              <a:off x="6327" y="6784"/>
              <a:ext cx="133" cy="0"/>
            </a:xfrm>
            <a:prstGeom prst="line">
              <a:avLst/>
            </a:prstGeom>
            <a:noFill/>
            <a:ln w="9525">
              <a:solidFill>
                <a:srgbClr val="000000"/>
              </a:solidFill>
              <a:round/>
              <a:headEnd/>
              <a:tailEnd type="triangle" w="med" len="med"/>
            </a:ln>
          </p:spPr>
          <p:txBody>
            <a:bodyPr/>
            <a:lstStyle/>
            <a:p>
              <a:endParaRPr lang="en-US"/>
            </a:p>
          </p:txBody>
        </p:sp>
        <p:sp>
          <p:nvSpPr>
            <p:cNvPr id="12359" name="Line 66"/>
            <p:cNvSpPr>
              <a:spLocks noChangeShapeType="1"/>
            </p:cNvSpPr>
            <p:nvPr/>
          </p:nvSpPr>
          <p:spPr bwMode="auto">
            <a:xfrm>
              <a:off x="8227" y="4956"/>
              <a:ext cx="0" cy="100"/>
            </a:xfrm>
            <a:prstGeom prst="line">
              <a:avLst/>
            </a:prstGeom>
            <a:noFill/>
            <a:ln w="9525">
              <a:solidFill>
                <a:srgbClr val="000000"/>
              </a:solidFill>
              <a:prstDash val="dash"/>
              <a:round/>
              <a:headEnd/>
              <a:tailEnd/>
            </a:ln>
          </p:spPr>
          <p:txBody>
            <a:bodyPr/>
            <a:lstStyle/>
            <a:p>
              <a:endParaRPr lang="en-US"/>
            </a:p>
          </p:txBody>
        </p:sp>
        <p:sp>
          <p:nvSpPr>
            <p:cNvPr id="12360" name="Line 67"/>
            <p:cNvSpPr>
              <a:spLocks noChangeShapeType="1"/>
            </p:cNvSpPr>
            <p:nvPr/>
          </p:nvSpPr>
          <p:spPr bwMode="auto">
            <a:xfrm flipH="1">
              <a:off x="7927" y="5056"/>
              <a:ext cx="300" cy="0"/>
            </a:xfrm>
            <a:prstGeom prst="line">
              <a:avLst/>
            </a:prstGeom>
            <a:noFill/>
            <a:ln w="9525">
              <a:solidFill>
                <a:srgbClr val="000000"/>
              </a:solidFill>
              <a:prstDash val="dash"/>
              <a:round/>
              <a:headEnd/>
              <a:tailEnd/>
            </a:ln>
          </p:spPr>
          <p:txBody>
            <a:bodyPr/>
            <a:lstStyle/>
            <a:p>
              <a:endParaRPr lang="en-US"/>
            </a:p>
          </p:txBody>
        </p:sp>
        <p:sp>
          <p:nvSpPr>
            <p:cNvPr id="12361" name="Line 68"/>
            <p:cNvSpPr>
              <a:spLocks noChangeShapeType="1"/>
            </p:cNvSpPr>
            <p:nvPr/>
          </p:nvSpPr>
          <p:spPr bwMode="auto">
            <a:xfrm>
              <a:off x="7927" y="5056"/>
              <a:ext cx="0" cy="3481"/>
            </a:xfrm>
            <a:prstGeom prst="line">
              <a:avLst/>
            </a:prstGeom>
            <a:noFill/>
            <a:ln w="9525">
              <a:solidFill>
                <a:srgbClr val="000000"/>
              </a:solidFill>
              <a:prstDash val="dash"/>
              <a:round/>
              <a:headEnd/>
              <a:tailEnd/>
            </a:ln>
          </p:spPr>
          <p:txBody>
            <a:bodyPr/>
            <a:lstStyle/>
            <a:p>
              <a:endParaRPr lang="en-US"/>
            </a:p>
          </p:txBody>
        </p:sp>
        <p:sp>
          <p:nvSpPr>
            <p:cNvPr id="12362" name="Line 69"/>
            <p:cNvSpPr>
              <a:spLocks noChangeShapeType="1"/>
            </p:cNvSpPr>
            <p:nvPr/>
          </p:nvSpPr>
          <p:spPr bwMode="auto">
            <a:xfrm flipH="1">
              <a:off x="7460" y="8537"/>
              <a:ext cx="467" cy="0"/>
            </a:xfrm>
            <a:prstGeom prst="line">
              <a:avLst/>
            </a:prstGeom>
            <a:noFill/>
            <a:ln w="9525">
              <a:solidFill>
                <a:srgbClr val="000000"/>
              </a:solidFill>
              <a:prstDash val="dash"/>
              <a:round/>
              <a:headEnd/>
              <a:tailEnd type="triangle" w="med" len="med"/>
            </a:ln>
          </p:spPr>
          <p:txBody>
            <a:bodyPr/>
            <a:lstStyle/>
            <a:p>
              <a:endParaRPr lang="en-US"/>
            </a:p>
          </p:txBody>
        </p:sp>
        <p:sp>
          <p:nvSpPr>
            <p:cNvPr id="12363" name="Line 70"/>
            <p:cNvSpPr>
              <a:spLocks noChangeShapeType="1"/>
            </p:cNvSpPr>
            <p:nvPr/>
          </p:nvSpPr>
          <p:spPr bwMode="auto">
            <a:xfrm flipH="1">
              <a:off x="7427" y="6764"/>
              <a:ext cx="500" cy="0"/>
            </a:xfrm>
            <a:prstGeom prst="line">
              <a:avLst/>
            </a:prstGeom>
            <a:noFill/>
            <a:ln w="9525">
              <a:solidFill>
                <a:srgbClr val="000000"/>
              </a:solidFill>
              <a:prstDash val="dash"/>
              <a:round/>
              <a:headEnd/>
              <a:tailEnd type="triangle" w="med" len="med"/>
            </a:ln>
          </p:spPr>
          <p:txBody>
            <a:bodyPr/>
            <a:lstStyle/>
            <a:p>
              <a:endParaRPr lang="en-US"/>
            </a:p>
          </p:txBody>
        </p:sp>
      </p:grpSp>
      <p:sp>
        <p:nvSpPr>
          <p:cNvPr id="12292" name="Date Placeholder 70"/>
          <p:cNvSpPr>
            <a:spLocks noGrp="1"/>
          </p:cNvSpPr>
          <p:nvPr>
            <p:ph type="dt" sz="half" idx="10"/>
          </p:nvPr>
        </p:nvSpPr>
        <p:spPr>
          <a:noFill/>
        </p:spPr>
        <p:txBody>
          <a:bodyPr/>
          <a:lstStyle/>
          <a:p>
            <a:r>
              <a:rPr lang="en-US" smtClean="0"/>
              <a:t>S11</a:t>
            </a:r>
          </a:p>
        </p:txBody>
      </p:sp>
      <p:sp>
        <p:nvSpPr>
          <p:cNvPr id="12293" name="Slide Number Placeholder 71"/>
          <p:cNvSpPr>
            <a:spLocks noGrp="1"/>
          </p:cNvSpPr>
          <p:nvPr>
            <p:ph type="sldNum" sz="quarter" idx="12"/>
          </p:nvPr>
        </p:nvSpPr>
        <p:spPr>
          <a:noFill/>
        </p:spPr>
        <p:txBody>
          <a:bodyPr/>
          <a:lstStyle/>
          <a:p>
            <a:fld id="{2BE034F1-28A0-4729-A3B4-509C10302FE8}" type="slidenum">
              <a:rPr lang="en-US" smtClean="0"/>
              <a:pPr/>
              <a:t>30</a:t>
            </a:fld>
            <a:endParaRPr lang="en-US" smtClean="0"/>
          </a:p>
        </p:txBody>
      </p:sp>
      <p:sp>
        <p:nvSpPr>
          <p:cNvPr id="12294" name="Line 12"/>
          <p:cNvSpPr>
            <a:spLocks noChangeShapeType="1"/>
          </p:cNvSpPr>
          <p:nvPr/>
        </p:nvSpPr>
        <p:spPr bwMode="auto">
          <a:xfrm>
            <a:off x="9372600" y="6286500"/>
            <a:ext cx="0" cy="228600"/>
          </a:xfrm>
          <a:prstGeom prst="line">
            <a:avLst/>
          </a:prstGeom>
          <a:noFill/>
          <a:ln w="28575">
            <a:solidFill>
              <a:srgbClr val="000000"/>
            </a:solidFill>
            <a:round/>
            <a:headEnd/>
            <a:tailEnd/>
          </a:ln>
        </p:spPr>
        <p:txBody>
          <a:bodyPr/>
          <a:lstStyle/>
          <a:p>
            <a:endParaRPr lang="en-US"/>
          </a:p>
        </p:txBody>
      </p:sp>
      <p:sp>
        <p:nvSpPr>
          <p:cNvPr id="12295" name="Text Box 61" descr="Wide upward diagonal"/>
          <p:cNvSpPr txBox="1">
            <a:spLocks noChangeArrowheads="1"/>
          </p:cNvSpPr>
          <p:nvPr/>
        </p:nvSpPr>
        <p:spPr bwMode="auto">
          <a:xfrm>
            <a:off x="2895600" y="4343400"/>
            <a:ext cx="1143000" cy="609600"/>
          </a:xfrm>
          <a:prstGeom prst="rect">
            <a:avLst/>
          </a:prstGeom>
          <a:pattFill prst="wdUpDiag">
            <a:fgClr>
              <a:srgbClr val="FFFF99"/>
            </a:fgClr>
            <a:bgClr>
              <a:srgbClr val="FFFFFF"/>
            </a:bgClr>
          </a:pattFill>
          <a:ln w="9525">
            <a:solidFill>
              <a:srgbClr val="000000"/>
            </a:solidFill>
            <a:miter lim="800000"/>
            <a:headEnd/>
            <a:tailEnd/>
          </a:ln>
        </p:spPr>
        <p:txBody>
          <a:bodyPr/>
          <a:lstStyle/>
          <a:p>
            <a:r>
              <a:rPr lang="en-US" sz="1200">
                <a:cs typeface="Times New Roman" pitchFamily="18" charset="0"/>
              </a:rPr>
              <a:t>Control Construct Scheme</a:t>
            </a:r>
            <a:endParaRPr lang="en-US"/>
          </a:p>
        </p:txBody>
      </p:sp>
      <p:sp>
        <p:nvSpPr>
          <p:cNvPr id="12296" name="Line 62"/>
          <p:cNvSpPr>
            <a:spLocks noChangeShapeType="1"/>
          </p:cNvSpPr>
          <p:nvPr/>
        </p:nvSpPr>
        <p:spPr bwMode="auto">
          <a:xfrm flipV="1">
            <a:off x="3429000" y="4953000"/>
            <a:ext cx="0" cy="227013"/>
          </a:xfrm>
          <a:prstGeom prst="line">
            <a:avLst/>
          </a:prstGeom>
          <a:noFill/>
          <a:ln w="9525">
            <a:solidFill>
              <a:srgbClr val="00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10" name="Date Placeholder 35"/>
          <p:cNvSpPr>
            <a:spLocks noGrp="1"/>
          </p:cNvSpPr>
          <p:nvPr>
            <p:ph type="dt" sz="half" idx="10"/>
          </p:nvPr>
        </p:nvSpPr>
        <p:spPr>
          <a:xfrm>
            <a:off x="0" y="0"/>
            <a:ext cx="2133600" cy="476250"/>
          </a:xfrm>
          <a:noFill/>
        </p:spPr>
        <p:txBody>
          <a:bodyPr/>
          <a:lstStyle/>
          <a:p>
            <a:r>
              <a:rPr lang="en-US" smtClean="0"/>
              <a:t>S04</a:t>
            </a:r>
          </a:p>
        </p:txBody>
      </p:sp>
      <p:sp>
        <p:nvSpPr>
          <p:cNvPr id="24611" name="Slide Number Placeholder 36"/>
          <p:cNvSpPr>
            <a:spLocks noGrp="1"/>
          </p:cNvSpPr>
          <p:nvPr>
            <p:ph type="sldNum" sz="quarter" idx="12"/>
          </p:nvPr>
        </p:nvSpPr>
        <p:spPr>
          <a:xfrm>
            <a:off x="7010400" y="0"/>
            <a:ext cx="2133600" cy="476250"/>
          </a:xfrm>
          <a:noFill/>
        </p:spPr>
        <p:txBody>
          <a:bodyPr/>
          <a:lstStyle/>
          <a:p>
            <a:fld id="{AEA6E964-A060-4B37-88F6-6068CB21678B}" type="slidenum">
              <a:rPr lang="en-US" smtClean="0"/>
              <a:pPr/>
              <a:t>31</a:t>
            </a:fld>
            <a:endParaRPr lang="en-US" smtClean="0"/>
          </a:p>
        </p:txBody>
      </p:sp>
      <p:sp>
        <p:nvSpPr>
          <p:cNvPr id="24578" name="Rectangle 2"/>
          <p:cNvSpPr>
            <a:spLocks noGrp="1" noChangeArrowheads="1"/>
          </p:cNvSpPr>
          <p:nvPr>
            <p:ph type="title" idx="4294967295"/>
          </p:nvPr>
        </p:nvSpPr>
        <p:spPr>
          <a:xfrm>
            <a:off x="457200" y="457200"/>
            <a:ext cx="8686800" cy="838200"/>
          </a:xfrm>
        </p:spPr>
        <p:txBody>
          <a:bodyPr/>
          <a:lstStyle/>
          <a:p>
            <a:pPr eaLnBrk="1" hangingPunct="1"/>
            <a:r>
              <a:rPr lang="en-US" smtClean="0"/>
              <a:t>Building from Component Parts</a:t>
            </a:r>
          </a:p>
        </p:txBody>
      </p:sp>
      <p:sp>
        <p:nvSpPr>
          <p:cNvPr id="236547" name="Text Box 3"/>
          <p:cNvSpPr txBox="1">
            <a:spLocks noChangeArrowheads="1"/>
          </p:cNvSpPr>
          <p:nvPr/>
        </p:nvSpPr>
        <p:spPr bwMode="auto">
          <a:xfrm>
            <a:off x="381000" y="1295400"/>
            <a:ext cx="2176463" cy="454025"/>
          </a:xfrm>
          <a:prstGeom prst="rect">
            <a:avLst/>
          </a:prstGeom>
          <a:noFill/>
          <a:ln w="57150">
            <a:solidFill>
              <a:schemeClr val="tx1"/>
            </a:solidFill>
            <a:miter lim="800000"/>
            <a:headEnd/>
            <a:tailEnd/>
          </a:ln>
        </p:spPr>
        <p:txBody>
          <a:bodyPr wrap="none">
            <a:spAutoFit/>
          </a:bodyPr>
          <a:lstStyle/>
          <a:p>
            <a:pPr eaLnBrk="0" hangingPunct="0"/>
            <a:r>
              <a:rPr lang="en-US" sz="2000"/>
              <a:t>UniverseScheme</a:t>
            </a:r>
          </a:p>
        </p:txBody>
      </p:sp>
      <p:sp>
        <p:nvSpPr>
          <p:cNvPr id="236548" name="Text Box 4"/>
          <p:cNvSpPr txBox="1">
            <a:spLocks noChangeArrowheads="1"/>
          </p:cNvSpPr>
          <p:nvPr/>
        </p:nvSpPr>
        <p:spPr bwMode="auto">
          <a:xfrm>
            <a:off x="381000" y="2286000"/>
            <a:ext cx="2119313" cy="454025"/>
          </a:xfrm>
          <a:prstGeom prst="rect">
            <a:avLst/>
          </a:prstGeom>
          <a:noFill/>
          <a:ln w="57150">
            <a:solidFill>
              <a:schemeClr val="tx1"/>
            </a:solidFill>
            <a:miter lim="800000"/>
            <a:headEnd/>
            <a:tailEnd/>
          </a:ln>
        </p:spPr>
        <p:txBody>
          <a:bodyPr wrap="none">
            <a:spAutoFit/>
          </a:bodyPr>
          <a:lstStyle/>
          <a:p>
            <a:pPr eaLnBrk="0" hangingPunct="0"/>
            <a:r>
              <a:rPr lang="en-US" sz="2000"/>
              <a:t>ConceptScheme</a:t>
            </a:r>
          </a:p>
        </p:txBody>
      </p:sp>
      <p:sp>
        <p:nvSpPr>
          <p:cNvPr id="236549" name="Text Box 5"/>
          <p:cNvSpPr txBox="1">
            <a:spLocks noChangeArrowheads="1"/>
          </p:cNvSpPr>
          <p:nvPr/>
        </p:nvSpPr>
        <p:spPr bwMode="auto">
          <a:xfrm>
            <a:off x="3429000" y="1295400"/>
            <a:ext cx="2203450" cy="454025"/>
          </a:xfrm>
          <a:prstGeom prst="rect">
            <a:avLst/>
          </a:prstGeom>
          <a:noFill/>
          <a:ln w="57150">
            <a:solidFill>
              <a:schemeClr val="tx1"/>
            </a:solidFill>
            <a:miter lim="800000"/>
            <a:headEnd/>
            <a:tailEnd/>
          </a:ln>
        </p:spPr>
        <p:txBody>
          <a:bodyPr wrap="none">
            <a:spAutoFit/>
          </a:bodyPr>
          <a:lstStyle/>
          <a:p>
            <a:pPr eaLnBrk="0" hangingPunct="0"/>
            <a:r>
              <a:rPr lang="en-US" sz="2000"/>
              <a:t>CategoryScheme</a:t>
            </a:r>
          </a:p>
        </p:txBody>
      </p:sp>
      <p:sp>
        <p:nvSpPr>
          <p:cNvPr id="236550" name="Text Box 6"/>
          <p:cNvSpPr txBox="1">
            <a:spLocks noChangeArrowheads="1"/>
          </p:cNvSpPr>
          <p:nvPr/>
        </p:nvSpPr>
        <p:spPr bwMode="auto">
          <a:xfrm>
            <a:off x="4267200" y="2133600"/>
            <a:ext cx="1981200" cy="454025"/>
          </a:xfrm>
          <a:prstGeom prst="rect">
            <a:avLst/>
          </a:prstGeom>
          <a:noFill/>
          <a:ln w="57150">
            <a:solidFill>
              <a:schemeClr val="tx1"/>
            </a:solidFill>
            <a:miter lim="800000"/>
            <a:headEnd/>
            <a:tailEnd/>
          </a:ln>
        </p:spPr>
        <p:txBody>
          <a:bodyPr>
            <a:spAutoFit/>
          </a:bodyPr>
          <a:lstStyle/>
          <a:p>
            <a:pPr eaLnBrk="0" hangingPunct="0"/>
            <a:r>
              <a:rPr lang="en-US" sz="2000"/>
              <a:t>CodeScheme</a:t>
            </a:r>
          </a:p>
        </p:txBody>
      </p:sp>
      <p:sp>
        <p:nvSpPr>
          <p:cNvPr id="236551" name="Text Box 7"/>
          <p:cNvSpPr txBox="1">
            <a:spLocks noChangeArrowheads="1"/>
          </p:cNvSpPr>
          <p:nvPr/>
        </p:nvSpPr>
        <p:spPr bwMode="auto">
          <a:xfrm>
            <a:off x="2057400" y="3276600"/>
            <a:ext cx="2189163" cy="454025"/>
          </a:xfrm>
          <a:prstGeom prst="rect">
            <a:avLst/>
          </a:prstGeom>
          <a:noFill/>
          <a:ln w="57150">
            <a:solidFill>
              <a:schemeClr val="tx1"/>
            </a:solidFill>
            <a:miter lim="800000"/>
            <a:headEnd/>
            <a:tailEnd/>
          </a:ln>
        </p:spPr>
        <p:txBody>
          <a:bodyPr wrap="none">
            <a:spAutoFit/>
          </a:bodyPr>
          <a:lstStyle/>
          <a:p>
            <a:pPr eaLnBrk="0" hangingPunct="0"/>
            <a:r>
              <a:rPr lang="en-US" sz="2000"/>
              <a:t>QuestionScheme</a:t>
            </a:r>
          </a:p>
        </p:txBody>
      </p:sp>
      <p:sp>
        <p:nvSpPr>
          <p:cNvPr id="236552" name="Text Box 8"/>
          <p:cNvSpPr txBox="1">
            <a:spLocks noChangeArrowheads="1"/>
          </p:cNvSpPr>
          <p:nvPr/>
        </p:nvSpPr>
        <p:spPr bwMode="auto">
          <a:xfrm>
            <a:off x="2286000" y="5334000"/>
            <a:ext cx="1438275" cy="454025"/>
          </a:xfrm>
          <a:prstGeom prst="rect">
            <a:avLst/>
          </a:prstGeom>
          <a:noFill/>
          <a:ln w="57150">
            <a:solidFill>
              <a:schemeClr val="tx1"/>
            </a:solidFill>
            <a:miter lim="800000"/>
            <a:headEnd/>
            <a:tailEnd/>
          </a:ln>
        </p:spPr>
        <p:txBody>
          <a:bodyPr wrap="none">
            <a:spAutoFit/>
          </a:bodyPr>
          <a:lstStyle/>
          <a:p>
            <a:pPr eaLnBrk="0" hangingPunct="0"/>
            <a:r>
              <a:rPr lang="en-US" sz="2000"/>
              <a:t>Instrument</a:t>
            </a:r>
          </a:p>
        </p:txBody>
      </p:sp>
      <p:sp>
        <p:nvSpPr>
          <p:cNvPr id="236553" name="Text Box 9"/>
          <p:cNvSpPr txBox="1">
            <a:spLocks noChangeArrowheads="1"/>
          </p:cNvSpPr>
          <p:nvPr/>
        </p:nvSpPr>
        <p:spPr bwMode="auto">
          <a:xfrm>
            <a:off x="5867400" y="3124200"/>
            <a:ext cx="1244600" cy="758825"/>
          </a:xfrm>
          <a:prstGeom prst="rect">
            <a:avLst/>
          </a:prstGeom>
          <a:noFill/>
          <a:ln w="57150">
            <a:solidFill>
              <a:schemeClr val="tx1"/>
            </a:solidFill>
            <a:miter lim="800000"/>
            <a:headEnd/>
            <a:tailEnd/>
          </a:ln>
        </p:spPr>
        <p:txBody>
          <a:bodyPr wrap="none">
            <a:spAutoFit/>
          </a:bodyPr>
          <a:lstStyle/>
          <a:p>
            <a:pPr eaLnBrk="0" hangingPunct="0"/>
            <a:r>
              <a:rPr lang="en-US" sz="2000"/>
              <a:t>Variable </a:t>
            </a:r>
          </a:p>
          <a:p>
            <a:pPr eaLnBrk="0" hangingPunct="0"/>
            <a:r>
              <a:rPr lang="en-US" sz="2000"/>
              <a:t>Scheme</a:t>
            </a:r>
          </a:p>
        </p:txBody>
      </p:sp>
      <p:sp>
        <p:nvSpPr>
          <p:cNvPr id="236554" name="Text Box 10"/>
          <p:cNvSpPr txBox="1">
            <a:spLocks noChangeArrowheads="1"/>
          </p:cNvSpPr>
          <p:nvPr/>
        </p:nvSpPr>
        <p:spPr bwMode="auto">
          <a:xfrm>
            <a:off x="7696200" y="1752600"/>
            <a:ext cx="1173163" cy="758825"/>
          </a:xfrm>
          <a:prstGeom prst="rect">
            <a:avLst/>
          </a:prstGeom>
          <a:noFill/>
          <a:ln w="57150">
            <a:solidFill>
              <a:schemeClr val="tx1"/>
            </a:solidFill>
            <a:miter lim="800000"/>
            <a:headEnd/>
            <a:tailEnd/>
          </a:ln>
        </p:spPr>
        <p:txBody>
          <a:bodyPr wrap="none">
            <a:spAutoFit/>
          </a:bodyPr>
          <a:lstStyle/>
          <a:p>
            <a:pPr eaLnBrk="0" hangingPunct="0"/>
            <a:r>
              <a:rPr lang="en-US" sz="2000"/>
              <a:t>NCube </a:t>
            </a:r>
          </a:p>
          <a:p>
            <a:pPr eaLnBrk="0" hangingPunct="0"/>
            <a:r>
              <a:rPr lang="en-US" sz="2000"/>
              <a:t>Scheme</a:t>
            </a:r>
          </a:p>
        </p:txBody>
      </p:sp>
      <p:sp>
        <p:nvSpPr>
          <p:cNvPr id="236555" name="Text Box 11"/>
          <p:cNvSpPr txBox="1">
            <a:spLocks noChangeArrowheads="1"/>
          </p:cNvSpPr>
          <p:nvPr/>
        </p:nvSpPr>
        <p:spPr bwMode="auto">
          <a:xfrm>
            <a:off x="1600200" y="4191000"/>
            <a:ext cx="3078163" cy="454025"/>
          </a:xfrm>
          <a:prstGeom prst="rect">
            <a:avLst/>
          </a:prstGeom>
          <a:noFill/>
          <a:ln w="57150">
            <a:solidFill>
              <a:schemeClr val="tx1"/>
            </a:solidFill>
            <a:miter lim="800000"/>
            <a:headEnd/>
            <a:tailEnd/>
          </a:ln>
        </p:spPr>
        <p:txBody>
          <a:bodyPr wrap="none">
            <a:spAutoFit/>
          </a:bodyPr>
          <a:lstStyle/>
          <a:p>
            <a:pPr eaLnBrk="0" hangingPunct="0"/>
            <a:r>
              <a:rPr lang="en-US" sz="2000"/>
              <a:t>ControlConstructScheme</a:t>
            </a:r>
          </a:p>
        </p:txBody>
      </p:sp>
      <p:sp>
        <p:nvSpPr>
          <p:cNvPr id="236556" name="Text Box 12"/>
          <p:cNvSpPr txBox="1">
            <a:spLocks noChangeArrowheads="1"/>
          </p:cNvSpPr>
          <p:nvPr/>
        </p:nvSpPr>
        <p:spPr bwMode="auto">
          <a:xfrm>
            <a:off x="5562600" y="5410200"/>
            <a:ext cx="1866900" cy="454025"/>
          </a:xfrm>
          <a:prstGeom prst="rect">
            <a:avLst/>
          </a:prstGeom>
          <a:noFill/>
          <a:ln w="57150">
            <a:solidFill>
              <a:schemeClr val="tx1"/>
            </a:solidFill>
            <a:miter lim="800000"/>
            <a:headEnd/>
            <a:tailEnd/>
          </a:ln>
        </p:spPr>
        <p:txBody>
          <a:bodyPr wrap="none">
            <a:spAutoFit/>
          </a:bodyPr>
          <a:lstStyle/>
          <a:p>
            <a:pPr eaLnBrk="0" hangingPunct="0"/>
            <a:r>
              <a:rPr lang="en-US" sz="2000"/>
              <a:t>LogicalRecord</a:t>
            </a:r>
          </a:p>
        </p:txBody>
      </p:sp>
      <p:sp>
        <p:nvSpPr>
          <p:cNvPr id="236557" name="Text Box 13"/>
          <p:cNvSpPr txBox="1">
            <a:spLocks noChangeArrowheads="1"/>
          </p:cNvSpPr>
          <p:nvPr/>
        </p:nvSpPr>
        <p:spPr bwMode="auto">
          <a:xfrm>
            <a:off x="7086600" y="4114800"/>
            <a:ext cx="1892300" cy="971550"/>
          </a:xfrm>
          <a:prstGeom prst="rect">
            <a:avLst/>
          </a:prstGeom>
          <a:noFill/>
          <a:ln w="57150">
            <a:solidFill>
              <a:schemeClr val="tx1"/>
            </a:solidFill>
            <a:miter lim="800000"/>
            <a:headEnd/>
            <a:tailEnd/>
          </a:ln>
        </p:spPr>
        <p:txBody>
          <a:bodyPr wrap="none">
            <a:spAutoFit/>
          </a:bodyPr>
          <a:lstStyle/>
          <a:p>
            <a:pPr eaLnBrk="0" hangingPunct="0"/>
            <a:r>
              <a:rPr lang="en-US" sz="2000"/>
              <a:t>RecordLayout </a:t>
            </a:r>
          </a:p>
          <a:p>
            <a:pPr eaLnBrk="0" hangingPunct="0"/>
            <a:r>
              <a:rPr lang="en-US" sz="2000"/>
              <a:t>Scheme </a:t>
            </a:r>
          </a:p>
          <a:p>
            <a:pPr eaLnBrk="0" hangingPunct="0"/>
            <a:r>
              <a:rPr lang="en-US" sz="1400"/>
              <a:t>[Physical Location]</a:t>
            </a:r>
          </a:p>
        </p:txBody>
      </p:sp>
      <p:sp>
        <p:nvSpPr>
          <p:cNvPr id="236558" name="Line 14"/>
          <p:cNvSpPr>
            <a:spLocks noChangeShapeType="1"/>
          </p:cNvSpPr>
          <p:nvPr/>
        </p:nvSpPr>
        <p:spPr bwMode="auto">
          <a:xfrm flipH="1" flipV="1">
            <a:off x="4800600" y="1752600"/>
            <a:ext cx="228600" cy="381000"/>
          </a:xfrm>
          <a:prstGeom prst="line">
            <a:avLst/>
          </a:prstGeom>
          <a:noFill/>
          <a:ln w="28575">
            <a:solidFill>
              <a:schemeClr val="tx1"/>
            </a:solidFill>
            <a:round/>
            <a:headEnd/>
            <a:tailEnd type="triangle" w="lg" len="lg"/>
          </a:ln>
        </p:spPr>
        <p:txBody>
          <a:bodyPr/>
          <a:lstStyle/>
          <a:p>
            <a:endParaRPr lang="en-US"/>
          </a:p>
        </p:txBody>
      </p:sp>
      <p:sp>
        <p:nvSpPr>
          <p:cNvPr id="236559" name="Line 15"/>
          <p:cNvSpPr>
            <a:spLocks noChangeShapeType="1"/>
          </p:cNvSpPr>
          <p:nvPr/>
        </p:nvSpPr>
        <p:spPr bwMode="auto">
          <a:xfrm flipV="1">
            <a:off x="3352800" y="2590800"/>
            <a:ext cx="1066800" cy="685800"/>
          </a:xfrm>
          <a:prstGeom prst="line">
            <a:avLst/>
          </a:prstGeom>
          <a:noFill/>
          <a:ln w="28575">
            <a:solidFill>
              <a:schemeClr val="tx1"/>
            </a:solidFill>
            <a:round/>
            <a:headEnd/>
            <a:tailEnd type="triangle" w="lg" len="lg"/>
          </a:ln>
        </p:spPr>
        <p:txBody>
          <a:bodyPr/>
          <a:lstStyle/>
          <a:p>
            <a:endParaRPr lang="en-US"/>
          </a:p>
        </p:txBody>
      </p:sp>
      <p:sp>
        <p:nvSpPr>
          <p:cNvPr id="236560" name="Line 16"/>
          <p:cNvSpPr>
            <a:spLocks noChangeShapeType="1"/>
          </p:cNvSpPr>
          <p:nvPr/>
        </p:nvSpPr>
        <p:spPr bwMode="auto">
          <a:xfrm flipV="1">
            <a:off x="3352800" y="1752600"/>
            <a:ext cx="304800" cy="1524000"/>
          </a:xfrm>
          <a:prstGeom prst="line">
            <a:avLst/>
          </a:prstGeom>
          <a:noFill/>
          <a:ln w="28575">
            <a:solidFill>
              <a:schemeClr val="tx1"/>
            </a:solidFill>
            <a:round/>
            <a:headEnd/>
            <a:tailEnd type="triangle" w="lg" len="lg"/>
          </a:ln>
        </p:spPr>
        <p:txBody>
          <a:bodyPr/>
          <a:lstStyle/>
          <a:p>
            <a:endParaRPr lang="en-US"/>
          </a:p>
        </p:txBody>
      </p:sp>
      <p:sp>
        <p:nvSpPr>
          <p:cNvPr id="236561" name="Line 17"/>
          <p:cNvSpPr>
            <a:spLocks noChangeShapeType="1"/>
          </p:cNvSpPr>
          <p:nvPr/>
        </p:nvSpPr>
        <p:spPr bwMode="auto">
          <a:xfrm flipH="1" flipV="1">
            <a:off x="3048000" y="3733800"/>
            <a:ext cx="0" cy="457200"/>
          </a:xfrm>
          <a:prstGeom prst="line">
            <a:avLst/>
          </a:prstGeom>
          <a:noFill/>
          <a:ln w="28575">
            <a:solidFill>
              <a:schemeClr val="tx1"/>
            </a:solidFill>
            <a:round/>
            <a:headEnd/>
            <a:tailEnd type="triangle" w="lg" len="lg"/>
          </a:ln>
        </p:spPr>
        <p:txBody>
          <a:bodyPr/>
          <a:lstStyle/>
          <a:p>
            <a:endParaRPr lang="en-US"/>
          </a:p>
        </p:txBody>
      </p:sp>
      <p:sp>
        <p:nvSpPr>
          <p:cNvPr id="236562" name="Line 18"/>
          <p:cNvSpPr>
            <a:spLocks noChangeShapeType="1"/>
          </p:cNvSpPr>
          <p:nvPr/>
        </p:nvSpPr>
        <p:spPr bwMode="auto">
          <a:xfrm flipH="1" flipV="1">
            <a:off x="2971800" y="4648200"/>
            <a:ext cx="0" cy="685800"/>
          </a:xfrm>
          <a:prstGeom prst="line">
            <a:avLst/>
          </a:prstGeom>
          <a:noFill/>
          <a:ln w="28575">
            <a:solidFill>
              <a:schemeClr val="tx1"/>
            </a:solidFill>
            <a:round/>
            <a:headEnd/>
            <a:tailEnd type="triangle" w="lg" len="lg"/>
          </a:ln>
        </p:spPr>
        <p:txBody>
          <a:bodyPr/>
          <a:lstStyle/>
          <a:p>
            <a:endParaRPr lang="en-US"/>
          </a:p>
        </p:txBody>
      </p:sp>
      <p:sp>
        <p:nvSpPr>
          <p:cNvPr id="236563" name="Line 19"/>
          <p:cNvSpPr>
            <a:spLocks noChangeShapeType="1"/>
          </p:cNvSpPr>
          <p:nvPr/>
        </p:nvSpPr>
        <p:spPr bwMode="auto">
          <a:xfrm flipH="1" flipV="1">
            <a:off x="2514600" y="1752600"/>
            <a:ext cx="533400" cy="533400"/>
          </a:xfrm>
          <a:prstGeom prst="line">
            <a:avLst/>
          </a:prstGeom>
          <a:noFill/>
          <a:ln w="28575">
            <a:solidFill>
              <a:schemeClr val="tx1"/>
            </a:solidFill>
            <a:round/>
            <a:headEnd/>
            <a:tailEnd type="triangle" w="lg" len="lg"/>
          </a:ln>
        </p:spPr>
        <p:txBody>
          <a:bodyPr/>
          <a:lstStyle/>
          <a:p>
            <a:endParaRPr lang="en-US"/>
          </a:p>
        </p:txBody>
      </p:sp>
      <p:sp>
        <p:nvSpPr>
          <p:cNvPr id="236564" name="Line 20"/>
          <p:cNvSpPr>
            <a:spLocks noChangeShapeType="1"/>
          </p:cNvSpPr>
          <p:nvPr/>
        </p:nvSpPr>
        <p:spPr bwMode="auto">
          <a:xfrm flipH="1">
            <a:off x="2514600" y="2286000"/>
            <a:ext cx="533400" cy="304800"/>
          </a:xfrm>
          <a:prstGeom prst="line">
            <a:avLst/>
          </a:prstGeom>
          <a:noFill/>
          <a:ln w="28575">
            <a:solidFill>
              <a:schemeClr val="tx1"/>
            </a:solidFill>
            <a:round/>
            <a:headEnd/>
            <a:tailEnd type="triangle" w="lg" len="lg"/>
          </a:ln>
        </p:spPr>
        <p:txBody>
          <a:bodyPr/>
          <a:lstStyle/>
          <a:p>
            <a:endParaRPr lang="en-US"/>
          </a:p>
        </p:txBody>
      </p:sp>
      <p:sp>
        <p:nvSpPr>
          <p:cNvPr id="236565" name="Line 21"/>
          <p:cNvSpPr>
            <a:spLocks noChangeShapeType="1"/>
          </p:cNvSpPr>
          <p:nvPr/>
        </p:nvSpPr>
        <p:spPr bwMode="auto">
          <a:xfrm flipH="1" flipV="1">
            <a:off x="6096000" y="2590800"/>
            <a:ext cx="0" cy="533400"/>
          </a:xfrm>
          <a:prstGeom prst="line">
            <a:avLst/>
          </a:prstGeom>
          <a:noFill/>
          <a:ln w="28575">
            <a:solidFill>
              <a:schemeClr val="tx1"/>
            </a:solidFill>
            <a:round/>
            <a:headEnd/>
            <a:tailEnd type="triangle" w="lg" len="lg"/>
          </a:ln>
        </p:spPr>
        <p:txBody>
          <a:bodyPr/>
          <a:lstStyle/>
          <a:p>
            <a:endParaRPr lang="en-US"/>
          </a:p>
        </p:txBody>
      </p:sp>
      <p:sp>
        <p:nvSpPr>
          <p:cNvPr id="236566" name="Line 22"/>
          <p:cNvSpPr>
            <a:spLocks noChangeShapeType="1"/>
          </p:cNvSpPr>
          <p:nvPr/>
        </p:nvSpPr>
        <p:spPr bwMode="auto">
          <a:xfrm>
            <a:off x="3048000" y="2286000"/>
            <a:ext cx="2819400" cy="1143000"/>
          </a:xfrm>
          <a:prstGeom prst="line">
            <a:avLst/>
          </a:prstGeom>
          <a:noFill/>
          <a:ln w="28575">
            <a:solidFill>
              <a:schemeClr val="tx1"/>
            </a:solidFill>
            <a:round/>
            <a:headEnd/>
            <a:tailEnd/>
          </a:ln>
        </p:spPr>
        <p:txBody>
          <a:bodyPr/>
          <a:lstStyle/>
          <a:p>
            <a:endParaRPr lang="en-US"/>
          </a:p>
        </p:txBody>
      </p:sp>
      <p:sp>
        <p:nvSpPr>
          <p:cNvPr id="236567" name="Line 23"/>
          <p:cNvSpPr>
            <a:spLocks noChangeShapeType="1"/>
          </p:cNvSpPr>
          <p:nvPr/>
        </p:nvSpPr>
        <p:spPr bwMode="auto">
          <a:xfrm flipH="1" flipV="1">
            <a:off x="4267200" y="3505200"/>
            <a:ext cx="1600200" cy="0"/>
          </a:xfrm>
          <a:prstGeom prst="line">
            <a:avLst/>
          </a:prstGeom>
          <a:noFill/>
          <a:ln w="28575">
            <a:solidFill>
              <a:schemeClr val="tx1"/>
            </a:solidFill>
            <a:prstDash val="sysDot"/>
            <a:round/>
            <a:headEnd/>
            <a:tailEnd type="triangle" w="lg" len="lg"/>
          </a:ln>
        </p:spPr>
        <p:txBody>
          <a:bodyPr/>
          <a:lstStyle/>
          <a:p>
            <a:endParaRPr lang="en-US"/>
          </a:p>
        </p:txBody>
      </p:sp>
      <p:sp>
        <p:nvSpPr>
          <p:cNvPr id="236568" name="Line 24"/>
          <p:cNvSpPr>
            <a:spLocks noChangeShapeType="1"/>
          </p:cNvSpPr>
          <p:nvPr/>
        </p:nvSpPr>
        <p:spPr bwMode="auto">
          <a:xfrm flipH="1" flipV="1">
            <a:off x="1219200" y="2743200"/>
            <a:ext cx="1219200" cy="533400"/>
          </a:xfrm>
          <a:prstGeom prst="line">
            <a:avLst/>
          </a:prstGeom>
          <a:noFill/>
          <a:ln w="28575">
            <a:solidFill>
              <a:schemeClr val="tx1"/>
            </a:solidFill>
            <a:prstDash val="sysDot"/>
            <a:round/>
            <a:headEnd/>
            <a:tailEnd type="triangle" w="lg" len="lg"/>
          </a:ln>
        </p:spPr>
        <p:txBody>
          <a:bodyPr/>
          <a:lstStyle/>
          <a:p>
            <a:endParaRPr lang="en-US"/>
          </a:p>
        </p:txBody>
      </p:sp>
      <p:sp>
        <p:nvSpPr>
          <p:cNvPr id="236569" name="Line 25"/>
          <p:cNvSpPr>
            <a:spLocks noChangeShapeType="1"/>
          </p:cNvSpPr>
          <p:nvPr/>
        </p:nvSpPr>
        <p:spPr bwMode="auto">
          <a:xfrm>
            <a:off x="152400" y="4343400"/>
            <a:ext cx="1447800" cy="0"/>
          </a:xfrm>
          <a:prstGeom prst="line">
            <a:avLst/>
          </a:prstGeom>
          <a:noFill/>
          <a:ln w="28575">
            <a:solidFill>
              <a:schemeClr val="tx1"/>
            </a:solidFill>
            <a:round/>
            <a:headEnd/>
            <a:tailEnd/>
          </a:ln>
        </p:spPr>
        <p:txBody>
          <a:bodyPr/>
          <a:lstStyle/>
          <a:p>
            <a:endParaRPr lang="en-US"/>
          </a:p>
        </p:txBody>
      </p:sp>
      <p:sp>
        <p:nvSpPr>
          <p:cNvPr id="236570" name="Line 26"/>
          <p:cNvSpPr>
            <a:spLocks noChangeShapeType="1"/>
          </p:cNvSpPr>
          <p:nvPr/>
        </p:nvSpPr>
        <p:spPr bwMode="auto">
          <a:xfrm>
            <a:off x="152400" y="1676400"/>
            <a:ext cx="0" cy="2667000"/>
          </a:xfrm>
          <a:prstGeom prst="line">
            <a:avLst/>
          </a:prstGeom>
          <a:noFill/>
          <a:ln w="28575">
            <a:solidFill>
              <a:schemeClr val="tx1"/>
            </a:solidFill>
            <a:round/>
            <a:headEnd/>
            <a:tailEnd/>
          </a:ln>
        </p:spPr>
        <p:txBody>
          <a:bodyPr/>
          <a:lstStyle/>
          <a:p>
            <a:endParaRPr lang="en-US"/>
          </a:p>
        </p:txBody>
      </p:sp>
      <p:sp>
        <p:nvSpPr>
          <p:cNvPr id="236571" name="Line 27"/>
          <p:cNvSpPr>
            <a:spLocks noChangeShapeType="1"/>
          </p:cNvSpPr>
          <p:nvPr/>
        </p:nvSpPr>
        <p:spPr bwMode="auto">
          <a:xfrm flipV="1">
            <a:off x="152400" y="1676400"/>
            <a:ext cx="228600" cy="0"/>
          </a:xfrm>
          <a:prstGeom prst="line">
            <a:avLst/>
          </a:prstGeom>
          <a:noFill/>
          <a:ln w="28575">
            <a:solidFill>
              <a:schemeClr val="tx1"/>
            </a:solidFill>
            <a:round/>
            <a:headEnd/>
            <a:tailEnd type="triangle" w="lg" len="lg"/>
          </a:ln>
        </p:spPr>
        <p:txBody>
          <a:bodyPr/>
          <a:lstStyle/>
          <a:p>
            <a:endParaRPr lang="en-US"/>
          </a:p>
        </p:txBody>
      </p:sp>
      <p:sp>
        <p:nvSpPr>
          <p:cNvPr id="236572" name="Line 28"/>
          <p:cNvSpPr>
            <a:spLocks noChangeShapeType="1"/>
          </p:cNvSpPr>
          <p:nvPr/>
        </p:nvSpPr>
        <p:spPr bwMode="auto">
          <a:xfrm flipH="1">
            <a:off x="7162800" y="2514600"/>
            <a:ext cx="1066800" cy="685800"/>
          </a:xfrm>
          <a:prstGeom prst="line">
            <a:avLst/>
          </a:prstGeom>
          <a:noFill/>
          <a:ln w="28575">
            <a:solidFill>
              <a:schemeClr val="tx1"/>
            </a:solidFill>
            <a:prstDash val="sysDot"/>
            <a:round/>
            <a:headEnd/>
            <a:tailEnd type="triangle" w="lg" len="lg"/>
          </a:ln>
        </p:spPr>
        <p:txBody>
          <a:bodyPr/>
          <a:lstStyle/>
          <a:p>
            <a:endParaRPr lang="en-US"/>
          </a:p>
        </p:txBody>
      </p:sp>
      <p:sp>
        <p:nvSpPr>
          <p:cNvPr id="236573" name="Line 29"/>
          <p:cNvSpPr>
            <a:spLocks noChangeShapeType="1"/>
          </p:cNvSpPr>
          <p:nvPr/>
        </p:nvSpPr>
        <p:spPr bwMode="auto">
          <a:xfrm flipH="1" flipV="1">
            <a:off x="7086600" y="3810000"/>
            <a:ext cx="381000" cy="304800"/>
          </a:xfrm>
          <a:prstGeom prst="line">
            <a:avLst/>
          </a:prstGeom>
          <a:noFill/>
          <a:ln w="28575">
            <a:solidFill>
              <a:schemeClr val="tx1"/>
            </a:solidFill>
            <a:round/>
            <a:headEnd/>
            <a:tailEnd type="triangle" w="lg" len="lg"/>
          </a:ln>
        </p:spPr>
        <p:txBody>
          <a:bodyPr/>
          <a:lstStyle/>
          <a:p>
            <a:endParaRPr lang="en-US"/>
          </a:p>
        </p:txBody>
      </p:sp>
      <p:sp>
        <p:nvSpPr>
          <p:cNvPr id="236574" name="Line 30"/>
          <p:cNvSpPr>
            <a:spLocks noChangeShapeType="1"/>
          </p:cNvSpPr>
          <p:nvPr/>
        </p:nvSpPr>
        <p:spPr bwMode="auto">
          <a:xfrm flipH="1">
            <a:off x="6934200" y="5105400"/>
            <a:ext cx="381000" cy="304800"/>
          </a:xfrm>
          <a:prstGeom prst="line">
            <a:avLst/>
          </a:prstGeom>
          <a:noFill/>
          <a:ln w="28575">
            <a:solidFill>
              <a:schemeClr val="tx1"/>
            </a:solidFill>
            <a:round/>
            <a:headEnd/>
            <a:tailEnd type="triangle" w="lg" len="lg"/>
          </a:ln>
        </p:spPr>
        <p:txBody>
          <a:bodyPr/>
          <a:lstStyle/>
          <a:p>
            <a:endParaRPr lang="en-US"/>
          </a:p>
        </p:txBody>
      </p:sp>
      <p:sp>
        <p:nvSpPr>
          <p:cNvPr id="236575" name="Line 31"/>
          <p:cNvSpPr>
            <a:spLocks noChangeShapeType="1"/>
          </p:cNvSpPr>
          <p:nvPr/>
        </p:nvSpPr>
        <p:spPr bwMode="auto">
          <a:xfrm flipH="1" flipV="1">
            <a:off x="6248400" y="3886200"/>
            <a:ext cx="0" cy="1524000"/>
          </a:xfrm>
          <a:prstGeom prst="line">
            <a:avLst/>
          </a:prstGeom>
          <a:noFill/>
          <a:ln w="28575">
            <a:solidFill>
              <a:schemeClr val="tx1"/>
            </a:solidFill>
            <a:round/>
            <a:headEnd/>
            <a:tailEnd type="triangle" w="lg" len="lg"/>
          </a:ln>
        </p:spPr>
        <p:txBody>
          <a:bodyPr/>
          <a:lstStyle/>
          <a:p>
            <a:endParaRPr lang="en-US"/>
          </a:p>
        </p:txBody>
      </p:sp>
      <p:sp>
        <p:nvSpPr>
          <p:cNvPr id="236576" name="Line 32"/>
          <p:cNvSpPr>
            <a:spLocks noChangeShapeType="1"/>
          </p:cNvSpPr>
          <p:nvPr/>
        </p:nvSpPr>
        <p:spPr bwMode="auto">
          <a:xfrm flipH="1" flipV="1">
            <a:off x="8153400" y="5105400"/>
            <a:ext cx="0" cy="990600"/>
          </a:xfrm>
          <a:prstGeom prst="line">
            <a:avLst/>
          </a:prstGeom>
          <a:noFill/>
          <a:ln w="28575">
            <a:solidFill>
              <a:schemeClr val="tx1"/>
            </a:solidFill>
            <a:round/>
            <a:headEnd/>
            <a:tailEnd type="triangle" w="lg" len="lg"/>
          </a:ln>
        </p:spPr>
        <p:txBody>
          <a:bodyPr/>
          <a:lstStyle/>
          <a:p>
            <a:endParaRPr lang="en-US"/>
          </a:p>
        </p:txBody>
      </p:sp>
      <p:sp>
        <p:nvSpPr>
          <p:cNvPr id="236577" name="Text Box 33"/>
          <p:cNvSpPr txBox="1">
            <a:spLocks noChangeArrowheads="1"/>
          </p:cNvSpPr>
          <p:nvPr/>
        </p:nvSpPr>
        <p:spPr bwMode="auto">
          <a:xfrm>
            <a:off x="6781800" y="6096000"/>
            <a:ext cx="2147888" cy="454025"/>
          </a:xfrm>
          <a:prstGeom prst="rect">
            <a:avLst/>
          </a:prstGeom>
          <a:noFill/>
          <a:ln w="57150">
            <a:solidFill>
              <a:schemeClr val="tx1"/>
            </a:solidFill>
            <a:miter lim="800000"/>
            <a:headEnd/>
            <a:tailEnd/>
          </a:ln>
        </p:spPr>
        <p:txBody>
          <a:bodyPr wrap="none">
            <a:spAutoFit/>
          </a:bodyPr>
          <a:lstStyle/>
          <a:p>
            <a:pPr eaLnBrk="0" hangingPunct="0"/>
            <a:r>
              <a:rPr lang="en-US" sz="2000"/>
              <a:t>PhysicalInstance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65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65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65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65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65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65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65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65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65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65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65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65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657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65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65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65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65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65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656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65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656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3655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65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65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657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365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365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657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657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65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nimBg="1"/>
      <p:bldP spid="236548" grpId="0" animBg="1"/>
      <p:bldP spid="236549" grpId="0" animBg="1"/>
      <p:bldP spid="236550" grpId="0" animBg="1"/>
      <p:bldP spid="236551" grpId="0" animBg="1"/>
      <p:bldP spid="236552" grpId="0" animBg="1"/>
      <p:bldP spid="236553" grpId="0" animBg="1"/>
      <p:bldP spid="236554" grpId="0" animBg="1"/>
      <p:bldP spid="236555" grpId="0" animBg="1"/>
      <p:bldP spid="236556" grpId="0" animBg="1"/>
      <p:bldP spid="236557" grpId="0" animBg="1"/>
      <p:bldP spid="236558" grpId="0" animBg="1"/>
      <p:bldP spid="236559" grpId="0" animBg="1"/>
      <p:bldP spid="236560" grpId="0" animBg="1"/>
      <p:bldP spid="236561" grpId="0" animBg="1"/>
      <p:bldP spid="236562" grpId="0" animBg="1"/>
      <p:bldP spid="236563" grpId="0" animBg="1"/>
      <p:bldP spid="236564" grpId="0" animBg="1"/>
      <p:bldP spid="236565" grpId="0" animBg="1"/>
      <p:bldP spid="236566" grpId="0" animBg="1"/>
      <p:bldP spid="236567" grpId="0" animBg="1"/>
      <p:bldP spid="236568" grpId="0" animBg="1"/>
      <p:bldP spid="236569" grpId="0" animBg="1"/>
      <p:bldP spid="236570" grpId="0" animBg="1"/>
      <p:bldP spid="236571" grpId="0" animBg="1"/>
      <p:bldP spid="236572" grpId="0" animBg="1"/>
      <p:bldP spid="236573" grpId="0" animBg="1"/>
      <p:bldP spid="236574" grpId="0" animBg="1"/>
      <p:bldP spid="236575" grpId="0" animBg="1"/>
      <p:bldP spid="236576" grpId="0" animBg="1"/>
      <p:bldP spid="23657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Date Placeholder 3"/>
          <p:cNvSpPr>
            <a:spLocks noGrp="1"/>
          </p:cNvSpPr>
          <p:nvPr>
            <p:ph type="dt" sz="half" idx="10"/>
          </p:nvPr>
        </p:nvSpPr>
        <p:spPr>
          <a:noFill/>
        </p:spPr>
        <p:txBody>
          <a:bodyPr/>
          <a:lstStyle/>
          <a:p>
            <a:r>
              <a:rPr lang="en-US" smtClean="0"/>
              <a:t>S08</a:t>
            </a:r>
          </a:p>
        </p:txBody>
      </p:sp>
      <p:sp>
        <p:nvSpPr>
          <p:cNvPr id="15365" name="Slide Number Placeholder 4"/>
          <p:cNvSpPr>
            <a:spLocks noGrp="1"/>
          </p:cNvSpPr>
          <p:nvPr>
            <p:ph type="sldNum" sz="quarter" idx="12"/>
          </p:nvPr>
        </p:nvSpPr>
        <p:spPr>
          <a:noFill/>
        </p:spPr>
        <p:txBody>
          <a:bodyPr/>
          <a:lstStyle/>
          <a:p>
            <a:fld id="{48FAFB3F-124C-4124-B817-5AA8BB0CD800}" type="slidenum">
              <a:rPr lang="en-US" smtClean="0"/>
              <a:pPr/>
              <a:t>32</a:t>
            </a:fld>
            <a:endParaRPr lang="en-US" smtClean="0"/>
          </a:p>
        </p:txBody>
      </p:sp>
      <p:sp>
        <p:nvSpPr>
          <p:cNvPr id="15362"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Maintainable, Versionable, and Identifiable</a:t>
            </a:r>
          </a:p>
        </p:txBody>
      </p:sp>
      <p:sp>
        <p:nvSpPr>
          <p:cNvPr id="15363" name="Rectangle 3"/>
          <p:cNvSpPr>
            <a:spLocks noGrp="1" noChangeArrowheads="1"/>
          </p:cNvSpPr>
          <p:nvPr>
            <p:ph type="body" idx="4294967295"/>
          </p:nvPr>
        </p:nvSpPr>
        <p:spPr>
          <a:xfrm>
            <a:off x="457200" y="1554163"/>
            <a:ext cx="8686800" cy="4525962"/>
          </a:xfrm>
        </p:spPr>
        <p:txBody>
          <a:bodyPr/>
          <a:lstStyle/>
          <a:p>
            <a:pPr eaLnBrk="1" hangingPunct="1">
              <a:lnSpc>
                <a:spcPct val="80000"/>
              </a:lnSpc>
            </a:pPr>
            <a:r>
              <a:rPr lang="en-US" sz="2400" smtClean="0"/>
              <a:t>DDI 3 places and emphasis on re-use</a:t>
            </a:r>
          </a:p>
          <a:p>
            <a:pPr lvl="1" eaLnBrk="1" hangingPunct="1">
              <a:lnSpc>
                <a:spcPct val="80000"/>
              </a:lnSpc>
            </a:pPr>
            <a:r>
              <a:rPr lang="en-US" sz="2000" smtClean="0"/>
              <a:t>This creates </a:t>
            </a:r>
            <a:r>
              <a:rPr lang="en-US" sz="2000" i="1" smtClean="0"/>
              <a:t>lots</a:t>
            </a:r>
            <a:r>
              <a:rPr lang="en-US" sz="2000" smtClean="0"/>
              <a:t> of inclusion by reference!</a:t>
            </a:r>
          </a:p>
          <a:p>
            <a:pPr lvl="1" eaLnBrk="1" hangingPunct="1">
              <a:lnSpc>
                <a:spcPct val="80000"/>
              </a:lnSpc>
            </a:pPr>
            <a:r>
              <a:rPr lang="en-US" sz="2000" smtClean="0"/>
              <a:t>This raises the issue of managing change over time</a:t>
            </a:r>
          </a:p>
          <a:p>
            <a:pPr eaLnBrk="1" hangingPunct="1">
              <a:lnSpc>
                <a:spcPct val="80000"/>
              </a:lnSpc>
            </a:pPr>
            <a:r>
              <a:rPr lang="en-US" sz="2400" smtClean="0"/>
              <a:t>The Maintainable, Versionable, and Identifiable scheme in DDI was created to help deal with these issues</a:t>
            </a:r>
          </a:p>
          <a:p>
            <a:pPr eaLnBrk="1" hangingPunct="1">
              <a:lnSpc>
                <a:spcPct val="80000"/>
              </a:lnSpc>
            </a:pPr>
            <a:r>
              <a:rPr lang="en-US" sz="2400" smtClean="0"/>
              <a:t>An </a:t>
            </a:r>
            <a:r>
              <a:rPr lang="en-US" sz="2400" i="1" smtClean="0"/>
              <a:t>identifiable object</a:t>
            </a:r>
            <a:r>
              <a:rPr lang="en-US" sz="2400" smtClean="0"/>
              <a:t> is something which can be referenced, because it has an ID</a:t>
            </a:r>
          </a:p>
          <a:p>
            <a:pPr eaLnBrk="1" hangingPunct="1">
              <a:lnSpc>
                <a:spcPct val="80000"/>
              </a:lnSpc>
            </a:pPr>
            <a:r>
              <a:rPr lang="en-US" sz="2400" smtClean="0"/>
              <a:t>A </a:t>
            </a:r>
            <a:r>
              <a:rPr lang="en-US" sz="2400" i="1" smtClean="0"/>
              <a:t>versionable object</a:t>
            </a:r>
            <a:r>
              <a:rPr lang="en-US" sz="2400" smtClean="0"/>
              <a:t> is something which can be referenced, and which can change over time – it is assigned a version number</a:t>
            </a:r>
          </a:p>
          <a:p>
            <a:pPr eaLnBrk="1" hangingPunct="1">
              <a:lnSpc>
                <a:spcPct val="80000"/>
              </a:lnSpc>
            </a:pPr>
            <a:r>
              <a:rPr lang="en-US" sz="2400" smtClean="0"/>
              <a:t>A </a:t>
            </a:r>
            <a:r>
              <a:rPr lang="en-US" sz="2400" i="1" smtClean="0"/>
              <a:t>maintainable object</a:t>
            </a:r>
            <a:r>
              <a:rPr lang="en-US" sz="2400" smtClean="0"/>
              <a:t> is something which is maintained by a specified agency, and which is versionable and can be referenced – it is given a maintenance agency</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Date Placeholder 4"/>
          <p:cNvSpPr>
            <a:spLocks noGrp="1"/>
          </p:cNvSpPr>
          <p:nvPr>
            <p:ph type="dt" sz="half" idx="10"/>
          </p:nvPr>
        </p:nvSpPr>
        <p:spPr>
          <a:noFill/>
        </p:spPr>
        <p:txBody>
          <a:bodyPr/>
          <a:lstStyle/>
          <a:p>
            <a:r>
              <a:rPr lang="en-US" smtClean="0"/>
              <a:t>S08</a:t>
            </a:r>
          </a:p>
        </p:txBody>
      </p:sp>
      <p:sp>
        <p:nvSpPr>
          <p:cNvPr id="1039" name="Slide Number Placeholder 5"/>
          <p:cNvSpPr>
            <a:spLocks noGrp="1"/>
          </p:cNvSpPr>
          <p:nvPr>
            <p:ph type="sldNum" sz="quarter" idx="12"/>
          </p:nvPr>
        </p:nvSpPr>
        <p:spPr>
          <a:noFill/>
        </p:spPr>
        <p:txBody>
          <a:bodyPr/>
          <a:lstStyle/>
          <a:p>
            <a:fld id="{D3A58498-EE7C-4D33-9C42-D1C3641FD47C}" type="slidenum">
              <a:rPr lang="en-US" smtClean="0"/>
              <a:pPr/>
              <a:t>33</a:t>
            </a:fld>
            <a:endParaRPr lang="en-US" smtClean="0"/>
          </a:p>
        </p:txBody>
      </p:sp>
      <p:sp>
        <p:nvSpPr>
          <p:cNvPr id="1036" name="Rectangle 2"/>
          <p:cNvSpPr>
            <a:spLocks noGrp="1" noChangeArrowheads="1"/>
          </p:cNvSpPr>
          <p:nvPr>
            <p:ph type="title" idx="4294967295"/>
          </p:nvPr>
        </p:nvSpPr>
        <p:spPr>
          <a:xfrm>
            <a:off x="0" y="274638"/>
            <a:ext cx="8229600" cy="825500"/>
          </a:xfrm>
        </p:spPr>
        <p:txBody>
          <a:bodyPr/>
          <a:lstStyle/>
          <a:p>
            <a:pPr eaLnBrk="1" hangingPunct="1"/>
            <a:r>
              <a:rPr lang="en-US" sz="3600" smtClean="0"/>
              <a:t>Basic Element Types</a:t>
            </a:r>
          </a:p>
        </p:txBody>
      </p:sp>
      <p:graphicFrame>
        <p:nvGraphicFramePr>
          <p:cNvPr id="1026" name="Diagram 3"/>
          <p:cNvGraphicFramePr>
            <a:graphicFrameLocks/>
          </p:cNvGraphicFramePr>
          <p:nvPr>
            <p:ph idx="4294967295"/>
          </p:nvPr>
        </p:nvGraphicFramePr>
        <p:xfrm>
          <a:off x="0" y="906463"/>
          <a:ext cx="6121400" cy="5875337"/>
        </p:xfrm>
        <a:graphic>
          <a:graphicData uri="http://schemas.openxmlformats.org/drawingml/2006/compatibility">
            <com:legacyDrawing xmlns:com="http://schemas.openxmlformats.org/drawingml/2006/compatibility" spid="_x0000_s88066"/>
          </a:graphicData>
        </a:graphic>
      </p:graphicFrame>
      <p:sp>
        <p:nvSpPr>
          <p:cNvPr id="141325" name="Text Box 13"/>
          <p:cNvSpPr txBox="1">
            <a:spLocks noChangeArrowheads="1"/>
          </p:cNvSpPr>
          <p:nvPr/>
        </p:nvSpPr>
        <p:spPr bwMode="auto">
          <a:xfrm>
            <a:off x="5257800" y="3595688"/>
            <a:ext cx="3727450" cy="2014537"/>
          </a:xfrm>
          <a:prstGeom prst="rect">
            <a:avLst/>
          </a:prstGeom>
          <a:solidFill>
            <a:schemeClr val="accent1"/>
          </a:solidFill>
          <a:ln w="9525">
            <a:noFill/>
            <a:miter lim="800000"/>
            <a:headEnd/>
            <a:tailEnd/>
          </a:ln>
        </p:spPr>
        <p:txBody>
          <a:bodyPr wrap="none">
            <a:spAutoFit/>
          </a:bodyPr>
          <a:lstStyle/>
          <a:p>
            <a:pPr eaLnBrk="0" hangingPunct="0"/>
            <a:r>
              <a:rPr lang="en-US" b="1">
                <a:solidFill>
                  <a:srgbClr val="FF0000"/>
                </a:solidFill>
                <a:cs typeface="Arial" charset="0"/>
              </a:rPr>
              <a:t>Differences from DDI 1/2</a:t>
            </a:r>
          </a:p>
          <a:p>
            <a:pPr eaLnBrk="0" hangingPunct="0"/>
            <a:r>
              <a:rPr lang="en-US">
                <a:cs typeface="Arial" charset="0"/>
              </a:rPr>
              <a:t>--Every element is NOT identifiable</a:t>
            </a:r>
          </a:p>
          <a:p>
            <a:pPr eaLnBrk="0" hangingPunct="0"/>
            <a:r>
              <a:rPr lang="en-US">
                <a:cs typeface="Arial" charset="0"/>
              </a:rPr>
              <a:t>--Many individual elements or </a:t>
            </a:r>
          </a:p>
          <a:p>
            <a:pPr eaLnBrk="0" hangingPunct="0"/>
            <a:r>
              <a:rPr lang="en-US">
                <a:cs typeface="Arial" charset="0"/>
              </a:rPr>
              <a:t>complex elements may be </a:t>
            </a:r>
          </a:p>
          <a:p>
            <a:pPr eaLnBrk="0" hangingPunct="0"/>
            <a:r>
              <a:rPr lang="en-US">
                <a:cs typeface="Arial" charset="0"/>
              </a:rPr>
              <a:t>versioned</a:t>
            </a:r>
          </a:p>
          <a:p>
            <a:pPr eaLnBrk="0" hangingPunct="0"/>
            <a:r>
              <a:rPr lang="en-US">
                <a:cs typeface="Arial" charset="0"/>
              </a:rPr>
              <a:t>--A number of complex elements </a:t>
            </a:r>
          </a:p>
          <a:p>
            <a:pPr eaLnBrk="0" hangingPunct="0"/>
            <a:r>
              <a:rPr lang="en-US">
                <a:cs typeface="Arial" charset="0"/>
              </a:rPr>
              <a:t>can be separately maintained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41325"/>
                                        </p:tgtEl>
                                        <p:attrNameLst>
                                          <p:attrName>style.visibility</p:attrName>
                                        </p:attrNameLst>
                                      </p:cBhvr>
                                      <p:to>
                                        <p:strVal val="visible"/>
                                      </p:to>
                                    </p:set>
                                    <p:anim calcmode="lin" valueType="num">
                                      <p:cBhvr>
                                        <p:cTn id="7" dur="1000" fill="hold"/>
                                        <p:tgtEl>
                                          <p:spTgt spid="141325"/>
                                        </p:tgtEl>
                                        <p:attrNameLst>
                                          <p:attrName>ppt_w</p:attrName>
                                        </p:attrNameLst>
                                      </p:cBhvr>
                                      <p:tavLst>
                                        <p:tav tm="0">
                                          <p:val>
                                            <p:strVal val="#ppt_w*0.70"/>
                                          </p:val>
                                        </p:tav>
                                        <p:tav tm="100000">
                                          <p:val>
                                            <p:strVal val="#ppt_w"/>
                                          </p:val>
                                        </p:tav>
                                      </p:tavLst>
                                    </p:anim>
                                    <p:anim calcmode="lin" valueType="num">
                                      <p:cBhvr>
                                        <p:cTn id="8" dur="1000" fill="hold"/>
                                        <p:tgtEl>
                                          <p:spTgt spid="141325"/>
                                        </p:tgtEl>
                                        <p:attrNameLst>
                                          <p:attrName>ppt_h</p:attrName>
                                        </p:attrNameLst>
                                      </p:cBhvr>
                                      <p:tavLst>
                                        <p:tav tm="0">
                                          <p:val>
                                            <p:strVal val="#ppt_h"/>
                                          </p:val>
                                        </p:tav>
                                        <p:tav tm="100000">
                                          <p:val>
                                            <p:strVal val="#ppt_h"/>
                                          </p:val>
                                        </p:tav>
                                      </p:tavLst>
                                    </p:anim>
                                    <p:animEffect transition="in" filter="fade">
                                      <p:cBhvr>
                                        <p:cTn id="9" dur="1000"/>
                                        <p:tgtEl>
                                          <p:spTgt spid="141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4" name="Date Placeholder 15"/>
          <p:cNvSpPr>
            <a:spLocks noGrp="1"/>
          </p:cNvSpPr>
          <p:nvPr>
            <p:ph type="dt" sz="half" idx="10"/>
          </p:nvPr>
        </p:nvSpPr>
        <p:spPr>
          <a:noFill/>
        </p:spPr>
        <p:txBody>
          <a:bodyPr/>
          <a:lstStyle/>
          <a:p>
            <a:r>
              <a:rPr lang="en-US" smtClean="0"/>
              <a:t>S08</a:t>
            </a:r>
          </a:p>
        </p:txBody>
      </p:sp>
      <p:sp>
        <p:nvSpPr>
          <p:cNvPr id="17425" name="Slide Number Placeholder 16"/>
          <p:cNvSpPr>
            <a:spLocks noGrp="1"/>
          </p:cNvSpPr>
          <p:nvPr>
            <p:ph type="sldNum" sz="quarter" idx="12"/>
          </p:nvPr>
        </p:nvSpPr>
        <p:spPr>
          <a:noFill/>
        </p:spPr>
        <p:txBody>
          <a:bodyPr/>
          <a:lstStyle/>
          <a:p>
            <a:fld id="{D0E9DFA7-4A28-4112-89BE-2AC294C1FD47}" type="slidenum">
              <a:rPr lang="en-US" smtClean="0"/>
              <a:pPr/>
              <a:t>34</a:t>
            </a:fld>
            <a:endParaRPr lang="en-US" smtClean="0"/>
          </a:p>
        </p:txBody>
      </p:sp>
      <p:sp>
        <p:nvSpPr>
          <p:cNvPr id="17410" name="Rectangle 2"/>
          <p:cNvSpPr>
            <a:spLocks noGrp="1" noChangeArrowheads="1"/>
          </p:cNvSpPr>
          <p:nvPr>
            <p:ph type="title" idx="4294967295"/>
          </p:nvPr>
        </p:nvSpPr>
        <p:spPr>
          <a:xfrm>
            <a:off x="0" y="274638"/>
            <a:ext cx="8229600" cy="715962"/>
          </a:xfrm>
        </p:spPr>
        <p:txBody>
          <a:bodyPr/>
          <a:lstStyle/>
          <a:p>
            <a:pPr eaLnBrk="1" hangingPunct="1"/>
            <a:r>
              <a:rPr lang="en-US" sz="4000" smtClean="0"/>
              <a:t>In the Object Model…</a:t>
            </a:r>
          </a:p>
        </p:txBody>
      </p:sp>
      <p:sp>
        <p:nvSpPr>
          <p:cNvPr id="17411" name="Rectangle 3"/>
          <p:cNvSpPr>
            <a:spLocks noChangeArrowheads="1"/>
          </p:cNvSpPr>
          <p:nvPr/>
        </p:nvSpPr>
        <p:spPr bwMode="auto">
          <a:xfrm>
            <a:off x="685800" y="990600"/>
            <a:ext cx="1828800" cy="1066800"/>
          </a:xfrm>
          <a:prstGeom prst="rect">
            <a:avLst/>
          </a:prstGeom>
          <a:solidFill>
            <a:srgbClr val="FF6969"/>
          </a:solidFill>
          <a:ln w="9525">
            <a:solidFill>
              <a:schemeClr val="tx1"/>
            </a:solidFill>
            <a:miter lim="800000"/>
            <a:headEnd/>
            <a:tailEnd/>
          </a:ln>
        </p:spPr>
        <p:txBody>
          <a:bodyPr wrap="none" anchor="ctr"/>
          <a:lstStyle/>
          <a:p>
            <a:pPr algn="ctr"/>
            <a:r>
              <a:rPr lang="en-US">
                <a:cs typeface="Arial" charset="0"/>
              </a:rPr>
              <a:t>Identifiable</a:t>
            </a:r>
          </a:p>
          <a:p>
            <a:pPr algn="ctr"/>
            <a:r>
              <a:rPr lang="en-US">
                <a:cs typeface="Arial" charset="0"/>
              </a:rPr>
              <a:t>Object</a:t>
            </a:r>
          </a:p>
        </p:txBody>
      </p:sp>
      <p:sp>
        <p:nvSpPr>
          <p:cNvPr id="17412" name="Text Box 4"/>
          <p:cNvSpPr txBox="1">
            <a:spLocks noChangeArrowheads="1"/>
          </p:cNvSpPr>
          <p:nvPr/>
        </p:nvSpPr>
        <p:spPr bwMode="auto">
          <a:xfrm>
            <a:off x="4400550" y="1255713"/>
            <a:ext cx="2686050" cy="641350"/>
          </a:xfrm>
          <a:prstGeom prst="rect">
            <a:avLst/>
          </a:prstGeom>
          <a:noFill/>
          <a:ln w="9525">
            <a:noFill/>
            <a:miter lim="800000"/>
            <a:headEnd/>
            <a:tailEnd/>
          </a:ln>
        </p:spPr>
        <p:txBody>
          <a:bodyPr wrap="none">
            <a:spAutoFit/>
          </a:bodyPr>
          <a:lstStyle/>
          <a:p>
            <a:r>
              <a:rPr lang="en-US">
                <a:cs typeface="Arial" charset="0"/>
              </a:rPr>
              <a:t>Eg, CollectionEvent, </a:t>
            </a:r>
          </a:p>
          <a:p>
            <a:r>
              <a:rPr lang="en-US">
                <a:cs typeface="Arial" charset="0"/>
              </a:rPr>
              <a:t>PhysicalRecordSegment</a:t>
            </a:r>
          </a:p>
        </p:txBody>
      </p:sp>
      <p:sp>
        <p:nvSpPr>
          <p:cNvPr id="17413" name="Line 5"/>
          <p:cNvSpPr>
            <a:spLocks noChangeShapeType="1"/>
          </p:cNvSpPr>
          <p:nvPr/>
        </p:nvSpPr>
        <p:spPr bwMode="auto">
          <a:xfrm flipV="1">
            <a:off x="1524000" y="2133600"/>
            <a:ext cx="0" cy="685800"/>
          </a:xfrm>
          <a:prstGeom prst="line">
            <a:avLst/>
          </a:prstGeom>
          <a:noFill/>
          <a:ln w="57150">
            <a:solidFill>
              <a:schemeClr val="tx1"/>
            </a:solidFill>
            <a:round/>
            <a:headEnd/>
            <a:tailEnd type="triangle" w="med" len="med"/>
          </a:ln>
        </p:spPr>
        <p:txBody>
          <a:bodyPr/>
          <a:lstStyle/>
          <a:p>
            <a:endParaRPr lang="en-US"/>
          </a:p>
        </p:txBody>
      </p:sp>
      <p:sp>
        <p:nvSpPr>
          <p:cNvPr id="17414" name="Text Box 6"/>
          <p:cNvSpPr txBox="1">
            <a:spLocks noChangeArrowheads="1"/>
          </p:cNvSpPr>
          <p:nvPr/>
        </p:nvSpPr>
        <p:spPr bwMode="auto">
          <a:xfrm>
            <a:off x="1660525" y="2398713"/>
            <a:ext cx="920750" cy="366712"/>
          </a:xfrm>
          <a:prstGeom prst="rect">
            <a:avLst/>
          </a:prstGeom>
          <a:noFill/>
          <a:ln w="9525">
            <a:noFill/>
            <a:miter lim="800000"/>
            <a:headEnd/>
            <a:tailEnd/>
          </a:ln>
        </p:spPr>
        <p:txBody>
          <a:bodyPr wrap="none">
            <a:spAutoFit/>
          </a:bodyPr>
          <a:lstStyle/>
          <a:p>
            <a:r>
              <a:rPr lang="en-US">
                <a:cs typeface="Arial" charset="0"/>
              </a:rPr>
              <a:t>inherits</a:t>
            </a:r>
          </a:p>
        </p:txBody>
      </p:sp>
      <p:sp>
        <p:nvSpPr>
          <p:cNvPr id="17415" name="Rectangle 7"/>
          <p:cNvSpPr>
            <a:spLocks noChangeArrowheads="1"/>
          </p:cNvSpPr>
          <p:nvPr/>
        </p:nvSpPr>
        <p:spPr bwMode="auto">
          <a:xfrm>
            <a:off x="685800" y="2895600"/>
            <a:ext cx="1828800" cy="1066800"/>
          </a:xfrm>
          <a:prstGeom prst="rect">
            <a:avLst/>
          </a:prstGeom>
          <a:solidFill>
            <a:srgbClr val="6699FF"/>
          </a:solidFill>
          <a:ln w="9525">
            <a:solidFill>
              <a:schemeClr val="tx1"/>
            </a:solidFill>
            <a:miter lim="800000"/>
            <a:headEnd/>
            <a:tailEnd/>
          </a:ln>
        </p:spPr>
        <p:txBody>
          <a:bodyPr wrap="none" anchor="ctr"/>
          <a:lstStyle/>
          <a:p>
            <a:pPr algn="ctr"/>
            <a:r>
              <a:rPr lang="en-US">
                <a:cs typeface="Arial" charset="0"/>
              </a:rPr>
              <a:t>Versionable</a:t>
            </a:r>
          </a:p>
          <a:p>
            <a:pPr algn="ctr"/>
            <a:r>
              <a:rPr lang="en-US">
                <a:cs typeface="Arial" charset="0"/>
              </a:rPr>
              <a:t>Object</a:t>
            </a:r>
          </a:p>
        </p:txBody>
      </p:sp>
      <p:sp>
        <p:nvSpPr>
          <p:cNvPr id="17416" name="Rectangle 8"/>
          <p:cNvSpPr>
            <a:spLocks noChangeArrowheads="1"/>
          </p:cNvSpPr>
          <p:nvPr/>
        </p:nvSpPr>
        <p:spPr bwMode="auto">
          <a:xfrm>
            <a:off x="685800" y="4876800"/>
            <a:ext cx="1828800" cy="1066800"/>
          </a:xfrm>
          <a:prstGeom prst="rect">
            <a:avLst/>
          </a:prstGeom>
          <a:noFill/>
          <a:ln w="9525">
            <a:solidFill>
              <a:schemeClr val="tx1"/>
            </a:solidFill>
            <a:miter lim="800000"/>
            <a:headEnd/>
            <a:tailEnd/>
          </a:ln>
        </p:spPr>
        <p:txBody>
          <a:bodyPr wrap="none" anchor="ctr"/>
          <a:lstStyle/>
          <a:p>
            <a:pPr algn="ctr"/>
            <a:r>
              <a:rPr lang="en-US">
                <a:cs typeface="Arial" charset="0"/>
              </a:rPr>
              <a:t>Maintainable</a:t>
            </a:r>
          </a:p>
          <a:p>
            <a:pPr algn="ctr"/>
            <a:r>
              <a:rPr lang="en-US">
                <a:cs typeface="Arial" charset="0"/>
              </a:rPr>
              <a:t>Object</a:t>
            </a:r>
          </a:p>
        </p:txBody>
      </p:sp>
      <p:sp>
        <p:nvSpPr>
          <p:cNvPr id="17417" name="Line 9"/>
          <p:cNvSpPr>
            <a:spLocks noChangeShapeType="1"/>
          </p:cNvSpPr>
          <p:nvPr/>
        </p:nvSpPr>
        <p:spPr bwMode="auto">
          <a:xfrm flipV="1">
            <a:off x="1524000" y="4038600"/>
            <a:ext cx="0" cy="685800"/>
          </a:xfrm>
          <a:prstGeom prst="line">
            <a:avLst/>
          </a:prstGeom>
          <a:noFill/>
          <a:ln w="57150">
            <a:solidFill>
              <a:schemeClr val="tx1"/>
            </a:solidFill>
            <a:round/>
            <a:headEnd/>
            <a:tailEnd type="triangle" w="med" len="med"/>
          </a:ln>
        </p:spPr>
        <p:txBody>
          <a:bodyPr/>
          <a:lstStyle/>
          <a:p>
            <a:endParaRPr lang="en-US"/>
          </a:p>
        </p:txBody>
      </p:sp>
      <p:sp>
        <p:nvSpPr>
          <p:cNvPr id="17418" name="Text Box 10"/>
          <p:cNvSpPr txBox="1">
            <a:spLocks noChangeArrowheads="1"/>
          </p:cNvSpPr>
          <p:nvPr/>
        </p:nvSpPr>
        <p:spPr bwMode="auto">
          <a:xfrm>
            <a:off x="1660525" y="4303713"/>
            <a:ext cx="920750" cy="366712"/>
          </a:xfrm>
          <a:prstGeom prst="rect">
            <a:avLst/>
          </a:prstGeom>
          <a:noFill/>
          <a:ln w="9525">
            <a:noFill/>
            <a:miter lim="800000"/>
            <a:headEnd/>
            <a:tailEnd/>
          </a:ln>
        </p:spPr>
        <p:txBody>
          <a:bodyPr wrap="none">
            <a:spAutoFit/>
          </a:bodyPr>
          <a:lstStyle/>
          <a:p>
            <a:r>
              <a:rPr lang="en-US">
                <a:cs typeface="Arial" charset="0"/>
              </a:rPr>
              <a:t>inherits</a:t>
            </a:r>
          </a:p>
        </p:txBody>
      </p:sp>
      <p:sp>
        <p:nvSpPr>
          <p:cNvPr id="17419" name="Text Box 11"/>
          <p:cNvSpPr txBox="1">
            <a:spLocks noChangeArrowheads="1"/>
          </p:cNvSpPr>
          <p:nvPr/>
        </p:nvSpPr>
        <p:spPr bwMode="auto">
          <a:xfrm>
            <a:off x="4451350" y="3084513"/>
            <a:ext cx="3714750" cy="641350"/>
          </a:xfrm>
          <a:prstGeom prst="rect">
            <a:avLst/>
          </a:prstGeom>
          <a:noFill/>
          <a:ln w="9525">
            <a:noFill/>
            <a:miter lim="800000"/>
            <a:headEnd/>
            <a:tailEnd/>
          </a:ln>
        </p:spPr>
        <p:txBody>
          <a:bodyPr wrap="none">
            <a:spAutoFit/>
          </a:bodyPr>
          <a:lstStyle/>
          <a:p>
            <a:r>
              <a:rPr lang="en-US">
                <a:cs typeface="Arial" charset="0"/>
              </a:rPr>
              <a:t>Eg, Individual, GrossFileStructure, </a:t>
            </a:r>
          </a:p>
          <a:p>
            <a:r>
              <a:rPr lang="en-US">
                <a:cs typeface="Arial" charset="0"/>
              </a:rPr>
              <a:t>QuestionItem</a:t>
            </a:r>
          </a:p>
        </p:txBody>
      </p:sp>
      <p:sp>
        <p:nvSpPr>
          <p:cNvPr id="17420" name="Text Box 12"/>
          <p:cNvSpPr txBox="1">
            <a:spLocks noChangeArrowheads="1"/>
          </p:cNvSpPr>
          <p:nvPr/>
        </p:nvSpPr>
        <p:spPr bwMode="auto">
          <a:xfrm>
            <a:off x="4489450" y="5141913"/>
            <a:ext cx="4273550" cy="641350"/>
          </a:xfrm>
          <a:prstGeom prst="rect">
            <a:avLst/>
          </a:prstGeom>
          <a:noFill/>
          <a:ln w="9525">
            <a:noFill/>
            <a:miter lim="800000"/>
            <a:headEnd/>
            <a:tailEnd/>
          </a:ln>
        </p:spPr>
        <p:txBody>
          <a:bodyPr wrap="none">
            <a:spAutoFit/>
          </a:bodyPr>
          <a:lstStyle/>
          <a:p>
            <a:r>
              <a:rPr lang="en-US">
                <a:cs typeface="Arial" charset="0"/>
              </a:rPr>
              <a:t>Eg, VariableScheme, QuestionScheme, </a:t>
            </a:r>
          </a:p>
          <a:p>
            <a:r>
              <a:rPr lang="en-US">
                <a:cs typeface="Arial" charset="0"/>
              </a:rPr>
              <a:t>PhysicalDataProduct</a:t>
            </a:r>
          </a:p>
        </p:txBody>
      </p:sp>
      <p:sp>
        <p:nvSpPr>
          <p:cNvPr id="17421" name="Text Box 13"/>
          <p:cNvSpPr txBox="1">
            <a:spLocks noChangeArrowheads="1"/>
          </p:cNvSpPr>
          <p:nvPr/>
        </p:nvSpPr>
        <p:spPr bwMode="auto">
          <a:xfrm>
            <a:off x="2574925" y="1179513"/>
            <a:ext cx="882650" cy="366712"/>
          </a:xfrm>
          <a:prstGeom prst="rect">
            <a:avLst/>
          </a:prstGeom>
          <a:noFill/>
          <a:ln w="9525">
            <a:noFill/>
            <a:miter lim="800000"/>
            <a:headEnd/>
            <a:tailEnd/>
          </a:ln>
        </p:spPr>
        <p:txBody>
          <a:bodyPr wrap="none">
            <a:spAutoFit/>
          </a:bodyPr>
          <a:lstStyle/>
          <a:p>
            <a:r>
              <a:rPr lang="en-US">
                <a:solidFill>
                  <a:srgbClr val="FF0000"/>
                </a:solidFill>
                <a:cs typeface="Arial" charset="0"/>
              </a:rPr>
              <a:t>Has ID</a:t>
            </a:r>
          </a:p>
        </p:txBody>
      </p:sp>
      <p:sp>
        <p:nvSpPr>
          <p:cNvPr id="17422" name="Text Box 14"/>
          <p:cNvSpPr txBox="1">
            <a:spLocks noChangeArrowheads="1"/>
          </p:cNvSpPr>
          <p:nvPr/>
        </p:nvSpPr>
        <p:spPr bwMode="auto">
          <a:xfrm>
            <a:off x="2574925" y="3008313"/>
            <a:ext cx="1428750" cy="641350"/>
          </a:xfrm>
          <a:prstGeom prst="rect">
            <a:avLst/>
          </a:prstGeom>
          <a:noFill/>
          <a:ln w="9525">
            <a:noFill/>
            <a:miter lim="800000"/>
            <a:headEnd/>
            <a:tailEnd/>
          </a:ln>
        </p:spPr>
        <p:txBody>
          <a:bodyPr wrap="none">
            <a:spAutoFit/>
          </a:bodyPr>
          <a:lstStyle/>
          <a:p>
            <a:r>
              <a:rPr lang="en-US">
                <a:solidFill>
                  <a:srgbClr val="FF0000"/>
                </a:solidFill>
                <a:cs typeface="Arial" charset="0"/>
              </a:rPr>
              <a:t>Has ID</a:t>
            </a:r>
          </a:p>
          <a:p>
            <a:r>
              <a:rPr lang="en-US">
                <a:solidFill>
                  <a:schemeClr val="accent2"/>
                </a:solidFill>
                <a:cs typeface="Arial" charset="0"/>
              </a:rPr>
              <a:t>Has Version</a:t>
            </a:r>
          </a:p>
        </p:txBody>
      </p:sp>
      <p:sp>
        <p:nvSpPr>
          <p:cNvPr id="17423" name="Text Box 15"/>
          <p:cNvSpPr txBox="1">
            <a:spLocks noChangeArrowheads="1"/>
          </p:cNvSpPr>
          <p:nvPr/>
        </p:nvSpPr>
        <p:spPr bwMode="auto">
          <a:xfrm>
            <a:off x="2574925" y="4913313"/>
            <a:ext cx="1428750" cy="915987"/>
          </a:xfrm>
          <a:prstGeom prst="rect">
            <a:avLst/>
          </a:prstGeom>
          <a:noFill/>
          <a:ln w="9525">
            <a:noFill/>
            <a:miter lim="800000"/>
            <a:headEnd/>
            <a:tailEnd/>
          </a:ln>
        </p:spPr>
        <p:txBody>
          <a:bodyPr wrap="none">
            <a:spAutoFit/>
          </a:bodyPr>
          <a:lstStyle/>
          <a:p>
            <a:r>
              <a:rPr lang="en-US">
                <a:solidFill>
                  <a:srgbClr val="FF0000"/>
                </a:solidFill>
                <a:cs typeface="Arial" charset="0"/>
              </a:rPr>
              <a:t>Has ID</a:t>
            </a:r>
          </a:p>
          <a:p>
            <a:r>
              <a:rPr lang="en-US">
                <a:solidFill>
                  <a:schemeClr val="accent2"/>
                </a:solidFill>
                <a:cs typeface="Arial" charset="0"/>
              </a:rPr>
              <a:t>Has Version</a:t>
            </a:r>
          </a:p>
          <a:p>
            <a:r>
              <a:rPr lang="en-US">
                <a:cs typeface="Arial" charset="0"/>
              </a:rPr>
              <a:t>Has Agency</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Date Placeholder 3"/>
          <p:cNvSpPr>
            <a:spLocks noGrp="1"/>
          </p:cNvSpPr>
          <p:nvPr>
            <p:ph type="dt" sz="half" idx="10"/>
          </p:nvPr>
        </p:nvSpPr>
        <p:spPr>
          <a:xfrm>
            <a:off x="0" y="6381750"/>
            <a:ext cx="2133600" cy="476250"/>
          </a:xfrm>
          <a:noFill/>
        </p:spPr>
        <p:txBody>
          <a:bodyPr/>
          <a:lstStyle/>
          <a:p>
            <a:r>
              <a:rPr lang="en-US" smtClean="0"/>
              <a:t>S08</a:t>
            </a:r>
          </a:p>
        </p:txBody>
      </p:sp>
      <p:sp>
        <p:nvSpPr>
          <p:cNvPr id="18437" name="Slide Number Placeholder 4"/>
          <p:cNvSpPr>
            <a:spLocks noGrp="1"/>
          </p:cNvSpPr>
          <p:nvPr>
            <p:ph type="sldNum" sz="quarter" idx="12"/>
          </p:nvPr>
        </p:nvSpPr>
        <p:spPr>
          <a:xfrm>
            <a:off x="6781800" y="6381750"/>
            <a:ext cx="2133600" cy="476250"/>
          </a:xfrm>
          <a:noFill/>
        </p:spPr>
        <p:txBody>
          <a:bodyPr/>
          <a:lstStyle/>
          <a:p>
            <a:fld id="{6786E20C-5FD6-4F32-9212-5450F47DB99E}" type="slidenum">
              <a:rPr lang="en-US" smtClean="0"/>
              <a:pPr/>
              <a:t>35</a:t>
            </a:fld>
            <a:endParaRPr lang="en-US" smtClean="0"/>
          </a:p>
        </p:txBody>
      </p:sp>
      <p:sp>
        <p:nvSpPr>
          <p:cNvPr id="18434" name="Rectangle 2"/>
          <p:cNvSpPr>
            <a:spLocks noGrp="1" noChangeArrowheads="1"/>
          </p:cNvSpPr>
          <p:nvPr>
            <p:ph type="title" idx="4294967295"/>
          </p:nvPr>
        </p:nvSpPr>
        <p:spPr>
          <a:xfrm>
            <a:off x="457200" y="457200"/>
            <a:ext cx="8686800" cy="838200"/>
          </a:xfrm>
        </p:spPr>
        <p:txBody>
          <a:bodyPr/>
          <a:lstStyle/>
          <a:p>
            <a:pPr eaLnBrk="1" hangingPunct="1"/>
            <a:r>
              <a:rPr lang="en-US" smtClean="0"/>
              <a:t>What Does This Mean?</a:t>
            </a:r>
          </a:p>
        </p:txBody>
      </p:sp>
      <p:sp>
        <p:nvSpPr>
          <p:cNvPr id="18435" name="Rectangle 3"/>
          <p:cNvSpPr>
            <a:spLocks noGrp="1" noChangeArrowheads="1"/>
          </p:cNvSpPr>
          <p:nvPr>
            <p:ph type="body" idx="4294967295"/>
          </p:nvPr>
        </p:nvSpPr>
        <p:spPr>
          <a:xfrm>
            <a:off x="0" y="1371600"/>
            <a:ext cx="8229600" cy="4525963"/>
          </a:xfrm>
        </p:spPr>
        <p:txBody>
          <a:bodyPr/>
          <a:lstStyle/>
          <a:p>
            <a:pPr eaLnBrk="1" hangingPunct="1">
              <a:lnSpc>
                <a:spcPct val="90000"/>
              </a:lnSpc>
            </a:pPr>
            <a:r>
              <a:rPr lang="en-US" sz="2600" smtClean="0"/>
              <a:t>As different pieces of metadata move through the lifecycle, they will change.</a:t>
            </a:r>
          </a:p>
          <a:p>
            <a:pPr lvl="1" eaLnBrk="1" hangingPunct="1">
              <a:lnSpc>
                <a:spcPct val="90000"/>
              </a:lnSpc>
            </a:pPr>
            <a:r>
              <a:rPr lang="en-US" sz="2200" smtClean="0"/>
              <a:t>At a high level, “maintainable” objects represent packages of re-usable metadata passing from one organization to another</a:t>
            </a:r>
          </a:p>
          <a:p>
            <a:pPr lvl="1" eaLnBrk="1" hangingPunct="1">
              <a:lnSpc>
                <a:spcPct val="90000"/>
              </a:lnSpc>
            </a:pPr>
            <a:r>
              <a:rPr lang="en-US" sz="2200" smtClean="0"/>
              <a:t>Versionable objects represent things which change as they are reviewed within an organization or along the lifecycle</a:t>
            </a:r>
          </a:p>
          <a:p>
            <a:pPr lvl="1" eaLnBrk="1" hangingPunct="1">
              <a:lnSpc>
                <a:spcPct val="90000"/>
              </a:lnSpc>
            </a:pPr>
            <a:r>
              <a:rPr lang="en-US" sz="2200" smtClean="0"/>
              <a:t>Identifiable things represent metadata which is reused at a granular level, typically within maintainable packages or are likely to have Other Material or Notes attached</a:t>
            </a:r>
          </a:p>
          <a:p>
            <a:pPr eaLnBrk="1" hangingPunct="1">
              <a:lnSpc>
                <a:spcPct val="90000"/>
              </a:lnSpc>
            </a:pPr>
            <a:r>
              <a:rPr lang="en-US" sz="2600" smtClean="0"/>
              <a:t>The high-level documentation lists out all maintainables, versionables, and identifiables in a table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mtClean="0"/>
              <a:t>Rationale</a:t>
            </a:r>
          </a:p>
        </p:txBody>
      </p:sp>
      <p:sp>
        <p:nvSpPr>
          <p:cNvPr id="6147" name="Rectangle 3"/>
          <p:cNvSpPr>
            <a:spLocks noGrp="1" noChangeArrowheads="1"/>
          </p:cNvSpPr>
          <p:nvPr>
            <p:ph idx="1"/>
          </p:nvPr>
        </p:nvSpPr>
        <p:spPr/>
        <p:txBody>
          <a:bodyPr/>
          <a:lstStyle/>
          <a:p>
            <a:r>
              <a:rPr lang="en-US" smtClean="0"/>
              <a:t>Because several organizations are involved in the creation of a set of metadata throughout the lifecycle flow:</a:t>
            </a:r>
          </a:p>
          <a:p>
            <a:pPr lvl="1"/>
            <a:r>
              <a:rPr lang="en-US" smtClean="0"/>
              <a:t>Rules for maintenance, versioning, and identification must be universal</a:t>
            </a:r>
          </a:p>
          <a:p>
            <a:pPr lvl="1"/>
            <a:r>
              <a:rPr lang="en-US" smtClean="0"/>
              <a:t>Reference to other organization’s metadata is necessary for re-use – and </a:t>
            </a:r>
            <a:r>
              <a:rPr lang="en-US" i="1" smtClean="0"/>
              <a:t>very</a:t>
            </a:r>
            <a:r>
              <a:rPr lang="en-US" smtClean="0"/>
              <a:t> common </a:t>
            </a:r>
          </a:p>
        </p:txBody>
      </p:sp>
      <p:sp>
        <p:nvSpPr>
          <p:cNvPr id="6148" name="Date Placeholder 3"/>
          <p:cNvSpPr>
            <a:spLocks noGrp="1"/>
          </p:cNvSpPr>
          <p:nvPr>
            <p:ph type="dt" sz="half" idx="10"/>
          </p:nvPr>
        </p:nvSpPr>
        <p:spPr>
          <a:noFill/>
        </p:spPr>
        <p:txBody>
          <a:bodyPr/>
          <a:lstStyle/>
          <a:p>
            <a:r>
              <a:rPr lang="en-US" smtClean="0"/>
              <a:t>S08</a:t>
            </a:r>
          </a:p>
        </p:txBody>
      </p:sp>
      <p:sp>
        <p:nvSpPr>
          <p:cNvPr id="6149" name="Slide Number Placeholder 4"/>
          <p:cNvSpPr>
            <a:spLocks noGrp="1"/>
          </p:cNvSpPr>
          <p:nvPr>
            <p:ph type="sldNum" sz="quarter" idx="12"/>
          </p:nvPr>
        </p:nvSpPr>
        <p:spPr>
          <a:noFill/>
        </p:spPr>
        <p:txBody>
          <a:bodyPr/>
          <a:lstStyle/>
          <a:p>
            <a:fld id="{93A6D011-8076-46D2-A4E7-43993BD8A579}" type="slidenum">
              <a:rPr lang="en-US" smtClean="0"/>
              <a:pPr/>
              <a:t>36</a:t>
            </a:fld>
            <a:endParaRPr lang="en-US"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mtClean="0"/>
              <a:t>Versioning and Maintenance</a:t>
            </a:r>
          </a:p>
        </p:txBody>
      </p:sp>
      <p:sp>
        <p:nvSpPr>
          <p:cNvPr id="5123" name="Rectangle 3"/>
          <p:cNvSpPr>
            <a:spLocks noGrp="1" noChangeArrowheads="1"/>
          </p:cNvSpPr>
          <p:nvPr>
            <p:ph idx="1"/>
          </p:nvPr>
        </p:nvSpPr>
        <p:spPr/>
        <p:txBody>
          <a:bodyPr>
            <a:normAutofit lnSpcReduction="10000"/>
          </a:bodyPr>
          <a:lstStyle/>
          <a:p>
            <a:r>
              <a:rPr lang="en-US" dirty="0" smtClean="0"/>
              <a:t>There are four classes of elements:</a:t>
            </a:r>
          </a:p>
          <a:p>
            <a:pPr lvl="1"/>
            <a:r>
              <a:rPr lang="en-US" dirty="0" smtClean="0"/>
              <a:t>Unidentified </a:t>
            </a:r>
          </a:p>
          <a:p>
            <a:pPr lvl="2"/>
            <a:r>
              <a:rPr lang="en-US" dirty="0" smtClean="0"/>
              <a:t>contained by one of the following elements</a:t>
            </a:r>
          </a:p>
          <a:p>
            <a:pPr lvl="1"/>
            <a:r>
              <a:rPr lang="en-US" dirty="0" smtClean="0"/>
              <a:t>Identifiable (has ID)</a:t>
            </a:r>
          </a:p>
          <a:p>
            <a:pPr lvl="1"/>
            <a:r>
              <a:rPr lang="en-US" dirty="0" smtClean="0"/>
              <a:t>Versionable (has version and ID)</a:t>
            </a:r>
          </a:p>
          <a:p>
            <a:pPr lvl="1"/>
            <a:r>
              <a:rPr lang="en-US" dirty="0" smtClean="0"/>
              <a:t>Maintainable (has agency, version, and ID)</a:t>
            </a:r>
          </a:p>
          <a:p>
            <a:r>
              <a:rPr lang="en-US" dirty="0" smtClean="0"/>
              <a:t>Very often, </a:t>
            </a:r>
            <a:r>
              <a:rPr lang="en-US" dirty="0" err="1" smtClean="0"/>
              <a:t>versionable</a:t>
            </a:r>
            <a:r>
              <a:rPr lang="en-US" dirty="0" smtClean="0"/>
              <a:t> </a:t>
            </a:r>
            <a:r>
              <a:rPr lang="en-US" dirty="0" smtClean="0"/>
              <a:t>items such as </a:t>
            </a:r>
            <a:r>
              <a:rPr lang="en-US" dirty="0" smtClean="0"/>
              <a:t>Categories </a:t>
            </a:r>
            <a:r>
              <a:rPr lang="en-US" dirty="0" smtClean="0"/>
              <a:t>and Variables are maintained in parent schemes</a:t>
            </a:r>
          </a:p>
        </p:txBody>
      </p:sp>
      <p:sp>
        <p:nvSpPr>
          <p:cNvPr id="5124" name="Date Placeholder 3"/>
          <p:cNvSpPr>
            <a:spLocks noGrp="1"/>
          </p:cNvSpPr>
          <p:nvPr>
            <p:ph type="dt" sz="half" idx="10"/>
          </p:nvPr>
        </p:nvSpPr>
        <p:spPr>
          <a:noFill/>
        </p:spPr>
        <p:txBody>
          <a:bodyPr/>
          <a:lstStyle/>
          <a:p>
            <a:r>
              <a:rPr lang="en-US" smtClean="0"/>
              <a:t>S08</a:t>
            </a:r>
          </a:p>
        </p:txBody>
      </p:sp>
      <p:sp>
        <p:nvSpPr>
          <p:cNvPr id="5125" name="Slide Number Placeholder 4"/>
          <p:cNvSpPr>
            <a:spLocks noGrp="1"/>
          </p:cNvSpPr>
          <p:nvPr>
            <p:ph type="sldNum" sz="quarter" idx="12"/>
          </p:nvPr>
        </p:nvSpPr>
        <p:spPr>
          <a:noFill/>
        </p:spPr>
        <p:txBody>
          <a:bodyPr/>
          <a:lstStyle/>
          <a:p>
            <a:fld id="{3765D02C-3AF9-430F-ABB2-9A3065B69158}" type="slidenum">
              <a:rPr lang="en-US" smtClean="0"/>
              <a:pPr/>
              <a:t>37</a:t>
            </a:fld>
            <a:endParaRPr lang="en-US"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mtClean="0"/>
              <a:t>Publication in DDI</a:t>
            </a:r>
          </a:p>
        </p:txBody>
      </p:sp>
      <p:sp>
        <p:nvSpPr>
          <p:cNvPr id="8195" name="Rectangle 3"/>
          <p:cNvSpPr>
            <a:spLocks noGrp="1" noChangeArrowheads="1"/>
          </p:cNvSpPr>
          <p:nvPr>
            <p:ph idx="1"/>
          </p:nvPr>
        </p:nvSpPr>
        <p:spPr>
          <a:xfrm>
            <a:off x="457200" y="1371600"/>
            <a:ext cx="8229600" cy="4754563"/>
          </a:xfrm>
        </p:spPr>
        <p:txBody>
          <a:bodyPr/>
          <a:lstStyle/>
          <a:p>
            <a:pPr>
              <a:lnSpc>
                <a:spcPct val="80000"/>
              </a:lnSpc>
            </a:pPr>
            <a:r>
              <a:rPr lang="en-US" sz="2400" smtClean="0"/>
              <a:t>There is a concept of “publication” in DDI which is important for maintenance, versioning, and re-use</a:t>
            </a:r>
          </a:p>
          <a:p>
            <a:pPr>
              <a:lnSpc>
                <a:spcPct val="80000"/>
              </a:lnSpc>
            </a:pPr>
            <a:r>
              <a:rPr lang="en-US" sz="2400" smtClean="0"/>
              <a:t>Metadata is “published” when it is exposed outside the agency which produced it, for potential re-use by other organizations or individuals</a:t>
            </a:r>
          </a:p>
          <a:p>
            <a:pPr lvl="1">
              <a:lnSpc>
                <a:spcPct val="80000"/>
              </a:lnSpc>
            </a:pPr>
            <a:r>
              <a:rPr lang="en-US" sz="2000" smtClean="0"/>
              <a:t>Once published, agencies must follow the versioning rules</a:t>
            </a:r>
          </a:p>
          <a:p>
            <a:pPr lvl="1">
              <a:lnSpc>
                <a:spcPct val="80000"/>
              </a:lnSpc>
            </a:pPr>
            <a:r>
              <a:rPr lang="en-US" sz="2000" smtClean="0"/>
              <a:t>Internally, organizations can do whatever they want before publication</a:t>
            </a:r>
          </a:p>
          <a:p>
            <a:pPr>
              <a:lnSpc>
                <a:spcPct val="80000"/>
              </a:lnSpc>
            </a:pPr>
            <a:r>
              <a:rPr lang="en-US" sz="2400" smtClean="0"/>
              <a:t>Note that an “agency” can be an organization, a department, a project, or even an individual for DDI purposes</a:t>
            </a:r>
          </a:p>
          <a:p>
            <a:pPr lvl="1">
              <a:lnSpc>
                <a:spcPct val="80000"/>
              </a:lnSpc>
            </a:pPr>
            <a:r>
              <a:rPr lang="en-US" sz="2000" smtClean="0"/>
              <a:t>It must be described in an Organization Scheme, however!</a:t>
            </a:r>
          </a:p>
          <a:p>
            <a:pPr>
              <a:lnSpc>
                <a:spcPct val="80000"/>
              </a:lnSpc>
            </a:pPr>
            <a:r>
              <a:rPr lang="en-US" sz="2400" smtClean="0"/>
              <a:t>There is an attribute on maintainable objects called “isPublished” which must be set to “true” when an object is published (it defaults to “false”)</a:t>
            </a:r>
          </a:p>
        </p:txBody>
      </p:sp>
      <p:sp>
        <p:nvSpPr>
          <p:cNvPr id="8196" name="Date Placeholder 3"/>
          <p:cNvSpPr>
            <a:spLocks noGrp="1"/>
          </p:cNvSpPr>
          <p:nvPr>
            <p:ph type="dt" sz="half" idx="10"/>
          </p:nvPr>
        </p:nvSpPr>
        <p:spPr>
          <a:noFill/>
        </p:spPr>
        <p:txBody>
          <a:bodyPr/>
          <a:lstStyle/>
          <a:p>
            <a:r>
              <a:rPr lang="en-US" smtClean="0"/>
              <a:t>S08</a:t>
            </a:r>
          </a:p>
        </p:txBody>
      </p:sp>
      <p:sp>
        <p:nvSpPr>
          <p:cNvPr id="8197" name="Slide Number Placeholder 4"/>
          <p:cNvSpPr>
            <a:spLocks noGrp="1"/>
          </p:cNvSpPr>
          <p:nvPr>
            <p:ph type="sldNum" sz="quarter" idx="12"/>
          </p:nvPr>
        </p:nvSpPr>
        <p:spPr>
          <a:noFill/>
        </p:spPr>
        <p:txBody>
          <a:bodyPr/>
          <a:lstStyle/>
          <a:p>
            <a:fld id="{5E5F1D07-E2D5-4E91-86C4-5D14AD92E778}" type="slidenum">
              <a:rPr lang="en-US" smtClean="0"/>
              <a:pPr/>
              <a:t>38</a:t>
            </a:fld>
            <a:endParaRPr lang="en-US"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mtClean="0"/>
              <a:t>Maintenance Rules</a:t>
            </a:r>
          </a:p>
        </p:txBody>
      </p:sp>
      <p:sp>
        <p:nvSpPr>
          <p:cNvPr id="7171" name="Rectangle 3"/>
          <p:cNvSpPr>
            <a:spLocks noGrp="1" noChangeArrowheads="1"/>
          </p:cNvSpPr>
          <p:nvPr>
            <p:ph idx="1"/>
          </p:nvPr>
        </p:nvSpPr>
        <p:spPr>
          <a:xfrm>
            <a:off x="457200" y="1981200"/>
            <a:ext cx="8229600" cy="4267200"/>
          </a:xfrm>
        </p:spPr>
        <p:txBody>
          <a:bodyPr/>
          <a:lstStyle/>
          <a:p>
            <a:pPr>
              <a:lnSpc>
                <a:spcPct val="90000"/>
              </a:lnSpc>
            </a:pPr>
            <a:r>
              <a:rPr lang="en-US" sz="2400" dirty="0" smtClean="0"/>
              <a:t>A maintenance agency is identified by a reserved code based on its domain name (similar to it’s website and e-mail)</a:t>
            </a:r>
          </a:p>
          <a:p>
            <a:pPr lvl="1">
              <a:lnSpc>
                <a:spcPct val="90000"/>
              </a:lnSpc>
            </a:pPr>
            <a:r>
              <a:rPr lang="en-US" sz="2000" dirty="0" smtClean="0"/>
              <a:t>There is a register of DDI agency identifiers </a:t>
            </a:r>
          </a:p>
          <a:p>
            <a:pPr>
              <a:lnSpc>
                <a:spcPct val="90000"/>
              </a:lnSpc>
            </a:pPr>
            <a:r>
              <a:rPr lang="en-US" sz="2400" dirty="0" smtClean="0"/>
              <a:t>Maintenance agencies own the objects they maintain</a:t>
            </a:r>
          </a:p>
          <a:p>
            <a:pPr lvl="1">
              <a:lnSpc>
                <a:spcPct val="90000"/>
              </a:lnSpc>
            </a:pPr>
            <a:r>
              <a:rPr lang="en-US" sz="2000" dirty="0" smtClean="0"/>
              <a:t>Only they are allowed to change or version the objects</a:t>
            </a:r>
          </a:p>
          <a:p>
            <a:pPr>
              <a:lnSpc>
                <a:spcPct val="90000"/>
              </a:lnSpc>
            </a:pPr>
            <a:r>
              <a:rPr lang="en-US" sz="2400" dirty="0" smtClean="0"/>
              <a:t>Other organizations may reference external items in their own schemes, but may not change those items</a:t>
            </a:r>
          </a:p>
          <a:p>
            <a:pPr lvl="1">
              <a:lnSpc>
                <a:spcPct val="90000"/>
              </a:lnSpc>
            </a:pPr>
            <a:r>
              <a:rPr lang="en-US" sz="2000" dirty="0" smtClean="0"/>
              <a:t>You can make a copy which you change and maintain, but once you do that, you own it!</a:t>
            </a:r>
          </a:p>
        </p:txBody>
      </p:sp>
      <p:sp>
        <p:nvSpPr>
          <p:cNvPr id="7172" name="Date Placeholder 3"/>
          <p:cNvSpPr>
            <a:spLocks noGrp="1"/>
          </p:cNvSpPr>
          <p:nvPr>
            <p:ph type="dt" sz="half" idx="10"/>
          </p:nvPr>
        </p:nvSpPr>
        <p:spPr>
          <a:noFill/>
        </p:spPr>
        <p:txBody>
          <a:bodyPr/>
          <a:lstStyle/>
          <a:p>
            <a:r>
              <a:rPr lang="en-US" smtClean="0"/>
              <a:t>S08</a:t>
            </a:r>
          </a:p>
        </p:txBody>
      </p:sp>
      <p:sp>
        <p:nvSpPr>
          <p:cNvPr id="7173" name="Slide Number Placeholder 4"/>
          <p:cNvSpPr>
            <a:spLocks noGrp="1"/>
          </p:cNvSpPr>
          <p:nvPr>
            <p:ph type="sldNum" sz="quarter" idx="12"/>
          </p:nvPr>
        </p:nvSpPr>
        <p:spPr>
          <a:noFill/>
        </p:spPr>
        <p:txBody>
          <a:bodyPr/>
          <a:lstStyle/>
          <a:p>
            <a:fld id="{BB679C4B-4DB4-4392-928C-A15AE49AA29F}" type="slidenum">
              <a:rPr lang="en-US" smtClean="0"/>
              <a:pPr/>
              <a:t>39</a:t>
            </a:fld>
            <a:endParaRPr lang="en-US"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mtClean="0"/>
              <a:t>Versioning Rules</a:t>
            </a:r>
          </a:p>
        </p:txBody>
      </p:sp>
      <p:sp>
        <p:nvSpPr>
          <p:cNvPr id="9219" name="Rectangle 3"/>
          <p:cNvSpPr>
            <a:spLocks noGrp="1" noChangeArrowheads="1"/>
          </p:cNvSpPr>
          <p:nvPr>
            <p:ph idx="1"/>
          </p:nvPr>
        </p:nvSpPr>
        <p:spPr/>
        <p:txBody>
          <a:bodyPr/>
          <a:lstStyle/>
          <a:p>
            <a:r>
              <a:rPr lang="en-US" sz="2800" smtClean="0"/>
              <a:t>If a “published” object changes in any way, its version changes</a:t>
            </a:r>
          </a:p>
          <a:p>
            <a:r>
              <a:rPr lang="en-US" sz="2800" smtClean="0"/>
              <a:t>This will change the version of any containing maintainable object</a:t>
            </a:r>
          </a:p>
          <a:p>
            <a:r>
              <a:rPr lang="en-US" sz="2800" smtClean="0"/>
              <a:t>Typically, objects grow and are versioned as they move through the lifecycle</a:t>
            </a:r>
          </a:p>
          <a:p>
            <a:r>
              <a:rPr lang="en-US" sz="2800" smtClean="0"/>
              <a:t>Versionables inherit their agency from the maintainable object they live in at the time of origin</a:t>
            </a:r>
          </a:p>
        </p:txBody>
      </p:sp>
      <p:sp>
        <p:nvSpPr>
          <p:cNvPr id="9220" name="Date Placeholder 3"/>
          <p:cNvSpPr>
            <a:spLocks noGrp="1"/>
          </p:cNvSpPr>
          <p:nvPr>
            <p:ph type="dt" sz="half" idx="10"/>
          </p:nvPr>
        </p:nvSpPr>
        <p:spPr>
          <a:noFill/>
        </p:spPr>
        <p:txBody>
          <a:bodyPr/>
          <a:lstStyle/>
          <a:p>
            <a:r>
              <a:rPr lang="en-US" smtClean="0"/>
              <a:t>S08</a:t>
            </a:r>
          </a:p>
        </p:txBody>
      </p:sp>
      <p:sp>
        <p:nvSpPr>
          <p:cNvPr id="9221" name="Slide Number Placeholder 4"/>
          <p:cNvSpPr>
            <a:spLocks noGrp="1"/>
          </p:cNvSpPr>
          <p:nvPr>
            <p:ph type="sldNum" sz="quarter" idx="12"/>
          </p:nvPr>
        </p:nvSpPr>
        <p:spPr>
          <a:noFill/>
        </p:spPr>
        <p:txBody>
          <a:bodyPr/>
          <a:lstStyle/>
          <a:p>
            <a:fld id="{F61003F7-4ACE-4046-A7BC-246C98EB6DDE}" type="slidenum">
              <a:rPr lang="en-US" smtClean="0"/>
              <a:pPr/>
              <a:t>40</a:t>
            </a:fld>
            <a:endParaRPr lang="en-US"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55" name="Date Placeholder 22"/>
          <p:cNvSpPr>
            <a:spLocks noGrp="1"/>
          </p:cNvSpPr>
          <p:nvPr>
            <p:ph type="dt" sz="half" idx="10"/>
          </p:nvPr>
        </p:nvSpPr>
        <p:spPr>
          <a:xfrm>
            <a:off x="152400" y="152400"/>
            <a:ext cx="2133600" cy="476250"/>
          </a:xfrm>
          <a:noFill/>
        </p:spPr>
        <p:txBody>
          <a:bodyPr/>
          <a:lstStyle/>
          <a:p>
            <a:r>
              <a:rPr lang="en-US" smtClean="0"/>
              <a:t>S08</a:t>
            </a:r>
          </a:p>
        </p:txBody>
      </p:sp>
      <p:sp>
        <p:nvSpPr>
          <p:cNvPr id="10256" name="Slide Number Placeholder 23"/>
          <p:cNvSpPr>
            <a:spLocks noGrp="1"/>
          </p:cNvSpPr>
          <p:nvPr>
            <p:ph type="sldNum" sz="quarter" idx="12"/>
          </p:nvPr>
        </p:nvSpPr>
        <p:spPr>
          <a:xfrm>
            <a:off x="6781800" y="152400"/>
            <a:ext cx="2133600" cy="476250"/>
          </a:xfrm>
          <a:noFill/>
        </p:spPr>
        <p:txBody>
          <a:bodyPr/>
          <a:lstStyle/>
          <a:p>
            <a:fld id="{FF680843-2B19-4AA2-8843-711B4CD5688F}" type="slidenum">
              <a:rPr lang="en-US" smtClean="0"/>
              <a:pPr/>
              <a:t>41</a:t>
            </a:fld>
            <a:endParaRPr lang="en-US" smtClean="0"/>
          </a:p>
        </p:txBody>
      </p:sp>
      <p:sp>
        <p:nvSpPr>
          <p:cNvPr id="10242"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Versioning Across the DDI 3 Lifecycle Model</a:t>
            </a:r>
          </a:p>
        </p:txBody>
      </p:sp>
      <p:pic>
        <p:nvPicPr>
          <p:cNvPr id="1024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grpSp>
        <p:nvGrpSpPr>
          <p:cNvPr id="2" name="Group 8"/>
          <p:cNvGrpSpPr>
            <a:grpSpLocks/>
          </p:cNvGrpSpPr>
          <p:nvPr/>
        </p:nvGrpSpPr>
        <p:grpSpPr bwMode="auto">
          <a:xfrm>
            <a:off x="685800" y="5638800"/>
            <a:ext cx="1066800" cy="1066800"/>
            <a:chOff x="432" y="3312"/>
            <a:chExt cx="672" cy="672"/>
          </a:xfrm>
        </p:grpSpPr>
        <p:sp>
          <p:nvSpPr>
            <p:cNvPr id="10263" name="AutoShape 6"/>
            <p:cNvSpPr>
              <a:spLocks noChangeArrowheads="1"/>
            </p:cNvSpPr>
            <p:nvPr/>
          </p:nvSpPr>
          <p:spPr bwMode="auto">
            <a:xfrm>
              <a:off x="432" y="3312"/>
              <a:ext cx="672" cy="672"/>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0264" name="Text Box 7"/>
            <p:cNvSpPr txBox="1">
              <a:spLocks noChangeArrowheads="1"/>
            </p:cNvSpPr>
            <p:nvPr/>
          </p:nvSpPr>
          <p:spPr bwMode="auto">
            <a:xfrm>
              <a:off x="480" y="3484"/>
              <a:ext cx="604" cy="404"/>
            </a:xfrm>
            <a:prstGeom prst="rect">
              <a:avLst/>
            </a:prstGeom>
            <a:noFill/>
            <a:ln w="9525">
              <a:noFill/>
              <a:miter lim="800000"/>
              <a:headEnd/>
              <a:tailEnd/>
            </a:ln>
          </p:spPr>
          <p:txBody>
            <a:bodyPr wrap="none">
              <a:spAutoFit/>
            </a:bodyPr>
            <a:lstStyle/>
            <a:p>
              <a:r>
                <a:rPr lang="en-US"/>
                <a:t>Version</a:t>
              </a:r>
            </a:p>
            <a:p>
              <a:r>
                <a:rPr lang="en-US"/>
                <a:t>1.0.0</a:t>
              </a:r>
            </a:p>
          </p:txBody>
        </p:sp>
      </p:grpSp>
      <p:grpSp>
        <p:nvGrpSpPr>
          <p:cNvPr id="3" name="Group 9"/>
          <p:cNvGrpSpPr>
            <a:grpSpLocks/>
          </p:cNvGrpSpPr>
          <p:nvPr/>
        </p:nvGrpSpPr>
        <p:grpSpPr bwMode="auto">
          <a:xfrm>
            <a:off x="2133600" y="5638800"/>
            <a:ext cx="1066800" cy="1066800"/>
            <a:chOff x="432" y="3312"/>
            <a:chExt cx="672" cy="672"/>
          </a:xfrm>
        </p:grpSpPr>
        <p:sp>
          <p:nvSpPr>
            <p:cNvPr id="10261" name="AutoShape 10"/>
            <p:cNvSpPr>
              <a:spLocks noChangeArrowheads="1"/>
            </p:cNvSpPr>
            <p:nvPr/>
          </p:nvSpPr>
          <p:spPr bwMode="auto">
            <a:xfrm>
              <a:off x="432" y="3312"/>
              <a:ext cx="672" cy="672"/>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0262" name="Text Box 11"/>
            <p:cNvSpPr txBox="1">
              <a:spLocks noChangeArrowheads="1"/>
            </p:cNvSpPr>
            <p:nvPr/>
          </p:nvSpPr>
          <p:spPr bwMode="auto">
            <a:xfrm>
              <a:off x="480" y="3484"/>
              <a:ext cx="604" cy="404"/>
            </a:xfrm>
            <a:prstGeom prst="rect">
              <a:avLst/>
            </a:prstGeom>
            <a:noFill/>
            <a:ln w="9525">
              <a:noFill/>
              <a:miter lim="800000"/>
              <a:headEnd/>
              <a:tailEnd/>
            </a:ln>
          </p:spPr>
          <p:txBody>
            <a:bodyPr wrap="none">
              <a:spAutoFit/>
            </a:bodyPr>
            <a:lstStyle/>
            <a:p>
              <a:r>
                <a:rPr lang="en-US"/>
                <a:t>Version</a:t>
              </a:r>
            </a:p>
            <a:p>
              <a:r>
                <a:rPr lang="en-US"/>
                <a:t>1.1.0</a:t>
              </a:r>
            </a:p>
          </p:txBody>
        </p:sp>
      </p:grpSp>
      <p:grpSp>
        <p:nvGrpSpPr>
          <p:cNvPr id="4" name="Group 12"/>
          <p:cNvGrpSpPr>
            <a:grpSpLocks/>
          </p:cNvGrpSpPr>
          <p:nvPr/>
        </p:nvGrpSpPr>
        <p:grpSpPr bwMode="auto">
          <a:xfrm>
            <a:off x="3505200" y="5638800"/>
            <a:ext cx="1066800" cy="1066800"/>
            <a:chOff x="432" y="3312"/>
            <a:chExt cx="672" cy="672"/>
          </a:xfrm>
        </p:grpSpPr>
        <p:sp>
          <p:nvSpPr>
            <p:cNvPr id="10259" name="AutoShape 13"/>
            <p:cNvSpPr>
              <a:spLocks noChangeArrowheads="1"/>
            </p:cNvSpPr>
            <p:nvPr/>
          </p:nvSpPr>
          <p:spPr bwMode="auto">
            <a:xfrm>
              <a:off x="432" y="3312"/>
              <a:ext cx="672" cy="672"/>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0260" name="Text Box 14"/>
            <p:cNvSpPr txBox="1">
              <a:spLocks noChangeArrowheads="1"/>
            </p:cNvSpPr>
            <p:nvPr/>
          </p:nvSpPr>
          <p:spPr bwMode="auto">
            <a:xfrm>
              <a:off x="480" y="3484"/>
              <a:ext cx="604" cy="404"/>
            </a:xfrm>
            <a:prstGeom prst="rect">
              <a:avLst/>
            </a:prstGeom>
            <a:noFill/>
            <a:ln w="9525">
              <a:noFill/>
              <a:miter lim="800000"/>
              <a:headEnd/>
              <a:tailEnd/>
            </a:ln>
          </p:spPr>
          <p:txBody>
            <a:bodyPr wrap="none">
              <a:spAutoFit/>
            </a:bodyPr>
            <a:lstStyle/>
            <a:p>
              <a:r>
                <a:rPr lang="en-US"/>
                <a:t>Version</a:t>
              </a:r>
            </a:p>
            <a:p>
              <a:r>
                <a:rPr lang="en-US"/>
                <a:t>2.0.0</a:t>
              </a:r>
            </a:p>
          </p:txBody>
        </p:sp>
      </p:grpSp>
      <p:grpSp>
        <p:nvGrpSpPr>
          <p:cNvPr id="5" name="Group 15"/>
          <p:cNvGrpSpPr>
            <a:grpSpLocks/>
          </p:cNvGrpSpPr>
          <p:nvPr/>
        </p:nvGrpSpPr>
        <p:grpSpPr bwMode="auto">
          <a:xfrm>
            <a:off x="6400800" y="1752600"/>
            <a:ext cx="1066800" cy="1066800"/>
            <a:chOff x="432" y="3312"/>
            <a:chExt cx="672" cy="672"/>
          </a:xfrm>
        </p:grpSpPr>
        <p:sp>
          <p:nvSpPr>
            <p:cNvPr id="10257" name="AutoShape 16"/>
            <p:cNvSpPr>
              <a:spLocks noChangeArrowheads="1"/>
            </p:cNvSpPr>
            <p:nvPr/>
          </p:nvSpPr>
          <p:spPr bwMode="auto">
            <a:xfrm>
              <a:off x="432" y="3312"/>
              <a:ext cx="672" cy="672"/>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0258" name="Text Box 17"/>
            <p:cNvSpPr txBox="1">
              <a:spLocks noChangeArrowheads="1"/>
            </p:cNvSpPr>
            <p:nvPr/>
          </p:nvSpPr>
          <p:spPr bwMode="auto">
            <a:xfrm>
              <a:off x="480" y="3484"/>
              <a:ext cx="604" cy="404"/>
            </a:xfrm>
            <a:prstGeom prst="rect">
              <a:avLst/>
            </a:prstGeom>
            <a:noFill/>
            <a:ln w="9525">
              <a:noFill/>
              <a:miter lim="800000"/>
              <a:headEnd/>
              <a:tailEnd/>
            </a:ln>
          </p:spPr>
          <p:txBody>
            <a:bodyPr wrap="none">
              <a:spAutoFit/>
            </a:bodyPr>
            <a:lstStyle/>
            <a:p>
              <a:r>
                <a:rPr lang="en-US"/>
                <a:t>Version</a:t>
              </a:r>
            </a:p>
            <a:p>
              <a:r>
                <a:rPr lang="en-US"/>
                <a:t>3.0.0</a:t>
              </a:r>
            </a:p>
          </p:txBody>
        </p:sp>
      </p:grpSp>
      <p:sp>
        <p:nvSpPr>
          <p:cNvPr id="10248" name="Line 18"/>
          <p:cNvSpPr>
            <a:spLocks noChangeShapeType="1"/>
          </p:cNvSpPr>
          <p:nvPr/>
        </p:nvSpPr>
        <p:spPr bwMode="auto">
          <a:xfrm>
            <a:off x="1143000" y="4495800"/>
            <a:ext cx="0" cy="990600"/>
          </a:xfrm>
          <a:prstGeom prst="line">
            <a:avLst/>
          </a:prstGeom>
          <a:noFill/>
          <a:ln w="57150">
            <a:solidFill>
              <a:schemeClr val="tx1"/>
            </a:solidFill>
            <a:prstDash val="sysDot"/>
            <a:round/>
            <a:headEnd/>
            <a:tailEnd type="triangle" w="med" len="med"/>
          </a:ln>
        </p:spPr>
        <p:txBody>
          <a:bodyPr/>
          <a:lstStyle/>
          <a:p>
            <a:endParaRPr lang="en-US"/>
          </a:p>
        </p:txBody>
      </p:sp>
      <p:sp>
        <p:nvSpPr>
          <p:cNvPr id="10249" name="Line 19"/>
          <p:cNvSpPr>
            <a:spLocks noChangeShapeType="1"/>
          </p:cNvSpPr>
          <p:nvPr/>
        </p:nvSpPr>
        <p:spPr bwMode="auto">
          <a:xfrm>
            <a:off x="2590800" y="4495800"/>
            <a:ext cx="0" cy="990600"/>
          </a:xfrm>
          <a:prstGeom prst="line">
            <a:avLst/>
          </a:prstGeom>
          <a:noFill/>
          <a:ln w="57150">
            <a:solidFill>
              <a:schemeClr val="tx1"/>
            </a:solidFill>
            <a:prstDash val="sysDot"/>
            <a:round/>
            <a:headEnd/>
            <a:tailEnd type="triangle" w="med" len="med"/>
          </a:ln>
        </p:spPr>
        <p:txBody>
          <a:bodyPr/>
          <a:lstStyle/>
          <a:p>
            <a:endParaRPr lang="en-US"/>
          </a:p>
        </p:txBody>
      </p:sp>
      <p:sp>
        <p:nvSpPr>
          <p:cNvPr id="10250" name="Line 20"/>
          <p:cNvSpPr>
            <a:spLocks noChangeShapeType="1"/>
          </p:cNvSpPr>
          <p:nvPr/>
        </p:nvSpPr>
        <p:spPr bwMode="auto">
          <a:xfrm>
            <a:off x="3886200" y="4495800"/>
            <a:ext cx="0" cy="990600"/>
          </a:xfrm>
          <a:prstGeom prst="line">
            <a:avLst/>
          </a:prstGeom>
          <a:noFill/>
          <a:ln w="57150">
            <a:solidFill>
              <a:schemeClr val="tx1"/>
            </a:solidFill>
            <a:prstDash val="sysDot"/>
            <a:round/>
            <a:headEnd/>
            <a:tailEnd type="triangle" w="med" len="med"/>
          </a:ln>
        </p:spPr>
        <p:txBody>
          <a:bodyPr/>
          <a:lstStyle/>
          <a:p>
            <a:endParaRPr lang="en-US"/>
          </a:p>
        </p:txBody>
      </p:sp>
      <p:sp>
        <p:nvSpPr>
          <p:cNvPr id="10251" name="Line 21"/>
          <p:cNvSpPr>
            <a:spLocks noChangeShapeType="1"/>
          </p:cNvSpPr>
          <p:nvPr/>
        </p:nvSpPr>
        <p:spPr bwMode="auto">
          <a:xfrm>
            <a:off x="5791200" y="2209800"/>
            <a:ext cx="609600" cy="0"/>
          </a:xfrm>
          <a:prstGeom prst="line">
            <a:avLst/>
          </a:prstGeom>
          <a:noFill/>
          <a:ln w="57150">
            <a:solidFill>
              <a:schemeClr val="tx1"/>
            </a:solidFill>
            <a:prstDash val="sysDot"/>
            <a:round/>
            <a:headEnd/>
            <a:tailEnd type="triangle" w="med" len="med"/>
          </a:ln>
        </p:spPr>
        <p:txBody>
          <a:bodyPr/>
          <a:lstStyle/>
          <a:p>
            <a:endParaRPr lang="en-US"/>
          </a:p>
        </p:txBody>
      </p:sp>
      <p:sp>
        <p:nvSpPr>
          <p:cNvPr id="10252" name="Line 22"/>
          <p:cNvSpPr>
            <a:spLocks noChangeShapeType="1"/>
          </p:cNvSpPr>
          <p:nvPr/>
        </p:nvSpPr>
        <p:spPr bwMode="auto">
          <a:xfrm>
            <a:off x="1828800" y="6096000"/>
            <a:ext cx="228600" cy="0"/>
          </a:xfrm>
          <a:prstGeom prst="line">
            <a:avLst/>
          </a:prstGeom>
          <a:noFill/>
          <a:ln w="57150">
            <a:solidFill>
              <a:srgbClr val="FF0000"/>
            </a:solidFill>
            <a:round/>
            <a:headEnd/>
            <a:tailEnd type="triangle" w="med" len="med"/>
          </a:ln>
        </p:spPr>
        <p:txBody>
          <a:bodyPr/>
          <a:lstStyle/>
          <a:p>
            <a:endParaRPr lang="en-US"/>
          </a:p>
        </p:txBody>
      </p:sp>
      <p:sp>
        <p:nvSpPr>
          <p:cNvPr id="10253" name="Line 23"/>
          <p:cNvSpPr>
            <a:spLocks noChangeShapeType="1"/>
          </p:cNvSpPr>
          <p:nvPr/>
        </p:nvSpPr>
        <p:spPr bwMode="auto">
          <a:xfrm>
            <a:off x="3200400" y="6096000"/>
            <a:ext cx="228600" cy="0"/>
          </a:xfrm>
          <a:prstGeom prst="line">
            <a:avLst/>
          </a:prstGeom>
          <a:noFill/>
          <a:ln w="57150">
            <a:solidFill>
              <a:srgbClr val="FF0000"/>
            </a:solidFill>
            <a:round/>
            <a:headEnd/>
            <a:tailEnd type="triangle" w="med" len="med"/>
          </a:ln>
        </p:spPr>
        <p:txBody>
          <a:bodyPr/>
          <a:lstStyle/>
          <a:p>
            <a:endParaRPr lang="en-US"/>
          </a:p>
        </p:txBody>
      </p:sp>
      <p:sp>
        <p:nvSpPr>
          <p:cNvPr id="10254" name="Line 24"/>
          <p:cNvSpPr>
            <a:spLocks noChangeShapeType="1"/>
          </p:cNvSpPr>
          <p:nvPr/>
        </p:nvSpPr>
        <p:spPr bwMode="auto">
          <a:xfrm flipV="1">
            <a:off x="4724400" y="2895600"/>
            <a:ext cx="1752600" cy="2895600"/>
          </a:xfrm>
          <a:prstGeom prst="line">
            <a:avLst/>
          </a:prstGeom>
          <a:noFill/>
          <a:ln w="5715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mtClean="0"/>
              <a:t>Versioning: Changes</a:t>
            </a:r>
          </a:p>
        </p:txBody>
      </p:sp>
      <p:sp>
        <p:nvSpPr>
          <p:cNvPr id="11289" name="Date Placeholder 24"/>
          <p:cNvSpPr>
            <a:spLocks noGrp="1"/>
          </p:cNvSpPr>
          <p:nvPr>
            <p:ph type="dt" sz="half" idx="10"/>
          </p:nvPr>
        </p:nvSpPr>
        <p:spPr>
          <a:noFill/>
        </p:spPr>
        <p:txBody>
          <a:bodyPr/>
          <a:lstStyle/>
          <a:p>
            <a:r>
              <a:rPr lang="en-US" smtClean="0"/>
              <a:t>S08</a:t>
            </a:r>
          </a:p>
        </p:txBody>
      </p:sp>
      <p:sp>
        <p:nvSpPr>
          <p:cNvPr id="11290" name="Slide Number Placeholder 25"/>
          <p:cNvSpPr>
            <a:spLocks noGrp="1"/>
          </p:cNvSpPr>
          <p:nvPr>
            <p:ph type="sldNum" sz="quarter" idx="12"/>
          </p:nvPr>
        </p:nvSpPr>
        <p:spPr>
          <a:noFill/>
        </p:spPr>
        <p:txBody>
          <a:bodyPr/>
          <a:lstStyle/>
          <a:p>
            <a:fld id="{FAEF7631-56EF-4D6A-8C34-432D27868F5A}" type="slidenum">
              <a:rPr lang="en-US" smtClean="0"/>
              <a:pPr/>
              <a:t>42</a:t>
            </a:fld>
            <a:endParaRPr lang="en-US" smtClean="0"/>
          </a:p>
        </p:txBody>
      </p:sp>
      <p:sp>
        <p:nvSpPr>
          <p:cNvPr id="11267" name="AutoShape 4"/>
          <p:cNvSpPr>
            <a:spLocks noChangeArrowheads="1"/>
          </p:cNvSpPr>
          <p:nvPr/>
        </p:nvSpPr>
        <p:spPr bwMode="auto">
          <a:xfrm>
            <a:off x="152400" y="1600200"/>
            <a:ext cx="2133600" cy="2286000"/>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1268" name="Text Box 5"/>
          <p:cNvSpPr txBox="1">
            <a:spLocks noChangeArrowheads="1"/>
          </p:cNvSpPr>
          <p:nvPr/>
        </p:nvSpPr>
        <p:spPr bwMode="auto">
          <a:xfrm>
            <a:off x="228600" y="1658938"/>
            <a:ext cx="2152650" cy="1465262"/>
          </a:xfrm>
          <a:prstGeom prst="rect">
            <a:avLst/>
          </a:prstGeom>
          <a:noFill/>
          <a:ln w="9525">
            <a:noFill/>
            <a:miter lim="800000"/>
            <a:headEnd/>
            <a:tailEnd/>
          </a:ln>
        </p:spPr>
        <p:txBody>
          <a:bodyPr wrap="none">
            <a:spAutoFit/>
          </a:bodyPr>
          <a:lstStyle/>
          <a:p>
            <a:r>
              <a:rPr lang="en-US"/>
              <a:t>ConceptScheme X</a:t>
            </a:r>
          </a:p>
          <a:p>
            <a:r>
              <a:rPr lang="en-US"/>
              <a:t>V 1.0.0 </a:t>
            </a:r>
          </a:p>
          <a:p>
            <a:pPr>
              <a:buFontTx/>
              <a:buChar char="-"/>
            </a:pPr>
            <a:r>
              <a:rPr lang="en-US"/>
              <a:t> Concept A v 1.0.0</a:t>
            </a:r>
          </a:p>
          <a:p>
            <a:pPr>
              <a:buFontTx/>
              <a:buChar char="-"/>
            </a:pPr>
            <a:r>
              <a:rPr lang="en-US"/>
              <a:t> Concept B v 1.0.0</a:t>
            </a:r>
          </a:p>
          <a:p>
            <a:pPr>
              <a:buFontTx/>
              <a:buChar char="-"/>
            </a:pPr>
            <a:r>
              <a:rPr lang="en-US"/>
              <a:t> Concept C v 1.0.0</a:t>
            </a:r>
          </a:p>
        </p:txBody>
      </p:sp>
      <p:sp>
        <p:nvSpPr>
          <p:cNvPr id="11269" name="AutoShape 6"/>
          <p:cNvSpPr>
            <a:spLocks noChangeArrowheads="1"/>
          </p:cNvSpPr>
          <p:nvPr/>
        </p:nvSpPr>
        <p:spPr bwMode="auto">
          <a:xfrm>
            <a:off x="3016250" y="1600200"/>
            <a:ext cx="2133600" cy="2286000"/>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1270" name="Text Box 7"/>
          <p:cNvSpPr txBox="1">
            <a:spLocks noChangeArrowheads="1"/>
          </p:cNvSpPr>
          <p:nvPr/>
        </p:nvSpPr>
        <p:spPr bwMode="auto">
          <a:xfrm>
            <a:off x="3092450" y="1658938"/>
            <a:ext cx="2034531" cy="2031325"/>
          </a:xfrm>
          <a:prstGeom prst="rect">
            <a:avLst/>
          </a:prstGeom>
          <a:noFill/>
          <a:ln w="9525">
            <a:noFill/>
            <a:miter lim="800000"/>
            <a:headEnd/>
            <a:tailEnd/>
          </a:ln>
        </p:spPr>
        <p:txBody>
          <a:bodyPr wrap="none">
            <a:spAutoFit/>
          </a:bodyPr>
          <a:lstStyle/>
          <a:p>
            <a:r>
              <a:rPr lang="en-US" dirty="0" err="1"/>
              <a:t>ConceptScheme</a:t>
            </a:r>
            <a:r>
              <a:rPr lang="en-US" dirty="0"/>
              <a:t> X</a:t>
            </a:r>
          </a:p>
          <a:p>
            <a:r>
              <a:rPr lang="en-US" dirty="0"/>
              <a:t>V 1.1.0 </a:t>
            </a:r>
          </a:p>
          <a:p>
            <a:pPr>
              <a:buFontTx/>
              <a:buChar char="-"/>
            </a:pPr>
            <a:r>
              <a:rPr lang="en-US" dirty="0"/>
              <a:t> Concept A v 1.1.0</a:t>
            </a:r>
          </a:p>
          <a:p>
            <a:pPr>
              <a:buFontTx/>
              <a:buChar char="-"/>
            </a:pPr>
            <a:r>
              <a:rPr lang="en-US" dirty="0"/>
              <a:t> </a:t>
            </a:r>
            <a:r>
              <a:rPr lang="en-US" dirty="0">
                <a:solidFill>
                  <a:schemeClr val="bg1">
                    <a:lumMod val="65000"/>
                  </a:schemeClr>
                </a:solidFill>
              </a:rPr>
              <a:t>Concept B v 1.0.0</a:t>
            </a:r>
          </a:p>
          <a:p>
            <a:pPr>
              <a:buFontTx/>
              <a:buChar char="-"/>
            </a:pPr>
            <a:r>
              <a:rPr lang="en-US" dirty="0"/>
              <a:t> Concept C v 1.1.0</a:t>
            </a:r>
          </a:p>
          <a:p>
            <a:r>
              <a:rPr lang="en-US" dirty="0"/>
              <a:t>Add: </a:t>
            </a:r>
          </a:p>
          <a:p>
            <a:r>
              <a:rPr lang="en-US" dirty="0"/>
              <a:t>Concept D v 1.0.0</a:t>
            </a:r>
          </a:p>
        </p:txBody>
      </p:sp>
      <p:sp>
        <p:nvSpPr>
          <p:cNvPr id="11271" name="AutoShape 8"/>
          <p:cNvSpPr>
            <a:spLocks noChangeArrowheads="1"/>
          </p:cNvSpPr>
          <p:nvPr/>
        </p:nvSpPr>
        <p:spPr bwMode="auto">
          <a:xfrm>
            <a:off x="5988050" y="1600200"/>
            <a:ext cx="2133600" cy="2286000"/>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1272" name="Text Box 9"/>
          <p:cNvSpPr txBox="1">
            <a:spLocks noChangeArrowheads="1"/>
          </p:cNvSpPr>
          <p:nvPr/>
        </p:nvSpPr>
        <p:spPr bwMode="auto">
          <a:xfrm>
            <a:off x="6064250" y="1658938"/>
            <a:ext cx="2034531" cy="2308324"/>
          </a:xfrm>
          <a:prstGeom prst="rect">
            <a:avLst/>
          </a:prstGeom>
          <a:noFill/>
          <a:ln w="9525">
            <a:noFill/>
            <a:miter lim="800000"/>
            <a:headEnd/>
            <a:tailEnd/>
          </a:ln>
        </p:spPr>
        <p:txBody>
          <a:bodyPr wrap="none">
            <a:spAutoFit/>
          </a:bodyPr>
          <a:lstStyle/>
          <a:p>
            <a:r>
              <a:rPr lang="en-US" dirty="0" err="1"/>
              <a:t>ConceptScheme</a:t>
            </a:r>
            <a:r>
              <a:rPr lang="en-US" dirty="0"/>
              <a:t> X</a:t>
            </a:r>
          </a:p>
          <a:p>
            <a:r>
              <a:rPr lang="en-US" dirty="0"/>
              <a:t>V 2.0.0 </a:t>
            </a:r>
          </a:p>
          <a:p>
            <a:pPr>
              <a:buFontTx/>
              <a:buChar char="-"/>
            </a:pPr>
            <a:r>
              <a:rPr lang="en-US" dirty="0"/>
              <a:t> Concept A v 1.2.0</a:t>
            </a:r>
          </a:p>
          <a:p>
            <a:pPr>
              <a:buFontTx/>
              <a:buChar char="-"/>
            </a:pPr>
            <a:r>
              <a:rPr lang="en-US" dirty="0"/>
              <a:t> </a:t>
            </a:r>
            <a:r>
              <a:rPr lang="en-US" dirty="0">
                <a:solidFill>
                  <a:schemeClr val="bg1">
                    <a:lumMod val="65000"/>
                  </a:schemeClr>
                </a:solidFill>
              </a:rPr>
              <a:t>Concept B v 1.0.0</a:t>
            </a:r>
          </a:p>
          <a:p>
            <a:pPr>
              <a:buFontTx/>
              <a:buChar char="-"/>
            </a:pPr>
            <a:r>
              <a:rPr lang="en-US" dirty="0"/>
              <a:t> Concept C v 1.2.0</a:t>
            </a:r>
          </a:p>
          <a:p>
            <a:pPr>
              <a:buFontTx/>
              <a:buChar char="-"/>
            </a:pPr>
            <a:r>
              <a:rPr lang="en-US" dirty="0"/>
              <a:t> Concept D v 1.1.0</a:t>
            </a:r>
          </a:p>
          <a:p>
            <a:r>
              <a:rPr lang="en-US" dirty="0"/>
              <a:t>Add:</a:t>
            </a:r>
          </a:p>
          <a:p>
            <a:r>
              <a:rPr lang="en-US" dirty="0"/>
              <a:t>Concept E v 1.0.0</a:t>
            </a:r>
          </a:p>
        </p:txBody>
      </p:sp>
      <p:sp>
        <p:nvSpPr>
          <p:cNvPr id="11273" name="AutoShape 10"/>
          <p:cNvSpPr>
            <a:spLocks noChangeArrowheads="1"/>
          </p:cNvSpPr>
          <p:nvPr/>
        </p:nvSpPr>
        <p:spPr bwMode="auto">
          <a:xfrm>
            <a:off x="6019800" y="4495800"/>
            <a:ext cx="2133600" cy="2286000"/>
          </a:xfrm>
          <a:prstGeom prst="foldedCorner">
            <a:avLst>
              <a:gd name="adj" fmla="val 12500"/>
            </a:avLst>
          </a:prstGeom>
          <a:noFill/>
          <a:ln w="9525">
            <a:solidFill>
              <a:schemeClr val="tx1"/>
            </a:solidFill>
            <a:round/>
            <a:headEnd/>
            <a:tailEnd/>
          </a:ln>
        </p:spPr>
        <p:txBody>
          <a:bodyPr wrap="none" anchor="ctr"/>
          <a:lstStyle/>
          <a:p>
            <a:endParaRPr lang="en-US"/>
          </a:p>
        </p:txBody>
      </p:sp>
      <p:sp>
        <p:nvSpPr>
          <p:cNvPr id="11274" name="Text Box 11"/>
          <p:cNvSpPr txBox="1">
            <a:spLocks noChangeArrowheads="1"/>
          </p:cNvSpPr>
          <p:nvPr/>
        </p:nvSpPr>
        <p:spPr bwMode="auto">
          <a:xfrm>
            <a:off x="6096000" y="4554538"/>
            <a:ext cx="2033505" cy="1477328"/>
          </a:xfrm>
          <a:prstGeom prst="rect">
            <a:avLst/>
          </a:prstGeom>
          <a:noFill/>
          <a:ln w="9525">
            <a:noFill/>
            <a:miter lim="800000"/>
            <a:headEnd/>
            <a:tailEnd/>
          </a:ln>
        </p:spPr>
        <p:txBody>
          <a:bodyPr wrap="none">
            <a:spAutoFit/>
          </a:bodyPr>
          <a:lstStyle/>
          <a:p>
            <a:r>
              <a:rPr lang="en-US" dirty="0" err="1"/>
              <a:t>ConceptScheme</a:t>
            </a:r>
            <a:r>
              <a:rPr lang="en-US" dirty="0"/>
              <a:t> X</a:t>
            </a:r>
          </a:p>
          <a:p>
            <a:r>
              <a:rPr lang="en-US" dirty="0"/>
              <a:t>V 3.0.0 </a:t>
            </a:r>
          </a:p>
          <a:p>
            <a:pPr>
              <a:buFontTx/>
              <a:buChar char="-"/>
            </a:pPr>
            <a:r>
              <a:rPr lang="en-US" dirty="0"/>
              <a:t> </a:t>
            </a:r>
            <a:r>
              <a:rPr lang="en-US" dirty="0">
                <a:solidFill>
                  <a:schemeClr val="bg1">
                    <a:lumMod val="65000"/>
                  </a:schemeClr>
                </a:solidFill>
              </a:rPr>
              <a:t>Concept D v 1.1.0</a:t>
            </a:r>
          </a:p>
          <a:p>
            <a:pPr>
              <a:buFontTx/>
              <a:buChar char="-"/>
            </a:pPr>
            <a:r>
              <a:rPr lang="en-US" dirty="0">
                <a:solidFill>
                  <a:schemeClr val="bg1">
                    <a:lumMod val="65000"/>
                  </a:schemeClr>
                </a:solidFill>
              </a:rPr>
              <a:t> Concept E v 1.0.0</a:t>
            </a:r>
          </a:p>
          <a:p>
            <a:pPr>
              <a:buFontTx/>
              <a:buChar char="-"/>
            </a:pPr>
            <a:endParaRPr lang="en-US" dirty="0">
              <a:solidFill>
                <a:schemeClr val="bg2"/>
              </a:solidFill>
            </a:endParaRPr>
          </a:p>
        </p:txBody>
      </p:sp>
      <p:sp>
        <p:nvSpPr>
          <p:cNvPr id="11275" name="Line 12"/>
          <p:cNvSpPr>
            <a:spLocks noChangeShapeType="1"/>
          </p:cNvSpPr>
          <p:nvPr/>
        </p:nvSpPr>
        <p:spPr bwMode="auto">
          <a:xfrm>
            <a:off x="2362200" y="2514600"/>
            <a:ext cx="533400" cy="0"/>
          </a:xfrm>
          <a:prstGeom prst="line">
            <a:avLst/>
          </a:prstGeom>
          <a:noFill/>
          <a:ln w="76200">
            <a:solidFill>
              <a:srgbClr val="FF0000"/>
            </a:solidFill>
            <a:round/>
            <a:headEnd/>
            <a:tailEnd type="triangle" w="med" len="med"/>
          </a:ln>
        </p:spPr>
        <p:txBody>
          <a:bodyPr/>
          <a:lstStyle/>
          <a:p>
            <a:endParaRPr lang="en-US"/>
          </a:p>
        </p:txBody>
      </p:sp>
      <p:sp>
        <p:nvSpPr>
          <p:cNvPr id="11276" name="Line 13"/>
          <p:cNvSpPr>
            <a:spLocks noChangeShapeType="1"/>
          </p:cNvSpPr>
          <p:nvPr/>
        </p:nvSpPr>
        <p:spPr bwMode="auto">
          <a:xfrm>
            <a:off x="5257800" y="2514600"/>
            <a:ext cx="533400" cy="0"/>
          </a:xfrm>
          <a:prstGeom prst="line">
            <a:avLst/>
          </a:prstGeom>
          <a:noFill/>
          <a:ln w="76200">
            <a:solidFill>
              <a:srgbClr val="FF0000"/>
            </a:solidFill>
            <a:round/>
            <a:headEnd/>
            <a:tailEnd type="triangle" w="med" len="med"/>
          </a:ln>
        </p:spPr>
        <p:txBody>
          <a:bodyPr/>
          <a:lstStyle/>
          <a:p>
            <a:endParaRPr lang="en-US"/>
          </a:p>
        </p:txBody>
      </p:sp>
      <p:sp>
        <p:nvSpPr>
          <p:cNvPr id="11277" name="Line 14"/>
          <p:cNvSpPr>
            <a:spLocks noChangeShapeType="1"/>
          </p:cNvSpPr>
          <p:nvPr/>
        </p:nvSpPr>
        <p:spPr bwMode="auto">
          <a:xfrm>
            <a:off x="7086600" y="3962400"/>
            <a:ext cx="0" cy="457200"/>
          </a:xfrm>
          <a:prstGeom prst="line">
            <a:avLst/>
          </a:prstGeom>
          <a:noFill/>
          <a:ln w="76200">
            <a:solidFill>
              <a:srgbClr val="FF0000"/>
            </a:solidFill>
            <a:round/>
            <a:headEnd/>
            <a:tailEnd type="triangle" w="med" len="med"/>
          </a:ln>
        </p:spPr>
        <p:txBody>
          <a:bodyPr/>
          <a:lstStyle/>
          <a:p>
            <a:endParaRPr lang="en-US"/>
          </a:p>
        </p:txBody>
      </p:sp>
      <p:sp>
        <p:nvSpPr>
          <p:cNvPr id="11278" name="Line 15"/>
          <p:cNvSpPr>
            <a:spLocks noChangeShapeType="1"/>
          </p:cNvSpPr>
          <p:nvPr/>
        </p:nvSpPr>
        <p:spPr bwMode="auto">
          <a:xfrm>
            <a:off x="2209800" y="2667000"/>
            <a:ext cx="914400" cy="0"/>
          </a:xfrm>
          <a:prstGeom prst="line">
            <a:avLst/>
          </a:prstGeom>
          <a:noFill/>
          <a:ln w="9525">
            <a:solidFill>
              <a:schemeClr val="tx1"/>
            </a:solidFill>
            <a:round/>
            <a:headEnd/>
            <a:tailEnd type="triangle" w="med" len="med"/>
          </a:ln>
        </p:spPr>
        <p:txBody>
          <a:bodyPr/>
          <a:lstStyle/>
          <a:p>
            <a:endParaRPr lang="en-US"/>
          </a:p>
        </p:txBody>
      </p:sp>
      <p:sp>
        <p:nvSpPr>
          <p:cNvPr id="11279" name="Text Box 16"/>
          <p:cNvSpPr txBox="1">
            <a:spLocks noChangeArrowheads="1"/>
          </p:cNvSpPr>
          <p:nvPr/>
        </p:nvSpPr>
        <p:spPr bwMode="auto">
          <a:xfrm>
            <a:off x="2209800" y="2624138"/>
            <a:ext cx="901700" cy="274637"/>
          </a:xfrm>
          <a:prstGeom prst="rect">
            <a:avLst/>
          </a:prstGeom>
          <a:noFill/>
          <a:ln w="9525">
            <a:noFill/>
            <a:miter lim="800000"/>
            <a:headEnd/>
            <a:tailEnd/>
          </a:ln>
        </p:spPr>
        <p:txBody>
          <a:bodyPr wrap="none">
            <a:spAutoFit/>
          </a:bodyPr>
          <a:lstStyle/>
          <a:p>
            <a:r>
              <a:rPr lang="en-US" sz="1200"/>
              <a:t>references</a:t>
            </a:r>
          </a:p>
        </p:txBody>
      </p:sp>
      <p:sp>
        <p:nvSpPr>
          <p:cNvPr id="11280" name="Line 17"/>
          <p:cNvSpPr>
            <a:spLocks noChangeShapeType="1"/>
          </p:cNvSpPr>
          <p:nvPr/>
        </p:nvSpPr>
        <p:spPr bwMode="auto">
          <a:xfrm>
            <a:off x="5105400" y="2667000"/>
            <a:ext cx="990600" cy="0"/>
          </a:xfrm>
          <a:prstGeom prst="line">
            <a:avLst/>
          </a:prstGeom>
          <a:noFill/>
          <a:ln w="9525">
            <a:solidFill>
              <a:schemeClr val="tx1"/>
            </a:solidFill>
            <a:round/>
            <a:headEnd/>
            <a:tailEnd type="triangle" w="med" len="med"/>
          </a:ln>
        </p:spPr>
        <p:txBody>
          <a:bodyPr/>
          <a:lstStyle/>
          <a:p>
            <a:endParaRPr lang="en-US"/>
          </a:p>
        </p:txBody>
      </p:sp>
      <p:sp>
        <p:nvSpPr>
          <p:cNvPr id="11281" name="Text Box 18"/>
          <p:cNvSpPr txBox="1">
            <a:spLocks noChangeArrowheads="1"/>
          </p:cNvSpPr>
          <p:nvPr/>
        </p:nvSpPr>
        <p:spPr bwMode="auto">
          <a:xfrm>
            <a:off x="5105400" y="2620963"/>
            <a:ext cx="901700" cy="274637"/>
          </a:xfrm>
          <a:prstGeom prst="rect">
            <a:avLst/>
          </a:prstGeom>
          <a:noFill/>
          <a:ln w="9525">
            <a:noFill/>
            <a:miter lim="800000"/>
            <a:headEnd/>
            <a:tailEnd/>
          </a:ln>
        </p:spPr>
        <p:txBody>
          <a:bodyPr wrap="none">
            <a:spAutoFit/>
          </a:bodyPr>
          <a:lstStyle/>
          <a:p>
            <a:r>
              <a:rPr lang="en-US" sz="1200"/>
              <a:t>references</a:t>
            </a:r>
          </a:p>
        </p:txBody>
      </p:sp>
      <p:sp>
        <p:nvSpPr>
          <p:cNvPr id="11282" name="Line 20"/>
          <p:cNvSpPr>
            <a:spLocks noChangeShapeType="1"/>
          </p:cNvSpPr>
          <p:nvPr/>
        </p:nvSpPr>
        <p:spPr bwMode="auto">
          <a:xfrm>
            <a:off x="8001000" y="3200400"/>
            <a:ext cx="685800" cy="1066800"/>
          </a:xfrm>
          <a:prstGeom prst="line">
            <a:avLst/>
          </a:prstGeom>
          <a:noFill/>
          <a:ln w="9525">
            <a:solidFill>
              <a:schemeClr val="tx1"/>
            </a:solidFill>
            <a:round/>
            <a:headEnd/>
            <a:tailEnd/>
          </a:ln>
        </p:spPr>
        <p:txBody>
          <a:bodyPr/>
          <a:lstStyle/>
          <a:p>
            <a:endParaRPr lang="en-US"/>
          </a:p>
        </p:txBody>
      </p:sp>
      <p:sp>
        <p:nvSpPr>
          <p:cNvPr id="11283" name="Line 21"/>
          <p:cNvSpPr>
            <a:spLocks noChangeShapeType="1"/>
          </p:cNvSpPr>
          <p:nvPr/>
        </p:nvSpPr>
        <p:spPr bwMode="auto">
          <a:xfrm flipH="1">
            <a:off x="8001000" y="4267200"/>
            <a:ext cx="685800" cy="990600"/>
          </a:xfrm>
          <a:prstGeom prst="line">
            <a:avLst/>
          </a:prstGeom>
          <a:noFill/>
          <a:ln w="9525">
            <a:solidFill>
              <a:schemeClr val="tx1"/>
            </a:solidFill>
            <a:round/>
            <a:headEnd/>
            <a:tailEnd type="triangle" w="med" len="med"/>
          </a:ln>
        </p:spPr>
        <p:txBody>
          <a:bodyPr/>
          <a:lstStyle/>
          <a:p>
            <a:endParaRPr lang="en-US"/>
          </a:p>
        </p:txBody>
      </p:sp>
      <p:sp>
        <p:nvSpPr>
          <p:cNvPr id="11284" name="Line 22"/>
          <p:cNvSpPr>
            <a:spLocks noChangeShapeType="1"/>
          </p:cNvSpPr>
          <p:nvPr/>
        </p:nvSpPr>
        <p:spPr bwMode="auto">
          <a:xfrm flipH="1">
            <a:off x="5486400" y="3810000"/>
            <a:ext cx="609600" cy="1371600"/>
          </a:xfrm>
          <a:prstGeom prst="line">
            <a:avLst/>
          </a:prstGeom>
          <a:noFill/>
          <a:ln w="9525">
            <a:solidFill>
              <a:schemeClr val="tx1"/>
            </a:solidFill>
            <a:round/>
            <a:headEnd/>
            <a:tailEnd/>
          </a:ln>
        </p:spPr>
        <p:txBody>
          <a:bodyPr/>
          <a:lstStyle/>
          <a:p>
            <a:endParaRPr lang="en-US"/>
          </a:p>
        </p:txBody>
      </p:sp>
      <p:sp>
        <p:nvSpPr>
          <p:cNvPr id="11285" name="Line 23"/>
          <p:cNvSpPr>
            <a:spLocks noChangeShapeType="1"/>
          </p:cNvSpPr>
          <p:nvPr/>
        </p:nvSpPr>
        <p:spPr bwMode="auto">
          <a:xfrm>
            <a:off x="5486400" y="5181600"/>
            <a:ext cx="685800" cy="304800"/>
          </a:xfrm>
          <a:prstGeom prst="line">
            <a:avLst/>
          </a:prstGeom>
          <a:noFill/>
          <a:ln w="9525">
            <a:solidFill>
              <a:schemeClr val="tx1"/>
            </a:solidFill>
            <a:round/>
            <a:headEnd/>
            <a:tailEnd type="triangle" w="med" len="med"/>
          </a:ln>
        </p:spPr>
        <p:txBody>
          <a:bodyPr/>
          <a:lstStyle/>
          <a:p>
            <a:endParaRPr lang="en-US"/>
          </a:p>
        </p:txBody>
      </p:sp>
      <p:sp>
        <p:nvSpPr>
          <p:cNvPr id="11286" name="Text Box 24"/>
          <p:cNvSpPr txBox="1">
            <a:spLocks noChangeArrowheads="1"/>
          </p:cNvSpPr>
          <p:nvPr/>
        </p:nvSpPr>
        <p:spPr bwMode="auto">
          <a:xfrm>
            <a:off x="8166100" y="3306763"/>
            <a:ext cx="901700" cy="274637"/>
          </a:xfrm>
          <a:prstGeom prst="rect">
            <a:avLst/>
          </a:prstGeom>
          <a:noFill/>
          <a:ln w="9525">
            <a:noFill/>
            <a:miter lim="800000"/>
            <a:headEnd/>
            <a:tailEnd/>
          </a:ln>
        </p:spPr>
        <p:txBody>
          <a:bodyPr wrap="none">
            <a:spAutoFit/>
          </a:bodyPr>
          <a:lstStyle/>
          <a:p>
            <a:r>
              <a:rPr lang="en-US" sz="1200"/>
              <a:t>references</a:t>
            </a:r>
          </a:p>
        </p:txBody>
      </p:sp>
      <p:sp>
        <p:nvSpPr>
          <p:cNvPr id="11287" name="Text Box 25"/>
          <p:cNvSpPr txBox="1">
            <a:spLocks noChangeArrowheads="1"/>
          </p:cNvSpPr>
          <p:nvPr/>
        </p:nvSpPr>
        <p:spPr bwMode="auto">
          <a:xfrm>
            <a:off x="5029200" y="5410200"/>
            <a:ext cx="901700" cy="274638"/>
          </a:xfrm>
          <a:prstGeom prst="rect">
            <a:avLst/>
          </a:prstGeom>
          <a:noFill/>
          <a:ln w="9525">
            <a:noFill/>
            <a:miter lim="800000"/>
            <a:headEnd/>
            <a:tailEnd/>
          </a:ln>
        </p:spPr>
        <p:txBody>
          <a:bodyPr wrap="none">
            <a:spAutoFit/>
          </a:bodyPr>
          <a:lstStyle/>
          <a:p>
            <a:r>
              <a:rPr lang="en-US" sz="1200"/>
              <a:t>references</a:t>
            </a:r>
          </a:p>
        </p:txBody>
      </p:sp>
      <p:sp>
        <p:nvSpPr>
          <p:cNvPr id="11288" name="Text Box 26"/>
          <p:cNvSpPr txBox="1">
            <a:spLocks noChangeArrowheads="1"/>
          </p:cNvSpPr>
          <p:nvPr/>
        </p:nvSpPr>
        <p:spPr bwMode="auto">
          <a:xfrm>
            <a:off x="365125" y="4684713"/>
            <a:ext cx="3778250" cy="641350"/>
          </a:xfrm>
          <a:prstGeom prst="rect">
            <a:avLst/>
          </a:prstGeom>
          <a:noFill/>
          <a:ln w="9525">
            <a:noFill/>
            <a:miter lim="800000"/>
            <a:headEnd/>
            <a:tailEnd/>
          </a:ln>
        </p:spPr>
        <p:txBody>
          <a:bodyPr wrap="none">
            <a:spAutoFit/>
          </a:bodyPr>
          <a:lstStyle/>
          <a:p>
            <a:r>
              <a:rPr lang="en-US"/>
              <a:t>Note: You can also reference entire</a:t>
            </a:r>
          </a:p>
          <a:p>
            <a:r>
              <a:rPr lang="en-US"/>
              <a:t>schemes and make additions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mtClean="0"/>
              <a:t>Identifiable Rules</a:t>
            </a:r>
          </a:p>
        </p:txBody>
      </p:sp>
      <p:sp>
        <p:nvSpPr>
          <p:cNvPr id="12291" name="Rectangle 3"/>
          <p:cNvSpPr>
            <a:spLocks noGrp="1" noChangeArrowheads="1"/>
          </p:cNvSpPr>
          <p:nvPr>
            <p:ph idx="1"/>
          </p:nvPr>
        </p:nvSpPr>
        <p:spPr/>
        <p:txBody>
          <a:bodyPr/>
          <a:lstStyle/>
          <a:p>
            <a:r>
              <a:rPr lang="en-US" sz="2800" dirty="0" smtClean="0"/>
              <a:t>Identifiers are assigned to each identifiable object, and are unique within their maintainable parent</a:t>
            </a:r>
          </a:p>
          <a:p>
            <a:r>
              <a:rPr lang="en-US" sz="2800" dirty="0" smtClean="0"/>
              <a:t>Identifiable objects inherit their version from their containing </a:t>
            </a:r>
            <a:r>
              <a:rPr lang="en-US" sz="2800" dirty="0" err="1" smtClean="0"/>
              <a:t>versionable</a:t>
            </a:r>
            <a:r>
              <a:rPr lang="en-US" sz="2800" dirty="0" smtClean="0"/>
              <a:t> </a:t>
            </a:r>
            <a:r>
              <a:rPr lang="en-US" sz="2800" dirty="0" smtClean="0"/>
              <a:t>parent </a:t>
            </a:r>
            <a:r>
              <a:rPr lang="en-US" sz="2800" dirty="0" smtClean="0"/>
              <a:t>at their </a:t>
            </a:r>
            <a:r>
              <a:rPr lang="en-US" sz="2800" b="1" dirty="0" smtClean="0"/>
              <a:t>time of origin</a:t>
            </a:r>
          </a:p>
          <a:p>
            <a:r>
              <a:rPr lang="en-US" sz="2800" dirty="0" smtClean="0"/>
              <a:t>Identifiable objects inherit their maintaining agency from the maintainable object they live in at the time of origin</a:t>
            </a:r>
          </a:p>
        </p:txBody>
      </p:sp>
      <p:sp>
        <p:nvSpPr>
          <p:cNvPr id="12292" name="Date Placeholder 3"/>
          <p:cNvSpPr>
            <a:spLocks noGrp="1"/>
          </p:cNvSpPr>
          <p:nvPr>
            <p:ph type="dt" sz="half" idx="10"/>
          </p:nvPr>
        </p:nvSpPr>
        <p:spPr>
          <a:noFill/>
        </p:spPr>
        <p:txBody>
          <a:bodyPr/>
          <a:lstStyle/>
          <a:p>
            <a:r>
              <a:rPr lang="en-US" smtClean="0"/>
              <a:t>S08</a:t>
            </a:r>
          </a:p>
        </p:txBody>
      </p:sp>
      <p:sp>
        <p:nvSpPr>
          <p:cNvPr id="12293" name="Slide Number Placeholder 4"/>
          <p:cNvSpPr>
            <a:spLocks noGrp="1"/>
          </p:cNvSpPr>
          <p:nvPr>
            <p:ph type="sldNum" sz="quarter" idx="12"/>
          </p:nvPr>
        </p:nvSpPr>
        <p:spPr>
          <a:noFill/>
        </p:spPr>
        <p:txBody>
          <a:bodyPr/>
          <a:lstStyle/>
          <a:p>
            <a:fld id="{528DC826-87DC-42B9-990D-D2D44446BD76}" type="slidenum">
              <a:rPr lang="en-US" smtClean="0"/>
              <a:pPr/>
              <a:t>43</a:t>
            </a:fld>
            <a:endParaRPr lang="en-US"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mtClean="0"/>
              <a:t>Inheriting Identifying Fields</a:t>
            </a:r>
          </a:p>
        </p:txBody>
      </p:sp>
      <p:sp>
        <p:nvSpPr>
          <p:cNvPr id="13328" name="Date Placeholder 15"/>
          <p:cNvSpPr>
            <a:spLocks noGrp="1"/>
          </p:cNvSpPr>
          <p:nvPr>
            <p:ph type="dt" sz="half" idx="10"/>
          </p:nvPr>
        </p:nvSpPr>
        <p:spPr>
          <a:noFill/>
        </p:spPr>
        <p:txBody>
          <a:bodyPr/>
          <a:lstStyle/>
          <a:p>
            <a:r>
              <a:rPr lang="en-US" smtClean="0"/>
              <a:t>S08</a:t>
            </a:r>
          </a:p>
        </p:txBody>
      </p:sp>
      <p:sp>
        <p:nvSpPr>
          <p:cNvPr id="13329" name="Slide Number Placeholder 16"/>
          <p:cNvSpPr>
            <a:spLocks noGrp="1"/>
          </p:cNvSpPr>
          <p:nvPr>
            <p:ph type="sldNum" sz="quarter" idx="12"/>
          </p:nvPr>
        </p:nvSpPr>
        <p:spPr>
          <a:noFill/>
        </p:spPr>
        <p:txBody>
          <a:bodyPr/>
          <a:lstStyle/>
          <a:p>
            <a:fld id="{640F955E-F8A3-454D-9F9A-A3E3F726005B}" type="slidenum">
              <a:rPr lang="en-US" smtClean="0"/>
              <a:pPr/>
              <a:t>44</a:t>
            </a:fld>
            <a:endParaRPr lang="en-US" smtClean="0"/>
          </a:p>
        </p:txBody>
      </p:sp>
      <p:sp>
        <p:nvSpPr>
          <p:cNvPr id="13315" name="Rectangle 3"/>
          <p:cNvSpPr>
            <a:spLocks noChangeArrowheads="1"/>
          </p:cNvSpPr>
          <p:nvPr/>
        </p:nvSpPr>
        <p:spPr bwMode="auto">
          <a:xfrm>
            <a:off x="1600200" y="1600200"/>
            <a:ext cx="6248400" cy="4648200"/>
          </a:xfrm>
          <a:prstGeom prst="rect">
            <a:avLst/>
          </a:prstGeom>
          <a:solidFill>
            <a:schemeClr val="accent1"/>
          </a:solidFill>
          <a:ln w="9525">
            <a:solidFill>
              <a:schemeClr val="tx1"/>
            </a:solidFill>
            <a:miter lim="800000"/>
            <a:headEnd/>
            <a:tailEnd/>
          </a:ln>
        </p:spPr>
        <p:txBody>
          <a:bodyPr wrap="none" anchor="ctr"/>
          <a:lstStyle/>
          <a:p>
            <a:pPr algn="ctr"/>
            <a:endParaRPr lang="en-US"/>
          </a:p>
        </p:txBody>
      </p:sp>
      <p:sp>
        <p:nvSpPr>
          <p:cNvPr id="13316" name="Text Box 4"/>
          <p:cNvSpPr txBox="1">
            <a:spLocks noChangeArrowheads="1"/>
          </p:cNvSpPr>
          <p:nvPr/>
        </p:nvSpPr>
        <p:spPr bwMode="auto">
          <a:xfrm>
            <a:off x="1660525" y="1255713"/>
            <a:ext cx="5905500" cy="366712"/>
          </a:xfrm>
          <a:prstGeom prst="rect">
            <a:avLst/>
          </a:prstGeom>
          <a:noFill/>
          <a:ln w="9525">
            <a:noFill/>
            <a:miter lim="800000"/>
            <a:headEnd/>
            <a:tailEnd/>
          </a:ln>
        </p:spPr>
        <p:txBody>
          <a:bodyPr wrap="none">
            <a:spAutoFit/>
          </a:bodyPr>
          <a:lstStyle/>
          <a:p>
            <a:r>
              <a:rPr lang="en-US"/>
              <a:t>VariableScheme=“X”, Agency=“us.mpc” Version=“2.4.0” </a:t>
            </a:r>
          </a:p>
        </p:txBody>
      </p:sp>
      <p:sp>
        <p:nvSpPr>
          <p:cNvPr id="13317" name="Rectangle 5"/>
          <p:cNvSpPr>
            <a:spLocks noChangeArrowheads="1"/>
          </p:cNvSpPr>
          <p:nvPr/>
        </p:nvSpPr>
        <p:spPr bwMode="auto">
          <a:xfrm>
            <a:off x="2590800" y="2438400"/>
            <a:ext cx="2720975" cy="1524000"/>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13318" name="Rectangle 6"/>
          <p:cNvSpPr>
            <a:spLocks noChangeArrowheads="1"/>
          </p:cNvSpPr>
          <p:nvPr/>
        </p:nvSpPr>
        <p:spPr bwMode="auto">
          <a:xfrm>
            <a:off x="2917825" y="2895600"/>
            <a:ext cx="2720975" cy="1524000"/>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13319" name="Rectangle 7"/>
          <p:cNvSpPr>
            <a:spLocks noChangeArrowheads="1"/>
          </p:cNvSpPr>
          <p:nvPr/>
        </p:nvSpPr>
        <p:spPr bwMode="auto">
          <a:xfrm>
            <a:off x="3200400" y="3276600"/>
            <a:ext cx="2743200" cy="1524000"/>
          </a:xfrm>
          <a:prstGeom prst="rect">
            <a:avLst/>
          </a:prstGeom>
          <a:solidFill>
            <a:schemeClr val="bg2"/>
          </a:solidFill>
          <a:ln w="9525">
            <a:solidFill>
              <a:schemeClr val="tx1"/>
            </a:solidFill>
            <a:miter lim="800000"/>
            <a:headEnd/>
            <a:tailEnd/>
          </a:ln>
        </p:spPr>
        <p:txBody>
          <a:bodyPr wrap="none" anchor="ctr"/>
          <a:lstStyle/>
          <a:p>
            <a:endParaRPr lang="en-US"/>
          </a:p>
        </p:txBody>
      </p:sp>
      <p:sp>
        <p:nvSpPr>
          <p:cNvPr id="13320" name="Rectangle 8"/>
          <p:cNvSpPr>
            <a:spLocks noChangeArrowheads="1"/>
          </p:cNvSpPr>
          <p:nvPr/>
        </p:nvSpPr>
        <p:spPr bwMode="auto">
          <a:xfrm>
            <a:off x="3657600" y="3657600"/>
            <a:ext cx="2743200" cy="1524000"/>
          </a:xfrm>
          <a:prstGeom prst="rect">
            <a:avLst/>
          </a:prstGeom>
          <a:solidFill>
            <a:schemeClr val="bg2"/>
          </a:solidFill>
          <a:ln w="9525">
            <a:solidFill>
              <a:schemeClr val="tx1"/>
            </a:solidFill>
            <a:miter lim="800000"/>
            <a:headEnd/>
            <a:tailEnd/>
          </a:ln>
        </p:spPr>
        <p:txBody>
          <a:bodyPr wrap="none" anchor="ctr"/>
          <a:lstStyle/>
          <a:p>
            <a:pPr algn="ctr"/>
            <a:endParaRPr lang="en-US"/>
          </a:p>
        </p:txBody>
      </p:sp>
      <p:sp>
        <p:nvSpPr>
          <p:cNvPr id="13321" name="Text Box 9"/>
          <p:cNvSpPr txBox="1">
            <a:spLocks noChangeArrowheads="1"/>
          </p:cNvSpPr>
          <p:nvPr/>
        </p:nvSpPr>
        <p:spPr bwMode="auto">
          <a:xfrm>
            <a:off x="6400800" y="3733800"/>
            <a:ext cx="1136650" cy="366713"/>
          </a:xfrm>
          <a:prstGeom prst="rect">
            <a:avLst/>
          </a:prstGeom>
          <a:noFill/>
          <a:ln w="9525">
            <a:noFill/>
            <a:miter lim="800000"/>
            <a:headEnd/>
            <a:tailEnd/>
          </a:ln>
        </p:spPr>
        <p:txBody>
          <a:bodyPr wrap="none">
            <a:spAutoFit/>
          </a:bodyPr>
          <a:lstStyle/>
          <a:p>
            <a:r>
              <a:rPr lang="en-US"/>
              <a:t>Variables</a:t>
            </a:r>
          </a:p>
        </p:txBody>
      </p:sp>
      <p:sp>
        <p:nvSpPr>
          <p:cNvPr id="13322" name="Text Box 10"/>
          <p:cNvSpPr txBox="1">
            <a:spLocks noChangeArrowheads="1"/>
          </p:cNvSpPr>
          <p:nvPr/>
        </p:nvSpPr>
        <p:spPr bwMode="auto">
          <a:xfrm>
            <a:off x="3200400" y="3276600"/>
            <a:ext cx="2873375" cy="366713"/>
          </a:xfrm>
          <a:prstGeom prst="rect">
            <a:avLst/>
          </a:prstGeom>
          <a:noFill/>
          <a:ln w="9525">
            <a:noFill/>
            <a:miter lim="800000"/>
            <a:headEnd/>
            <a:tailEnd/>
          </a:ln>
        </p:spPr>
        <p:txBody>
          <a:bodyPr>
            <a:spAutoFit/>
          </a:bodyPr>
          <a:lstStyle/>
          <a:p>
            <a:r>
              <a:rPr lang="en-US"/>
              <a:t>ID=“var2” Version=“1.2.0”</a:t>
            </a:r>
          </a:p>
        </p:txBody>
      </p:sp>
      <p:sp>
        <p:nvSpPr>
          <p:cNvPr id="13323" name="Text Box 11"/>
          <p:cNvSpPr txBox="1">
            <a:spLocks noChangeArrowheads="1"/>
          </p:cNvSpPr>
          <p:nvPr/>
        </p:nvSpPr>
        <p:spPr bwMode="auto">
          <a:xfrm>
            <a:off x="3657600" y="3733800"/>
            <a:ext cx="2774950" cy="366713"/>
          </a:xfrm>
          <a:prstGeom prst="rect">
            <a:avLst/>
          </a:prstGeom>
          <a:noFill/>
          <a:ln w="9525">
            <a:noFill/>
            <a:miter lim="800000"/>
            <a:headEnd/>
            <a:tailEnd/>
          </a:ln>
        </p:spPr>
        <p:txBody>
          <a:bodyPr wrap="none">
            <a:spAutoFit/>
          </a:bodyPr>
          <a:lstStyle/>
          <a:p>
            <a:r>
              <a:rPr lang="en-US"/>
              <a:t>ID=“var1” Version=“1.0.0”</a:t>
            </a:r>
          </a:p>
        </p:txBody>
      </p:sp>
      <p:sp>
        <p:nvSpPr>
          <p:cNvPr id="13324" name="Text Box 12"/>
          <p:cNvSpPr txBox="1">
            <a:spLocks noChangeArrowheads="1"/>
          </p:cNvSpPr>
          <p:nvPr/>
        </p:nvSpPr>
        <p:spPr bwMode="auto">
          <a:xfrm>
            <a:off x="2892425" y="2909888"/>
            <a:ext cx="2774950" cy="366712"/>
          </a:xfrm>
          <a:prstGeom prst="rect">
            <a:avLst/>
          </a:prstGeom>
          <a:noFill/>
          <a:ln w="9525">
            <a:noFill/>
            <a:miter lim="800000"/>
            <a:headEnd/>
            <a:tailEnd/>
          </a:ln>
        </p:spPr>
        <p:txBody>
          <a:bodyPr wrap="none">
            <a:spAutoFit/>
          </a:bodyPr>
          <a:lstStyle/>
          <a:p>
            <a:r>
              <a:rPr lang="en-US"/>
              <a:t>ID=“var3” Version=“1.0.0”</a:t>
            </a:r>
          </a:p>
        </p:txBody>
      </p:sp>
      <p:sp>
        <p:nvSpPr>
          <p:cNvPr id="13325" name="Text Box 13"/>
          <p:cNvSpPr txBox="1">
            <a:spLocks noChangeArrowheads="1"/>
          </p:cNvSpPr>
          <p:nvPr/>
        </p:nvSpPr>
        <p:spPr bwMode="auto">
          <a:xfrm>
            <a:off x="2590800" y="2514600"/>
            <a:ext cx="2774950" cy="366713"/>
          </a:xfrm>
          <a:prstGeom prst="rect">
            <a:avLst/>
          </a:prstGeom>
          <a:noFill/>
          <a:ln w="9525">
            <a:noFill/>
            <a:miter lim="800000"/>
            <a:headEnd/>
            <a:tailEnd/>
          </a:ln>
        </p:spPr>
        <p:txBody>
          <a:bodyPr wrap="none">
            <a:spAutoFit/>
          </a:bodyPr>
          <a:lstStyle/>
          <a:p>
            <a:r>
              <a:rPr lang="en-US"/>
              <a:t>ID=“var4” Version=“2.0.0”</a:t>
            </a:r>
          </a:p>
        </p:txBody>
      </p:sp>
      <p:sp>
        <p:nvSpPr>
          <p:cNvPr id="13326" name="AutoShape 14"/>
          <p:cNvSpPr>
            <a:spLocks noChangeArrowheads="1"/>
          </p:cNvSpPr>
          <p:nvPr/>
        </p:nvSpPr>
        <p:spPr bwMode="auto">
          <a:xfrm>
            <a:off x="5638800" y="1828800"/>
            <a:ext cx="3200400" cy="762000"/>
          </a:xfrm>
          <a:prstGeom prst="wedgeRectCallout">
            <a:avLst>
              <a:gd name="adj1" fmla="val -43750"/>
              <a:gd name="adj2" fmla="val 142083"/>
            </a:avLst>
          </a:prstGeom>
          <a:solidFill>
            <a:schemeClr val="bg1"/>
          </a:solidFill>
          <a:ln w="9525">
            <a:solidFill>
              <a:schemeClr val="tx1"/>
            </a:solidFill>
            <a:miter lim="800000"/>
            <a:headEnd/>
            <a:tailEnd/>
          </a:ln>
        </p:spPr>
        <p:txBody>
          <a:bodyPr/>
          <a:lstStyle/>
          <a:p>
            <a:pPr algn="ctr"/>
            <a:r>
              <a:rPr lang="en-US"/>
              <a:t>Inherited agency for all variables is “us.mpc”</a:t>
            </a:r>
          </a:p>
        </p:txBody>
      </p:sp>
      <p:sp>
        <p:nvSpPr>
          <p:cNvPr id="13327" name="Text Box 15"/>
          <p:cNvSpPr txBox="1">
            <a:spLocks noChangeArrowheads="1"/>
          </p:cNvSpPr>
          <p:nvPr/>
        </p:nvSpPr>
        <p:spPr bwMode="auto">
          <a:xfrm>
            <a:off x="1812925" y="5294313"/>
            <a:ext cx="5848350" cy="915987"/>
          </a:xfrm>
          <a:prstGeom prst="rect">
            <a:avLst/>
          </a:prstGeom>
          <a:noFill/>
          <a:ln w="9525">
            <a:noFill/>
            <a:miter lim="800000"/>
            <a:headEnd/>
            <a:tailEnd/>
          </a:ln>
        </p:spPr>
        <p:txBody>
          <a:bodyPr wrap="none">
            <a:spAutoFit/>
          </a:bodyPr>
          <a:lstStyle/>
          <a:p>
            <a:r>
              <a:rPr lang="en-US"/>
              <a:t>Identifiables inside the variables would inherit both their </a:t>
            </a:r>
          </a:p>
          <a:p>
            <a:r>
              <a:rPr lang="en-US"/>
              <a:t>Agency (from the scheme) and their versions (from the</a:t>
            </a:r>
          </a:p>
          <a:p>
            <a:r>
              <a:rPr lang="en-US"/>
              <a:t>Versionable variables).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Date Placeholder 3"/>
          <p:cNvSpPr>
            <a:spLocks noGrp="1"/>
          </p:cNvSpPr>
          <p:nvPr>
            <p:ph type="dt" sz="half" idx="10"/>
          </p:nvPr>
        </p:nvSpPr>
        <p:spPr>
          <a:noFill/>
        </p:spPr>
        <p:txBody>
          <a:bodyPr/>
          <a:lstStyle/>
          <a:p>
            <a:r>
              <a:rPr lang="en-US" smtClean="0"/>
              <a:t>S08</a:t>
            </a:r>
          </a:p>
        </p:txBody>
      </p:sp>
      <p:sp>
        <p:nvSpPr>
          <p:cNvPr id="20485" name="Slide Number Placeholder 4"/>
          <p:cNvSpPr>
            <a:spLocks noGrp="1"/>
          </p:cNvSpPr>
          <p:nvPr>
            <p:ph type="sldNum" sz="quarter" idx="12"/>
          </p:nvPr>
        </p:nvSpPr>
        <p:spPr>
          <a:noFill/>
        </p:spPr>
        <p:txBody>
          <a:bodyPr/>
          <a:lstStyle/>
          <a:p>
            <a:fld id="{130E3BED-3DC2-47DB-8B81-CB6FD9ABE156}" type="slidenum">
              <a:rPr lang="en-US" smtClean="0"/>
              <a:pPr/>
              <a:t>45</a:t>
            </a:fld>
            <a:endParaRPr lang="en-US" smtClean="0"/>
          </a:p>
        </p:txBody>
      </p:sp>
      <p:sp>
        <p:nvSpPr>
          <p:cNvPr id="20482" name="Rectangle 2"/>
          <p:cNvSpPr>
            <a:spLocks noGrp="1" noChangeArrowheads="1"/>
          </p:cNvSpPr>
          <p:nvPr>
            <p:ph type="title" idx="4294967295"/>
          </p:nvPr>
        </p:nvSpPr>
        <p:spPr>
          <a:xfrm>
            <a:off x="457200" y="457200"/>
            <a:ext cx="8686800" cy="838200"/>
          </a:xfrm>
        </p:spPr>
        <p:txBody>
          <a:bodyPr/>
          <a:lstStyle/>
          <a:p>
            <a:pPr eaLnBrk="1" hangingPunct="1"/>
            <a:r>
              <a:rPr lang="en-US" smtClean="0"/>
              <a:t>DDI 3.1 Identifiers</a:t>
            </a:r>
          </a:p>
        </p:txBody>
      </p:sp>
      <p:sp>
        <p:nvSpPr>
          <p:cNvPr id="20483" name="Rectangle 3"/>
          <p:cNvSpPr>
            <a:spLocks noGrp="1" noChangeArrowheads="1"/>
          </p:cNvSpPr>
          <p:nvPr>
            <p:ph type="body" idx="4294967295"/>
          </p:nvPr>
        </p:nvSpPr>
        <p:spPr>
          <a:xfrm>
            <a:off x="457200" y="1554163"/>
            <a:ext cx="8686800" cy="4525962"/>
          </a:xfrm>
        </p:spPr>
        <p:txBody>
          <a:bodyPr/>
          <a:lstStyle/>
          <a:p>
            <a:pPr eaLnBrk="1" hangingPunct="1">
              <a:lnSpc>
                <a:spcPct val="90000"/>
              </a:lnSpc>
            </a:pPr>
            <a:r>
              <a:rPr lang="en-US" sz="2400" smtClean="0"/>
              <a:t>There are two ways to provide identification for a DDI 3 object:</a:t>
            </a:r>
          </a:p>
          <a:p>
            <a:pPr lvl="1" eaLnBrk="1" hangingPunct="1">
              <a:lnSpc>
                <a:spcPct val="90000"/>
              </a:lnSpc>
            </a:pPr>
            <a:r>
              <a:rPr lang="en-US" sz="2000" smtClean="0"/>
              <a:t>Using a set of XML fields</a:t>
            </a:r>
          </a:p>
          <a:p>
            <a:pPr lvl="1" eaLnBrk="1" hangingPunct="1">
              <a:lnSpc>
                <a:spcPct val="90000"/>
              </a:lnSpc>
            </a:pPr>
            <a:r>
              <a:rPr lang="en-US" sz="2000" smtClean="0"/>
              <a:t>Using a specially-structured URN</a:t>
            </a:r>
          </a:p>
          <a:p>
            <a:pPr eaLnBrk="1" hangingPunct="1">
              <a:lnSpc>
                <a:spcPct val="90000"/>
              </a:lnSpc>
            </a:pPr>
            <a:r>
              <a:rPr lang="en-US" sz="2400" smtClean="0"/>
              <a:t>The structured URN approach is preferred</a:t>
            </a:r>
          </a:p>
          <a:p>
            <a:pPr lvl="1" eaLnBrk="1" hangingPunct="1">
              <a:lnSpc>
                <a:spcPct val="90000"/>
              </a:lnSpc>
            </a:pPr>
            <a:r>
              <a:rPr lang="en-US" sz="2000" smtClean="0"/>
              <a:t>URNs are a very common way of assigning a universal, public identifier to information on the Internet</a:t>
            </a:r>
          </a:p>
          <a:p>
            <a:pPr lvl="1" eaLnBrk="1" hangingPunct="1">
              <a:lnSpc>
                <a:spcPct val="90000"/>
              </a:lnSpc>
            </a:pPr>
            <a:r>
              <a:rPr lang="en-US" sz="2000" smtClean="0"/>
              <a:t>However, they require explicit statement of agency, version, and ID information in DDI 3</a:t>
            </a:r>
          </a:p>
          <a:p>
            <a:pPr eaLnBrk="1" hangingPunct="1">
              <a:lnSpc>
                <a:spcPct val="90000"/>
              </a:lnSpc>
            </a:pPr>
            <a:r>
              <a:rPr lang="en-US" sz="2400" smtClean="0"/>
              <a:t>Providing element fields in DDI 3 allows for much information to be defaulted</a:t>
            </a:r>
          </a:p>
          <a:p>
            <a:pPr lvl="1" eaLnBrk="1" hangingPunct="1">
              <a:lnSpc>
                <a:spcPct val="90000"/>
              </a:lnSpc>
            </a:pPr>
            <a:r>
              <a:rPr lang="en-US" sz="2000" smtClean="0"/>
              <a:t>Agency can be inherited from parent element</a:t>
            </a:r>
          </a:p>
          <a:p>
            <a:pPr lvl="1" eaLnBrk="1" hangingPunct="1">
              <a:lnSpc>
                <a:spcPct val="90000"/>
              </a:lnSpc>
            </a:pPr>
            <a:r>
              <a:rPr lang="en-US" sz="2000" smtClean="0"/>
              <a:t>Version can be inherited or defaulted to “1.0.0”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Date Placeholder 4"/>
          <p:cNvSpPr>
            <a:spLocks noGrp="1"/>
          </p:cNvSpPr>
          <p:nvPr>
            <p:ph type="dt" sz="half" idx="10"/>
          </p:nvPr>
        </p:nvSpPr>
        <p:spPr>
          <a:noFill/>
        </p:spPr>
        <p:txBody>
          <a:bodyPr/>
          <a:lstStyle/>
          <a:p>
            <a:r>
              <a:rPr lang="en-US" smtClean="0"/>
              <a:t>S08</a:t>
            </a:r>
          </a:p>
        </p:txBody>
      </p:sp>
      <p:sp>
        <p:nvSpPr>
          <p:cNvPr id="24582" name="Slide Number Placeholder 5"/>
          <p:cNvSpPr>
            <a:spLocks noGrp="1"/>
          </p:cNvSpPr>
          <p:nvPr>
            <p:ph type="sldNum" sz="quarter" idx="12"/>
          </p:nvPr>
        </p:nvSpPr>
        <p:spPr>
          <a:noFill/>
        </p:spPr>
        <p:txBody>
          <a:bodyPr/>
          <a:lstStyle/>
          <a:p>
            <a:fld id="{05F2359B-AC04-46E0-9B03-DF9EE93B5EE7}" type="slidenum">
              <a:rPr lang="en-US" smtClean="0"/>
              <a:pPr/>
              <a:t>46</a:t>
            </a:fld>
            <a:endParaRPr lang="en-US" smtClean="0"/>
          </a:p>
        </p:txBody>
      </p:sp>
      <p:sp>
        <p:nvSpPr>
          <p:cNvPr id="24578" name="Rectangle 2"/>
          <p:cNvSpPr>
            <a:spLocks noGrp="1" noChangeArrowheads="1"/>
          </p:cNvSpPr>
          <p:nvPr>
            <p:ph type="title" idx="4294967295"/>
          </p:nvPr>
        </p:nvSpPr>
        <p:spPr>
          <a:xfrm>
            <a:off x="457200" y="457200"/>
            <a:ext cx="8686800" cy="838200"/>
          </a:xfrm>
        </p:spPr>
        <p:txBody>
          <a:bodyPr/>
          <a:lstStyle/>
          <a:p>
            <a:pPr eaLnBrk="1" hangingPunct="1"/>
            <a:r>
              <a:rPr lang="en-US" smtClean="0"/>
              <a:t>Parts of the Identification Series</a:t>
            </a:r>
          </a:p>
        </p:txBody>
      </p:sp>
      <p:sp>
        <p:nvSpPr>
          <p:cNvPr id="24579" name="Rectangle 3"/>
          <p:cNvSpPr>
            <a:spLocks noGrp="1" noChangeArrowheads="1"/>
          </p:cNvSpPr>
          <p:nvPr>
            <p:ph type="body" sz="half" idx="4294967295"/>
          </p:nvPr>
        </p:nvSpPr>
        <p:spPr>
          <a:xfrm>
            <a:off x="0" y="1600200"/>
            <a:ext cx="4038600" cy="4525963"/>
          </a:xfrm>
        </p:spPr>
        <p:txBody>
          <a:bodyPr/>
          <a:lstStyle/>
          <a:p>
            <a:pPr eaLnBrk="1" hangingPunct="1"/>
            <a:r>
              <a:rPr lang="en-US" sz="2800" smtClean="0"/>
              <a:t>Identifiable Element</a:t>
            </a:r>
          </a:p>
          <a:p>
            <a:pPr lvl="1" eaLnBrk="1" hangingPunct="1"/>
            <a:r>
              <a:rPr lang="en-US" sz="2400" smtClean="0"/>
              <a:t>Identifier:</a:t>
            </a:r>
          </a:p>
          <a:p>
            <a:pPr lvl="2" eaLnBrk="1" hangingPunct="1"/>
            <a:r>
              <a:rPr lang="en-US" sz="2000" smtClean="0"/>
              <a:t>ID</a:t>
            </a:r>
          </a:p>
          <a:p>
            <a:pPr lvl="2" eaLnBrk="1" hangingPunct="1"/>
            <a:r>
              <a:rPr lang="en-US" sz="2000" smtClean="0"/>
              <a:t>Identifying Agency</a:t>
            </a:r>
          </a:p>
          <a:p>
            <a:pPr lvl="2" eaLnBrk="1" hangingPunct="1"/>
            <a:r>
              <a:rPr lang="en-US" sz="2000" smtClean="0"/>
              <a:t>Version </a:t>
            </a:r>
          </a:p>
          <a:p>
            <a:pPr lvl="2" eaLnBrk="1" hangingPunct="1"/>
            <a:r>
              <a:rPr lang="en-US" sz="2000" smtClean="0"/>
              <a:t>Version Date</a:t>
            </a:r>
          </a:p>
          <a:p>
            <a:pPr lvl="2" eaLnBrk="1" hangingPunct="1"/>
            <a:r>
              <a:rPr lang="en-US" sz="2000" smtClean="0"/>
              <a:t>Version Responsibility</a:t>
            </a:r>
          </a:p>
          <a:p>
            <a:pPr lvl="2" eaLnBrk="1" hangingPunct="1"/>
            <a:r>
              <a:rPr lang="en-US" sz="2000" smtClean="0"/>
              <a:t>Version Rationale</a:t>
            </a:r>
          </a:p>
          <a:p>
            <a:pPr lvl="2" eaLnBrk="1" hangingPunct="1"/>
            <a:r>
              <a:rPr lang="en-US" sz="2000" smtClean="0"/>
              <a:t>UserID</a:t>
            </a:r>
          </a:p>
          <a:p>
            <a:pPr lvl="2" eaLnBrk="1" hangingPunct="1"/>
            <a:r>
              <a:rPr lang="en-US" sz="2000" smtClean="0"/>
              <a:t>Object Source</a:t>
            </a:r>
          </a:p>
          <a:p>
            <a:pPr lvl="1" eaLnBrk="1" hangingPunct="1"/>
            <a:endParaRPr lang="en-US" sz="2400" smtClean="0"/>
          </a:p>
        </p:txBody>
      </p:sp>
      <p:sp>
        <p:nvSpPr>
          <p:cNvPr id="24580" name="Rectangle 4"/>
          <p:cNvSpPr>
            <a:spLocks noGrp="1" noChangeArrowheads="1"/>
          </p:cNvSpPr>
          <p:nvPr>
            <p:ph type="body" sz="half" idx="4294967295"/>
          </p:nvPr>
        </p:nvSpPr>
        <p:spPr>
          <a:xfrm>
            <a:off x="5105400" y="1600200"/>
            <a:ext cx="4038600" cy="4525963"/>
          </a:xfrm>
        </p:spPr>
        <p:txBody>
          <a:bodyPr/>
          <a:lstStyle/>
          <a:p>
            <a:pPr eaLnBrk="1" hangingPunct="1"/>
            <a:r>
              <a:rPr lang="en-US" sz="2800" smtClean="0"/>
              <a:t>Variable</a:t>
            </a:r>
          </a:p>
          <a:p>
            <a:pPr lvl="1" eaLnBrk="1" hangingPunct="1"/>
            <a:r>
              <a:rPr lang="en-US" sz="2400" smtClean="0"/>
              <a:t>Identifier:</a:t>
            </a:r>
          </a:p>
          <a:p>
            <a:pPr lvl="2" eaLnBrk="1" hangingPunct="1"/>
            <a:r>
              <a:rPr lang="en-US" sz="2000" smtClean="0"/>
              <a:t>V1 </a:t>
            </a:r>
          </a:p>
          <a:p>
            <a:pPr lvl="2" eaLnBrk="1" hangingPunct="1"/>
            <a:r>
              <a:rPr lang="en-US" sz="2000" smtClean="0"/>
              <a:t>us.mpc</a:t>
            </a:r>
          </a:p>
          <a:p>
            <a:pPr lvl="2" eaLnBrk="1" hangingPunct="1"/>
            <a:r>
              <a:rPr lang="en-US" sz="2000" smtClean="0"/>
              <a:t>1.1.0  [default is 1.0.0]</a:t>
            </a:r>
          </a:p>
          <a:p>
            <a:pPr lvl="2" eaLnBrk="1" hangingPunct="1"/>
            <a:r>
              <a:rPr lang="en-US" sz="2000" smtClean="0"/>
              <a:t>2007-02-10</a:t>
            </a:r>
          </a:p>
          <a:p>
            <a:pPr lvl="2" eaLnBrk="1" hangingPunct="1"/>
            <a:r>
              <a:rPr lang="en-US" sz="2000" smtClean="0"/>
              <a:t>Wendy Thomas</a:t>
            </a:r>
          </a:p>
          <a:p>
            <a:pPr lvl="2" eaLnBrk="1" hangingPunct="1"/>
            <a:r>
              <a:rPr lang="en-US" sz="2000" smtClean="0"/>
              <a:t>Spelling correction</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mtClean="0"/>
              <a:t>Referencing</a:t>
            </a:r>
          </a:p>
        </p:txBody>
      </p:sp>
      <p:sp>
        <p:nvSpPr>
          <p:cNvPr id="14339" name="Rectangle 3"/>
          <p:cNvSpPr>
            <a:spLocks noGrp="1" noChangeArrowheads="1"/>
          </p:cNvSpPr>
          <p:nvPr>
            <p:ph idx="1"/>
          </p:nvPr>
        </p:nvSpPr>
        <p:spPr/>
        <p:txBody>
          <a:bodyPr/>
          <a:lstStyle/>
          <a:p>
            <a:pPr>
              <a:lnSpc>
                <a:spcPct val="90000"/>
              </a:lnSpc>
            </a:pPr>
            <a:r>
              <a:rPr lang="en-US" smtClean="0"/>
              <a:t>When referencing an object, you must provide:</a:t>
            </a:r>
          </a:p>
          <a:p>
            <a:pPr lvl="1">
              <a:lnSpc>
                <a:spcPct val="90000"/>
              </a:lnSpc>
            </a:pPr>
            <a:r>
              <a:rPr lang="en-US" smtClean="0"/>
              <a:t>The maintenance agency</a:t>
            </a:r>
          </a:p>
          <a:p>
            <a:pPr lvl="1">
              <a:lnSpc>
                <a:spcPct val="90000"/>
              </a:lnSpc>
            </a:pPr>
            <a:r>
              <a:rPr lang="en-US" smtClean="0"/>
              <a:t>The identifier</a:t>
            </a:r>
          </a:p>
          <a:p>
            <a:pPr lvl="1">
              <a:lnSpc>
                <a:spcPct val="90000"/>
              </a:lnSpc>
            </a:pPr>
            <a:r>
              <a:rPr lang="en-US" smtClean="0"/>
              <a:t>The version</a:t>
            </a:r>
          </a:p>
          <a:p>
            <a:pPr>
              <a:lnSpc>
                <a:spcPct val="90000"/>
              </a:lnSpc>
            </a:pPr>
            <a:r>
              <a:rPr lang="en-US" smtClean="0"/>
              <a:t>Often, these are inherited from a maintainable object</a:t>
            </a:r>
          </a:p>
          <a:p>
            <a:pPr lvl="1">
              <a:lnSpc>
                <a:spcPct val="90000"/>
              </a:lnSpc>
            </a:pPr>
            <a:r>
              <a:rPr lang="en-US" smtClean="0"/>
              <a:t>This is part of their identification</a:t>
            </a:r>
          </a:p>
        </p:txBody>
      </p:sp>
      <p:sp>
        <p:nvSpPr>
          <p:cNvPr id="14340" name="Date Placeholder 3"/>
          <p:cNvSpPr>
            <a:spLocks noGrp="1"/>
          </p:cNvSpPr>
          <p:nvPr>
            <p:ph type="dt" sz="half" idx="10"/>
          </p:nvPr>
        </p:nvSpPr>
        <p:spPr>
          <a:noFill/>
        </p:spPr>
        <p:txBody>
          <a:bodyPr/>
          <a:lstStyle/>
          <a:p>
            <a:r>
              <a:rPr lang="en-US" smtClean="0"/>
              <a:t>S08</a:t>
            </a:r>
          </a:p>
        </p:txBody>
      </p:sp>
      <p:sp>
        <p:nvSpPr>
          <p:cNvPr id="14341" name="Slide Number Placeholder 4"/>
          <p:cNvSpPr>
            <a:spLocks noGrp="1"/>
          </p:cNvSpPr>
          <p:nvPr>
            <p:ph type="sldNum" sz="quarter" idx="12"/>
          </p:nvPr>
        </p:nvSpPr>
        <p:spPr>
          <a:noFill/>
        </p:spPr>
        <p:txBody>
          <a:bodyPr/>
          <a:lstStyle/>
          <a:p>
            <a:fld id="{64988C8B-853B-4BD0-B8BD-F1222C56D628}" type="slidenum">
              <a:rPr lang="en-US" smtClean="0"/>
              <a:pPr/>
              <a:t>47</a:t>
            </a:fld>
            <a:endParaRPr lang="en-US"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Date Placeholder 3"/>
          <p:cNvSpPr>
            <a:spLocks noGrp="1"/>
          </p:cNvSpPr>
          <p:nvPr>
            <p:ph type="dt" sz="half" idx="10"/>
          </p:nvPr>
        </p:nvSpPr>
        <p:spPr>
          <a:noFill/>
        </p:spPr>
        <p:txBody>
          <a:bodyPr/>
          <a:lstStyle/>
          <a:p>
            <a:r>
              <a:rPr lang="en-US" smtClean="0"/>
              <a:t>S08</a:t>
            </a:r>
          </a:p>
        </p:txBody>
      </p:sp>
      <p:sp>
        <p:nvSpPr>
          <p:cNvPr id="32773" name="Slide Number Placeholder 4"/>
          <p:cNvSpPr>
            <a:spLocks noGrp="1"/>
          </p:cNvSpPr>
          <p:nvPr>
            <p:ph type="sldNum" sz="quarter" idx="12"/>
          </p:nvPr>
        </p:nvSpPr>
        <p:spPr>
          <a:noFill/>
        </p:spPr>
        <p:txBody>
          <a:bodyPr/>
          <a:lstStyle/>
          <a:p>
            <a:fld id="{BE49F5DA-FE68-4BBF-ACB8-2AAF2FD4CE62}" type="slidenum">
              <a:rPr lang="en-US" smtClean="0"/>
              <a:pPr/>
              <a:t>48</a:t>
            </a:fld>
            <a:endParaRPr lang="en-US" smtClean="0"/>
          </a:p>
        </p:txBody>
      </p:sp>
      <p:sp>
        <p:nvSpPr>
          <p:cNvPr id="32770" name="Rectangle 2"/>
          <p:cNvSpPr>
            <a:spLocks noGrp="1" noChangeArrowheads="1"/>
          </p:cNvSpPr>
          <p:nvPr>
            <p:ph type="title" idx="4294967295"/>
          </p:nvPr>
        </p:nvSpPr>
        <p:spPr>
          <a:xfrm>
            <a:off x="457200" y="457200"/>
            <a:ext cx="8686800" cy="838200"/>
          </a:xfrm>
        </p:spPr>
        <p:txBody>
          <a:bodyPr/>
          <a:lstStyle/>
          <a:p>
            <a:pPr eaLnBrk="1" hangingPunct="1"/>
            <a:r>
              <a:rPr lang="en-US" smtClean="0"/>
              <a:t>DDI External References</a:t>
            </a:r>
          </a:p>
        </p:txBody>
      </p:sp>
      <p:sp>
        <p:nvSpPr>
          <p:cNvPr id="32771" name="Rectangle 3"/>
          <p:cNvSpPr>
            <a:spLocks noGrp="1" noChangeArrowheads="1"/>
          </p:cNvSpPr>
          <p:nvPr>
            <p:ph type="body" idx="4294967295"/>
          </p:nvPr>
        </p:nvSpPr>
        <p:spPr>
          <a:xfrm>
            <a:off x="457200" y="1554163"/>
            <a:ext cx="8686800" cy="4525962"/>
          </a:xfrm>
        </p:spPr>
        <p:txBody>
          <a:bodyPr/>
          <a:lstStyle/>
          <a:p>
            <a:pPr eaLnBrk="1" hangingPunct="1">
              <a:lnSpc>
                <a:spcPct val="80000"/>
              </a:lnSpc>
            </a:pPr>
            <a:r>
              <a:rPr lang="en-US" sz="2400" smtClean="0"/>
              <a:t>Change attribute isExternal to “true”</a:t>
            </a:r>
          </a:p>
          <a:p>
            <a:pPr eaLnBrk="1" hangingPunct="1">
              <a:lnSpc>
                <a:spcPct val="80000"/>
              </a:lnSpc>
            </a:pPr>
            <a:r>
              <a:rPr lang="en-US" sz="2400" smtClean="0"/>
              <a:t>ALL DDI references to external objects must contain a URN</a:t>
            </a:r>
          </a:p>
          <a:p>
            <a:pPr eaLnBrk="1" hangingPunct="1">
              <a:lnSpc>
                <a:spcPct val="80000"/>
              </a:lnSpc>
            </a:pPr>
            <a:r>
              <a:rPr lang="en-US" sz="2400" smtClean="0"/>
              <a:t>This may be accompanied by the same individual elements, but if there is a discrepancy between this information and the URN, the URN will take precedence</a:t>
            </a:r>
          </a:p>
          <a:p>
            <a:pPr eaLnBrk="1" hangingPunct="1">
              <a:lnSpc>
                <a:spcPct val="80000"/>
              </a:lnSpc>
            </a:pPr>
            <a:r>
              <a:rPr lang="en-US" sz="2400" smtClean="0"/>
              <a:t>Beginning with DDI 3.1 you can also designate both the objectLanguage and sourceContext if broader than the parent maintainable</a:t>
            </a:r>
          </a:p>
          <a:p>
            <a:pPr lvl="1" eaLnBrk="1" hangingPunct="1">
              <a:lnSpc>
                <a:spcPct val="80000"/>
              </a:lnSpc>
            </a:pPr>
            <a:r>
              <a:rPr lang="en-US" sz="2000" smtClean="0"/>
              <a:t>ObjectLanguage specifies which language to use for display (if more than one is present)</a:t>
            </a:r>
          </a:p>
          <a:p>
            <a:pPr lvl="1" eaLnBrk="1" hangingPunct="1">
              <a:lnSpc>
                <a:spcPct val="80000"/>
              </a:lnSpc>
            </a:pPr>
            <a:r>
              <a:rPr lang="en-US" sz="2000" smtClean="0"/>
              <a:t>sourceContext identifies where the referenced object is coming from, identified with a URN, in cases where a specific object is available in more than one version of a scheme (for example a category that remains unchanged in versions 1.0 – 5.0 of a category scheme.</a:t>
            </a:r>
          </a:p>
          <a:p>
            <a:pPr eaLnBrk="1" hangingPunct="1">
              <a:lnSpc>
                <a:spcPct val="80000"/>
              </a:lnSpc>
            </a:pPr>
            <a:endParaRPr lang="en-US" sz="240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Date Placeholder 3"/>
          <p:cNvSpPr>
            <a:spLocks noGrp="1"/>
          </p:cNvSpPr>
          <p:nvPr>
            <p:ph type="dt" sz="half" idx="10"/>
          </p:nvPr>
        </p:nvSpPr>
        <p:spPr>
          <a:noFill/>
        </p:spPr>
        <p:txBody>
          <a:bodyPr/>
          <a:lstStyle/>
          <a:p>
            <a:r>
              <a:rPr lang="en-US" smtClean="0"/>
              <a:t>S08</a:t>
            </a:r>
          </a:p>
        </p:txBody>
      </p:sp>
      <p:sp>
        <p:nvSpPr>
          <p:cNvPr id="34821" name="Slide Number Placeholder 4"/>
          <p:cNvSpPr>
            <a:spLocks noGrp="1"/>
          </p:cNvSpPr>
          <p:nvPr>
            <p:ph type="sldNum" sz="quarter" idx="12"/>
          </p:nvPr>
        </p:nvSpPr>
        <p:spPr>
          <a:noFill/>
        </p:spPr>
        <p:txBody>
          <a:bodyPr/>
          <a:lstStyle/>
          <a:p>
            <a:fld id="{A7997AA8-FCD8-4A8E-81B1-DE4D8B7EDE6E}" type="slidenum">
              <a:rPr lang="en-US" smtClean="0"/>
              <a:pPr/>
              <a:t>49</a:t>
            </a:fld>
            <a:endParaRPr lang="en-US" smtClean="0"/>
          </a:p>
        </p:txBody>
      </p:sp>
      <p:sp>
        <p:nvSpPr>
          <p:cNvPr id="34818" name="Rectangle 2"/>
          <p:cNvSpPr>
            <a:spLocks noGrp="1" noChangeArrowheads="1"/>
          </p:cNvSpPr>
          <p:nvPr>
            <p:ph type="title" idx="4294967295"/>
          </p:nvPr>
        </p:nvSpPr>
        <p:spPr>
          <a:xfrm>
            <a:off x="457200" y="457200"/>
            <a:ext cx="8686800" cy="838200"/>
          </a:xfrm>
        </p:spPr>
        <p:txBody>
          <a:bodyPr/>
          <a:lstStyle/>
          <a:p>
            <a:pPr eaLnBrk="1" hangingPunct="1"/>
            <a:r>
              <a:rPr lang="en-US" smtClean="0"/>
              <a:t>Reference Examples</a:t>
            </a:r>
          </a:p>
        </p:txBody>
      </p:sp>
      <p:sp>
        <p:nvSpPr>
          <p:cNvPr id="34819" name="Rectangle 3"/>
          <p:cNvSpPr>
            <a:spLocks noGrp="1" noChangeArrowheads="1"/>
          </p:cNvSpPr>
          <p:nvPr>
            <p:ph type="body" idx="4294967295"/>
          </p:nvPr>
        </p:nvSpPr>
        <p:spPr>
          <a:xfrm>
            <a:off x="457200" y="1554163"/>
            <a:ext cx="8686800" cy="4525962"/>
          </a:xfrm>
        </p:spPr>
        <p:txBody>
          <a:bodyPr/>
          <a:lstStyle/>
          <a:p>
            <a:pPr eaLnBrk="1" hangingPunct="1">
              <a:lnSpc>
                <a:spcPct val="80000"/>
              </a:lnSpc>
            </a:pPr>
            <a:r>
              <a:rPr lang="en-US" sz="2400" smtClean="0"/>
              <a:t>Internal</a:t>
            </a:r>
          </a:p>
          <a:p>
            <a:pPr eaLnBrk="1" hangingPunct="1">
              <a:lnSpc>
                <a:spcPct val="80000"/>
              </a:lnSpc>
              <a:buFontTx/>
              <a:buNone/>
            </a:pPr>
            <a:r>
              <a:rPr lang="en-US" sz="2000" b="1" smtClean="0">
                <a:latin typeface="Courier New" pitchFamily="49" charset="0"/>
              </a:rPr>
              <a:t>&lt;VariableReference isReference=“true” isExternal=“false” lateBound=“false”&gt;</a:t>
            </a:r>
          </a:p>
          <a:p>
            <a:pPr eaLnBrk="1" hangingPunct="1">
              <a:lnSpc>
                <a:spcPct val="80000"/>
              </a:lnSpc>
              <a:buFontTx/>
              <a:buNone/>
            </a:pPr>
            <a:r>
              <a:rPr lang="en-US" sz="2000" b="1" smtClean="0">
                <a:latin typeface="Courier New" pitchFamily="49" charset="0"/>
              </a:rPr>
              <a:t> &lt;Scheme isReference=“true” isExternal=“false” lateBound=“false”&gt;</a:t>
            </a:r>
          </a:p>
          <a:p>
            <a:pPr eaLnBrk="1" hangingPunct="1">
              <a:lnSpc>
                <a:spcPct val="80000"/>
              </a:lnSpc>
              <a:buFontTx/>
              <a:buNone/>
            </a:pPr>
            <a:r>
              <a:rPr lang="en-US" sz="2000" b="1" smtClean="0">
                <a:latin typeface="Courier New" pitchFamily="49" charset="0"/>
              </a:rPr>
              <a:t>  &lt;ID&gt;VarSch01&lt;/ID&gt;</a:t>
            </a:r>
          </a:p>
          <a:p>
            <a:pPr eaLnBrk="1" hangingPunct="1">
              <a:lnSpc>
                <a:spcPct val="80000"/>
              </a:lnSpc>
              <a:buFontTx/>
              <a:buNone/>
            </a:pPr>
            <a:r>
              <a:rPr lang="en-US" sz="2000" b="1" smtClean="0">
                <a:latin typeface="Courier New" pitchFamily="49" charset="0"/>
              </a:rPr>
              <a:t>  &lt;IdenftifyingAgency&gt;us.mpc&lt;/IdentifyingAgency&gt;</a:t>
            </a:r>
          </a:p>
          <a:p>
            <a:pPr eaLnBrk="1" hangingPunct="1">
              <a:lnSpc>
                <a:spcPct val="80000"/>
              </a:lnSpc>
              <a:buFontTx/>
              <a:buNone/>
            </a:pPr>
            <a:r>
              <a:rPr lang="en-US" sz="2000" b="1" smtClean="0">
                <a:latin typeface="Courier New" pitchFamily="49" charset="0"/>
              </a:rPr>
              <a:t>  &lt;Version&gt;1.4.0&lt;/Version&gt;</a:t>
            </a:r>
          </a:p>
          <a:p>
            <a:pPr eaLnBrk="1" hangingPunct="1">
              <a:lnSpc>
                <a:spcPct val="80000"/>
              </a:lnSpc>
              <a:buFontTx/>
              <a:buNone/>
            </a:pPr>
            <a:r>
              <a:rPr lang="en-US" sz="2000" b="1" smtClean="0">
                <a:latin typeface="Courier New" pitchFamily="49" charset="0"/>
              </a:rPr>
              <a:t> &lt;/Scheme&gt;</a:t>
            </a:r>
          </a:p>
          <a:p>
            <a:pPr eaLnBrk="1" hangingPunct="1">
              <a:lnSpc>
                <a:spcPct val="80000"/>
              </a:lnSpc>
              <a:buFontTx/>
              <a:buNone/>
            </a:pPr>
            <a:r>
              <a:rPr lang="en-US" sz="2000" b="1" smtClean="0">
                <a:latin typeface="Courier New" pitchFamily="49" charset="0"/>
              </a:rPr>
              <a:t>  &lt;ID&gt;V1&lt;/ID&gt;</a:t>
            </a:r>
          </a:p>
          <a:p>
            <a:pPr eaLnBrk="1" hangingPunct="1">
              <a:lnSpc>
                <a:spcPct val="80000"/>
              </a:lnSpc>
              <a:buFontTx/>
              <a:buNone/>
            </a:pPr>
            <a:r>
              <a:rPr lang="en-US" sz="2000" b="1" smtClean="0">
                <a:latin typeface="Courier New" pitchFamily="49" charset="0"/>
              </a:rPr>
              <a:t>  &lt;IdenftifyingAgency&gt;us.mpc&lt;/IdentifyingAgency&gt;</a:t>
            </a:r>
          </a:p>
          <a:p>
            <a:pPr eaLnBrk="1" hangingPunct="1">
              <a:lnSpc>
                <a:spcPct val="80000"/>
              </a:lnSpc>
              <a:buFontTx/>
              <a:buNone/>
            </a:pPr>
            <a:r>
              <a:rPr lang="en-US" sz="2000" b="1" smtClean="0">
                <a:latin typeface="Courier New" pitchFamily="49" charset="0"/>
              </a:rPr>
              <a:t>  &lt;Version&gt;1.1.0&lt;/Version&gt;</a:t>
            </a:r>
          </a:p>
          <a:p>
            <a:pPr eaLnBrk="1" hangingPunct="1">
              <a:lnSpc>
                <a:spcPct val="80000"/>
              </a:lnSpc>
              <a:buFontTx/>
              <a:buNone/>
            </a:pPr>
            <a:r>
              <a:rPr lang="en-US" sz="2000" b="1" smtClean="0">
                <a:latin typeface="Courier New" pitchFamily="49" charset="0"/>
              </a:rPr>
              <a:t>&lt;/VariableReference&gt;</a:t>
            </a:r>
          </a:p>
          <a:p>
            <a:pPr eaLnBrk="1" hangingPunct="1">
              <a:lnSpc>
                <a:spcPct val="80000"/>
              </a:lnSpc>
              <a:buFontTx/>
              <a:buNone/>
            </a:pPr>
            <a:endParaRPr lang="en-US" sz="240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Types of Grouping</a:t>
            </a:r>
          </a:p>
        </p:txBody>
      </p:sp>
      <p:sp>
        <p:nvSpPr>
          <p:cNvPr id="7171" name="Rectangle 3"/>
          <p:cNvSpPr>
            <a:spLocks noGrp="1" noChangeArrowheads="1"/>
          </p:cNvSpPr>
          <p:nvPr>
            <p:ph idx="1"/>
          </p:nvPr>
        </p:nvSpPr>
        <p:spPr/>
        <p:txBody>
          <a:bodyPr/>
          <a:lstStyle/>
          <a:p>
            <a:pPr eaLnBrk="1" hangingPunct="1"/>
            <a:r>
              <a:rPr lang="en-US" sz="2800" smtClean="0"/>
              <a:t>There are three mechanisms for grouping DDI contents</a:t>
            </a:r>
          </a:p>
          <a:p>
            <a:pPr lvl="1" eaLnBrk="1" hangingPunct="1"/>
            <a:r>
              <a:rPr lang="en-US" sz="2400" smtClean="0"/>
              <a:t>Group: 2 or more Study Units which can be organized into sub-groups if desired</a:t>
            </a:r>
          </a:p>
          <a:p>
            <a:pPr lvl="1" eaLnBrk="1" hangingPunct="1"/>
            <a:r>
              <a:rPr lang="en-US" sz="2400" smtClean="0"/>
              <a:t>Resource Package: means of publishing one or more modules or DDI schemes EXCEPT for Group, Study Unit, or Local Holding Package</a:t>
            </a:r>
          </a:p>
          <a:p>
            <a:pPr lvl="1" eaLnBrk="1" hangingPunct="1"/>
            <a:r>
              <a:rPr lang="en-US" sz="2400" smtClean="0"/>
              <a:t>Local Holding Package: Contains a ‘deposited’ Study Unit or Group PLUS local or value added by the local “archive” (This added value information is held within a Study Unit)</a:t>
            </a:r>
          </a:p>
        </p:txBody>
      </p:sp>
      <p:sp>
        <p:nvSpPr>
          <p:cNvPr id="7172" name="Date Placeholder 3"/>
          <p:cNvSpPr>
            <a:spLocks noGrp="1"/>
          </p:cNvSpPr>
          <p:nvPr>
            <p:ph type="dt" sz="half" idx="10"/>
          </p:nvPr>
        </p:nvSpPr>
        <p:spPr>
          <a:noFill/>
        </p:spPr>
        <p:txBody>
          <a:bodyPr/>
          <a:lstStyle/>
          <a:p>
            <a:r>
              <a:rPr lang="en-US" smtClean="0"/>
              <a:t>S18</a:t>
            </a:r>
          </a:p>
        </p:txBody>
      </p:sp>
      <p:sp>
        <p:nvSpPr>
          <p:cNvPr id="7173" name="Slide Number Placeholder 4"/>
          <p:cNvSpPr>
            <a:spLocks noGrp="1"/>
          </p:cNvSpPr>
          <p:nvPr>
            <p:ph type="sldNum" sz="quarter" idx="12"/>
          </p:nvPr>
        </p:nvSpPr>
        <p:spPr>
          <a:noFill/>
        </p:spPr>
        <p:txBody>
          <a:bodyPr/>
          <a:lstStyle/>
          <a:p>
            <a:fld id="{BD34AFDA-4409-4B79-80EE-D37F714C9BE2}" type="slidenum">
              <a:rPr lang="en-US" smtClean="0"/>
              <a:pPr/>
              <a:t>50</a:t>
            </a:fld>
            <a:endParaRPr lang="en-US"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half" idx="10"/>
          </p:nvPr>
        </p:nvSpPr>
        <p:spPr>
          <a:noFill/>
        </p:spPr>
        <p:txBody>
          <a:bodyPr/>
          <a:lstStyle/>
          <a:p>
            <a:r>
              <a:rPr lang="en-US" smtClean="0"/>
              <a:t>S18</a:t>
            </a:r>
          </a:p>
        </p:txBody>
      </p:sp>
      <p:sp>
        <p:nvSpPr>
          <p:cNvPr id="8197" name="Slide Number Placeholder 4"/>
          <p:cNvSpPr>
            <a:spLocks noGrp="1"/>
          </p:cNvSpPr>
          <p:nvPr>
            <p:ph type="sldNum" sz="quarter" idx="12"/>
          </p:nvPr>
        </p:nvSpPr>
        <p:spPr>
          <a:noFill/>
        </p:spPr>
        <p:txBody>
          <a:bodyPr/>
          <a:lstStyle/>
          <a:p>
            <a:fld id="{AA1228D5-1516-44EB-92F4-F0DE8A9AD4A3}" type="slidenum">
              <a:rPr lang="en-US" smtClean="0"/>
              <a:pPr/>
              <a:t>51</a:t>
            </a:fld>
            <a:endParaRPr lang="en-US" smtClean="0"/>
          </a:p>
        </p:txBody>
      </p:sp>
      <p:sp>
        <p:nvSpPr>
          <p:cNvPr id="8194"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mtClean="0"/>
              <a:t>Group: </a:t>
            </a:r>
            <a:br>
              <a:rPr lang="en-US" smtClean="0"/>
            </a:br>
            <a:r>
              <a:rPr lang="en-US" smtClean="0"/>
              <a:t>Grouping and Inheritance</a:t>
            </a:r>
          </a:p>
        </p:txBody>
      </p:sp>
      <p:sp>
        <p:nvSpPr>
          <p:cNvPr id="8195" name="Rectangle 3"/>
          <p:cNvSpPr>
            <a:spLocks noGrp="1" noChangeArrowheads="1"/>
          </p:cNvSpPr>
          <p:nvPr>
            <p:ph type="body" idx="4294967295"/>
          </p:nvPr>
        </p:nvSpPr>
        <p:spPr>
          <a:xfrm>
            <a:off x="457200" y="1554163"/>
            <a:ext cx="8686800" cy="4525962"/>
          </a:xfrm>
        </p:spPr>
        <p:txBody>
          <a:bodyPr/>
          <a:lstStyle/>
          <a:p>
            <a:pPr eaLnBrk="1" hangingPunct="1">
              <a:lnSpc>
                <a:spcPct val="80000"/>
              </a:lnSpc>
            </a:pPr>
            <a:r>
              <a:rPr lang="en-US" sz="2800" smtClean="0"/>
              <a:t>Grouping is the feature which allows DDI 3 to package groups of studies into a single XML instance, and express relationships between them</a:t>
            </a:r>
          </a:p>
          <a:p>
            <a:pPr eaLnBrk="1" hangingPunct="1">
              <a:lnSpc>
                <a:spcPct val="80000"/>
              </a:lnSpc>
            </a:pPr>
            <a:r>
              <a:rPr lang="en-US" sz="2800" smtClean="0"/>
              <a:t>To save repetition – and promote re-use – there is an inheritance mechanism, which allows metadata to be automatically shared by studies</a:t>
            </a:r>
          </a:p>
          <a:p>
            <a:pPr eaLnBrk="1" hangingPunct="1">
              <a:lnSpc>
                <a:spcPct val="80000"/>
              </a:lnSpc>
            </a:pPr>
            <a:r>
              <a:rPr lang="en-US" sz="2800" smtClean="0"/>
              <a:t>This can be a complicated topic, but it is the basis for many of DDI 3’s features, including comparison of studies</a:t>
            </a:r>
          </a:p>
          <a:p>
            <a:pPr eaLnBrk="1" hangingPunct="1">
              <a:lnSpc>
                <a:spcPct val="80000"/>
              </a:lnSpc>
            </a:pPr>
            <a:r>
              <a:rPr lang="en-US" sz="2800" smtClean="0"/>
              <a:t>There is a switch which can be used to “turn off” inheritance</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Date Placeholder 3"/>
          <p:cNvSpPr>
            <a:spLocks noGrp="1"/>
          </p:cNvSpPr>
          <p:nvPr>
            <p:ph type="dt" sz="half" idx="10"/>
          </p:nvPr>
        </p:nvSpPr>
        <p:spPr>
          <a:noFill/>
        </p:spPr>
        <p:txBody>
          <a:bodyPr/>
          <a:lstStyle/>
          <a:p>
            <a:r>
              <a:rPr lang="en-US" smtClean="0"/>
              <a:t>S18</a:t>
            </a:r>
          </a:p>
        </p:txBody>
      </p:sp>
      <p:sp>
        <p:nvSpPr>
          <p:cNvPr id="9221" name="Slide Number Placeholder 4"/>
          <p:cNvSpPr>
            <a:spLocks noGrp="1"/>
          </p:cNvSpPr>
          <p:nvPr>
            <p:ph type="sldNum" sz="quarter" idx="12"/>
          </p:nvPr>
        </p:nvSpPr>
        <p:spPr>
          <a:noFill/>
        </p:spPr>
        <p:txBody>
          <a:bodyPr/>
          <a:lstStyle/>
          <a:p>
            <a:fld id="{906425F4-518E-4E25-81D7-8D42C68E4029}" type="slidenum">
              <a:rPr lang="en-US" smtClean="0"/>
              <a:pPr/>
              <a:t>52</a:t>
            </a:fld>
            <a:endParaRPr lang="en-US" smtClean="0"/>
          </a:p>
        </p:txBody>
      </p:sp>
      <p:sp>
        <p:nvSpPr>
          <p:cNvPr id="9218" name="Rectangle 2"/>
          <p:cNvSpPr>
            <a:spLocks noGrp="1" noChangeArrowheads="1"/>
          </p:cNvSpPr>
          <p:nvPr>
            <p:ph type="title" idx="4294967295"/>
          </p:nvPr>
        </p:nvSpPr>
        <p:spPr>
          <a:xfrm>
            <a:off x="457200" y="457200"/>
            <a:ext cx="8686800" cy="838200"/>
          </a:xfrm>
        </p:spPr>
        <p:txBody>
          <a:bodyPr/>
          <a:lstStyle/>
          <a:p>
            <a:pPr eaLnBrk="1" hangingPunct="1"/>
            <a:r>
              <a:rPr lang="en-US" smtClean="0"/>
              <a:t>Group Contents</a:t>
            </a:r>
          </a:p>
        </p:txBody>
      </p:sp>
      <p:sp>
        <p:nvSpPr>
          <p:cNvPr id="9219" name="Rectangle 3"/>
          <p:cNvSpPr>
            <a:spLocks noGrp="1" noChangeArrowheads="1"/>
          </p:cNvSpPr>
          <p:nvPr>
            <p:ph type="body" idx="4294967295"/>
          </p:nvPr>
        </p:nvSpPr>
        <p:spPr>
          <a:xfrm>
            <a:off x="0" y="1371600"/>
            <a:ext cx="8229600" cy="5181600"/>
          </a:xfrm>
        </p:spPr>
        <p:txBody>
          <a:bodyPr/>
          <a:lstStyle/>
          <a:p>
            <a:pPr eaLnBrk="1" hangingPunct="1">
              <a:lnSpc>
                <a:spcPct val="80000"/>
              </a:lnSpc>
            </a:pPr>
            <a:r>
              <a:rPr lang="en-US" sz="2000" smtClean="0"/>
              <a:t>A group can contain study units, subgroups, and resource packages:</a:t>
            </a:r>
          </a:p>
          <a:p>
            <a:pPr lvl="1" eaLnBrk="1" hangingPunct="1">
              <a:lnSpc>
                <a:spcPct val="80000"/>
              </a:lnSpc>
            </a:pPr>
            <a:r>
              <a:rPr lang="en-US" sz="1800" smtClean="0"/>
              <a:t>Study units document individual studies</a:t>
            </a:r>
          </a:p>
          <a:p>
            <a:pPr lvl="1" eaLnBrk="1" hangingPunct="1">
              <a:lnSpc>
                <a:spcPct val="80000"/>
              </a:lnSpc>
            </a:pPr>
            <a:r>
              <a:rPr lang="en-US" sz="1800" smtClean="0"/>
              <a:t>Subgroups (inline or by reference)</a:t>
            </a:r>
          </a:p>
          <a:p>
            <a:pPr lvl="1" eaLnBrk="1" hangingPunct="1">
              <a:lnSpc>
                <a:spcPct val="80000"/>
              </a:lnSpc>
            </a:pPr>
            <a:r>
              <a:rPr lang="en-US" sz="1800" smtClean="0"/>
              <a:t>Any of the content modules (Logical Product, Data Collection, etc.)</a:t>
            </a:r>
          </a:p>
          <a:p>
            <a:pPr eaLnBrk="1" hangingPunct="1">
              <a:lnSpc>
                <a:spcPct val="80000"/>
              </a:lnSpc>
            </a:pPr>
            <a:r>
              <a:rPr lang="en-US" sz="2000" smtClean="0"/>
              <a:t>Groups can nest indefinitely</a:t>
            </a:r>
          </a:p>
          <a:p>
            <a:pPr eaLnBrk="1" hangingPunct="1">
              <a:lnSpc>
                <a:spcPct val="80000"/>
              </a:lnSpc>
            </a:pPr>
            <a:r>
              <a:rPr lang="en-US" sz="2000" smtClean="0"/>
              <a:t>They have a set of attributes which explain the purpose of the group (as well as having a human-readable description):</a:t>
            </a:r>
          </a:p>
          <a:p>
            <a:pPr lvl="1" eaLnBrk="1" hangingPunct="1">
              <a:lnSpc>
                <a:spcPct val="80000"/>
              </a:lnSpc>
            </a:pPr>
            <a:r>
              <a:rPr lang="en-US" sz="1800" smtClean="0"/>
              <a:t>Grouping by Time</a:t>
            </a:r>
          </a:p>
          <a:p>
            <a:pPr lvl="1" eaLnBrk="1" hangingPunct="1">
              <a:lnSpc>
                <a:spcPct val="80000"/>
              </a:lnSpc>
            </a:pPr>
            <a:r>
              <a:rPr lang="en-US" sz="1800" smtClean="0"/>
              <a:t>Grouping by Instrument</a:t>
            </a:r>
          </a:p>
          <a:p>
            <a:pPr lvl="1" eaLnBrk="1" hangingPunct="1">
              <a:lnSpc>
                <a:spcPct val="80000"/>
              </a:lnSpc>
            </a:pPr>
            <a:r>
              <a:rPr lang="en-US" sz="1800" smtClean="0"/>
              <a:t>Grouping by Panel</a:t>
            </a:r>
          </a:p>
          <a:p>
            <a:pPr lvl="1" eaLnBrk="1" hangingPunct="1">
              <a:lnSpc>
                <a:spcPct val="80000"/>
              </a:lnSpc>
            </a:pPr>
            <a:r>
              <a:rPr lang="en-US" sz="1800" smtClean="0"/>
              <a:t>Grouping by Geography</a:t>
            </a:r>
          </a:p>
          <a:p>
            <a:pPr lvl="1" eaLnBrk="1" hangingPunct="1">
              <a:lnSpc>
                <a:spcPct val="80000"/>
              </a:lnSpc>
            </a:pPr>
            <a:r>
              <a:rPr lang="en-US" sz="1800" smtClean="0"/>
              <a:t>Grouping by Data Set</a:t>
            </a:r>
          </a:p>
          <a:p>
            <a:pPr lvl="1" eaLnBrk="1" hangingPunct="1">
              <a:lnSpc>
                <a:spcPct val="80000"/>
              </a:lnSpc>
            </a:pPr>
            <a:r>
              <a:rPr lang="en-US" sz="1800" smtClean="0"/>
              <a:t>Grouping by Language</a:t>
            </a:r>
          </a:p>
          <a:p>
            <a:pPr lvl="1" eaLnBrk="1" hangingPunct="1">
              <a:lnSpc>
                <a:spcPct val="80000"/>
              </a:lnSpc>
            </a:pPr>
            <a:r>
              <a:rPr lang="en-US" sz="1800" smtClean="0"/>
              <a:t>Grouping by User-Defined Factor</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Date Placeholder 20"/>
          <p:cNvSpPr>
            <a:spLocks noGrp="1"/>
          </p:cNvSpPr>
          <p:nvPr>
            <p:ph type="dt" sz="half" idx="10"/>
          </p:nvPr>
        </p:nvSpPr>
        <p:spPr>
          <a:xfrm>
            <a:off x="152400" y="152400"/>
            <a:ext cx="2133600" cy="476250"/>
          </a:xfrm>
          <a:noFill/>
        </p:spPr>
        <p:txBody>
          <a:bodyPr/>
          <a:lstStyle/>
          <a:p>
            <a:r>
              <a:rPr lang="en-US" smtClean="0"/>
              <a:t>S18</a:t>
            </a:r>
          </a:p>
        </p:txBody>
      </p:sp>
      <p:sp>
        <p:nvSpPr>
          <p:cNvPr id="10262" name="Slide Number Placeholder 21"/>
          <p:cNvSpPr>
            <a:spLocks noGrp="1"/>
          </p:cNvSpPr>
          <p:nvPr>
            <p:ph type="sldNum" sz="quarter" idx="12"/>
          </p:nvPr>
        </p:nvSpPr>
        <p:spPr>
          <a:xfrm>
            <a:off x="6781800" y="228600"/>
            <a:ext cx="2133600" cy="476250"/>
          </a:xfrm>
          <a:noFill/>
        </p:spPr>
        <p:txBody>
          <a:bodyPr/>
          <a:lstStyle/>
          <a:p>
            <a:fld id="{F17173ED-5FA1-4C9F-8B53-AC16B1A0BAC7}" type="slidenum">
              <a:rPr lang="en-US" smtClean="0"/>
              <a:pPr/>
              <a:t>53</a:t>
            </a:fld>
            <a:endParaRPr lang="en-US" smtClean="0"/>
          </a:p>
        </p:txBody>
      </p:sp>
      <p:sp>
        <p:nvSpPr>
          <p:cNvPr id="10242" name="Rectangle 2"/>
          <p:cNvSpPr>
            <a:spLocks noGrp="1" noChangeArrowheads="1"/>
          </p:cNvSpPr>
          <p:nvPr>
            <p:ph type="title" idx="4294967295"/>
          </p:nvPr>
        </p:nvSpPr>
        <p:spPr>
          <a:xfrm>
            <a:off x="0" y="274638"/>
            <a:ext cx="8229600" cy="487362"/>
          </a:xfrm>
        </p:spPr>
        <p:txBody>
          <a:bodyPr>
            <a:normAutofit fontScale="90000"/>
          </a:bodyPr>
          <a:lstStyle/>
          <a:p>
            <a:pPr eaLnBrk="1" hangingPunct="1"/>
            <a:r>
              <a:rPr lang="en-US" sz="4000" smtClean="0"/>
              <a:t>Inheritance</a:t>
            </a:r>
          </a:p>
        </p:txBody>
      </p:sp>
      <p:sp>
        <p:nvSpPr>
          <p:cNvPr id="10243" name="Rectangle 3"/>
          <p:cNvSpPr>
            <a:spLocks noChangeArrowheads="1"/>
          </p:cNvSpPr>
          <p:nvPr/>
        </p:nvSpPr>
        <p:spPr bwMode="auto">
          <a:xfrm>
            <a:off x="3657600" y="838200"/>
            <a:ext cx="1143000" cy="609600"/>
          </a:xfrm>
          <a:prstGeom prst="rect">
            <a:avLst/>
          </a:prstGeom>
          <a:solidFill>
            <a:schemeClr val="accent1"/>
          </a:solidFill>
          <a:ln w="9525">
            <a:solidFill>
              <a:schemeClr val="tx1"/>
            </a:solidFill>
            <a:miter lim="800000"/>
            <a:headEnd/>
            <a:tailEnd/>
          </a:ln>
        </p:spPr>
        <p:txBody>
          <a:bodyPr wrap="none" anchor="ctr"/>
          <a:lstStyle/>
          <a:p>
            <a:pPr algn="ctr"/>
            <a:r>
              <a:rPr lang="en-US"/>
              <a:t>Group A</a:t>
            </a:r>
          </a:p>
        </p:txBody>
      </p:sp>
      <p:sp>
        <p:nvSpPr>
          <p:cNvPr id="10244" name="Rectangle 4"/>
          <p:cNvSpPr>
            <a:spLocks noChangeArrowheads="1"/>
          </p:cNvSpPr>
          <p:nvPr/>
        </p:nvSpPr>
        <p:spPr bwMode="auto">
          <a:xfrm>
            <a:off x="457200" y="2286000"/>
            <a:ext cx="1447800" cy="685800"/>
          </a:xfrm>
          <a:prstGeom prst="rect">
            <a:avLst/>
          </a:prstGeom>
          <a:solidFill>
            <a:schemeClr val="accent1"/>
          </a:solidFill>
          <a:ln w="9525">
            <a:solidFill>
              <a:schemeClr val="tx1"/>
            </a:solidFill>
            <a:miter lim="800000"/>
            <a:headEnd/>
            <a:tailEnd/>
          </a:ln>
        </p:spPr>
        <p:txBody>
          <a:bodyPr wrap="none" anchor="ctr"/>
          <a:lstStyle/>
          <a:p>
            <a:pPr algn="ctr"/>
            <a:r>
              <a:rPr lang="en-US"/>
              <a:t>Subgroup B</a:t>
            </a:r>
          </a:p>
        </p:txBody>
      </p:sp>
      <p:sp>
        <p:nvSpPr>
          <p:cNvPr id="10245" name="Rectangle 5"/>
          <p:cNvSpPr>
            <a:spLocks noChangeArrowheads="1"/>
          </p:cNvSpPr>
          <p:nvPr/>
        </p:nvSpPr>
        <p:spPr bwMode="auto">
          <a:xfrm>
            <a:off x="3581400" y="2286000"/>
            <a:ext cx="1447800" cy="685800"/>
          </a:xfrm>
          <a:prstGeom prst="rect">
            <a:avLst/>
          </a:prstGeom>
          <a:solidFill>
            <a:schemeClr val="accent1"/>
          </a:solidFill>
          <a:ln w="9525">
            <a:solidFill>
              <a:schemeClr val="tx1"/>
            </a:solidFill>
            <a:miter lim="800000"/>
            <a:headEnd/>
            <a:tailEnd/>
          </a:ln>
        </p:spPr>
        <p:txBody>
          <a:bodyPr wrap="none" anchor="ctr"/>
          <a:lstStyle/>
          <a:p>
            <a:pPr algn="ctr"/>
            <a:r>
              <a:rPr lang="en-US"/>
              <a:t>Subgroup C</a:t>
            </a:r>
          </a:p>
        </p:txBody>
      </p:sp>
      <p:sp>
        <p:nvSpPr>
          <p:cNvPr id="10246" name="Rectangle 6"/>
          <p:cNvSpPr>
            <a:spLocks noChangeArrowheads="1"/>
          </p:cNvSpPr>
          <p:nvPr/>
        </p:nvSpPr>
        <p:spPr bwMode="auto">
          <a:xfrm>
            <a:off x="5715000" y="22860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D</a:t>
            </a:r>
          </a:p>
        </p:txBody>
      </p:sp>
      <p:sp>
        <p:nvSpPr>
          <p:cNvPr id="10247" name="Rectangle 7"/>
          <p:cNvSpPr>
            <a:spLocks noChangeArrowheads="1"/>
          </p:cNvSpPr>
          <p:nvPr/>
        </p:nvSpPr>
        <p:spPr bwMode="auto">
          <a:xfrm>
            <a:off x="7467600" y="22860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E</a:t>
            </a:r>
          </a:p>
        </p:txBody>
      </p:sp>
      <p:sp>
        <p:nvSpPr>
          <p:cNvPr id="10248" name="Rectangle 8"/>
          <p:cNvSpPr>
            <a:spLocks noChangeArrowheads="1"/>
          </p:cNvSpPr>
          <p:nvPr/>
        </p:nvSpPr>
        <p:spPr bwMode="auto">
          <a:xfrm>
            <a:off x="457200" y="35052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F</a:t>
            </a:r>
          </a:p>
        </p:txBody>
      </p:sp>
      <p:sp>
        <p:nvSpPr>
          <p:cNvPr id="10249" name="Rectangle 9"/>
          <p:cNvSpPr>
            <a:spLocks noChangeArrowheads="1"/>
          </p:cNvSpPr>
          <p:nvPr/>
        </p:nvSpPr>
        <p:spPr bwMode="auto">
          <a:xfrm>
            <a:off x="2133600" y="35052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G</a:t>
            </a:r>
          </a:p>
        </p:txBody>
      </p:sp>
      <p:sp>
        <p:nvSpPr>
          <p:cNvPr id="10250" name="Rectangle 10"/>
          <p:cNvSpPr>
            <a:spLocks noChangeArrowheads="1"/>
          </p:cNvSpPr>
          <p:nvPr/>
        </p:nvSpPr>
        <p:spPr bwMode="auto">
          <a:xfrm>
            <a:off x="3810000" y="35052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H</a:t>
            </a:r>
          </a:p>
        </p:txBody>
      </p:sp>
      <p:sp>
        <p:nvSpPr>
          <p:cNvPr id="10251" name="Rectangle 11"/>
          <p:cNvSpPr>
            <a:spLocks noChangeArrowheads="1"/>
          </p:cNvSpPr>
          <p:nvPr/>
        </p:nvSpPr>
        <p:spPr bwMode="auto">
          <a:xfrm>
            <a:off x="5562600" y="3505200"/>
            <a:ext cx="1447800" cy="685800"/>
          </a:xfrm>
          <a:prstGeom prst="rect">
            <a:avLst/>
          </a:prstGeom>
          <a:solidFill>
            <a:srgbClr val="FFFF00"/>
          </a:solidFill>
          <a:ln w="9525">
            <a:solidFill>
              <a:schemeClr val="tx1"/>
            </a:solidFill>
            <a:miter lim="800000"/>
            <a:headEnd/>
            <a:tailEnd/>
          </a:ln>
        </p:spPr>
        <p:txBody>
          <a:bodyPr wrap="none" anchor="ctr"/>
          <a:lstStyle/>
          <a:p>
            <a:pPr algn="ctr"/>
            <a:r>
              <a:rPr lang="en-US"/>
              <a:t>Study I</a:t>
            </a:r>
          </a:p>
        </p:txBody>
      </p:sp>
      <p:sp>
        <p:nvSpPr>
          <p:cNvPr id="10252" name="Line 12"/>
          <p:cNvSpPr>
            <a:spLocks noChangeShapeType="1"/>
          </p:cNvSpPr>
          <p:nvPr/>
        </p:nvSpPr>
        <p:spPr bwMode="auto">
          <a:xfrm flipH="1">
            <a:off x="990600" y="1447800"/>
            <a:ext cx="3200400" cy="838200"/>
          </a:xfrm>
          <a:prstGeom prst="line">
            <a:avLst/>
          </a:prstGeom>
          <a:noFill/>
          <a:ln w="28575">
            <a:solidFill>
              <a:schemeClr val="tx1"/>
            </a:solidFill>
            <a:round/>
            <a:headEnd/>
            <a:tailEnd/>
          </a:ln>
        </p:spPr>
        <p:txBody>
          <a:bodyPr/>
          <a:lstStyle/>
          <a:p>
            <a:endParaRPr lang="en-US"/>
          </a:p>
        </p:txBody>
      </p:sp>
      <p:sp>
        <p:nvSpPr>
          <p:cNvPr id="10253" name="Line 13"/>
          <p:cNvSpPr>
            <a:spLocks noChangeShapeType="1"/>
          </p:cNvSpPr>
          <p:nvPr/>
        </p:nvSpPr>
        <p:spPr bwMode="auto">
          <a:xfrm flipH="1">
            <a:off x="4038600" y="1447800"/>
            <a:ext cx="152400" cy="838200"/>
          </a:xfrm>
          <a:prstGeom prst="line">
            <a:avLst/>
          </a:prstGeom>
          <a:noFill/>
          <a:ln w="28575">
            <a:solidFill>
              <a:schemeClr val="tx1"/>
            </a:solidFill>
            <a:round/>
            <a:headEnd/>
            <a:tailEnd/>
          </a:ln>
        </p:spPr>
        <p:txBody>
          <a:bodyPr/>
          <a:lstStyle/>
          <a:p>
            <a:endParaRPr lang="en-US"/>
          </a:p>
        </p:txBody>
      </p:sp>
      <p:sp>
        <p:nvSpPr>
          <p:cNvPr id="10254" name="Line 14"/>
          <p:cNvSpPr>
            <a:spLocks noChangeShapeType="1"/>
          </p:cNvSpPr>
          <p:nvPr/>
        </p:nvSpPr>
        <p:spPr bwMode="auto">
          <a:xfrm>
            <a:off x="4191000" y="1447800"/>
            <a:ext cx="2209800" cy="838200"/>
          </a:xfrm>
          <a:prstGeom prst="line">
            <a:avLst/>
          </a:prstGeom>
          <a:noFill/>
          <a:ln w="28575">
            <a:solidFill>
              <a:schemeClr val="tx1"/>
            </a:solidFill>
            <a:round/>
            <a:headEnd/>
            <a:tailEnd/>
          </a:ln>
        </p:spPr>
        <p:txBody>
          <a:bodyPr/>
          <a:lstStyle/>
          <a:p>
            <a:endParaRPr lang="en-US"/>
          </a:p>
        </p:txBody>
      </p:sp>
      <p:sp>
        <p:nvSpPr>
          <p:cNvPr id="10255" name="Line 15"/>
          <p:cNvSpPr>
            <a:spLocks noChangeShapeType="1"/>
          </p:cNvSpPr>
          <p:nvPr/>
        </p:nvSpPr>
        <p:spPr bwMode="auto">
          <a:xfrm>
            <a:off x="4267200" y="1447800"/>
            <a:ext cx="3962400" cy="838200"/>
          </a:xfrm>
          <a:prstGeom prst="line">
            <a:avLst/>
          </a:prstGeom>
          <a:noFill/>
          <a:ln w="28575">
            <a:solidFill>
              <a:schemeClr val="tx1"/>
            </a:solidFill>
            <a:round/>
            <a:headEnd/>
            <a:tailEnd/>
          </a:ln>
        </p:spPr>
        <p:txBody>
          <a:bodyPr/>
          <a:lstStyle/>
          <a:p>
            <a:endParaRPr lang="en-US"/>
          </a:p>
        </p:txBody>
      </p:sp>
      <p:sp>
        <p:nvSpPr>
          <p:cNvPr id="10256" name="Line 16"/>
          <p:cNvSpPr>
            <a:spLocks noChangeShapeType="1"/>
          </p:cNvSpPr>
          <p:nvPr/>
        </p:nvSpPr>
        <p:spPr bwMode="auto">
          <a:xfrm>
            <a:off x="1066800" y="2971800"/>
            <a:ext cx="0" cy="533400"/>
          </a:xfrm>
          <a:prstGeom prst="line">
            <a:avLst/>
          </a:prstGeom>
          <a:noFill/>
          <a:ln w="28575">
            <a:solidFill>
              <a:schemeClr val="tx1"/>
            </a:solidFill>
            <a:round/>
            <a:headEnd/>
            <a:tailEnd/>
          </a:ln>
        </p:spPr>
        <p:txBody>
          <a:bodyPr/>
          <a:lstStyle/>
          <a:p>
            <a:endParaRPr lang="en-US"/>
          </a:p>
        </p:txBody>
      </p:sp>
      <p:sp>
        <p:nvSpPr>
          <p:cNvPr id="10257" name="Line 17"/>
          <p:cNvSpPr>
            <a:spLocks noChangeShapeType="1"/>
          </p:cNvSpPr>
          <p:nvPr/>
        </p:nvSpPr>
        <p:spPr bwMode="auto">
          <a:xfrm>
            <a:off x="1066800" y="2971800"/>
            <a:ext cx="1600200" cy="533400"/>
          </a:xfrm>
          <a:prstGeom prst="line">
            <a:avLst/>
          </a:prstGeom>
          <a:noFill/>
          <a:ln w="28575">
            <a:solidFill>
              <a:schemeClr val="tx1"/>
            </a:solidFill>
            <a:round/>
            <a:headEnd/>
            <a:tailEnd/>
          </a:ln>
        </p:spPr>
        <p:txBody>
          <a:bodyPr/>
          <a:lstStyle/>
          <a:p>
            <a:endParaRPr lang="en-US"/>
          </a:p>
        </p:txBody>
      </p:sp>
      <p:sp>
        <p:nvSpPr>
          <p:cNvPr id="10258" name="Line 18"/>
          <p:cNvSpPr>
            <a:spLocks noChangeShapeType="1"/>
          </p:cNvSpPr>
          <p:nvPr/>
        </p:nvSpPr>
        <p:spPr bwMode="auto">
          <a:xfrm>
            <a:off x="4114800" y="2971800"/>
            <a:ext cx="228600" cy="533400"/>
          </a:xfrm>
          <a:prstGeom prst="line">
            <a:avLst/>
          </a:prstGeom>
          <a:noFill/>
          <a:ln w="28575">
            <a:solidFill>
              <a:schemeClr val="tx1"/>
            </a:solidFill>
            <a:round/>
            <a:headEnd/>
            <a:tailEnd/>
          </a:ln>
        </p:spPr>
        <p:txBody>
          <a:bodyPr/>
          <a:lstStyle/>
          <a:p>
            <a:endParaRPr lang="en-US"/>
          </a:p>
        </p:txBody>
      </p:sp>
      <p:sp>
        <p:nvSpPr>
          <p:cNvPr id="10259" name="Line 19"/>
          <p:cNvSpPr>
            <a:spLocks noChangeShapeType="1"/>
          </p:cNvSpPr>
          <p:nvPr/>
        </p:nvSpPr>
        <p:spPr bwMode="auto">
          <a:xfrm>
            <a:off x="4114800" y="2971800"/>
            <a:ext cx="2133600" cy="533400"/>
          </a:xfrm>
          <a:prstGeom prst="line">
            <a:avLst/>
          </a:prstGeom>
          <a:noFill/>
          <a:ln w="28575">
            <a:solidFill>
              <a:schemeClr val="tx1"/>
            </a:solidFill>
            <a:round/>
            <a:headEnd/>
            <a:tailEnd/>
          </a:ln>
        </p:spPr>
        <p:txBody>
          <a:bodyPr/>
          <a:lstStyle/>
          <a:p>
            <a:endParaRPr lang="en-US"/>
          </a:p>
        </p:txBody>
      </p:sp>
      <p:sp>
        <p:nvSpPr>
          <p:cNvPr id="10260" name="Text Box 20"/>
          <p:cNvSpPr txBox="1">
            <a:spLocks noChangeArrowheads="1"/>
          </p:cNvSpPr>
          <p:nvPr/>
        </p:nvSpPr>
        <p:spPr bwMode="auto">
          <a:xfrm>
            <a:off x="304800" y="4267200"/>
            <a:ext cx="8429625" cy="2014538"/>
          </a:xfrm>
          <a:prstGeom prst="rect">
            <a:avLst/>
          </a:prstGeom>
          <a:noFill/>
          <a:ln w="9525">
            <a:noFill/>
            <a:miter lim="800000"/>
            <a:headEnd/>
            <a:tailEnd/>
          </a:ln>
        </p:spPr>
        <p:txBody>
          <a:bodyPr wrap="none">
            <a:spAutoFit/>
          </a:bodyPr>
          <a:lstStyle/>
          <a:p>
            <a:pPr>
              <a:buFontTx/>
              <a:buChar char="•"/>
            </a:pPr>
            <a:r>
              <a:rPr lang="en-US"/>
              <a:t> Modules can be attached at any level</a:t>
            </a:r>
          </a:p>
          <a:p>
            <a:pPr>
              <a:buFontTx/>
              <a:buChar char="•"/>
            </a:pPr>
            <a:r>
              <a:rPr lang="en-US"/>
              <a:t> They are shared – without repetition – by all child study units and subgroups</a:t>
            </a:r>
          </a:p>
          <a:p>
            <a:pPr>
              <a:buFontTx/>
              <a:buChar char="•"/>
            </a:pPr>
            <a:r>
              <a:rPr lang="en-US"/>
              <a:t> If Group A has declared a concept called “X”, it is available to Study Units D – I.</a:t>
            </a:r>
          </a:p>
          <a:p>
            <a:pPr>
              <a:buFontTx/>
              <a:buChar char="•"/>
            </a:pPr>
            <a:r>
              <a:rPr lang="en-US"/>
              <a:t> If Subgroup C has declared a Variable “Gender”, it is available to Study Units H </a:t>
            </a:r>
          </a:p>
          <a:p>
            <a:r>
              <a:rPr lang="en-US"/>
              <a:t>and I without reference or repetition   </a:t>
            </a:r>
          </a:p>
          <a:p>
            <a:pPr>
              <a:buFontTx/>
              <a:buChar char="•"/>
            </a:pPr>
            <a:r>
              <a:rPr lang="en-US"/>
              <a:t> Inherited metadata can be changed using local overrides which add, update, or </a:t>
            </a:r>
          </a:p>
          <a:p>
            <a:r>
              <a:rPr lang="en-US"/>
              <a:t>delete inherited properties</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Date Placeholder 3"/>
          <p:cNvSpPr>
            <a:spLocks noGrp="1"/>
          </p:cNvSpPr>
          <p:nvPr>
            <p:ph type="dt" sz="half" idx="10"/>
          </p:nvPr>
        </p:nvSpPr>
        <p:spPr>
          <a:noFill/>
        </p:spPr>
        <p:txBody>
          <a:bodyPr/>
          <a:lstStyle/>
          <a:p>
            <a:r>
              <a:rPr lang="en-US" smtClean="0"/>
              <a:t>S18</a:t>
            </a:r>
          </a:p>
        </p:txBody>
      </p:sp>
      <p:sp>
        <p:nvSpPr>
          <p:cNvPr id="12293" name="Slide Number Placeholder 4"/>
          <p:cNvSpPr>
            <a:spLocks noGrp="1"/>
          </p:cNvSpPr>
          <p:nvPr>
            <p:ph type="sldNum" sz="quarter" idx="12"/>
          </p:nvPr>
        </p:nvSpPr>
        <p:spPr>
          <a:noFill/>
        </p:spPr>
        <p:txBody>
          <a:bodyPr/>
          <a:lstStyle/>
          <a:p>
            <a:fld id="{84994B05-66DE-4322-B181-D35D7AB18AB2}" type="slidenum">
              <a:rPr lang="en-US" smtClean="0"/>
              <a:pPr/>
              <a:t>54</a:t>
            </a:fld>
            <a:endParaRPr lang="en-US" smtClean="0"/>
          </a:p>
        </p:txBody>
      </p:sp>
      <p:sp>
        <p:nvSpPr>
          <p:cNvPr id="12290"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German Social Economic Panel (SOEP) Study Example</a:t>
            </a:r>
          </a:p>
        </p:txBody>
      </p:sp>
      <p:sp>
        <p:nvSpPr>
          <p:cNvPr id="12291" name="Rectangle 3"/>
          <p:cNvSpPr>
            <a:spLocks noGrp="1" noChangeArrowheads="1"/>
          </p:cNvSpPr>
          <p:nvPr>
            <p:ph type="body" idx="4294967295"/>
          </p:nvPr>
        </p:nvSpPr>
        <p:spPr>
          <a:xfrm>
            <a:off x="457200" y="1554163"/>
            <a:ext cx="8686800" cy="4525962"/>
          </a:xfrm>
        </p:spPr>
        <p:txBody>
          <a:bodyPr/>
          <a:lstStyle/>
          <a:p>
            <a:pPr eaLnBrk="1" hangingPunct="1"/>
            <a:r>
              <a:rPr lang="en-US" smtClean="0"/>
              <a:t>The following slides show how different types of metadata can be shared using grouping and inheritance</a:t>
            </a:r>
          </a:p>
          <a:p>
            <a:pPr eaLnBrk="1" hangingPunct="1"/>
            <a:r>
              <a:rPr lang="en-US" smtClean="0"/>
              <a:t>The  SOEP is a panel study, with different panels on different years</a:t>
            </a:r>
          </a:p>
          <a:p>
            <a:pPr lvl="1" eaLnBrk="1" hangingPunct="1"/>
            <a:r>
              <a:rPr lang="en-US" smtClean="0"/>
              <a:t>Variables change over time</a:t>
            </a:r>
          </a:p>
          <a:p>
            <a:pPr lvl="1" eaLnBrk="1" hangingPunct="1"/>
            <a:r>
              <a:rPr lang="en-US" smtClean="0"/>
              <a:t>New questions and data are added</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2"/>
          <p:cNvSpPr>
            <a:spLocks noChangeArrowheads="1"/>
          </p:cNvSpPr>
          <p:nvPr/>
        </p:nvSpPr>
        <p:spPr bwMode="auto">
          <a:xfrm>
            <a:off x="3048000" y="228600"/>
            <a:ext cx="1828800" cy="1219200"/>
          </a:xfrm>
          <a:prstGeom prst="ellipse">
            <a:avLst/>
          </a:prstGeom>
          <a:solidFill>
            <a:schemeClr val="accent1"/>
          </a:solidFill>
          <a:ln w="9525">
            <a:solidFill>
              <a:schemeClr val="tx1"/>
            </a:solidFill>
            <a:round/>
            <a:headEnd/>
            <a:tailEnd/>
          </a:ln>
        </p:spPr>
        <p:txBody>
          <a:bodyPr wrap="none" anchor="ctr"/>
          <a:lstStyle/>
          <a:p>
            <a:pPr algn="ctr"/>
            <a:r>
              <a:rPr lang="en-US"/>
              <a:t>Group </a:t>
            </a:r>
          </a:p>
          <a:p>
            <a:pPr algn="ctr"/>
            <a:r>
              <a:rPr lang="en-US"/>
              <a:t>1997 - 2003</a:t>
            </a:r>
          </a:p>
        </p:txBody>
      </p:sp>
      <p:sp>
        <p:nvSpPr>
          <p:cNvPr id="13315" name="Text Box 3"/>
          <p:cNvSpPr txBox="1">
            <a:spLocks noChangeArrowheads="1"/>
          </p:cNvSpPr>
          <p:nvPr/>
        </p:nvSpPr>
        <p:spPr bwMode="auto">
          <a:xfrm>
            <a:off x="4800600" y="379413"/>
            <a:ext cx="2790825" cy="915987"/>
          </a:xfrm>
          <a:prstGeom prst="rect">
            <a:avLst/>
          </a:prstGeom>
          <a:noFill/>
          <a:ln w="9525">
            <a:noFill/>
            <a:miter lim="800000"/>
            <a:headEnd/>
            <a:tailEnd/>
          </a:ln>
        </p:spPr>
        <p:txBody>
          <a:bodyPr wrap="none">
            <a:spAutoFit/>
          </a:bodyPr>
          <a:lstStyle/>
          <a:p>
            <a:pPr>
              <a:buFontTx/>
              <a:buChar char="•"/>
            </a:pPr>
            <a:r>
              <a:rPr lang="en-US"/>
              <a:t> Person-level information</a:t>
            </a:r>
          </a:p>
          <a:p>
            <a:pPr>
              <a:buFontTx/>
              <a:buChar char="•"/>
            </a:pPr>
            <a:r>
              <a:rPr lang="en-US"/>
              <a:t> Satisfaction with life</a:t>
            </a:r>
          </a:p>
          <a:p>
            <a:pPr>
              <a:buFontTx/>
              <a:buChar char="•"/>
            </a:pPr>
            <a:r>
              <a:rPr lang="en-US"/>
              <a:t> School degree</a:t>
            </a:r>
          </a:p>
        </p:txBody>
      </p:sp>
      <p:sp>
        <p:nvSpPr>
          <p:cNvPr id="13316" name="Oval 4"/>
          <p:cNvSpPr>
            <a:spLocks noChangeArrowheads="1"/>
          </p:cNvSpPr>
          <p:nvPr/>
        </p:nvSpPr>
        <p:spPr bwMode="auto">
          <a:xfrm>
            <a:off x="2438400" y="1676400"/>
            <a:ext cx="1219200" cy="838200"/>
          </a:xfrm>
          <a:prstGeom prst="ellipse">
            <a:avLst/>
          </a:prstGeom>
          <a:solidFill>
            <a:schemeClr val="accent1"/>
          </a:solidFill>
          <a:ln w="9525">
            <a:solidFill>
              <a:schemeClr val="tx1"/>
            </a:solidFill>
            <a:round/>
            <a:headEnd/>
            <a:tailEnd/>
          </a:ln>
        </p:spPr>
        <p:txBody>
          <a:bodyPr wrap="none" anchor="ctr"/>
          <a:lstStyle/>
          <a:p>
            <a:pPr algn="ctr"/>
            <a:r>
              <a:rPr lang="en-US"/>
              <a:t>Subgroup</a:t>
            </a:r>
          </a:p>
        </p:txBody>
      </p:sp>
      <p:sp>
        <p:nvSpPr>
          <p:cNvPr id="13317" name="Text Box 5"/>
          <p:cNvSpPr txBox="1">
            <a:spLocks noChangeArrowheads="1"/>
          </p:cNvSpPr>
          <p:nvPr/>
        </p:nvSpPr>
        <p:spPr bwMode="auto">
          <a:xfrm>
            <a:off x="76200" y="2178050"/>
            <a:ext cx="2130425" cy="915988"/>
          </a:xfrm>
          <a:prstGeom prst="rect">
            <a:avLst/>
          </a:prstGeom>
          <a:noFill/>
          <a:ln w="9525">
            <a:noFill/>
            <a:miter lim="800000"/>
            <a:headEnd/>
            <a:tailEnd/>
          </a:ln>
        </p:spPr>
        <p:txBody>
          <a:bodyPr wrap="none">
            <a:spAutoFit/>
          </a:bodyPr>
          <a:lstStyle/>
          <a:p>
            <a:pPr>
              <a:buFontTx/>
              <a:buChar char="•"/>
            </a:pPr>
            <a:r>
              <a:rPr lang="en-US"/>
              <a:t> Currency is DM</a:t>
            </a:r>
          </a:p>
          <a:p>
            <a:pPr>
              <a:buFontTx/>
              <a:buChar char="•"/>
            </a:pPr>
            <a:r>
              <a:rPr lang="en-US"/>
              <a:t> Size of Company </a:t>
            </a:r>
          </a:p>
          <a:p>
            <a:r>
              <a:rPr lang="en-US"/>
              <a:t>(v 1.0)</a:t>
            </a:r>
          </a:p>
        </p:txBody>
      </p:sp>
      <p:sp>
        <p:nvSpPr>
          <p:cNvPr id="13318" name="Oval 6"/>
          <p:cNvSpPr>
            <a:spLocks noChangeArrowheads="1"/>
          </p:cNvSpPr>
          <p:nvPr/>
        </p:nvSpPr>
        <p:spPr bwMode="auto">
          <a:xfrm>
            <a:off x="5410200" y="1676400"/>
            <a:ext cx="1219200" cy="838200"/>
          </a:xfrm>
          <a:prstGeom prst="ellipse">
            <a:avLst/>
          </a:prstGeom>
          <a:solidFill>
            <a:schemeClr val="accent1"/>
          </a:solidFill>
          <a:ln w="9525">
            <a:solidFill>
              <a:schemeClr val="tx1"/>
            </a:solidFill>
            <a:round/>
            <a:headEnd/>
            <a:tailEnd/>
          </a:ln>
        </p:spPr>
        <p:txBody>
          <a:bodyPr wrap="none" anchor="ctr"/>
          <a:lstStyle/>
          <a:p>
            <a:pPr algn="ctr"/>
            <a:r>
              <a:rPr lang="en-US"/>
              <a:t>Subgroup</a:t>
            </a:r>
          </a:p>
        </p:txBody>
      </p:sp>
      <p:sp>
        <p:nvSpPr>
          <p:cNvPr id="13319" name="Text Box 7"/>
          <p:cNvSpPr txBox="1">
            <a:spLocks noChangeArrowheads="1"/>
          </p:cNvSpPr>
          <p:nvPr/>
        </p:nvSpPr>
        <p:spPr bwMode="auto">
          <a:xfrm>
            <a:off x="6689725" y="1843088"/>
            <a:ext cx="2028825" cy="366712"/>
          </a:xfrm>
          <a:prstGeom prst="rect">
            <a:avLst/>
          </a:prstGeom>
          <a:noFill/>
          <a:ln w="9525">
            <a:noFill/>
            <a:miter lim="800000"/>
            <a:headEnd/>
            <a:tailEnd/>
          </a:ln>
        </p:spPr>
        <p:txBody>
          <a:bodyPr wrap="none">
            <a:spAutoFit/>
          </a:bodyPr>
          <a:lstStyle/>
          <a:p>
            <a:pPr>
              <a:buFontTx/>
              <a:buChar char="•"/>
            </a:pPr>
            <a:r>
              <a:rPr lang="en-US"/>
              <a:t> Currency is Euro</a:t>
            </a:r>
          </a:p>
        </p:txBody>
      </p:sp>
      <p:sp>
        <p:nvSpPr>
          <p:cNvPr id="13320" name="Line 8"/>
          <p:cNvSpPr>
            <a:spLocks noChangeShapeType="1"/>
          </p:cNvSpPr>
          <p:nvPr/>
        </p:nvSpPr>
        <p:spPr bwMode="auto">
          <a:xfrm flipH="1">
            <a:off x="1143000" y="2514600"/>
            <a:ext cx="1752600" cy="1143000"/>
          </a:xfrm>
          <a:prstGeom prst="line">
            <a:avLst/>
          </a:prstGeom>
          <a:noFill/>
          <a:ln w="28575">
            <a:solidFill>
              <a:schemeClr val="tx1"/>
            </a:solidFill>
            <a:round/>
            <a:headEnd/>
            <a:tailEnd/>
          </a:ln>
        </p:spPr>
        <p:txBody>
          <a:bodyPr/>
          <a:lstStyle/>
          <a:p>
            <a:endParaRPr lang="en-US"/>
          </a:p>
        </p:txBody>
      </p:sp>
      <p:sp>
        <p:nvSpPr>
          <p:cNvPr id="13321" name="Rectangle 9"/>
          <p:cNvSpPr>
            <a:spLocks noChangeArrowheads="1"/>
          </p:cNvSpPr>
          <p:nvPr/>
        </p:nvSpPr>
        <p:spPr bwMode="auto">
          <a:xfrm>
            <a:off x="609600" y="36576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1997</a:t>
            </a:r>
          </a:p>
        </p:txBody>
      </p:sp>
      <p:sp>
        <p:nvSpPr>
          <p:cNvPr id="13322" name="Rectangle 10"/>
          <p:cNvSpPr>
            <a:spLocks noChangeArrowheads="1"/>
          </p:cNvSpPr>
          <p:nvPr/>
        </p:nvSpPr>
        <p:spPr bwMode="auto">
          <a:xfrm>
            <a:off x="1676400" y="36576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1998</a:t>
            </a:r>
          </a:p>
        </p:txBody>
      </p:sp>
      <p:sp>
        <p:nvSpPr>
          <p:cNvPr id="13323" name="Line 11"/>
          <p:cNvSpPr>
            <a:spLocks noChangeShapeType="1"/>
          </p:cNvSpPr>
          <p:nvPr/>
        </p:nvSpPr>
        <p:spPr bwMode="auto">
          <a:xfrm flipH="1">
            <a:off x="2133600" y="2514600"/>
            <a:ext cx="762000" cy="1143000"/>
          </a:xfrm>
          <a:prstGeom prst="line">
            <a:avLst/>
          </a:prstGeom>
          <a:noFill/>
          <a:ln w="28575">
            <a:solidFill>
              <a:schemeClr val="tx1"/>
            </a:solidFill>
            <a:round/>
            <a:headEnd/>
            <a:tailEnd/>
          </a:ln>
        </p:spPr>
        <p:txBody>
          <a:bodyPr/>
          <a:lstStyle/>
          <a:p>
            <a:endParaRPr lang="en-US"/>
          </a:p>
        </p:txBody>
      </p:sp>
      <p:sp>
        <p:nvSpPr>
          <p:cNvPr id="13324" name="Oval 12"/>
          <p:cNvSpPr>
            <a:spLocks noChangeArrowheads="1"/>
          </p:cNvSpPr>
          <p:nvPr/>
        </p:nvSpPr>
        <p:spPr bwMode="auto">
          <a:xfrm>
            <a:off x="3352800" y="3581400"/>
            <a:ext cx="1219200" cy="838200"/>
          </a:xfrm>
          <a:prstGeom prst="ellipse">
            <a:avLst/>
          </a:prstGeom>
          <a:solidFill>
            <a:schemeClr val="accent1"/>
          </a:solidFill>
          <a:ln w="9525">
            <a:solidFill>
              <a:schemeClr val="tx1"/>
            </a:solidFill>
            <a:round/>
            <a:headEnd/>
            <a:tailEnd/>
          </a:ln>
        </p:spPr>
        <p:txBody>
          <a:bodyPr wrap="none" anchor="ctr"/>
          <a:lstStyle/>
          <a:p>
            <a:pPr algn="ctr"/>
            <a:r>
              <a:rPr lang="en-US"/>
              <a:t>Subgroup</a:t>
            </a:r>
          </a:p>
        </p:txBody>
      </p:sp>
      <p:sp>
        <p:nvSpPr>
          <p:cNvPr id="13325" name="Text Box 13"/>
          <p:cNvSpPr txBox="1">
            <a:spLocks noChangeArrowheads="1"/>
          </p:cNvSpPr>
          <p:nvPr/>
        </p:nvSpPr>
        <p:spPr bwMode="auto">
          <a:xfrm>
            <a:off x="4572000" y="3886200"/>
            <a:ext cx="2249488" cy="1200150"/>
          </a:xfrm>
          <a:prstGeom prst="rect">
            <a:avLst/>
          </a:prstGeom>
          <a:noFill/>
          <a:ln w="9525">
            <a:noFill/>
            <a:miter lim="800000"/>
            <a:headEnd/>
            <a:tailEnd/>
          </a:ln>
        </p:spPr>
        <p:txBody>
          <a:bodyPr wrap="none">
            <a:spAutoFit/>
          </a:bodyPr>
          <a:lstStyle/>
          <a:p>
            <a:pPr>
              <a:buFontTx/>
              <a:buChar char="•"/>
            </a:pPr>
            <a:r>
              <a:rPr lang="en-US"/>
              <a:t> Size of company</a:t>
            </a:r>
          </a:p>
          <a:p>
            <a:r>
              <a:rPr lang="en-US"/>
              <a:t>with concerns </a:t>
            </a:r>
          </a:p>
          <a:p>
            <a:r>
              <a:rPr lang="en-US"/>
              <a:t>about Euro (v1.1)</a:t>
            </a:r>
          </a:p>
          <a:p>
            <a:r>
              <a:rPr lang="en-US"/>
              <a:t>[currency is still DM]</a:t>
            </a:r>
          </a:p>
        </p:txBody>
      </p:sp>
      <p:sp>
        <p:nvSpPr>
          <p:cNvPr id="13326" name="Line 14"/>
          <p:cNvSpPr>
            <a:spLocks noChangeShapeType="1"/>
          </p:cNvSpPr>
          <p:nvPr/>
        </p:nvSpPr>
        <p:spPr bwMode="auto">
          <a:xfrm>
            <a:off x="2895600" y="2514600"/>
            <a:ext cx="914400" cy="1066800"/>
          </a:xfrm>
          <a:prstGeom prst="line">
            <a:avLst/>
          </a:prstGeom>
          <a:noFill/>
          <a:ln w="28575">
            <a:solidFill>
              <a:schemeClr val="tx1"/>
            </a:solidFill>
            <a:round/>
            <a:headEnd/>
            <a:tailEnd/>
          </a:ln>
        </p:spPr>
        <p:txBody>
          <a:bodyPr/>
          <a:lstStyle/>
          <a:p>
            <a:endParaRPr lang="en-US"/>
          </a:p>
        </p:txBody>
      </p:sp>
      <p:sp>
        <p:nvSpPr>
          <p:cNvPr id="13327" name="Rectangle 15"/>
          <p:cNvSpPr>
            <a:spLocks noChangeArrowheads="1"/>
          </p:cNvSpPr>
          <p:nvPr/>
        </p:nvSpPr>
        <p:spPr bwMode="auto">
          <a:xfrm>
            <a:off x="1828800" y="51054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1999</a:t>
            </a:r>
          </a:p>
        </p:txBody>
      </p:sp>
      <p:sp>
        <p:nvSpPr>
          <p:cNvPr id="13328" name="Rectangle 16"/>
          <p:cNvSpPr>
            <a:spLocks noChangeArrowheads="1"/>
          </p:cNvSpPr>
          <p:nvPr/>
        </p:nvSpPr>
        <p:spPr bwMode="auto">
          <a:xfrm>
            <a:off x="2971800" y="51054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2000</a:t>
            </a:r>
          </a:p>
        </p:txBody>
      </p:sp>
      <p:sp>
        <p:nvSpPr>
          <p:cNvPr id="13329" name="Rectangle 17"/>
          <p:cNvSpPr>
            <a:spLocks noChangeArrowheads="1"/>
          </p:cNvSpPr>
          <p:nvPr/>
        </p:nvSpPr>
        <p:spPr bwMode="auto">
          <a:xfrm>
            <a:off x="4038600" y="51054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2001</a:t>
            </a:r>
          </a:p>
        </p:txBody>
      </p:sp>
      <p:sp>
        <p:nvSpPr>
          <p:cNvPr id="13330" name="Line 18"/>
          <p:cNvSpPr>
            <a:spLocks noChangeShapeType="1"/>
          </p:cNvSpPr>
          <p:nvPr/>
        </p:nvSpPr>
        <p:spPr bwMode="auto">
          <a:xfrm flipH="1">
            <a:off x="2209800" y="4419600"/>
            <a:ext cx="1676400" cy="685800"/>
          </a:xfrm>
          <a:prstGeom prst="line">
            <a:avLst/>
          </a:prstGeom>
          <a:noFill/>
          <a:ln w="28575">
            <a:solidFill>
              <a:schemeClr val="tx1"/>
            </a:solidFill>
            <a:round/>
            <a:headEnd/>
            <a:tailEnd/>
          </a:ln>
        </p:spPr>
        <p:txBody>
          <a:bodyPr/>
          <a:lstStyle/>
          <a:p>
            <a:endParaRPr lang="en-US"/>
          </a:p>
        </p:txBody>
      </p:sp>
      <p:sp>
        <p:nvSpPr>
          <p:cNvPr id="13331" name="Line 19"/>
          <p:cNvSpPr>
            <a:spLocks noChangeShapeType="1"/>
          </p:cNvSpPr>
          <p:nvPr/>
        </p:nvSpPr>
        <p:spPr bwMode="auto">
          <a:xfrm flipH="1">
            <a:off x="3352800" y="4419600"/>
            <a:ext cx="533400" cy="685800"/>
          </a:xfrm>
          <a:prstGeom prst="line">
            <a:avLst/>
          </a:prstGeom>
          <a:noFill/>
          <a:ln w="28575">
            <a:solidFill>
              <a:schemeClr val="tx1"/>
            </a:solidFill>
            <a:round/>
            <a:headEnd/>
            <a:tailEnd/>
          </a:ln>
        </p:spPr>
        <p:txBody>
          <a:bodyPr/>
          <a:lstStyle/>
          <a:p>
            <a:endParaRPr lang="en-US"/>
          </a:p>
        </p:txBody>
      </p:sp>
      <p:sp>
        <p:nvSpPr>
          <p:cNvPr id="13332" name="Line 20"/>
          <p:cNvSpPr>
            <a:spLocks noChangeShapeType="1"/>
          </p:cNvSpPr>
          <p:nvPr/>
        </p:nvSpPr>
        <p:spPr bwMode="auto">
          <a:xfrm>
            <a:off x="3886200" y="4419600"/>
            <a:ext cx="533400" cy="685800"/>
          </a:xfrm>
          <a:prstGeom prst="line">
            <a:avLst/>
          </a:prstGeom>
          <a:noFill/>
          <a:ln w="28575">
            <a:solidFill>
              <a:schemeClr val="tx1"/>
            </a:solidFill>
            <a:round/>
            <a:headEnd/>
            <a:tailEnd/>
          </a:ln>
        </p:spPr>
        <p:txBody>
          <a:bodyPr/>
          <a:lstStyle/>
          <a:p>
            <a:endParaRPr lang="en-US"/>
          </a:p>
        </p:txBody>
      </p:sp>
      <p:sp>
        <p:nvSpPr>
          <p:cNvPr id="13333" name="Line 21"/>
          <p:cNvSpPr>
            <a:spLocks noChangeShapeType="1"/>
          </p:cNvSpPr>
          <p:nvPr/>
        </p:nvSpPr>
        <p:spPr bwMode="auto">
          <a:xfrm flipH="1">
            <a:off x="3200400" y="1447800"/>
            <a:ext cx="685800" cy="228600"/>
          </a:xfrm>
          <a:prstGeom prst="line">
            <a:avLst/>
          </a:prstGeom>
          <a:noFill/>
          <a:ln w="28575">
            <a:solidFill>
              <a:schemeClr val="tx1"/>
            </a:solidFill>
            <a:round/>
            <a:headEnd/>
            <a:tailEnd/>
          </a:ln>
        </p:spPr>
        <p:txBody>
          <a:bodyPr/>
          <a:lstStyle/>
          <a:p>
            <a:endParaRPr lang="en-US"/>
          </a:p>
        </p:txBody>
      </p:sp>
      <p:sp>
        <p:nvSpPr>
          <p:cNvPr id="13334" name="Line 22"/>
          <p:cNvSpPr>
            <a:spLocks noChangeShapeType="1"/>
          </p:cNvSpPr>
          <p:nvPr/>
        </p:nvSpPr>
        <p:spPr bwMode="auto">
          <a:xfrm>
            <a:off x="3886200" y="1447800"/>
            <a:ext cx="1828800" cy="304800"/>
          </a:xfrm>
          <a:prstGeom prst="line">
            <a:avLst/>
          </a:prstGeom>
          <a:noFill/>
          <a:ln w="28575">
            <a:solidFill>
              <a:schemeClr val="tx1"/>
            </a:solidFill>
            <a:round/>
            <a:headEnd/>
            <a:tailEnd/>
          </a:ln>
        </p:spPr>
        <p:txBody>
          <a:bodyPr/>
          <a:lstStyle/>
          <a:p>
            <a:endParaRPr lang="en-US"/>
          </a:p>
        </p:txBody>
      </p:sp>
      <p:sp>
        <p:nvSpPr>
          <p:cNvPr id="13335" name="Line 23"/>
          <p:cNvSpPr>
            <a:spLocks noChangeShapeType="1"/>
          </p:cNvSpPr>
          <p:nvPr/>
        </p:nvSpPr>
        <p:spPr bwMode="auto">
          <a:xfrm flipV="1">
            <a:off x="4495800" y="2514600"/>
            <a:ext cx="1295400" cy="1219200"/>
          </a:xfrm>
          <a:prstGeom prst="line">
            <a:avLst/>
          </a:prstGeom>
          <a:noFill/>
          <a:ln w="38100">
            <a:solidFill>
              <a:schemeClr val="tx1"/>
            </a:solidFill>
            <a:prstDash val="sysDot"/>
            <a:round/>
            <a:headEnd/>
            <a:tailEnd type="triangle" w="med" len="med"/>
          </a:ln>
        </p:spPr>
        <p:txBody>
          <a:bodyPr/>
          <a:lstStyle/>
          <a:p>
            <a:endParaRPr lang="en-US"/>
          </a:p>
        </p:txBody>
      </p:sp>
      <p:sp>
        <p:nvSpPr>
          <p:cNvPr id="13336" name="Text Box 24"/>
          <p:cNvSpPr txBox="1">
            <a:spLocks noChangeArrowheads="1"/>
          </p:cNvSpPr>
          <p:nvPr/>
        </p:nvSpPr>
        <p:spPr bwMode="auto">
          <a:xfrm>
            <a:off x="3810000" y="2133600"/>
            <a:ext cx="1752600" cy="923925"/>
          </a:xfrm>
          <a:prstGeom prst="rect">
            <a:avLst/>
          </a:prstGeom>
          <a:noFill/>
          <a:ln w="9525">
            <a:noFill/>
            <a:miter lim="800000"/>
            <a:headEnd/>
            <a:tailEnd/>
          </a:ln>
        </p:spPr>
        <p:txBody>
          <a:bodyPr>
            <a:spAutoFit/>
          </a:bodyPr>
          <a:lstStyle/>
          <a:p>
            <a:r>
              <a:rPr lang="en-US" i="1"/>
              <a:t>Reuse variable scheme</a:t>
            </a:r>
          </a:p>
          <a:p>
            <a:r>
              <a:rPr lang="en-US" i="1"/>
              <a:t>by reference</a:t>
            </a:r>
          </a:p>
        </p:txBody>
      </p:sp>
      <p:sp>
        <p:nvSpPr>
          <p:cNvPr id="13337" name="Rectangle 25"/>
          <p:cNvSpPr>
            <a:spLocks noChangeArrowheads="1"/>
          </p:cNvSpPr>
          <p:nvPr/>
        </p:nvSpPr>
        <p:spPr bwMode="auto">
          <a:xfrm>
            <a:off x="6705600" y="35814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2002</a:t>
            </a:r>
          </a:p>
        </p:txBody>
      </p:sp>
      <p:sp>
        <p:nvSpPr>
          <p:cNvPr id="13338" name="Rectangle 26"/>
          <p:cNvSpPr>
            <a:spLocks noChangeArrowheads="1"/>
          </p:cNvSpPr>
          <p:nvPr/>
        </p:nvSpPr>
        <p:spPr bwMode="auto">
          <a:xfrm>
            <a:off x="7848600" y="3581400"/>
            <a:ext cx="914400" cy="838200"/>
          </a:xfrm>
          <a:prstGeom prst="rect">
            <a:avLst/>
          </a:prstGeom>
          <a:solidFill>
            <a:srgbClr val="FFFF00"/>
          </a:solidFill>
          <a:ln w="9525">
            <a:solidFill>
              <a:schemeClr val="tx1"/>
            </a:solidFill>
            <a:miter lim="800000"/>
            <a:headEnd/>
            <a:tailEnd/>
          </a:ln>
        </p:spPr>
        <p:txBody>
          <a:bodyPr wrap="none" anchor="ctr"/>
          <a:lstStyle/>
          <a:p>
            <a:pPr algn="ctr"/>
            <a:r>
              <a:rPr lang="en-US"/>
              <a:t>2003</a:t>
            </a:r>
          </a:p>
        </p:txBody>
      </p:sp>
      <p:sp>
        <p:nvSpPr>
          <p:cNvPr id="13339" name="Line 27"/>
          <p:cNvSpPr>
            <a:spLocks noChangeShapeType="1"/>
          </p:cNvSpPr>
          <p:nvPr/>
        </p:nvSpPr>
        <p:spPr bwMode="auto">
          <a:xfrm>
            <a:off x="6019800" y="2514600"/>
            <a:ext cx="1066800" cy="1066800"/>
          </a:xfrm>
          <a:prstGeom prst="line">
            <a:avLst/>
          </a:prstGeom>
          <a:noFill/>
          <a:ln w="28575">
            <a:solidFill>
              <a:schemeClr val="tx1"/>
            </a:solidFill>
            <a:round/>
            <a:headEnd/>
            <a:tailEnd/>
          </a:ln>
        </p:spPr>
        <p:txBody>
          <a:bodyPr/>
          <a:lstStyle/>
          <a:p>
            <a:endParaRPr lang="en-US"/>
          </a:p>
        </p:txBody>
      </p:sp>
      <p:sp>
        <p:nvSpPr>
          <p:cNvPr id="13340" name="Line 28"/>
          <p:cNvSpPr>
            <a:spLocks noChangeShapeType="1"/>
          </p:cNvSpPr>
          <p:nvPr/>
        </p:nvSpPr>
        <p:spPr bwMode="auto">
          <a:xfrm>
            <a:off x="6019800" y="2514600"/>
            <a:ext cx="2133600" cy="1066800"/>
          </a:xfrm>
          <a:prstGeom prst="line">
            <a:avLst/>
          </a:prstGeom>
          <a:noFill/>
          <a:ln w="28575">
            <a:solidFill>
              <a:schemeClr val="tx1"/>
            </a:solidFill>
            <a:round/>
            <a:headEnd/>
            <a:tailEnd/>
          </a:ln>
        </p:spPr>
        <p:txBody>
          <a:bodyPr/>
          <a:lstStyle/>
          <a:p>
            <a:endParaRPr lang="en-US"/>
          </a:p>
        </p:txBody>
      </p:sp>
      <p:sp>
        <p:nvSpPr>
          <p:cNvPr id="13341" name="Date Placeholder 28"/>
          <p:cNvSpPr>
            <a:spLocks noGrp="1"/>
          </p:cNvSpPr>
          <p:nvPr>
            <p:ph type="dt" sz="half" idx="10"/>
          </p:nvPr>
        </p:nvSpPr>
        <p:spPr>
          <a:noFill/>
        </p:spPr>
        <p:txBody>
          <a:bodyPr/>
          <a:lstStyle/>
          <a:p>
            <a:r>
              <a:rPr lang="en-US" smtClean="0"/>
              <a:t>S18</a:t>
            </a:r>
          </a:p>
        </p:txBody>
      </p:sp>
      <p:sp>
        <p:nvSpPr>
          <p:cNvPr id="13342" name="Slide Number Placeholder 29"/>
          <p:cNvSpPr>
            <a:spLocks noGrp="1"/>
          </p:cNvSpPr>
          <p:nvPr>
            <p:ph type="sldNum" sz="quarter" idx="12"/>
          </p:nvPr>
        </p:nvSpPr>
        <p:spPr>
          <a:noFill/>
        </p:spPr>
        <p:txBody>
          <a:bodyPr/>
          <a:lstStyle/>
          <a:p>
            <a:fld id="{0CCE3CD8-BC66-4942-915D-38987588C479}" type="slidenum">
              <a:rPr lang="en-US" smtClean="0"/>
              <a:pPr/>
              <a:t>55</a:t>
            </a:fld>
            <a:endParaRPr lang="en-US" smtClean="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mtClean="0"/>
              <a:t>DDI Support for Comparison</a:t>
            </a:r>
          </a:p>
        </p:txBody>
      </p:sp>
      <p:sp>
        <p:nvSpPr>
          <p:cNvPr id="17411" name="Rectangle 5"/>
          <p:cNvSpPr>
            <a:spLocks noGrp="1" noChangeArrowheads="1"/>
          </p:cNvSpPr>
          <p:nvPr>
            <p:ph idx="1"/>
          </p:nvPr>
        </p:nvSpPr>
        <p:spPr/>
        <p:txBody>
          <a:bodyPr/>
          <a:lstStyle/>
          <a:p>
            <a:pPr>
              <a:lnSpc>
                <a:spcPct val="90000"/>
              </a:lnSpc>
            </a:pPr>
            <a:r>
              <a:rPr lang="en-US" sz="2400" smtClean="0"/>
              <a:t>For data which is completely the same, DDI provides a way of showing comparability: Grouping</a:t>
            </a:r>
          </a:p>
          <a:p>
            <a:pPr lvl="1">
              <a:lnSpc>
                <a:spcPct val="90000"/>
              </a:lnSpc>
            </a:pPr>
            <a:r>
              <a:rPr lang="en-US" sz="2000" smtClean="0"/>
              <a:t>These things are comparable “by design”</a:t>
            </a:r>
          </a:p>
          <a:p>
            <a:pPr lvl="1">
              <a:lnSpc>
                <a:spcPct val="90000"/>
              </a:lnSpc>
            </a:pPr>
            <a:r>
              <a:rPr lang="en-US" sz="2000" smtClean="0"/>
              <a:t>This typically includes longitudinal/repeat cross-sectional studies</a:t>
            </a:r>
          </a:p>
          <a:p>
            <a:pPr>
              <a:lnSpc>
                <a:spcPct val="90000"/>
              </a:lnSpc>
            </a:pPr>
            <a:r>
              <a:rPr lang="en-US" sz="2400" smtClean="0"/>
              <a:t>For data which </a:t>
            </a:r>
            <a:r>
              <a:rPr lang="en-US" sz="2400" i="1" smtClean="0"/>
              <a:t>may </a:t>
            </a:r>
            <a:r>
              <a:rPr lang="en-US" sz="2400" smtClean="0"/>
              <a:t>be comparable, DDI allows for a statement of what the comparable metadata items are: the Comparison module</a:t>
            </a:r>
          </a:p>
          <a:p>
            <a:pPr lvl="1">
              <a:lnSpc>
                <a:spcPct val="90000"/>
              </a:lnSpc>
            </a:pPr>
            <a:r>
              <a:rPr lang="en-US" sz="2000" smtClean="0"/>
              <a:t>The Comparison module provides the mappings between similar items (“ad-hoc” comparison)</a:t>
            </a:r>
          </a:p>
          <a:p>
            <a:pPr lvl="1">
              <a:lnSpc>
                <a:spcPct val="90000"/>
              </a:lnSpc>
            </a:pPr>
            <a:r>
              <a:rPr lang="en-US" sz="2000" smtClean="0"/>
              <a:t>Mappings are always context-dependent (e.g., they are sufficient for the purposes of particular research, and are only </a:t>
            </a:r>
            <a:r>
              <a:rPr lang="en-US" sz="2000" i="1" smtClean="0"/>
              <a:t>assertions</a:t>
            </a:r>
            <a:r>
              <a:rPr lang="en-US" sz="2000" smtClean="0"/>
              <a:t> about the equivalence of the metadata items) </a:t>
            </a:r>
          </a:p>
        </p:txBody>
      </p:sp>
      <p:sp>
        <p:nvSpPr>
          <p:cNvPr id="17412" name="Date Placeholder 3"/>
          <p:cNvSpPr>
            <a:spLocks noGrp="1"/>
          </p:cNvSpPr>
          <p:nvPr>
            <p:ph type="dt" sz="half" idx="10"/>
          </p:nvPr>
        </p:nvSpPr>
        <p:spPr>
          <a:noFill/>
        </p:spPr>
        <p:txBody>
          <a:bodyPr/>
          <a:lstStyle/>
          <a:p>
            <a:r>
              <a:rPr lang="en-US" smtClean="0"/>
              <a:t>S18</a:t>
            </a:r>
          </a:p>
        </p:txBody>
      </p:sp>
      <p:sp>
        <p:nvSpPr>
          <p:cNvPr id="17413" name="Slide Number Placeholder 4"/>
          <p:cNvSpPr>
            <a:spLocks noGrp="1"/>
          </p:cNvSpPr>
          <p:nvPr>
            <p:ph type="sldNum" sz="quarter" idx="12"/>
          </p:nvPr>
        </p:nvSpPr>
        <p:spPr>
          <a:noFill/>
        </p:spPr>
        <p:txBody>
          <a:bodyPr/>
          <a:lstStyle/>
          <a:p>
            <a:fld id="{D52EC7F5-2B83-4991-A853-F4939D1FECC2}" type="slidenum">
              <a:rPr lang="en-US" smtClean="0"/>
              <a:pPr/>
              <a:t>56</a:t>
            </a:fld>
            <a:endParaRPr lang="en-US"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152400" y="152400"/>
            <a:ext cx="2286000" cy="3962400"/>
          </a:xfrm>
          <a:prstGeom prst="rect">
            <a:avLst/>
          </a:prstGeom>
          <a:noFill/>
          <a:ln w="9525">
            <a:solidFill>
              <a:schemeClr val="tx1"/>
            </a:solidFill>
            <a:miter lim="800000"/>
            <a:headEnd/>
            <a:tailEnd/>
          </a:ln>
        </p:spPr>
        <p:txBody>
          <a:bodyPr wrap="none" anchor="ctr"/>
          <a:lstStyle/>
          <a:p>
            <a:endParaRPr lang="en-US"/>
          </a:p>
        </p:txBody>
      </p:sp>
      <p:sp>
        <p:nvSpPr>
          <p:cNvPr id="18435" name="Text Box 5"/>
          <p:cNvSpPr txBox="1">
            <a:spLocks noChangeArrowheads="1"/>
          </p:cNvSpPr>
          <p:nvPr/>
        </p:nvSpPr>
        <p:spPr bwMode="auto">
          <a:xfrm>
            <a:off x="768350" y="341313"/>
            <a:ext cx="984250" cy="366712"/>
          </a:xfrm>
          <a:prstGeom prst="rect">
            <a:avLst/>
          </a:prstGeom>
          <a:noFill/>
          <a:ln w="9525">
            <a:noFill/>
            <a:miter lim="800000"/>
            <a:headEnd/>
            <a:tailEnd/>
          </a:ln>
        </p:spPr>
        <p:txBody>
          <a:bodyPr wrap="none">
            <a:spAutoFit/>
          </a:bodyPr>
          <a:lstStyle/>
          <a:p>
            <a:r>
              <a:rPr lang="en-US"/>
              <a:t>Study A</a:t>
            </a:r>
          </a:p>
        </p:txBody>
      </p:sp>
      <p:sp>
        <p:nvSpPr>
          <p:cNvPr id="18436" name="Rectangle 6"/>
          <p:cNvSpPr>
            <a:spLocks noChangeArrowheads="1"/>
          </p:cNvSpPr>
          <p:nvPr/>
        </p:nvSpPr>
        <p:spPr bwMode="auto">
          <a:xfrm>
            <a:off x="228600" y="19050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37" name="Text Box 7"/>
          <p:cNvSpPr txBox="1">
            <a:spLocks noChangeArrowheads="1"/>
          </p:cNvSpPr>
          <p:nvPr/>
        </p:nvSpPr>
        <p:spPr bwMode="auto">
          <a:xfrm>
            <a:off x="685800" y="1905000"/>
            <a:ext cx="1238250" cy="366713"/>
          </a:xfrm>
          <a:prstGeom prst="rect">
            <a:avLst/>
          </a:prstGeom>
          <a:noFill/>
          <a:ln w="9525">
            <a:noFill/>
            <a:miter lim="800000"/>
            <a:headEnd/>
            <a:tailEnd/>
          </a:ln>
        </p:spPr>
        <p:txBody>
          <a:bodyPr wrap="none">
            <a:spAutoFit/>
          </a:bodyPr>
          <a:lstStyle/>
          <a:p>
            <a:r>
              <a:rPr lang="en-US"/>
              <a:t>Variable A</a:t>
            </a:r>
          </a:p>
        </p:txBody>
      </p:sp>
      <p:sp>
        <p:nvSpPr>
          <p:cNvPr id="18438" name="Rectangle 8"/>
          <p:cNvSpPr>
            <a:spLocks noChangeArrowheads="1"/>
          </p:cNvSpPr>
          <p:nvPr/>
        </p:nvSpPr>
        <p:spPr bwMode="auto">
          <a:xfrm>
            <a:off x="228600" y="24384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39" name="Text Box 9"/>
          <p:cNvSpPr txBox="1">
            <a:spLocks noChangeArrowheads="1"/>
          </p:cNvSpPr>
          <p:nvPr/>
        </p:nvSpPr>
        <p:spPr bwMode="auto">
          <a:xfrm>
            <a:off x="685800" y="2438400"/>
            <a:ext cx="1238250" cy="366713"/>
          </a:xfrm>
          <a:prstGeom prst="rect">
            <a:avLst/>
          </a:prstGeom>
          <a:noFill/>
          <a:ln w="9525">
            <a:noFill/>
            <a:miter lim="800000"/>
            <a:headEnd/>
            <a:tailEnd/>
          </a:ln>
        </p:spPr>
        <p:txBody>
          <a:bodyPr wrap="none">
            <a:spAutoFit/>
          </a:bodyPr>
          <a:lstStyle/>
          <a:p>
            <a:r>
              <a:rPr lang="en-US"/>
              <a:t>Variable B</a:t>
            </a:r>
          </a:p>
        </p:txBody>
      </p:sp>
      <p:sp>
        <p:nvSpPr>
          <p:cNvPr id="18440" name="Rectangle 10"/>
          <p:cNvSpPr>
            <a:spLocks noChangeArrowheads="1"/>
          </p:cNvSpPr>
          <p:nvPr/>
        </p:nvSpPr>
        <p:spPr bwMode="auto">
          <a:xfrm>
            <a:off x="228600" y="29718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41" name="Text Box 11"/>
          <p:cNvSpPr txBox="1">
            <a:spLocks noChangeArrowheads="1"/>
          </p:cNvSpPr>
          <p:nvPr/>
        </p:nvSpPr>
        <p:spPr bwMode="auto">
          <a:xfrm>
            <a:off x="685800" y="2971800"/>
            <a:ext cx="1250950" cy="366713"/>
          </a:xfrm>
          <a:prstGeom prst="rect">
            <a:avLst/>
          </a:prstGeom>
          <a:noFill/>
          <a:ln w="9525">
            <a:noFill/>
            <a:miter lim="800000"/>
            <a:headEnd/>
            <a:tailEnd/>
          </a:ln>
        </p:spPr>
        <p:txBody>
          <a:bodyPr wrap="none">
            <a:spAutoFit/>
          </a:bodyPr>
          <a:lstStyle/>
          <a:p>
            <a:r>
              <a:rPr lang="en-US"/>
              <a:t>Variable C</a:t>
            </a:r>
          </a:p>
        </p:txBody>
      </p:sp>
      <p:sp>
        <p:nvSpPr>
          <p:cNvPr id="18442" name="Rectangle 12"/>
          <p:cNvSpPr>
            <a:spLocks noChangeArrowheads="1"/>
          </p:cNvSpPr>
          <p:nvPr/>
        </p:nvSpPr>
        <p:spPr bwMode="auto">
          <a:xfrm>
            <a:off x="228600" y="35052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43" name="Text Box 13"/>
          <p:cNvSpPr txBox="1">
            <a:spLocks noChangeArrowheads="1"/>
          </p:cNvSpPr>
          <p:nvPr/>
        </p:nvSpPr>
        <p:spPr bwMode="auto">
          <a:xfrm>
            <a:off x="685800" y="3505200"/>
            <a:ext cx="1250950" cy="366713"/>
          </a:xfrm>
          <a:prstGeom prst="rect">
            <a:avLst/>
          </a:prstGeom>
          <a:noFill/>
          <a:ln w="9525">
            <a:noFill/>
            <a:miter lim="800000"/>
            <a:headEnd/>
            <a:tailEnd/>
          </a:ln>
        </p:spPr>
        <p:txBody>
          <a:bodyPr wrap="none">
            <a:spAutoFit/>
          </a:bodyPr>
          <a:lstStyle/>
          <a:p>
            <a:r>
              <a:rPr lang="en-US"/>
              <a:t>Variable D</a:t>
            </a:r>
          </a:p>
        </p:txBody>
      </p:sp>
      <p:sp>
        <p:nvSpPr>
          <p:cNvPr id="18444" name="Line 14"/>
          <p:cNvSpPr>
            <a:spLocks noChangeShapeType="1"/>
          </p:cNvSpPr>
          <p:nvPr/>
        </p:nvSpPr>
        <p:spPr bwMode="auto">
          <a:xfrm>
            <a:off x="1219200" y="1066800"/>
            <a:ext cx="0" cy="762000"/>
          </a:xfrm>
          <a:prstGeom prst="line">
            <a:avLst/>
          </a:prstGeom>
          <a:noFill/>
          <a:ln w="38100">
            <a:solidFill>
              <a:schemeClr val="tx1"/>
            </a:solidFill>
            <a:round/>
            <a:headEnd/>
            <a:tailEnd type="triangle" w="med" len="med"/>
          </a:ln>
        </p:spPr>
        <p:txBody>
          <a:bodyPr/>
          <a:lstStyle/>
          <a:p>
            <a:endParaRPr lang="en-US"/>
          </a:p>
        </p:txBody>
      </p:sp>
      <p:sp>
        <p:nvSpPr>
          <p:cNvPr id="18445" name="AutoShape 15"/>
          <p:cNvSpPr>
            <a:spLocks noChangeArrowheads="1"/>
          </p:cNvSpPr>
          <p:nvPr/>
        </p:nvSpPr>
        <p:spPr bwMode="auto">
          <a:xfrm>
            <a:off x="1600200" y="1295400"/>
            <a:ext cx="685800" cy="304800"/>
          </a:xfrm>
          <a:prstGeom prst="wedgeRectCallout">
            <a:avLst>
              <a:gd name="adj1" fmla="val -96991"/>
              <a:gd name="adj2" fmla="val 43750"/>
            </a:avLst>
          </a:prstGeom>
          <a:noFill/>
          <a:ln w="9525">
            <a:solidFill>
              <a:schemeClr val="tx1"/>
            </a:solidFill>
            <a:miter lim="800000"/>
            <a:headEnd/>
            <a:tailEnd/>
          </a:ln>
        </p:spPr>
        <p:txBody>
          <a:bodyPr/>
          <a:lstStyle/>
          <a:p>
            <a:pPr algn="ctr"/>
            <a:r>
              <a:rPr lang="en-US" i="1"/>
              <a:t>uses</a:t>
            </a:r>
          </a:p>
        </p:txBody>
      </p:sp>
      <p:sp>
        <p:nvSpPr>
          <p:cNvPr id="17424" name="Rectangle 16"/>
          <p:cNvSpPr>
            <a:spLocks noChangeArrowheads="1"/>
          </p:cNvSpPr>
          <p:nvPr/>
        </p:nvSpPr>
        <p:spPr bwMode="auto">
          <a:xfrm>
            <a:off x="2590800" y="152400"/>
            <a:ext cx="2362200" cy="3962400"/>
          </a:xfrm>
          <a:prstGeom prst="rect">
            <a:avLst/>
          </a:prstGeom>
          <a:noFill/>
          <a:ln w="9525">
            <a:solidFill>
              <a:schemeClr val="tx1"/>
            </a:solidFill>
            <a:miter lim="800000"/>
            <a:headEnd/>
            <a:tailEnd/>
          </a:ln>
        </p:spPr>
        <p:txBody>
          <a:bodyPr wrap="none" anchor="ctr"/>
          <a:lstStyle/>
          <a:p>
            <a:endParaRPr lang="en-US"/>
          </a:p>
        </p:txBody>
      </p:sp>
      <p:sp>
        <p:nvSpPr>
          <p:cNvPr id="17425" name="Text Box 17"/>
          <p:cNvSpPr txBox="1">
            <a:spLocks noChangeArrowheads="1"/>
          </p:cNvSpPr>
          <p:nvPr/>
        </p:nvSpPr>
        <p:spPr bwMode="auto">
          <a:xfrm>
            <a:off x="3282950" y="341313"/>
            <a:ext cx="984250" cy="366712"/>
          </a:xfrm>
          <a:prstGeom prst="rect">
            <a:avLst/>
          </a:prstGeom>
          <a:noFill/>
          <a:ln w="9525">
            <a:noFill/>
            <a:miter lim="800000"/>
            <a:headEnd/>
            <a:tailEnd/>
          </a:ln>
        </p:spPr>
        <p:txBody>
          <a:bodyPr wrap="none">
            <a:spAutoFit/>
          </a:bodyPr>
          <a:lstStyle/>
          <a:p>
            <a:r>
              <a:rPr lang="en-US"/>
              <a:t>Study B</a:t>
            </a:r>
          </a:p>
        </p:txBody>
      </p:sp>
      <p:sp>
        <p:nvSpPr>
          <p:cNvPr id="17426" name="Rectangle 18"/>
          <p:cNvSpPr>
            <a:spLocks noChangeArrowheads="1"/>
          </p:cNvSpPr>
          <p:nvPr/>
        </p:nvSpPr>
        <p:spPr bwMode="auto">
          <a:xfrm>
            <a:off x="2743200" y="19050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27" name="Text Box 19"/>
          <p:cNvSpPr txBox="1">
            <a:spLocks noChangeArrowheads="1"/>
          </p:cNvSpPr>
          <p:nvPr/>
        </p:nvSpPr>
        <p:spPr bwMode="auto">
          <a:xfrm>
            <a:off x="3200400" y="1905000"/>
            <a:ext cx="1238250" cy="366713"/>
          </a:xfrm>
          <a:prstGeom prst="rect">
            <a:avLst/>
          </a:prstGeom>
          <a:noFill/>
          <a:ln w="9525">
            <a:noFill/>
            <a:miter lim="800000"/>
            <a:headEnd/>
            <a:tailEnd/>
          </a:ln>
        </p:spPr>
        <p:txBody>
          <a:bodyPr wrap="none">
            <a:spAutoFit/>
          </a:bodyPr>
          <a:lstStyle/>
          <a:p>
            <a:r>
              <a:rPr lang="en-US"/>
              <a:t>Variable A</a:t>
            </a:r>
          </a:p>
        </p:txBody>
      </p:sp>
      <p:sp>
        <p:nvSpPr>
          <p:cNvPr id="17428" name="Rectangle 20"/>
          <p:cNvSpPr>
            <a:spLocks noChangeArrowheads="1"/>
          </p:cNvSpPr>
          <p:nvPr/>
        </p:nvSpPr>
        <p:spPr bwMode="auto">
          <a:xfrm>
            <a:off x="2743200" y="24384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29" name="Text Box 21"/>
          <p:cNvSpPr txBox="1">
            <a:spLocks noChangeArrowheads="1"/>
          </p:cNvSpPr>
          <p:nvPr/>
        </p:nvSpPr>
        <p:spPr bwMode="auto">
          <a:xfrm>
            <a:off x="3200400" y="2438400"/>
            <a:ext cx="1238250" cy="366713"/>
          </a:xfrm>
          <a:prstGeom prst="rect">
            <a:avLst/>
          </a:prstGeom>
          <a:noFill/>
          <a:ln w="9525">
            <a:noFill/>
            <a:miter lim="800000"/>
            <a:headEnd/>
            <a:tailEnd/>
          </a:ln>
        </p:spPr>
        <p:txBody>
          <a:bodyPr wrap="none">
            <a:spAutoFit/>
          </a:bodyPr>
          <a:lstStyle/>
          <a:p>
            <a:r>
              <a:rPr lang="en-US"/>
              <a:t>Variable B</a:t>
            </a:r>
          </a:p>
        </p:txBody>
      </p:sp>
      <p:sp>
        <p:nvSpPr>
          <p:cNvPr id="17430" name="Rectangle 22"/>
          <p:cNvSpPr>
            <a:spLocks noChangeArrowheads="1"/>
          </p:cNvSpPr>
          <p:nvPr/>
        </p:nvSpPr>
        <p:spPr bwMode="auto">
          <a:xfrm>
            <a:off x="2743200" y="29718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31" name="Text Box 23"/>
          <p:cNvSpPr txBox="1">
            <a:spLocks noChangeArrowheads="1"/>
          </p:cNvSpPr>
          <p:nvPr/>
        </p:nvSpPr>
        <p:spPr bwMode="auto">
          <a:xfrm>
            <a:off x="3200400" y="2971800"/>
            <a:ext cx="1250950" cy="366713"/>
          </a:xfrm>
          <a:prstGeom prst="rect">
            <a:avLst/>
          </a:prstGeom>
          <a:noFill/>
          <a:ln w="9525">
            <a:noFill/>
            <a:miter lim="800000"/>
            <a:headEnd/>
            <a:tailEnd/>
          </a:ln>
        </p:spPr>
        <p:txBody>
          <a:bodyPr wrap="none">
            <a:spAutoFit/>
          </a:bodyPr>
          <a:lstStyle/>
          <a:p>
            <a:r>
              <a:rPr lang="en-US"/>
              <a:t>Variable C</a:t>
            </a:r>
          </a:p>
        </p:txBody>
      </p:sp>
      <p:sp>
        <p:nvSpPr>
          <p:cNvPr id="17432" name="Rectangle 24"/>
          <p:cNvSpPr>
            <a:spLocks noChangeArrowheads="1"/>
          </p:cNvSpPr>
          <p:nvPr/>
        </p:nvSpPr>
        <p:spPr bwMode="auto">
          <a:xfrm>
            <a:off x="2743200" y="35052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33" name="Text Box 25"/>
          <p:cNvSpPr txBox="1">
            <a:spLocks noChangeArrowheads="1"/>
          </p:cNvSpPr>
          <p:nvPr/>
        </p:nvSpPr>
        <p:spPr bwMode="auto">
          <a:xfrm>
            <a:off x="3200400" y="3505200"/>
            <a:ext cx="1238250" cy="366713"/>
          </a:xfrm>
          <a:prstGeom prst="rect">
            <a:avLst/>
          </a:prstGeom>
          <a:noFill/>
          <a:ln w="9525">
            <a:noFill/>
            <a:miter lim="800000"/>
            <a:headEnd/>
            <a:tailEnd/>
          </a:ln>
        </p:spPr>
        <p:txBody>
          <a:bodyPr wrap="none">
            <a:spAutoFit/>
          </a:bodyPr>
          <a:lstStyle/>
          <a:p>
            <a:r>
              <a:rPr lang="en-US"/>
              <a:t>Variable X</a:t>
            </a:r>
          </a:p>
        </p:txBody>
      </p:sp>
      <p:sp>
        <p:nvSpPr>
          <p:cNvPr id="17434" name="Line 26"/>
          <p:cNvSpPr>
            <a:spLocks noChangeShapeType="1"/>
          </p:cNvSpPr>
          <p:nvPr/>
        </p:nvSpPr>
        <p:spPr bwMode="auto">
          <a:xfrm>
            <a:off x="3733800" y="1066800"/>
            <a:ext cx="0" cy="762000"/>
          </a:xfrm>
          <a:prstGeom prst="line">
            <a:avLst/>
          </a:prstGeom>
          <a:noFill/>
          <a:ln w="38100">
            <a:solidFill>
              <a:schemeClr val="tx1"/>
            </a:solidFill>
            <a:round/>
            <a:headEnd/>
            <a:tailEnd type="triangle" w="med" len="med"/>
          </a:ln>
        </p:spPr>
        <p:txBody>
          <a:bodyPr/>
          <a:lstStyle/>
          <a:p>
            <a:endParaRPr lang="en-US"/>
          </a:p>
        </p:txBody>
      </p:sp>
      <p:sp>
        <p:nvSpPr>
          <p:cNvPr id="17435" name="AutoShape 27"/>
          <p:cNvSpPr>
            <a:spLocks noChangeArrowheads="1"/>
          </p:cNvSpPr>
          <p:nvPr/>
        </p:nvSpPr>
        <p:spPr bwMode="auto">
          <a:xfrm>
            <a:off x="4114800" y="1295400"/>
            <a:ext cx="685800" cy="304800"/>
          </a:xfrm>
          <a:prstGeom prst="wedgeRectCallout">
            <a:avLst>
              <a:gd name="adj1" fmla="val -96991"/>
              <a:gd name="adj2" fmla="val 43750"/>
            </a:avLst>
          </a:prstGeom>
          <a:noFill/>
          <a:ln w="9525">
            <a:solidFill>
              <a:schemeClr val="tx1"/>
            </a:solidFill>
            <a:miter lim="800000"/>
            <a:headEnd/>
            <a:tailEnd/>
          </a:ln>
        </p:spPr>
        <p:txBody>
          <a:bodyPr/>
          <a:lstStyle/>
          <a:p>
            <a:pPr algn="ctr"/>
            <a:r>
              <a:rPr lang="en-US" i="1"/>
              <a:t>uses</a:t>
            </a:r>
          </a:p>
        </p:txBody>
      </p:sp>
      <p:sp>
        <p:nvSpPr>
          <p:cNvPr id="17436" name="Rectangle 28"/>
          <p:cNvSpPr>
            <a:spLocks noChangeArrowheads="1"/>
          </p:cNvSpPr>
          <p:nvPr/>
        </p:nvSpPr>
        <p:spPr bwMode="auto">
          <a:xfrm>
            <a:off x="5715000" y="228600"/>
            <a:ext cx="1066800" cy="838200"/>
          </a:xfrm>
          <a:prstGeom prst="rect">
            <a:avLst/>
          </a:prstGeom>
          <a:noFill/>
          <a:ln w="9525">
            <a:solidFill>
              <a:schemeClr val="tx1"/>
            </a:solidFill>
            <a:miter lim="800000"/>
            <a:headEnd/>
            <a:tailEnd/>
          </a:ln>
        </p:spPr>
        <p:txBody>
          <a:bodyPr wrap="none" anchor="ctr"/>
          <a:lstStyle/>
          <a:p>
            <a:endParaRPr lang="en-US"/>
          </a:p>
        </p:txBody>
      </p:sp>
      <p:sp>
        <p:nvSpPr>
          <p:cNvPr id="17437" name="Text Box 29"/>
          <p:cNvSpPr txBox="1">
            <a:spLocks noChangeArrowheads="1"/>
          </p:cNvSpPr>
          <p:nvPr/>
        </p:nvSpPr>
        <p:spPr bwMode="auto">
          <a:xfrm>
            <a:off x="5867400" y="471488"/>
            <a:ext cx="819150" cy="366712"/>
          </a:xfrm>
          <a:prstGeom prst="rect">
            <a:avLst/>
          </a:prstGeom>
          <a:noFill/>
          <a:ln w="9525">
            <a:noFill/>
            <a:miter lim="800000"/>
            <a:headEnd/>
            <a:tailEnd/>
          </a:ln>
        </p:spPr>
        <p:txBody>
          <a:bodyPr wrap="none">
            <a:spAutoFit/>
          </a:bodyPr>
          <a:lstStyle/>
          <a:p>
            <a:r>
              <a:rPr lang="en-US"/>
              <a:t>Group</a:t>
            </a:r>
          </a:p>
        </p:txBody>
      </p:sp>
      <p:sp>
        <p:nvSpPr>
          <p:cNvPr id="17438" name="Rectangle 30"/>
          <p:cNvSpPr>
            <a:spLocks noChangeArrowheads="1"/>
          </p:cNvSpPr>
          <p:nvPr/>
        </p:nvSpPr>
        <p:spPr bwMode="auto">
          <a:xfrm>
            <a:off x="7315200" y="914400"/>
            <a:ext cx="1371600" cy="381000"/>
          </a:xfrm>
          <a:prstGeom prst="rect">
            <a:avLst/>
          </a:prstGeom>
          <a:noFill/>
          <a:ln w="9525">
            <a:solidFill>
              <a:schemeClr val="tx1"/>
            </a:solidFill>
            <a:miter lim="800000"/>
            <a:headEnd/>
            <a:tailEnd/>
          </a:ln>
        </p:spPr>
        <p:txBody>
          <a:bodyPr wrap="none" anchor="ctr"/>
          <a:lstStyle/>
          <a:p>
            <a:endParaRPr lang="en-US"/>
          </a:p>
        </p:txBody>
      </p:sp>
      <p:sp>
        <p:nvSpPr>
          <p:cNvPr id="17439" name="Text Box 31"/>
          <p:cNvSpPr txBox="1">
            <a:spLocks noChangeArrowheads="1"/>
          </p:cNvSpPr>
          <p:nvPr/>
        </p:nvSpPr>
        <p:spPr bwMode="auto">
          <a:xfrm>
            <a:off x="7391400" y="914400"/>
            <a:ext cx="1238250" cy="366713"/>
          </a:xfrm>
          <a:prstGeom prst="rect">
            <a:avLst/>
          </a:prstGeom>
          <a:noFill/>
          <a:ln w="9525">
            <a:noFill/>
            <a:miter lim="800000"/>
            <a:headEnd/>
            <a:tailEnd/>
          </a:ln>
        </p:spPr>
        <p:txBody>
          <a:bodyPr wrap="none">
            <a:spAutoFit/>
          </a:bodyPr>
          <a:lstStyle/>
          <a:p>
            <a:r>
              <a:rPr lang="en-US"/>
              <a:t>Variable A</a:t>
            </a:r>
          </a:p>
        </p:txBody>
      </p:sp>
      <p:sp>
        <p:nvSpPr>
          <p:cNvPr id="17440" name="Rectangle 32"/>
          <p:cNvSpPr>
            <a:spLocks noChangeArrowheads="1"/>
          </p:cNvSpPr>
          <p:nvPr/>
        </p:nvSpPr>
        <p:spPr bwMode="auto">
          <a:xfrm>
            <a:off x="7315200" y="1447800"/>
            <a:ext cx="1371600" cy="381000"/>
          </a:xfrm>
          <a:prstGeom prst="rect">
            <a:avLst/>
          </a:prstGeom>
          <a:noFill/>
          <a:ln w="9525">
            <a:solidFill>
              <a:schemeClr val="tx1"/>
            </a:solidFill>
            <a:miter lim="800000"/>
            <a:headEnd/>
            <a:tailEnd/>
          </a:ln>
        </p:spPr>
        <p:txBody>
          <a:bodyPr wrap="none" anchor="ctr"/>
          <a:lstStyle/>
          <a:p>
            <a:endParaRPr lang="en-US"/>
          </a:p>
        </p:txBody>
      </p:sp>
      <p:sp>
        <p:nvSpPr>
          <p:cNvPr id="17441" name="Text Box 33"/>
          <p:cNvSpPr txBox="1">
            <a:spLocks noChangeArrowheads="1"/>
          </p:cNvSpPr>
          <p:nvPr/>
        </p:nvSpPr>
        <p:spPr bwMode="auto">
          <a:xfrm>
            <a:off x="7391400" y="1447800"/>
            <a:ext cx="1238250" cy="366713"/>
          </a:xfrm>
          <a:prstGeom prst="rect">
            <a:avLst/>
          </a:prstGeom>
          <a:noFill/>
          <a:ln w="9525">
            <a:noFill/>
            <a:miter lim="800000"/>
            <a:headEnd/>
            <a:tailEnd/>
          </a:ln>
        </p:spPr>
        <p:txBody>
          <a:bodyPr wrap="none">
            <a:spAutoFit/>
          </a:bodyPr>
          <a:lstStyle/>
          <a:p>
            <a:r>
              <a:rPr lang="en-US"/>
              <a:t>Variable B</a:t>
            </a:r>
          </a:p>
        </p:txBody>
      </p:sp>
      <p:sp>
        <p:nvSpPr>
          <p:cNvPr id="17442" name="Rectangle 34"/>
          <p:cNvSpPr>
            <a:spLocks noChangeArrowheads="1"/>
          </p:cNvSpPr>
          <p:nvPr/>
        </p:nvSpPr>
        <p:spPr bwMode="auto">
          <a:xfrm>
            <a:off x="7315200" y="1981200"/>
            <a:ext cx="1371600" cy="381000"/>
          </a:xfrm>
          <a:prstGeom prst="rect">
            <a:avLst/>
          </a:prstGeom>
          <a:noFill/>
          <a:ln w="9525">
            <a:solidFill>
              <a:schemeClr val="tx1"/>
            </a:solidFill>
            <a:miter lim="800000"/>
            <a:headEnd/>
            <a:tailEnd/>
          </a:ln>
        </p:spPr>
        <p:txBody>
          <a:bodyPr wrap="none" anchor="ctr"/>
          <a:lstStyle/>
          <a:p>
            <a:endParaRPr lang="en-US"/>
          </a:p>
        </p:txBody>
      </p:sp>
      <p:sp>
        <p:nvSpPr>
          <p:cNvPr id="17443" name="Text Box 35"/>
          <p:cNvSpPr txBox="1">
            <a:spLocks noChangeArrowheads="1"/>
          </p:cNvSpPr>
          <p:nvPr/>
        </p:nvSpPr>
        <p:spPr bwMode="auto">
          <a:xfrm>
            <a:off x="7391400" y="1981200"/>
            <a:ext cx="1250950" cy="366713"/>
          </a:xfrm>
          <a:prstGeom prst="rect">
            <a:avLst/>
          </a:prstGeom>
          <a:noFill/>
          <a:ln w="9525">
            <a:noFill/>
            <a:miter lim="800000"/>
            <a:headEnd/>
            <a:tailEnd/>
          </a:ln>
        </p:spPr>
        <p:txBody>
          <a:bodyPr wrap="none">
            <a:spAutoFit/>
          </a:bodyPr>
          <a:lstStyle/>
          <a:p>
            <a:r>
              <a:rPr lang="en-US"/>
              <a:t>Variable C</a:t>
            </a:r>
          </a:p>
        </p:txBody>
      </p:sp>
      <p:sp>
        <p:nvSpPr>
          <p:cNvPr id="17444" name="Line 36"/>
          <p:cNvSpPr>
            <a:spLocks noChangeShapeType="1"/>
          </p:cNvSpPr>
          <p:nvPr/>
        </p:nvSpPr>
        <p:spPr bwMode="auto">
          <a:xfrm>
            <a:off x="6858000" y="685800"/>
            <a:ext cx="381000" cy="228600"/>
          </a:xfrm>
          <a:prstGeom prst="line">
            <a:avLst/>
          </a:prstGeom>
          <a:noFill/>
          <a:ln w="38100">
            <a:solidFill>
              <a:schemeClr val="tx1"/>
            </a:solidFill>
            <a:round/>
            <a:headEnd/>
            <a:tailEnd type="triangle" w="med" len="med"/>
          </a:ln>
        </p:spPr>
        <p:txBody>
          <a:bodyPr/>
          <a:lstStyle/>
          <a:p>
            <a:endParaRPr lang="en-US"/>
          </a:p>
        </p:txBody>
      </p:sp>
      <p:sp>
        <p:nvSpPr>
          <p:cNvPr id="17445" name="AutoShape 37"/>
          <p:cNvSpPr>
            <a:spLocks noChangeArrowheads="1"/>
          </p:cNvSpPr>
          <p:nvPr/>
        </p:nvSpPr>
        <p:spPr bwMode="auto">
          <a:xfrm>
            <a:off x="7315200" y="381000"/>
            <a:ext cx="838200" cy="304800"/>
          </a:xfrm>
          <a:prstGeom prst="wedgeRectCallout">
            <a:avLst>
              <a:gd name="adj1" fmla="val -88449"/>
              <a:gd name="adj2" fmla="val 43750"/>
            </a:avLst>
          </a:prstGeom>
          <a:noFill/>
          <a:ln w="9525">
            <a:solidFill>
              <a:schemeClr val="tx1"/>
            </a:solidFill>
            <a:miter lim="800000"/>
            <a:headEnd/>
            <a:tailEnd/>
          </a:ln>
        </p:spPr>
        <p:txBody>
          <a:bodyPr/>
          <a:lstStyle/>
          <a:p>
            <a:pPr algn="ctr"/>
            <a:r>
              <a:rPr lang="en-US" i="1"/>
              <a:t>uses</a:t>
            </a:r>
          </a:p>
        </p:txBody>
      </p:sp>
      <p:sp>
        <p:nvSpPr>
          <p:cNvPr id="17447" name="Line 39"/>
          <p:cNvSpPr>
            <a:spLocks noChangeShapeType="1"/>
          </p:cNvSpPr>
          <p:nvPr/>
        </p:nvSpPr>
        <p:spPr bwMode="auto">
          <a:xfrm flipH="1">
            <a:off x="5334000" y="1143000"/>
            <a:ext cx="457200" cy="3200400"/>
          </a:xfrm>
          <a:prstGeom prst="line">
            <a:avLst/>
          </a:prstGeom>
          <a:noFill/>
          <a:ln w="38100">
            <a:solidFill>
              <a:schemeClr val="tx1"/>
            </a:solidFill>
            <a:round/>
            <a:headEnd/>
            <a:tailEnd type="triangle" w="med" len="med"/>
          </a:ln>
        </p:spPr>
        <p:txBody>
          <a:bodyPr/>
          <a:lstStyle/>
          <a:p>
            <a:endParaRPr lang="en-US"/>
          </a:p>
        </p:txBody>
      </p:sp>
      <p:sp>
        <p:nvSpPr>
          <p:cNvPr id="17448" name="Rectangle 40"/>
          <p:cNvSpPr>
            <a:spLocks noChangeArrowheads="1"/>
          </p:cNvSpPr>
          <p:nvPr/>
        </p:nvSpPr>
        <p:spPr bwMode="auto">
          <a:xfrm>
            <a:off x="3962400" y="4419600"/>
            <a:ext cx="2057400" cy="838200"/>
          </a:xfrm>
          <a:prstGeom prst="rect">
            <a:avLst/>
          </a:prstGeom>
          <a:noFill/>
          <a:ln w="9525">
            <a:solidFill>
              <a:schemeClr val="tx1"/>
            </a:solidFill>
            <a:miter lim="800000"/>
            <a:headEnd/>
            <a:tailEnd/>
          </a:ln>
        </p:spPr>
        <p:txBody>
          <a:bodyPr wrap="none" anchor="ctr"/>
          <a:lstStyle/>
          <a:p>
            <a:endParaRPr lang="en-US"/>
          </a:p>
        </p:txBody>
      </p:sp>
      <p:sp>
        <p:nvSpPr>
          <p:cNvPr id="17449" name="Text Box 41"/>
          <p:cNvSpPr txBox="1">
            <a:spLocks noChangeArrowheads="1"/>
          </p:cNvSpPr>
          <p:nvPr/>
        </p:nvSpPr>
        <p:spPr bwMode="auto">
          <a:xfrm>
            <a:off x="4502150" y="4608513"/>
            <a:ext cx="984250" cy="366712"/>
          </a:xfrm>
          <a:prstGeom prst="rect">
            <a:avLst/>
          </a:prstGeom>
          <a:noFill/>
          <a:ln w="9525">
            <a:noFill/>
            <a:miter lim="800000"/>
            <a:headEnd/>
            <a:tailEnd/>
          </a:ln>
        </p:spPr>
        <p:txBody>
          <a:bodyPr wrap="none">
            <a:spAutoFit/>
          </a:bodyPr>
          <a:lstStyle/>
          <a:p>
            <a:r>
              <a:rPr lang="en-US"/>
              <a:t>Study A</a:t>
            </a:r>
          </a:p>
        </p:txBody>
      </p:sp>
      <p:sp>
        <p:nvSpPr>
          <p:cNvPr id="17450" name="Rectangle 42"/>
          <p:cNvSpPr>
            <a:spLocks noChangeArrowheads="1"/>
          </p:cNvSpPr>
          <p:nvPr/>
        </p:nvSpPr>
        <p:spPr bwMode="auto">
          <a:xfrm>
            <a:off x="3962400" y="61722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51" name="Text Box 43"/>
          <p:cNvSpPr txBox="1">
            <a:spLocks noChangeArrowheads="1"/>
          </p:cNvSpPr>
          <p:nvPr/>
        </p:nvSpPr>
        <p:spPr bwMode="auto">
          <a:xfrm>
            <a:off x="4419600" y="6172200"/>
            <a:ext cx="1250950" cy="366713"/>
          </a:xfrm>
          <a:prstGeom prst="rect">
            <a:avLst/>
          </a:prstGeom>
          <a:noFill/>
          <a:ln w="9525">
            <a:noFill/>
            <a:miter lim="800000"/>
            <a:headEnd/>
            <a:tailEnd/>
          </a:ln>
        </p:spPr>
        <p:txBody>
          <a:bodyPr wrap="none">
            <a:spAutoFit/>
          </a:bodyPr>
          <a:lstStyle/>
          <a:p>
            <a:r>
              <a:rPr lang="en-US"/>
              <a:t>Variable D</a:t>
            </a:r>
          </a:p>
        </p:txBody>
      </p:sp>
      <p:sp>
        <p:nvSpPr>
          <p:cNvPr id="17452" name="Line 44"/>
          <p:cNvSpPr>
            <a:spLocks noChangeShapeType="1"/>
          </p:cNvSpPr>
          <p:nvPr/>
        </p:nvSpPr>
        <p:spPr bwMode="auto">
          <a:xfrm>
            <a:off x="4953000" y="5334000"/>
            <a:ext cx="0" cy="762000"/>
          </a:xfrm>
          <a:prstGeom prst="line">
            <a:avLst/>
          </a:prstGeom>
          <a:noFill/>
          <a:ln w="38100">
            <a:solidFill>
              <a:schemeClr val="tx1"/>
            </a:solidFill>
            <a:round/>
            <a:headEnd/>
            <a:tailEnd type="triangle" w="med" len="med"/>
          </a:ln>
        </p:spPr>
        <p:txBody>
          <a:bodyPr/>
          <a:lstStyle/>
          <a:p>
            <a:endParaRPr lang="en-US"/>
          </a:p>
        </p:txBody>
      </p:sp>
      <p:sp>
        <p:nvSpPr>
          <p:cNvPr id="17453" name="AutoShape 45"/>
          <p:cNvSpPr>
            <a:spLocks noChangeArrowheads="1"/>
          </p:cNvSpPr>
          <p:nvPr/>
        </p:nvSpPr>
        <p:spPr bwMode="auto">
          <a:xfrm>
            <a:off x="5334000" y="5562600"/>
            <a:ext cx="838200" cy="304800"/>
          </a:xfrm>
          <a:prstGeom prst="wedgeRectCallout">
            <a:avLst>
              <a:gd name="adj1" fmla="val -88449"/>
              <a:gd name="adj2" fmla="val 43750"/>
            </a:avLst>
          </a:prstGeom>
          <a:noFill/>
          <a:ln w="9525">
            <a:solidFill>
              <a:schemeClr val="tx1"/>
            </a:solidFill>
            <a:miter lim="800000"/>
            <a:headEnd/>
            <a:tailEnd/>
          </a:ln>
        </p:spPr>
        <p:txBody>
          <a:bodyPr/>
          <a:lstStyle/>
          <a:p>
            <a:pPr algn="ctr"/>
            <a:r>
              <a:rPr lang="en-US" i="1"/>
              <a:t>uses</a:t>
            </a:r>
          </a:p>
        </p:txBody>
      </p:sp>
      <p:sp>
        <p:nvSpPr>
          <p:cNvPr id="17454" name="Line 46"/>
          <p:cNvSpPr>
            <a:spLocks noChangeShapeType="1"/>
          </p:cNvSpPr>
          <p:nvPr/>
        </p:nvSpPr>
        <p:spPr bwMode="auto">
          <a:xfrm>
            <a:off x="6629400" y="1143000"/>
            <a:ext cx="762000" cy="3124200"/>
          </a:xfrm>
          <a:prstGeom prst="line">
            <a:avLst/>
          </a:prstGeom>
          <a:noFill/>
          <a:ln w="38100">
            <a:solidFill>
              <a:schemeClr val="tx1"/>
            </a:solidFill>
            <a:round/>
            <a:headEnd/>
            <a:tailEnd type="triangle" w="med" len="med"/>
          </a:ln>
        </p:spPr>
        <p:txBody>
          <a:bodyPr/>
          <a:lstStyle/>
          <a:p>
            <a:endParaRPr lang="en-US"/>
          </a:p>
        </p:txBody>
      </p:sp>
      <p:sp>
        <p:nvSpPr>
          <p:cNvPr id="17455" name="Rectangle 47"/>
          <p:cNvSpPr>
            <a:spLocks noChangeArrowheads="1"/>
          </p:cNvSpPr>
          <p:nvPr/>
        </p:nvSpPr>
        <p:spPr bwMode="auto">
          <a:xfrm>
            <a:off x="6705600" y="4419600"/>
            <a:ext cx="2057400" cy="838200"/>
          </a:xfrm>
          <a:prstGeom prst="rect">
            <a:avLst/>
          </a:prstGeom>
          <a:noFill/>
          <a:ln w="9525">
            <a:solidFill>
              <a:schemeClr val="tx1"/>
            </a:solidFill>
            <a:miter lim="800000"/>
            <a:headEnd/>
            <a:tailEnd/>
          </a:ln>
        </p:spPr>
        <p:txBody>
          <a:bodyPr wrap="none" anchor="ctr"/>
          <a:lstStyle/>
          <a:p>
            <a:endParaRPr lang="en-US"/>
          </a:p>
        </p:txBody>
      </p:sp>
      <p:sp>
        <p:nvSpPr>
          <p:cNvPr id="17456" name="Text Box 48"/>
          <p:cNvSpPr txBox="1">
            <a:spLocks noChangeArrowheads="1"/>
          </p:cNvSpPr>
          <p:nvPr/>
        </p:nvSpPr>
        <p:spPr bwMode="auto">
          <a:xfrm>
            <a:off x="7245350" y="4608513"/>
            <a:ext cx="984250" cy="366712"/>
          </a:xfrm>
          <a:prstGeom prst="rect">
            <a:avLst/>
          </a:prstGeom>
          <a:noFill/>
          <a:ln w="9525">
            <a:noFill/>
            <a:miter lim="800000"/>
            <a:headEnd/>
            <a:tailEnd/>
          </a:ln>
        </p:spPr>
        <p:txBody>
          <a:bodyPr wrap="none">
            <a:spAutoFit/>
          </a:bodyPr>
          <a:lstStyle/>
          <a:p>
            <a:r>
              <a:rPr lang="en-US"/>
              <a:t>Study B</a:t>
            </a:r>
          </a:p>
        </p:txBody>
      </p:sp>
      <p:sp>
        <p:nvSpPr>
          <p:cNvPr id="17457" name="Rectangle 49"/>
          <p:cNvSpPr>
            <a:spLocks noChangeArrowheads="1"/>
          </p:cNvSpPr>
          <p:nvPr/>
        </p:nvSpPr>
        <p:spPr bwMode="auto">
          <a:xfrm>
            <a:off x="6705600" y="6172200"/>
            <a:ext cx="2133600" cy="381000"/>
          </a:xfrm>
          <a:prstGeom prst="rect">
            <a:avLst/>
          </a:prstGeom>
          <a:noFill/>
          <a:ln w="9525">
            <a:solidFill>
              <a:schemeClr val="tx1"/>
            </a:solidFill>
            <a:miter lim="800000"/>
            <a:headEnd/>
            <a:tailEnd/>
          </a:ln>
        </p:spPr>
        <p:txBody>
          <a:bodyPr wrap="none" anchor="ctr"/>
          <a:lstStyle/>
          <a:p>
            <a:endParaRPr lang="en-US"/>
          </a:p>
        </p:txBody>
      </p:sp>
      <p:sp>
        <p:nvSpPr>
          <p:cNvPr id="17458" name="Text Box 50"/>
          <p:cNvSpPr txBox="1">
            <a:spLocks noChangeArrowheads="1"/>
          </p:cNvSpPr>
          <p:nvPr/>
        </p:nvSpPr>
        <p:spPr bwMode="auto">
          <a:xfrm>
            <a:off x="7162800" y="6172200"/>
            <a:ext cx="1238250" cy="366713"/>
          </a:xfrm>
          <a:prstGeom prst="rect">
            <a:avLst/>
          </a:prstGeom>
          <a:noFill/>
          <a:ln w="9525">
            <a:noFill/>
            <a:miter lim="800000"/>
            <a:headEnd/>
            <a:tailEnd/>
          </a:ln>
        </p:spPr>
        <p:txBody>
          <a:bodyPr wrap="none">
            <a:spAutoFit/>
          </a:bodyPr>
          <a:lstStyle/>
          <a:p>
            <a:r>
              <a:rPr lang="en-US"/>
              <a:t>Variable X</a:t>
            </a:r>
          </a:p>
        </p:txBody>
      </p:sp>
      <p:sp>
        <p:nvSpPr>
          <p:cNvPr id="17459" name="Line 51"/>
          <p:cNvSpPr>
            <a:spLocks noChangeShapeType="1"/>
          </p:cNvSpPr>
          <p:nvPr/>
        </p:nvSpPr>
        <p:spPr bwMode="auto">
          <a:xfrm>
            <a:off x="7696200" y="5334000"/>
            <a:ext cx="0" cy="762000"/>
          </a:xfrm>
          <a:prstGeom prst="line">
            <a:avLst/>
          </a:prstGeom>
          <a:noFill/>
          <a:ln w="38100">
            <a:solidFill>
              <a:schemeClr val="tx1"/>
            </a:solidFill>
            <a:round/>
            <a:headEnd/>
            <a:tailEnd type="triangle" w="med" len="med"/>
          </a:ln>
        </p:spPr>
        <p:txBody>
          <a:bodyPr/>
          <a:lstStyle/>
          <a:p>
            <a:endParaRPr lang="en-US"/>
          </a:p>
        </p:txBody>
      </p:sp>
      <p:sp>
        <p:nvSpPr>
          <p:cNvPr id="17460" name="AutoShape 52"/>
          <p:cNvSpPr>
            <a:spLocks noChangeArrowheads="1"/>
          </p:cNvSpPr>
          <p:nvPr/>
        </p:nvSpPr>
        <p:spPr bwMode="auto">
          <a:xfrm>
            <a:off x="8077200" y="5562600"/>
            <a:ext cx="838200" cy="304800"/>
          </a:xfrm>
          <a:prstGeom prst="wedgeRectCallout">
            <a:avLst>
              <a:gd name="adj1" fmla="val -88449"/>
              <a:gd name="adj2" fmla="val 43750"/>
            </a:avLst>
          </a:prstGeom>
          <a:noFill/>
          <a:ln w="9525">
            <a:solidFill>
              <a:schemeClr val="tx1"/>
            </a:solidFill>
            <a:miter lim="800000"/>
            <a:headEnd/>
            <a:tailEnd/>
          </a:ln>
        </p:spPr>
        <p:txBody>
          <a:bodyPr/>
          <a:lstStyle/>
          <a:p>
            <a:pPr algn="ctr"/>
            <a:r>
              <a:rPr lang="en-US" i="1"/>
              <a:t>uses</a:t>
            </a:r>
          </a:p>
        </p:txBody>
      </p:sp>
      <p:sp>
        <p:nvSpPr>
          <p:cNvPr id="17461" name="AutoShape 53"/>
          <p:cNvSpPr>
            <a:spLocks noChangeArrowheads="1"/>
          </p:cNvSpPr>
          <p:nvPr/>
        </p:nvSpPr>
        <p:spPr bwMode="auto">
          <a:xfrm>
            <a:off x="5791200" y="3657600"/>
            <a:ext cx="1066800" cy="304800"/>
          </a:xfrm>
          <a:prstGeom prst="wedgeRectCallout">
            <a:avLst>
              <a:gd name="adj1" fmla="val -80208"/>
              <a:gd name="adj2" fmla="val 43750"/>
            </a:avLst>
          </a:prstGeom>
          <a:noFill/>
          <a:ln w="9525">
            <a:solidFill>
              <a:schemeClr val="tx1"/>
            </a:solidFill>
            <a:miter lim="800000"/>
            <a:headEnd/>
            <a:tailEnd/>
          </a:ln>
        </p:spPr>
        <p:txBody>
          <a:bodyPr/>
          <a:lstStyle/>
          <a:p>
            <a:pPr algn="ctr"/>
            <a:r>
              <a:rPr lang="en-US" i="1"/>
              <a:t>contains</a:t>
            </a:r>
          </a:p>
        </p:txBody>
      </p:sp>
      <p:sp>
        <p:nvSpPr>
          <p:cNvPr id="17462" name="AutoShape 54"/>
          <p:cNvSpPr>
            <a:spLocks noChangeArrowheads="1"/>
          </p:cNvSpPr>
          <p:nvPr/>
        </p:nvSpPr>
        <p:spPr bwMode="auto">
          <a:xfrm>
            <a:off x="7696200" y="3657600"/>
            <a:ext cx="1066800" cy="304800"/>
          </a:xfrm>
          <a:prstGeom prst="wedgeRectCallout">
            <a:avLst>
              <a:gd name="adj1" fmla="val -80208"/>
              <a:gd name="adj2" fmla="val 43750"/>
            </a:avLst>
          </a:prstGeom>
          <a:noFill/>
          <a:ln w="9525">
            <a:solidFill>
              <a:schemeClr val="tx1"/>
            </a:solidFill>
            <a:miter lim="800000"/>
            <a:headEnd/>
            <a:tailEnd/>
          </a:ln>
        </p:spPr>
        <p:txBody>
          <a:bodyPr/>
          <a:lstStyle/>
          <a:p>
            <a:pPr algn="ctr"/>
            <a:r>
              <a:rPr lang="en-US" i="1"/>
              <a:t>contains</a:t>
            </a:r>
          </a:p>
        </p:txBody>
      </p:sp>
      <p:sp>
        <p:nvSpPr>
          <p:cNvPr id="17465" name="Rectangle 57"/>
          <p:cNvSpPr>
            <a:spLocks noChangeArrowheads="1"/>
          </p:cNvSpPr>
          <p:nvPr/>
        </p:nvSpPr>
        <p:spPr bwMode="auto">
          <a:xfrm>
            <a:off x="3810000" y="4267200"/>
            <a:ext cx="2438400" cy="2438400"/>
          </a:xfrm>
          <a:prstGeom prst="rect">
            <a:avLst/>
          </a:prstGeom>
          <a:noFill/>
          <a:ln w="9525">
            <a:solidFill>
              <a:schemeClr val="tx1"/>
            </a:solidFill>
            <a:miter lim="800000"/>
            <a:headEnd/>
            <a:tailEnd/>
          </a:ln>
        </p:spPr>
        <p:txBody>
          <a:bodyPr wrap="none" anchor="ctr"/>
          <a:lstStyle/>
          <a:p>
            <a:endParaRPr lang="en-US"/>
          </a:p>
        </p:txBody>
      </p:sp>
      <p:sp>
        <p:nvSpPr>
          <p:cNvPr id="17466" name="Rectangle 58"/>
          <p:cNvSpPr>
            <a:spLocks noChangeArrowheads="1"/>
          </p:cNvSpPr>
          <p:nvPr/>
        </p:nvSpPr>
        <p:spPr bwMode="auto">
          <a:xfrm>
            <a:off x="6553200" y="4267200"/>
            <a:ext cx="2438400" cy="2438400"/>
          </a:xfrm>
          <a:prstGeom prst="rect">
            <a:avLst/>
          </a:prstGeom>
          <a:noFill/>
          <a:ln w="9525">
            <a:solidFill>
              <a:schemeClr val="tx1"/>
            </a:solidFill>
            <a:miter lim="800000"/>
            <a:headEnd/>
            <a:tailEnd/>
          </a:ln>
        </p:spPr>
        <p:txBody>
          <a:bodyPr wrap="none" anchor="ctr"/>
          <a:lstStyle/>
          <a:p>
            <a:endParaRPr lang="en-US"/>
          </a:p>
        </p:txBody>
      </p:sp>
      <p:sp>
        <p:nvSpPr>
          <p:cNvPr id="18486" name="Rectangle 60"/>
          <p:cNvSpPr>
            <a:spLocks noChangeArrowheads="1"/>
          </p:cNvSpPr>
          <p:nvPr/>
        </p:nvSpPr>
        <p:spPr bwMode="auto">
          <a:xfrm>
            <a:off x="685800" y="304800"/>
            <a:ext cx="1219200" cy="685800"/>
          </a:xfrm>
          <a:prstGeom prst="rect">
            <a:avLst/>
          </a:prstGeom>
          <a:noFill/>
          <a:ln w="9525">
            <a:solidFill>
              <a:schemeClr val="tx1"/>
            </a:solidFill>
            <a:miter lim="800000"/>
            <a:headEnd/>
            <a:tailEnd/>
          </a:ln>
        </p:spPr>
        <p:txBody>
          <a:bodyPr wrap="none" anchor="ctr"/>
          <a:lstStyle/>
          <a:p>
            <a:endParaRPr lang="en-US"/>
          </a:p>
        </p:txBody>
      </p:sp>
      <p:sp>
        <p:nvSpPr>
          <p:cNvPr id="17469" name="Rectangle 61"/>
          <p:cNvSpPr>
            <a:spLocks noChangeArrowheads="1"/>
          </p:cNvSpPr>
          <p:nvPr/>
        </p:nvSpPr>
        <p:spPr bwMode="auto">
          <a:xfrm>
            <a:off x="3124200" y="304800"/>
            <a:ext cx="1219200" cy="685800"/>
          </a:xfrm>
          <a:prstGeom prst="rect">
            <a:avLst/>
          </a:prstGeom>
          <a:no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4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4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4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4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4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4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4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4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4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4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4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4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45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4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4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45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5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4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46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46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4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46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74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4" grpId="0" animBg="1"/>
      <p:bldP spid="17425" grpId="0"/>
      <p:bldP spid="17426" grpId="0" animBg="1"/>
      <p:bldP spid="17427" grpId="0"/>
      <p:bldP spid="17428" grpId="0" animBg="1"/>
      <p:bldP spid="17429" grpId="0"/>
      <p:bldP spid="17430" grpId="0" animBg="1"/>
      <p:bldP spid="17431" grpId="0"/>
      <p:bldP spid="17432" grpId="0" animBg="1"/>
      <p:bldP spid="17433" grpId="0"/>
      <p:bldP spid="17434" grpId="0" animBg="1"/>
      <p:bldP spid="17435" grpId="0" animBg="1"/>
      <p:bldP spid="17436" grpId="0" animBg="1"/>
      <p:bldP spid="17437" grpId="0"/>
      <p:bldP spid="17438" grpId="0" animBg="1"/>
      <p:bldP spid="17439" grpId="0"/>
      <p:bldP spid="17440" grpId="0" animBg="1"/>
      <p:bldP spid="17441" grpId="0"/>
      <p:bldP spid="17442" grpId="0" animBg="1"/>
      <p:bldP spid="17443" grpId="0"/>
      <p:bldP spid="17444" grpId="0" animBg="1"/>
      <p:bldP spid="17445" grpId="0" animBg="1"/>
      <p:bldP spid="17447" grpId="0" animBg="1"/>
      <p:bldP spid="17448" grpId="0" animBg="1"/>
      <p:bldP spid="17449" grpId="0"/>
      <p:bldP spid="17450" grpId="0" animBg="1"/>
      <p:bldP spid="17451" grpId="0"/>
      <p:bldP spid="17452" grpId="0" animBg="1"/>
      <p:bldP spid="17453" grpId="0" animBg="1"/>
      <p:bldP spid="17454" grpId="0" animBg="1"/>
      <p:bldP spid="17455" grpId="0" animBg="1"/>
      <p:bldP spid="17456" grpId="0"/>
      <p:bldP spid="17457" grpId="0" animBg="1"/>
      <p:bldP spid="17458" grpId="0"/>
      <p:bldP spid="17459" grpId="0" animBg="1"/>
      <p:bldP spid="17460" grpId="0" animBg="1"/>
      <p:bldP spid="17461" grpId="0" animBg="1"/>
      <p:bldP spid="17462" grpId="0" animBg="1"/>
      <p:bldP spid="17465" grpId="0" animBg="1"/>
      <p:bldP spid="17466" grpId="0" animBg="1"/>
      <p:bldP spid="1746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ChangeArrowheads="1"/>
          </p:cNvSpPr>
          <p:nvPr/>
        </p:nvSpPr>
        <p:spPr bwMode="auto">
          <a:xfrm>
            <a:off x="228600" y="1981200"/>
            <a:ext cx="2286000" cy="3962400"/>
          </a:xfrm>
          <a:prstGeom prst="rect">
            <a:avLst/>
          </a:prstGeom>
          <a:noFill/>
          <a:ln w="9525">
            <a:solidFill>
              <a:schemeClr val="tx1"/>
            </a:solidFill>
            <a:miter lim="800000"/>
            <a:headEnd/>
            <a:tailEnd/>
          </a:ln>
        </p:spPr>
        <p:txBody>
          <a:bodyPr wrap="none" anchor="ctr"/>
          <a:lstStyle/>
          <a:p>
            <a:endParaRPr lang="en-US"/>
          </a:p>
        </p:txBody>
      </p:sp>
      <p:sp>
        <p:nvSpPr>
          <p:cNvPr id="19459" name="Text Box 5"/>
          <p:cNvSpPr txBox="1">
            <a:spLocks noChangeArrowheads="1"/>
          </p:cNvSpPr>
          <p:nvPr/>
        </p:nvSpPr>
        <p:spPr bwMode="auto">
          <a:xfrm>
            <a:off x="844550" y="2170113"/>
            <a:ext cx="984250" cy="366712"/>
          </a:xfrm>
          <a:prstGeom prst="rect">
            <a:avLst/>
          </a:prstGeom>
          <a:noFill/>
          <a:ln w="9525">
            <a:noFill/>
            <a:miter lim="800000"/>
            <a:headEnd/>
            <a:tailEnd/>
          </a:ln>
        </p:spPr>
        <p:txBody>
          <a:bodyPr wrap="none">
            <a:spAutoFit/>
          </a:bodyPr>
          <a:lstStyle/>
          <a:p>
            <a:r>
              <a:rPr lang="en-US"/>
              <a:t>Study A</a:t>
            </a:r>
          </a:p>
        </p:txBody>
      </p:sp>
      <p:sp>
        <p:nvSpPr>
          <p:cNvPr id="19460" name="Rectangle 6"/>
          <p:cNvSpPr>
            <a:spLocks noChangeArrowheads="1"/>
          </p:cNvSpPr>
          <p:nvPr/>
        </p:nvSpPr>
        <p:spPr bwMode="auto">
          <a:xfrm>
            <a:off x="304800" y="3733800"/>
            <a:ext cx="2133600" cy="381000"/>
          </a:xfrm>
          <a:prstGeom prst="rect">
            <a:avLst/>
          </a:prstGeom>
          <a:noFill/>
          <a:ln w="9525">
            <a:solidFill>
              <a:schemeClr val="tx1"/>
            </a:solidFill>
            <a:miter lim="800000"/>
            <a:headEnd/>
            <a:tailEnd/>
          </a:ln>
        </p:spPr>
        <p:txBody>
          <a:bodyPr wrap="none" anchor="ctr"/>
          <a:lstStyle/>
          <a:p>
            <a:endParaRPr lang="en-US"/>
          </a:p>
        </p:txBody>
      </p:sp>
      <p:sp>
        <p:nvSpPr>
          <p:cNvPr id="19461" name="Text Box 7"/>
          <p:cNvSpPr txBox="1">
            <a:spLocks noChangeArrowheads="1"/>
          </p:cNvSpPr>
          <p:nvPr/>
        </p:nvSpPr>
        <p:spPr bwMode="auto">
          <a:xfrm>
            <a:off x="762000" y="3733800"/>
            <a:ext cx="1238250" cy="366713"/>
          </a:xfrm>
          <a:prstGeom prst="rect">
            <a:avLst/>
          </a:prstGeom>
          <a:noFill/>
          <a:ln w="9525">
            <a:noFill/>
            <a:miter lim="800000"/>
            <a:headEnd/>
            <a:tailEnd/>
          </a:ln>
        </p:spPr>
        <p:txBody>
          <a:bodyPr wrap="none">
            <a:spAutoFit/>
          </a:bodyPr>
          <a:lstStyle/>
          <a:p>
            <a:r>
              <a:rPr lang="en-US"/>
              <a:t>Variable A</a:t>
            </a:r>
          </a:p>
        </p:txBody>
      </p:sp>
      <p:sp>
        <p:nvSpPr>
          <p:cNvPr id="19462" name="Rectangle 8"/>
          <p:cNvSpPr>
            <a:spLocks noChangeArrowheads="1"/>
          </p:cNvSpPr>
          <p:nvPr/>
        </p:nvSpPr>
        <p:spPr bwMode="auto">
          <a:xfrm>
            <a:off x="304800" y="4267200"/>
            <a:ext cx="2133600" cy="381000"/>
          </a:xfrm>
          <a:prstGeom prst="rect">
            <a:avLst/>
          </a:prstGeom>
          <a:noFill/>
          <a:ln w="9525">
            <a:solidFill>
              <a:schemeClr val="tx1"/>
            </a:solidFill>
            <a:miter lim="800000"/>
            <a:headEnd/>
            <a:tailEnd/>
          </a:ln>
        </p:spPr>
        <p:txBody>
          <a:bodyPr wrap="none" anchor="ctr"/>
          <a:lstStyle/>
          <a:p>
            <a:endParaRPr lang="en-US"/>
          </a:p>
        </p:txBody>
      </p:sp>
      <p:sp>
        <p:nvSpPr>
          <p:cNvPr id="19463" name="Text Box 9"/>
          <p:cNvSpPr txBox="1">
            <a:spLocks noChangeArrowheads="1"/>
          </p:cNvSpPr>
          <p:nvPr/>
        </p:nvSpPr>
        <p:spPr bwMode="auto">
          <a:xfrm>
            <a:off x="762000" y="4267200"/>
            <a:ext cx="1238250" cy="366713"/>
          </a:xfrm>
          <a:prstGeom prst="rect">
            <a:avLst/>
          </a:prstGeom>
          <a:noFill/>
          <a:ln w="9525">
            <a:noFill/>
            <a:miter lim="800000"/>
            <a:headEnd/>
            <a:tailEnd/>
          </a:ln>
        </p:spPr>
        <p:txBody>
          <a:bodyPr wrap="none">
            <a:spAutoFit/>
          </a:bodyPr>
          <a:lstStyle/>
          <a:p>
            <a:r>
              <a:rPr lang="en-US"/>
              <a:t>Variable B</a:t>
            </a:r>
          </a:p>
        </p:txBody>
      </p:sp>
      <p:sp>
        <p:nvSpPr>
          <p:cNvPr id="19464" name="Rectangle 10"/>
          <p:cNvSpPr>
            <a:spLocks noChangeArrowheads="1"/>
          </p:cNvSpPr>
          <p:nvPr/>
        </p:nvSpPr>
        <p:spPr bwMode="auto">
          <a:xfrm>
            <a:off x="304800" y="4800600"/>
            <a:ext cx="2133600" cy="381000"/>
          </a:xfrm>
          <a:prstGeom prst="rect">
            <a:avLst/>
          </a:prstGeom>
          <a:noFill/>
          <a:ln w="9525">
            <a:solidFill>
              <a:schemeClr val="tx1"/>
            </a:solidFill>
            <a:miter lim="800000"/>
            <a:headEnd/>
            <a:tailEnd/>
          </a:ln>
        </p:spPr>
        <p:txBody>
          <a:bodyPr wrap="none" anchor="ctr"/>
          <a:lstStyle/>
          <a:p>
            <a:endParaRPr lang="en-US"/>
          </a:p>
        </p:txBody>
      </p:sp>
      <p:sp>
        <p:nvSpPr>
          <p:cNvPr id="19465" name="Text Box 11"/>
          <p:cNvSpPr txBox="1">
            <a:spLocks noChangeArrowheads="1"/>
          </p:cNvSpPr>
          <p:nvPr/>
        </p:nvSpPr>
        <p:spPr bwMode="auto">
          <a:xfrm>
            <a:off x="762000" y="4800600"/>
            <a:ext cx="1250950" cy="366713"/>
          </a:xfrm>
          <a:prstGeom prst="rect">
            <a:avLst/>
          </a:prstGeom>
          <a:noFill/>
          <a:ln w="9525">
            <a:noFill/>
            <a:miter lim="800000"/>
            <a:headEnd/>
            <a:tailEnd/>
          </a:ln>
        </p:spPr>
        <p:txBody>
          <a:bodyPr wrap="none">
            <a:spAutoFit/>
          </a:bodyPr>
          <a:lstStyle/>
          <a:p>
            <a:r>
              <a:rPr lang="en-US"/>
              <a:t>Variable C</a:t>
            </a:r>
          </a:p>
        </p:txBody>
      </p:sp>
      <p:sp>
        <p:nvSpPr>
          <p:cNvPr id="19466" name="Rectangle 12"/>
          <p:cNvSpPr>
            <a:spLocks noChangeArrowheads="1"/>
          </p:cNvSpPr>
          <p:nvPr/>
        </p:nvSpPr>
        <p:spPr bwMode="auto">
          <a:xfrm>
            <a:off x="304800" y="5334000"/>
            <a:ext cx="2133600" cy="381000"/>
          </a:xfrm>
          <a:prstGeom prst="rect">
            <a:avLst/>
          </a:prstGeom>
          <a:noFill/>
          <a:ln w="9525">
            <a:solidFill>
              <a:schemeClr val="tx1"/>
            </a:solidFill>
            <a:miter lim="800000"/>
            <a:headEnd/>
            <a:tailEnd/>
          </a:ln>
        </p:spPr>
        <p:txBody>
          <a:bodyPr wrap="none" anchor="ctr"/>
          <a:lstStyle/>
          <a:p>
            <a:endParaRPr lang="en-US"/>
          </a:p>
        </p:txBody>
      </p:sp>
      <p:sp>
        <p:nvSpPr>
          <p:cNvPr id="19467" name="Text Box 13"/>
          <p:cNvSpPr txBox="1">
            <a:spLocks noChangeArrowheads="1"/>
          </p:cNvSpPr>
          <p:nvPr/>
        </p:nvSpPr>
        <p:spPr bwMode="auto">
          <a:xfrm>
            <a:off x="762000" y="5334000"/>
            <a:ext cx="1250950" cy="366713"/>
          </a:xfrm>
          <a:prstGeom prst="rect">
            <a:avLst/>
          </a:prstGeom>
          <a:noFill/>
          <a:ln w="9525">
            <a:noFill/>
            <a:miter lim="800000"/>
            <a:headEnd/>
            <a:tailEnd/>
          </a:ln>
        </p:spPr>
        <p:txBody>
          <a:bodyPr wrap="none">
            <a:spAutoFit/>
          </a:bodyPr>
          <a:lstStyle/>
          <a:p>
            <a:r>
              <a:rPr lang="en-US"/>
              <a:t>Variable D</a:t>
            </a:r>
          </a:p>
        </p:txBody>
      </p:sp>
      <p:sp>
        <p:nvSpPr>
          <p:cNvPr id="19468" name="Line 14"/>
          <p:cNvSpPr>
            <a:spLocks noChangeShapeType="1"/>
          </p:cNvSpPr>
          <p:nvPr/>
        </p:nvSpPr>
        <p:spPr bwMode="auto">
          <a:xfrm>
            <a:off x="1295400" y="2895600"/>
            <a:ext cx="0" cy="762000"/>
          </a:xfrm>
          <a:prstGeom prst="line">
            <a:avLst/>
          </a:prstGeom>
          <a:noFill/>
          <a:ln w="38100">
            <a:solidFill>
              <a:schemeClr val="tx1"/>
            </a:solidFill>
            <a:round/>
            <a:headEnd/>
            <a:tailEnd type="triangle" w="med" len="med"/>
          </a:ln>
        </p:spPr>
        <p:txBody>
          <a:bodyPr/>
          <a:lstStyle/>
          <a:p>
            <a:endParaRPr lang="en-US"/>
          </a:p>
        </p:txBody>
      </p:sp>
      <p:sp>
        <p:nvSpPr>
          <p:cNvPr id="19469" name="AutoShape 15"/>
          <p:cNvSpPr>
            <a:spLocks noChangeArrowheads="1"/>
          </p:cNvSpPr>
          <p:nvPr/>
        </p:nvSpPr>
        <p:spPr bwMode="auto">
          <a:xfrm>
            <a:off x="1676400" y="3124200"/>
            <a:ext cx="685800" cy="304800"/>
          </a:xfrm>
          <a:prstGeom prst="wedgeRectCallout">
            <a:avLst>
              <a:gd name="adj1" fmla="val -96991"/>
              <a:gd name="adj2" fmla="val 43750"/>
            </a:avLst>
          </a:prstGeom>
          <a:noFill/>
          <a:ln w="9525">
            <a:solidFill>
              <a:schemeClr val="tx1"/>
            </a:solidFill>
            <a:miter lim="800000"/>
            <a:headEnd/>
            <a:tailEnd/>
          </a:ln>
        </p:spPr>
        <p:txBody>
          <a:bodyPr/>
          <a:lstStyle/>
          <a:p>
            <a:pPr algn="ctr"/>
            <a:r>
              <a:rPr lang="en-US" i="1"/>
              <a:t>uses</a:t>
            </a:r>
          </a:p>
        </p:txBody>
      </p:sp>
      <p:sp>
        <p:nvSpPr>
          <p:cNvPr id="18448" name="Rectangle 16"/>
          <p:cNvSpPr>
            <a:spLocks noChangeArrowheads="1"/>
          </p:cNvSpPr>
          <p:nvPr/>
        </p:nvSpPr>
        <p:spPr bwMode="auto">
          <a:xfrm>
            <a:off x="6477000" y="1981200"/>
            <a:ext cx="2362200" cy="3962400"/>
          </a:xfrm>
          <a:prstGeom prst="rect">
            <a:avLst/>
          </a:prstGeom>
          <a:noFill/>
          <a:ln w="9525">
            <a:solidFill>
              <a:schemeClr val="tx1"/>
            </a:solidFill>
            <a:miter lim="800000"/>
            <a:headEnd/>
            <a:tailEnd/>
          </a:ln>
        </p:spPr>
        <p:txBody>
          <a:bodyPr wrap="none" anchor="ctr"/>
          <a:lstStyle/>
          <a:p>
            <a:endParaRPr lang="en-US"/>
          </a:p>
        </p:txBody>
      </p:sp>
      <p:sp>
        <p:nvSpPr>
          <p:cNvPr id="18449" name="Text Box 17"/>
          <p:cNvSpPr txBox="1">
            <a:spLocks noChangeArrowheads="1"/>
          </p:cNvSpPr>
          <p:nvPr/>
        </p:nvSpPr>
        <p:spPr bwMode="auto">
          <a:xfrm>
            <a:off x="7169150" y="2170113"/>
            <a:ext cx="984250" cy="366712"/>
          </a:xfrm>
          <a:prstGeom prst="rect">
            <a:avLst/>
          </a:prstGeom>
          <a:noFill/>
          <a:ln w="9525">
            <a:noFill/>
            <a:miter lim="800000"/>
            <a:headEnd/>
            <a:tailEnd/>
          </a:ln>
        </p:spPr>
        <p:txBody>
          <a:bodyPr wrap="none">
            <a:spAutoFit/>
          </a:bodyPr>
          <a:lstStyle/>
          <a:p>
            <a:r>
              <a:rPr lang="en-US"/>
              <a:t>Study B</a:t>
            </a:r>
          </a:p>
        </p:txBody>
      </p:sp>
      <p:sp>
        <p:nvSpPr>
          <p:cNvPr id="18450" name="Rectangle 18"/>
          <p:cNvSpPr>
            <a:spLocks noChangeArrowheads="1"/>
          </p:cNvSpPr>
          <p:nvPr/>
        </p:nvSpPr>
        <p:spPr bwMode="auto">
          <a:xfrm>
            <a:off x="6629400" y="37338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51" name="Text Box 19"/>
          <p:cNvSpPr txBox="1">
            <a:spLocks noChangeArrowheads="1"/>
          </p:cNvSpPr>
          <p:nvPr/>
        </p:nvSpPr>
        <p:spPr bwMode="auto">
          <a:xfrm>
            <a:off x="7086600" y="3733800"/>
            <a:ext cx="1301750" cy="366713"/>
          </a:xfrm>
          <a:prstGeom prst="rect">
            <a:avLst/>
          </a:prstGeom>
          <a:noFill/>
          <a:ln w="9525">
            <a:noFill/>
            <a:miter lim="800000"/>
            <a:headEnd/>
            <a:tailEnd/>
          </a:ln>
        </p:spPr>
        <p:txBody>
          <a:bodyPr wrap="none">
            <a:spAutoFit/>
          </a:bodyPr>
          <a:lstStyle/>
          <a:p>
            <a:r>
              <a:rPr lang="en-US"/>
              <a:t>Variable W</a:t>
            </a:r>
          </a:p>
        </p:txBody>
      </p:sp>
      <p:sp>
        <p:nvSpPr>
          <p:cNvPr id="18452" name="Rectangle 20"/>
          <p:cNvSpPr>
            <a:spLocks noChangeArrowheads="1"/>
          </p:cNvSpPr>
          <p:nvPr/>
        </p:nvSpPr>
        <p:spPr bwMode="auto">
          <a:xfrm>
            <a:off x="6629400" y="42672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53" name="Text Box 21"/>
          <p:cNvSpPr txBox="1">
            <a:spLocks noChangeArrowheads="1"/>
          </p:cNvSpPr>
          <p:nvPr/>
        </p:nvSpPr>
        <p:spPr bwMode="auto">
          <a:xfrm>
            <a:off x="7086600" y="4267200"/>
            <a:ext cx="1238250" cy="366713"/>
          </a:xfrm>
          <a:prstGeom prst="rect">
            <a:avLst/>
          </a:prstGeom>
          <a:noFill/>
          <a:ln w="9525">
            <a:noFill/>
            <a:miter lim="800000"/>
            <a:headEnd/>
            <a:tailEnd/>
          </a:ln>
        </p:spPr>
        <p:txBody>
          <a:bodyPr wrap="none">
            <a:spAutoFit/>
          </a:bodyPr>
          <a:lstStyle/>
          <a:p>
            <a:r>
              <a:rPr lang="en-US"/>
              <a:t>Variable X</a:t>
            </a:r>
          </a:p>
        </p:txBody>
      </p:sp>
      <p:sp>
        <p:nvSpPr>
          <p:cNvPr id="18454" name="Rectangle 22"/>
          <p:cNvSpPr>
            <a:spLocks noChangeArrowheads="1"/>
          </p:cNvSpPr>
          <p:nvPr/>
        </p:nvSpPr>
        <p:spPr bwMode="auto">
          <a:xfrm>
            <a:off x="6629400" y="48006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55" name="Text Box 23"/>
          <p:cNvSpPr txBox="1">
            <a:spLocks noChangeArrowheads="1"/>
          </p:cNvSpPr>
          <p:nvPr/>
        </p:nvSpPr>
        <p:spPr bwMode="auto">
          <a:xfrm>
            <a:off x="7086600" y="4800600"/>
            <a:ext cx="1238250" cy="366713"/>
          </a:xfrm>
          <a:prstGeom prst="rect">
            <a:avLst/>
          </a:prstGeom>
          <a:noFill/>
          <a:ln w="9525">
            <a:noFill/>
            <a:miter lim="800000"/>
            <a:headEnd/>
            <a:tailEnd/>
          </a:ln>
        </p:spPr>
        <p:txBody>
          <a:bodyPr wrap="none">
            <a:spAutoFit/>
          </a:bodyPr>
          <a:lstStyle/>
          <a:p>
            <a:r>
              <a:rPr lang="en-US"/>
              <a:t>Variable Y</a:t>
            </a:r>
          </a:p>
        </p:txBody>
      </p:sp>
      <p:sp>
        <p:nvSpPr>
          <p:cNvPr id="18456" name="Rectangle 24"/>
          <p:cNvSpPr>
            <a:spLocks noChangeArrowheads="1"/>
          </p:cNvSpPr>
          <p:nvPr/>
        </p:nvSpPr>
        <p:spPr bwMode="auto">
          <a:xfrm>
            <a:off x="6629400" y="5334000"/>
            <a:ext cx="2133600" cy="381000"/>
          </a:xfrm>
          <a:prstGeom prst="rect">
            <a:avLst/>
          </a:prstGeom>
          <a:noFill/>
          <a:ln w="9525">
            <a:solidFill>
              <a:schemeClr val="tx1"/>
            </a:solidFill>
            <a:miter lim="800000"/>
            <a:headEnd/>
            <a:tailEnd/>
          </a:ln>
        </p:spPr>
        <p:txBody>
          <a:bodyPr wrap="none" anchor="ctr"/>
          <a:lstStyle/>
          <a:p>
            <a:endParaRPr lang="en-US"/>
          </a:p>
        </p:txBody>
      </p:sp>
      <p:sp>
        <p:nvSpPr>
          <p:cNvPr id="18457" name="Text Box 25"/>
          <p:cNvSpPr txBox="1">
            <a:spLocks noChangeArrowheads="1"/>
          </p:cNvSpPr>
          <p:nvPr/>
        </p:nvSpPr>
        <p:spPr bwMode="auto">
          <a:xfrm>
            <a:off x="7086600" y="5334000"/>
            <a:ext cx="1225550" cy="366713"/>
          </a:xfrm>
          <a:prstGeom prst="rect">
            <a:avLst/>
          </a:prstGeom>
          <a:noFill/>
          <a:ln w="9525">
            <a:noFill/>
            <a:miter lim="800000"/>
            <a:headEnd/>
            <a:tailEnd/>
          </a:ln>
        </p:spPr>
        <p:txBody>
          <a:bodyPr wrap="none">
            <a:spAutoFit/>
          </a:bodyPr>
          <a:lstStyle/>
          <a:p>
            <a:r>
              <a:rPr lang="en-US"/>
              <a:t>Variable Z</a:t>
            </a:r>
          </a:p>
        </p:txBody>
      </p:sp>
      <p:sp>
        <p:nvSpPr>
          <p:cNvPr id="18458" name="Line 26"/>
          <p:cNvSpPr>
            <a:spLocks noChangeShapeType="1"/>
          </p:cNvSpPr>
          <p:nvPr/>
        </p:nvSpPr>
        <p:spPr bwMode="auto">
          <a:xfrm>
            <a:off x="7620000" y="2895600"/>
            <a:ext cx="0" cy="762000"/>
          </a:xfrm>
          <a:prstGeom prst="line">
            <a:avLst/>
          </a:prstGeom>
          <a:noFill/>
          <a:ln w="38100">
            <a:solidFill>
              <a:schemeClr val="tx1"/>
            </a:solidFill>
            <a:round/>
            <a:headEnd/>
            <a:tailEnd type="triangle" w="med" len="med"/>
          </a:ln>
        </p:spPr>
        <p:txBody>
          <a:bodyPr/>
          <a:lstStyle/>
          <a:p>
            <a:endParaRPr lang="en-US"/>
          </a:p>
        </p:txBody>
      </p:sp>
      <p:sp>
        <p:nvSpPr>
          <p:cNvPr id="18459" name="AutoShape 27"/>
          <p:cNvSpPr>
            <a:spLocks noChangeArrowheads="1"/>
          </p:cNvSpPr>
          <p:nvPr/>
        </p:nvSpPr>
        <p:spPr bwMode="auto">
          <a:xfrm>
            <a:off x="8001000" y="3124200"/>
            <a:ext cx="685800" cy="304800"/>
          </a:xfrm>
          <a:prstGeom prst="wedgeRectCallout">
            <a:avLst>
              <a:gd name="adj1" fmla="val -96991"/>
              <a:gd name="adj2" fmla="val 43750"/>
            </a:avLst>
          </a:prstGeom>
          <a:noFill/>
          <a:ln w="9525">
            <a:solidFill>
              <a:schemeClr val="tx1"/>
            </a:solidFill>
            <a:miter lim="800000"/>
            <a:headEnd/>
            <a:tailEnd/>
          </a:ln>
        </p:spPr>
        <p:txBody>
          <a:bodyPr/>
          <a:lstStyle/>
          <a:p>
            <a:pPr algn="ctr"/>
            <a:r>
              <a:rPr lang="en-US" i="1"/>
              <a:t>uses</a:t>
            </a:r>
          </a:p>
        </p:txBody>
      </p:sp>
      <p:sp>
        <p:nvSpPr>
          <p:cNvPr id="19482" name="Rectangle 28"/>
          <p:cNvSpPr>
            <a:spLocks noChangeArrowheads="1"/>
          </p:cNvSpPr>
          <p:nvPr/>
        </p:nvSpPr>
        <p:spPr bwMode="auto">
          <a:xfrm>
            <a:off x="762000" y="2133600"/>
            <a:ext cx="1219200" cy="685800"/>
          </a:xfrm>
          <a:prstGeom prst="rect">
            <a:avLst/>
          </a:prstGeom>
          <a:noFill/>
          <a:ln w="9525">
            <a:solidFill>
              <a:schemeClr val="tx1"/>
            </a:solidFill>
            <a:miter lim="800000"/>
            <a:headEnd/>
            <a:tailEnd/>
          </a:ln>
        </p:spPr>
        <p:txBody>
          <a:bodyPr wrap="none" anchor="ctr"/>
          <a:lstStyle/>
          <a:p>
            <a:endParaRPr lang="en-US"/>
          </a:p>
        </p:txBody>
      </p:sp>
      <p:sp>
        <p:nvSpPr>
          <p:cNvPr id="18461" name="Rectangle 29"/>
          <p:cNvSpPr>
            <a:spLocks noChangeArrowheads="1"/>
          </p:cNvSpPr>
          <p:nvPr/>
        </p:nvSpPr>
        <p:spPr bwMode="auto">
          <a:xfrm>
            <a:off x="7010400" y="2133600"/>
            <a:ext cx="1219200" cy="685800"/>
          </a:xfrm>
          <a:prstGeom prst="rect">
            <a:avLst/>
          </a:prstGeom>
          <a:noFill/>
          <a:ln w="9525">
            <a:solidFill>
              <a:schemeClr val="tx1"/>
            </a:solidFill>
            <a:miter lim="800000"/>
            <a:headEnd/>
            <a:tailEnd/>
          </a:ln>
        </p:spPr>
        <p:txBody>
          <a:bodyPr wrap="none" anchor="ctr"/>
          <a:lstStyle/>
          <a:p>
            <a:endParaRPr lang="en-US"/>
          </a:p>
        </p:txBody>
      </p:sp>
      <p:sp>
        <p:nvSpPr>
          <p:cNvPr id="18462" name="Rectangle 30"/>
          <p:cNvSpPr>
            <a:spLocks noChangeArrowheads="1"/>
          </p:cNvSpPr>
          <p:nvPr/>
        </p:nvSpPr>
        <p:spPr bwMode="auto">
          <a:xfrm>
            <a:off x="3276600" y="609600"/>
            <a:ext cx="2362200" cy="5334000"/>
          </a:xfrm>
          <a:prstGeom prst="rect">
            <a:avLst/>
          </a:prstGeom>
          <a:noFill/>
          <a:ln w="9525">
            <a:solidFill>
              <a:schemeClr val="tx1"/>
            </a:solidFill>
            <a:miter lim="800000"/>
            <a:headEnd/>
            <a:tailEnd/>
          </a:ln>
        </p:spPr>
        <p:txBody>
          <a:bodyPr wrap="none" anchor="ctr"/>
          <a:lstStyle/>
          <a:p>
            <a:endParaRPr lang="en-US"/>
          </a:p>
        </p:txBody>
      </p:sp>
      <p:sp>
        <p:nvSpPr>
          <p:cNvPr id="18463" name="Text Box 31"/>
          <p:cNvSpPr txBox="1">
            <a:spLocks noChangeArrowheads="1"/>
          </p:cNvSpPr>
          <p:nvPr/>
        </p:nvSpPr>
        <p:spPr bwMode="auto">
          <a:xfrm>
            <a:off x="3333750" y="776288"/>
            <a:ext cx="2228850" cy="366712"/>
          </a:xfrm>
          <a:prstGeom prst="rect">
            <a:avLst/>
          </a:prstGeom>
          <a:noFill/>
          <a:ln w="9525">
            <a:noFill/>
            <a:miter lim="800000"/>
            <a:headEnd/>
            <a:tailEnd/>
          </a:ln>
        </p:spPr>
        <p:txBody>
          <a:bodyPr wrap="none">
            <a:spAutoFit/>
          </a:bodyPr>
          <a:lstStyle/>
          <a:p>
            <a:r>
              <a:rPr lang="en-US"/>
              <a:t>Comparison Module</a:t>
            </a:r>
          </a:p>
        </p:txBody>
      </p:sp>
      <p:sp>
        <p:nvSpPr>
          <p:cNvPr id="18465" name="Line 33"/>
          <p:cNvSpPr>
            <a:spLocks noChangeShapeType="1"/>
          </p:cNvSpPr>
          <p:nvPr/>
        </p:nvSpPr>
        <p:spPr bwMode="auto">
          <a:xfrm flipV="1">
            <a:off x="2438400" y="2286000"/>
            <a:ext cx="1143000" cy="1600200"/>
          </a:xfrm>
          <a:prstGeom prst="line">
            <a:avLst/>
          </a:prstGeom>
          <a:noFill/>
          <a:ln w="38100">
            <a:solidFill>
              <a:schemeClr val="tx1"/>
            </a:solidFill>
            <a:round/>
            <a:headEnd/>
            <a:tailEnd type="triangle" w="med" len="med"/>
          </a:ln>
        </p:spPr>
        <p:txBody>
          <a:bodyPr/>
          <a:lstStyle/>
          <a:p>
            <a:endParaRPr lang="en-US"/>
          </a:p>
        </p:txBody>
      </p:sp>
      <p:sp>
        <p:nvSpPr>
          <p:cNvPr id="18466" name="AutoShape 34"/>
          <p:cNvSpPr>
            <a:spLocks noChangeArrowheads="1"/>
          </p:cNvSpPr>
          <p:nvPr/>
        </p:nvSpPr>
        <p:spPr bwMode="auto">
          <a:xfrm>
            <a:off x="3657600" y="1905000"/>
            <a:ext cx="1676400" cy="381000"/>
          </a:xfrm>
          <a:prstGeom prst="roundRect">
            <a:avLst>
              <a:gd name="adj" fmla="val 16667"/>
            </a:avLst>
          </a:prstGeom>
          <a:noFill/>
          <a:ln w="9525">
            <a:solidFill>
              <a:schemeClr val="tx1"/>
            </a:solidFill>
            <a:round/>
            <a:headEnd/>
            <a:tailEnd/>
          </a:ln>
        </p:spPr>
        <p:txBody>
          <a:bodyPr wrap="none" anchor="ctr"/>
          <a:lstStyle/>
          <a:p>
            <a:endParaRPr lang="en-US"/>
          </a:p>
        </p:txBody>
      </p:sp>
      <p:sp>
        <p:nvSpPr>
          <p:cNvPr id="18467" name="Text Box 35"/>
          <p:cNvSpPr txBox="1">
            <a:spLocks noChangeArrowheads="1"/>
          </p:cNvSpPr>
          <p:nvPr/>
        </p:nvSpPr>
        <p:spPr bwMode="auto">
          <a:xfrm>
            <a:off x="3657600" y="1865313"/>
            <a:ext cx="1733550" cy="366712"/>
          </a:xfrm>
          <a:prstGeom prst="rect">
            <a:avLst/>
          </a:prstGeom>
          <a:noFill/>
          <a:ln w="9525">
            <a:noFill/>
            <a:miter lim="800000"/>
            <a:headEnd/>
            <a:tailEnd/>
          </a:ln>
        </p:spPr>
        <p:txBody>
          <a:bodyPr wrap="none">
            <a:spAutoFit/>
          </a:bodyPr>
          <a:lstStyle/>
          <a:p>
            <a:r>
              <a:rPr lang="en-US"/>
              <a:t>Is the Same As</a:t>
            </a:r>
          </a:p>
        </p:txBody>
      </p:sp>
      <p:sp>
        <p:nvSpPr>
          <p:cNvPr id="18470" name="Line 38"/>
          <p:cNvSpPr>
            <a:spLocks noChangeShapeType="1"/>
          </p:cNvSpPr>
          <p:nvPr/>
        </p:nvSpPr>
        <p:spPr bwMode="auto">
          <a:xfrm>
            <a:off x="5410200" y="2133600"/>
            <a:ext cx="1219200" cy="1752600"/>
          </a:xfrm>
          <a:prstGeom prst="line">
            <a:avLst/>
          </a:prstGeom>
          <a:noFill/>
          <a:ln w="38100">
            <a:solidFill>
              <a:schemeClr val="tx1"/>
            </a:solidFill>
            <a:round/>
            <a:headEnd/>
            <a:tailEnd type="triangle" w="med" len="med"/>
          </a:ln>
        </p:spPr>
        <p:txBody>
          <a:bodyPr/>
          <a:lstStyle/>
          <a:p>
            <a:endParaRPr lang="en-US"/>
          </a:p>
        </p:txBody>
      </p:sp>
      <p:sp>
        <p:nvSpPr>
          <p:cNvPr id="18471" name="Line 39"/>
          <p:cNvSpPr>
            <a:spLocks noChangeShapeType="1"/>
          </p:cNvSpPr>
          <p:nvPr/>
        </p:nvSpPr>
        <p:spPr bwMode="auto">
          <a:xfrm flipV="1">
            <a:off x="2438400" y="3505200"/>
            <a:ext cx="1143000" cy="990600"/>
          </a:xfrm>
          <a:prstGeom prst="line">
            <a:avLst/>
          </a:prstGeom>
          <a:noFill/>
          <a:ln w="38100">
            <a:solidFill>
              <a:schemeClr val="tx1"/>
            </a:solidFill>
            <a:round/>
            <a:headEnd/>
            <a:tailEnd type="triangle" w="med" len="med"/>
          </a:ln>
        </p:spPr>
        <p:txBody>
          <a:bodyPr/>
          <a:lstStyle/>
          <a:p>
            <a:endParaRPr lang="en-US"/>
          </a:p>
        </p:txBody>
      </p:sp>
      <p:sp>
        <p:nvSpPr>
          <p:cNvPr id="18472" name="AutoShape 40"/>
          <p:cNvSpPr>
            <a:spLocks noChangeArrowheads="1"/>
          </p:cNvSpPr>
          <p:nvPr/>
        </p:nvSpPr>
        <p:spPr bwMode="auto">
          <a:xfrm>
            <a:off x="3657600" y="3163888"/>
            <a:ext cx="1676400" cy="381000"/>
          </a:xfrm>
          <a:prstGeom prst="roundRect">
            <a:avLst>
              <a:gd name="adj" fmla="val 16667"/>
            </a:avLst>
          </a:prstGeom>
          <a:noFill/>
          <a:ln w="9525">
            <a:solidFill>
              <a:schemeClr val="tx1"/>
            </a:solidFill>
            <a:round/>
            <a:headEnd/>
            <a:tailEnd/>
          </a:ln>
        </p:spPr>
        <p:txBody>
          <a:bodyPr wrap="none" anchor="ctr"/>
          <a:lstStyle/>
          <a:p>
            <a:endParaRPr lang="en-US"/>
          </a:p>
        </p:txBody>
      </p:sp>
      <p:sp>
        <p:nvSpPr>
          <p:cNvPr id="18473" name="Text Box 41"/>
          <p:cNvSpPr txBox="1">
            <a:spLocks noChangeArrowheads="1"/>
          </p:cNvSpPr>
          <p:nvPr/>
        </p:nvSpPr>
        <p:spPr bwMode="auto">
          <a:xfrm>
            <a:off x="3657600" y="3124200"/>
            <a:ext cx="1733550" cy="366713"/>
          </a:xfrm>
          <a:prstGeom prst="rect">
            <a:avLst/>
          </a:prstGeom>
          <a:noFill/>
          <a:ln w="9525">
            <a:noFill/>
            <a:miter lim="800000"/>
            <a:headEnd/>
            <a:tailEnd/>
          </a:ln>
        </p:spPr>
        <p:txBody>
          <a:bodyPr wrap="none">
            <a:spAutoFit/>
          </a:bodyPr>
          <a:lstStyle/>
          <a:p>
            <a:r>
              <a:rPr lang="en-US"/>
              <a:t>Is the Same As</a:t>
            </a:r>
          </a:p>
        </p:txBody>
      </p:sp>
      <p:sp>
        <p:nvSpPr>
          <p:cNvPr id="18474" name="Line 42"/>
          <p:cNvSpPr>
            <a:spLocks noChangeShapeType="1"/>
          </p:cNvSpPr>
          <p:nvPr/>
        </p:nvSpPr>
        <p:spPr bwMode="auto">
          <a:xfrm>
            <a:off x="5410200" y="3352800"/>
            <a:ext cx="1219200" cy="1600200"/>
          </a:xfrm>
          <a:prstGeom prst="line">
            <a:avLst/>
          </a:prstGeom>
          <a:noFill/>
          <a:ln w="38100">
            <a:solidFill>
              <a:schemeClr val="tx1"/>
            </a:solidFill>
            <a:round/>
            <a:headEnd/>
            <a:tailEnd type="triangle" w="med" len="med"/>
          </a:ln>
        </p:spPr>
        <p:txBody>
          <a:bodyPr/>
          <a:lstStyle/>
          <a:p>
            <a:endParaRPr lang="en-US"/>
          </a:p>
        </p:txBody>
      </p:sp>
      <p:sp>
        <p:nvSpPr>
          <p:cNvPr id="18475" name="Line 43"/>
          <p:cNvSpPr>
            <a:spLocks noChangeShapeType="1"/>
          </p:cNvSpPr>
          <p:nvPr/>
        </p:nvSpPr>
        <p:spPr bwMode="auto">
          <a:xfrm flipV="1">
            <a:off x="2438400" y="4495800"/>
            <a:ext cx="1143000" cy="609600"/>
          </a:xfrm>
          <a:prstGeom prst="line">
            <a:avLst/>
          </a:prstGeom>
          <a:noFill/>
          <a:ln w="38100">
            <a:solidFill>
              <a:schemeClr val="tx1"/>
            </a:solidFill>
            <a:round/>
            <a:headEnd/>
            <a:tailEnd type="triangle" w="med" len="med"/>
          </a:ln>
        </p:spPr>
        <p:txBody>
          <a:bodyPr/>
          <a:lstStyle/>
          <a:p>
            <a:endParaRPr lang="en-US"/>
          </a:p>
        </p:txBody>
      </p:sp>
      <p:sp>
        <p:nvSpPr>
          <p:cNvPr id="18476" name="AutoShape 44"/>
          <p:cNvSpPr>
            <a:spLocks noChangeArrowheads="1"/>
          </p:cNvSpPr>
          <p:nvPr/>
        </p:nvSpPr>
        <p:spPr bwMode="auto">
          <a:xfrm>
            <a:off x="3657600" y="4267200"/>
            <a:ext cx="1676400" cy="381000"/>
          </a:xfrm>
          <a:prstGeom prst="roundRect">
            <a:avLst>
              <a:gd name="adj" fmla="val 16667"/>
            </a:avLst>
          </a:prstGeom>
          <a:noFill/>
          <a:ln w="9525">
            <a:solidFill>
              <a:schemeClr val="tx1"/>
            </a:solidFill>
            <a:round/>
            <a:headEnd/>
            <a:tailEnd/>
          </a:ln>
        </p:spPr>
        <p:txBody>
          <a:bodyPr wrap="none" anchor="ctr"/>
          <a:lstStyle/>
          <a:p>
            <a:endParaRPr lang="en-US"/>
          </a:p>
        </p:txBody>
      </p:sp>
      <p:sp>
        <p:nvSpPr>
          <p:cNvPr id="18477" name="Text Box 45"/>
          <p:cNvSpPr txBox="1">
            <a:spLocks noChangeArrowheads="1"/>
          </p:cNvSpPr>
          <p:nvPr/>
        </p:nvSpPr>
        <p:spPr bwMode="auto">
          <a:xfrm>
            <a:off x="3657600" y="4227513"/>
            <a:ext cx="1733550" cy="366712"/>
          </a:xfrm>
          <a:prstGeom prst="rect">
            <a:avLst/>
          </a:prstGeom>
          <a:noFill/>
          <a:ln w="9525">
            <a:noFill/>
            <a:miter lim="800000"/>
            <a:headEnd/>
            <a:tailEnd/>
          </a:ln>
        </p:spPr>
        <p:txBody>
          <a:bodyPr wrap="none">
            <a:spAutoFit/>
          </a:bodyPr>
          <a:lstStyle/>
          <a:p>
            <a:r>
              <a:rPr lang="en-US"/>
              <a:t>Is the Same As</a:t>
            </a:r>
          </a:p>
        </p:txBody>
      </p:sp>
      <p:sp>
        <p:nvSpPr>
          <p:cNvPr id="18478" name="Line 46"/>
          <p:cNvSpPr>
            <a:spLocks noChangeShapeType="1"/>
          </p:cNvSpPr>
          <p:nvPr/>
        </p:nvSpPr>
        <p:spPr bwMode="auto">
          <a:xfrm>
            <a:off x="5334000" y="4419600"/>
            <a:ext cx="1371600" cy="0"/>
          </a:xfrm>
          <a:prstGeom prst="line">
            <a:avLst/>
          </a:prstGeom>
          <a:noFill/>
          <a:ln w="38100">
            <a:solidFill>
              <a:schemeClr val="tx1"/>
            </a:solidFill>
            <a:round/>
            <a:headEnd/>
            <a:tailEnd type="triangle" w="med" len="med"/>
          </a:ln>
        </p:spPr>
        <p:txBody>
          <a:bodyPr/>
          <a:lstStyle/>
          <a:p>
            <a:endParaRPr lang="en-US"/>
          </a:p>
        </p:txBody>
      </p:sp>
      <p:sp>
        <p:nvSpPr>
          <p:cNvPr id="18479" name="Line 47"/>
          <p:cNvSpPr>
            <a:spLocks noChangeShapeType="1"/>
          </p:cNvSpPr>
          <p:nvPr/>
        </p:nvSpPr>
        <p:spPr bwMode="auto">
          <a:xfrm flipV="1">
            <a:off x="2438400" y="5562600"/>
            <a:ext cx="1143000" cy="0"/>
          </a:xfrm>
          <a:prstGeom prst="line">
            <a:avLst/>
          </a:prstGeom>
          <a:noFill/>
          <a:ln w="38100">
            <a:solidFill>
              <a:schemeClr val="tx1"/>
            </a:solidFill>
            <a:round/>
            <a:headEnd/>
            <a:tailEnd type="triangle" w="med" len="med"/>
          </a:ln>
        </p:spPr>
        <p:txBody>
          <a:bodyPr/>
          <a:lstStyle/>
          <a:p>
            <a:endParaRPr lang="en-US"/>
          </a:p>
        </p:txBody>
      </p:sp>
      <p:sp>
        <p:nvSpPr>
          <p:cNvPr id="18480" name="AutoShape 48"/>
          <p:cNvSpPr>
            <a:spLocks noChangeArrowheads="1"/>
          </p:cNvSpPr>
          <p:nvPr/>
        </p:nvSpPr>
        <p:spPr bwMode="auto">
          <a:xfrm>
            <a:off x="3657600" y="5334000"/>
            <a:ext cx="1676400" cy="381000"/>
          </a:xfrm>
          <a:prstGeom prst="roundRect">
            <a:avLst>
              <a:gd name="adj" fmla="val 16667"/>
            </a:avLst>
          </a:prstGeom>
          <a:noFill/>
          <a:ln w="9525">
            <a:solidFill>
              <a:schemeClr val="tx1"/>
            </a:solidFill>
            <a:round/>
            <a:headEnd/>
            <a:tailEnd/>
          </a:ln>
        </p:spPr>
        <p:txBody>
          <a:bodyPr wrap="none" anchor="ctr"/>
          <a:lstStyle/>
          <a:p>
            <a:endParaRPr lang="en-US"/>
          </a:p>
        </p:txBody>
      </p:sp>
      <p:sp>
        <p:nvSpPr>
          <p:cNvPr id="18481" name="Text Box 49"/>
          <p:cNvSpPr txBox="1">
            <a:spLocks noChangeArrowheads="1"/>
          </p:cNvSpPr>
          <p:nvPr/>
        </p:nvSpPr>
        <p:spPr bwMode="auto">
          <a:xfrm>
            <a:off x="3657600" y="5272088"/>
            <a:ext cx="1733550" cy="366712"/>
          </a:xfrm>
          <a:prstGeom prst="rect">
            <a:avLst/>
          </a:prstGeom>
          <a:noFill/>
          <a:ln w="9525">
            <a:noFill/>
            <a:miter lim="800000"/>
            <a:headEnd/>
            <a:tailEnd/>
          </a:ln>
        </p:spPr>
        <p:txBody>
          <a:bodyPr wrap="none">
            <a:spAutoFit/>
          </a:bodyPr>
          <a:lstStyle/>
          <a:p>
            <a:r>
              <a:rPr lang="en-US"/>
              <a:t>Is the Same As</a:t>
            </a:r>
          </a:p>
        </p:txBody>
      </p:sp>
      <p:sp>
        <p:nvSpPr>
          <p:cNvPr id="18482" name="Line 50"/>
          <p:cNvSpPr>
            <a:spLocks noChangeShapeType="1"/>
          </p:cNvSpPr>
          <p:nvPr/>
        </p:nvSpPr>
        <p:spPr bwMode="auto">
          <a:xfrm>
            <a:off x="5410200" y="5562600"/>
            <a:ext cx="1219200" cy="0"/>
          </a:xfrm>
          <a:prstGeom prst="line">
            <a:avLst/>
          </a:prstGeom>
          <a:noFill/>
          <a:ln w="38100">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4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4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4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4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4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4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4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4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47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4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47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847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47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4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47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4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848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8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8" grpId="0" animBg="1"/>
      <p:bldP spid="18449" grpId="0"/>
      <p:bldP spid="18450" grpId="0" animBg="1"/>
      <p:bldP spid="18451" grpId="0"/>
      <p:bldP spid="18452" grpId="0" animBg="1"/>
      <p:bldP spid="18453" grpId="0"/>
      <p:bldP spid="18454" grpId="0" animBg="1"/>
      <p:bldP spid="18455" grpId="0"/>
      <p:bldP spid="18456" grpId="0" animBg="1"/>
      <p:bldP spid="18457" grpId="0"/>
      <p:bldP spid="18458" grpId="0" animBg="1"/>
      <p:bldP spid="18459" grpId="0" animBg="1"/>
      <p:bldP spid="18461" grpId="0" animBg="1"/>
      <p:bldP spid="18462" grpId="0" animBg="1"/>
      <p:bldP spid="18463" grpId="0"/>
      <p:bldP spid="18465" grpId="0" animBg="1"/>
      <p:bldP spid="18466" grpId="0" animBg="1"/>
      <p:bldP spid="18467" grpId="0"/>
      <p:bldP spid="18470" grpId="0" animBg="1"/>
      <p:bldP spid="18471" grpId="0" animBg="1"/>
      <p:bldP spid="18472" grpId="0" animBg="1"/>
      <p:bldP spid="18473" grpId="0"/>
      <p:bldP spid="18474" grpId="0" animBg="1"/>
      <p:bldP spid="18475" grpId="0" animBg="1"/>
      <p:bldP spid="18476" grpId="0" animBg="1"/>
      <p:bldP spid="18477" grpId="0"/>
      <p:bldP spid="18478" grpId="0" animBg="1"/>
      <p:bldP spid="18479" grpId="0" animBg="1"/>
      <p:bldP spid="18480" grpId="0" animBg="1"/>
      <p:bldP spid="18481" grpId="0"/>
      <p:bldP spid="1848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457200" y="381000"/>
            <a:ext cx="762000" cy="1371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5603" name="Rectangle 3"/>
          <p:cNvSpPr>
            <a:spLocks noChangeArrowheads="1"/>
          </p:cNvSpPr>
          <p:nvPr/>
        </p:nvSpPr>
        <p:spPr bwMode="auto">
          <a:xfrm>
            <a:off x="457200" y="4495800"/>
            <a:ext cx="762000" cy="13716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5604" name="Rectangle 4"/>
          <p:cNvSpPr>
            <a:spLocks noChangeArrowheads="1"/>
          </p:cNvSpPr>
          <p:nvPr/>
        </p:nvSpPr>
        <p:spPr bwMode="auto">
          <a:xfrm flipH="1" flipV="1">
            <a:off x="457200" y="1752600"/>
            <a:ext cx="762000" cy="13716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5605" name="Rectangle 5"/>
          <p:cNvSpPr>
            <a:spLocks noChangeArrowheads="1"/>
          </p:cNvSpPr>
          <p:nvPr/>
        </p:nvSpPr>
        <p:spPr bwMode="auto">
          <a:xfrm>
            <a:off x="457200" y="3124200"/>
            <a:ext cx="762000" cy="1371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5606" name="Rectangle 6"/>
          <p:cNvSpPr>
            <a:spLocks noChangeArrowheads="1"/>
          </p:cNvSpPr>
          <p:nvPr/>
        </p:nvSpPr>
        <p:spPr bwMode="auto">
          <a:xfrm>
            <a:off x="457200" y="5867400"/>
            <a:ext cx="762000" cy="609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5607" name="Text Box 7"/>
          <p:cNvSpPr txBox="1">
            <a:spLocks noChangeArrowheads="1"/>
          </p:cNvSpPr>
          <p:nvPr/>
        </p:nvSpPr>
        <p:spPr bwMode="auto">
          <a:xfrm>
            <a:off x="457200" y="0"/>
            <a:ext cx="2057400" cy="6408738"/>
          </a:xfrm>
          <a:prstGeom prst="rect">
            <a:avLst/>
          </a:prstGeom>
          <a:noFill/>
          <a:ln w="9525">
            <a:noFill/>
            <a:miter lim="800000"/>
            <a:headEnd/>
            <a:tailEnd/>
          </a:ln>
        </p:spPr>
        <p:txBody>
          <a:bodyPr>
            <a:spAutoFit/>
          </a:bodyPr>
          <a:lstStyle/>
          <a:p>
            <a:pPr eaLnBrk="0" hangingPunct="0">
              <a:spcBef>
                <a:spcPct val="50000"/>
              </a:spcBef>
            </a:pPr>
            <a:r>
              <a:rPr lang="en-US"/>
              <a:t>SINGLE YEARS</a:t>
            </a:r>
          </a:p>
          <a:p>
            <a:pPr eaLnBrk="0" hangingPunct="0">
              <a:spcBef>
                <a:spcPct val="50000"/>
              </a:spcBef>
            </a:pPr>
            <a:r>
              <a:rPr lang="en-US" sz="1200"/>
              <a:t>&lt; 1 year	</a:t>
            </a:r>
          </a:p>
          <a:p>
            <a:pPr eaLnBrk="0" hangingPunct="0">
              <a:spcBef>
                <a:spcPct val="50000"/>
              </a:spcBef>
            </a:pPr>
            <a:r>
              <a:rPr lang="en-US" sz="1200"/>
              <a:t>1 year</a:t>
            </a:r>
          </a:p>
          <a:p>
            <a:pPr eaLnBrk="0" hangingPunct="0">
              <a:spcBef>
                <a:spcPct val="50000"/>
              </a:spcBef>
            </a:pPr>
            <a:r>
              <a:rPr lang="en-US" sz="1200"/>
              <a:t>2 years</a:t>
            </a:r>
          </a:p>
          <a:p>
            <a:pPr eaLnBrk="0" hangingPunct="0">
              <a:spcBef>
                <a:spcPct val="50000"/>
              </a:spcBef>
            </a:pPr>
            <a:r>
              <a:rPr lang="en-US" sz="1200"/>
              <a:t>3 years</a:t>
            </a:r>
          </a:p>
          <a:p>
            <a:pPr eaLnBrk="0" hangingPunct="0">
              <a:spcBef>
                <a:spcPct val="50000"/>
              </a:spcBef>
            </a:pPr>
            <a:r>
              <a:rPr lang="en-US" sz="1200"/>
              <a:t>4 years</a:t>
            </a:r>
          </a:p>
          <a:p>
            <a:pPr eaLnBrk="0" hangingPunct="0">
              <a:spcBef>
                <a:spcPct val="50000"/>
              </a:spcBef>
            </a:pPr>
            <a:r>
              <a:rPr lang="en-US" sz="1200"/>
              <a:t>5 years</a:t>
            </a:r>
          </a:p>
          <a:p>
            <a:pPr eaLnBrk="0" hangingPunct="0">
              <a:spcBef>
                <a:spcPct val="50000"/>
              </a:spcBef>
            </a:pPr>
            <a:r>
              <a:rPr lang="en-US" sz="1200"/>
              <a:t>6 years</a:t>
            </a:r>
          </a:p>
          <a:p>
            <a:pPr eaLnBrk="0" hangingPunct="0">
              <a:spcBef>
                <a:spcPct val="50000"/>
              </a:spcBef>
            </a:pPr>
            <a:r>
              <a:rPr lang="en-US" sz="1200"/>
              <a:t>7 years</a:t>
            </a:r>
          </a:p>
          <a:p>
            <a:pPr eaLnBrk="0" hangingPunct="0">
              <a:spcBef>
                <a:spcPct val="50000"/>
              </a:spcBef>
            </a:pPr>
            <a:r>
              <a:rPr lang="en-US" sz="1200"/>
              <a:t>8 years</a:t>
            </a:r>
          </a:p>
          <a:p>
            <a:pPr eaLnBrk="0" hangingPunct="0">
              <a:spcBef>
                <a:spcPct val="50000"/>
              </a:spcBef>
            </a:pPr>
            <a:r>
              <a:rPr lang="en-US" sz="1200"/>
              <a:t>9 years</a:t>
            </a:r>
          </a:p>
          <a:p>
            <a:pPr eaLnBrk="0" hangingPunct="0">
              <a:spcBef>
                <a:spcPct val="50000"/>
              </a:spcBef>
            </a:pPr>
            <a:r>
              <a:rPr lang="en-US" sz="1200"/>
              <a:t>10 years</a:t>
            </a:r>
          </a:p>
          <a:p>
            <a:pPr eaLnBrk="0" hangingPunct="0">
              <a:spcBef>
                <a:spcPct val="50000"/>
              </a:spcBef>
            </a:pPr>
            <a:r>
              <a:rPr lang="en-US" sz="1200"/>
              <a:t>11 years</a:t>
            </a:r>
          </a:p>
          <a:p>
            <a:pPr eaLnBrk="0" hangingPunct="0">
              <a:spcBef>
                <a:spcPct val="50000"/>
              </a:spcBef>
            </a:pPr>
            <a:r>
              <a:rPr lang="en-US" sz="1200"/>
              <a:t>12 years</a:t>
            </a:r>
          </a:p>
          <a:p>
            <a:pPr eaLnBrk="0" hangingPunct="0">
              <a:spcBef>
                <a:spcPct val="50000"/>
              </a:spcBef>
            </a:pPr>
            <a:r>
              <a:rPr lang="en-US" sz="1200"/>
              <a:t>13 years</a:t>
            </a:r>
          </a:p>
          <a:p>
            <a:pPr eaLnBrk="0" hangingPunct="0">
              <a:spcBef>
                <a:spcPct val="50000"/>
              </a:spcBef>
            </a:pPr>
            <a:r>
              <a:rPr lang="en-US" sz="1200"/>
              <a:t>14 years</a:t>
            </a:r>
          </a:p>
          <a:p>
            <a:pPr eaLnBrk="0" hangingPunct="0">
              <a:spcBef>
                <a:spcPct val="50000"/>
              </a:spcBef>
            </a:pPr>
            <a:r>
              <a:rPr lang="en-US" sz="1200"/>
              <a:t>15 years</a:t>
            </a:r>
          </a:p>
          <a:p>
            <a:pPr eaLnBrk="0" hangingPunct="0">
              <a:spcBef>
                <a:spcPct val="50000"/>
              </a:spcBef>
            </a:pPr>
            <a:r>
              <a:rPr lang="en-US" sz="1200"/>
              <a:t>16 years</a:t>
            </a:r>
          </a:p>
          <a:p>
            <a:pPr eaLnBrk="0" hangingPunct="0">
              <a:spcBef>
                <a:spcPct val="50000"/>
              </a:spcBef>
            </a:pPr>
            <a:r>
              <a:rPr lang="en-US" sz="1200"/>
              <a:t>17 years</a:t>
            </a:r>
          </a:p>
          <a:p>
            <a:pPr eaLnBrk="0" hangingPunct="0">
              <a:spcBef>
                <a:spcPct val="50000"/>
              </a:spcBef>
            </a:pPr>
            <a:r>
              <a:rPr lang="en-US" sz="1200"/>
              <a:t>18 years</a:t>
            </a:r>
          </a:p>
          <a:p>
            <a:pPr eaLnBrk="0" hangingPunct="0">
              <a:spcBef>
                <a:spcPct val="50000"/>
              </a:spcBef>
            </a:pPr>
            <a:r>
              <a:rPr lang="en-US" sz="1200"/>
              <a:t>19 years</a:t>
            </a:r>
          </a:p>
          <a:p>
            <a:pPr eaLnBrk="0" hangingPunct="0">
              <a:spcBef>
                <a:spcPct val="50000"/>
              </a:spcBef>
            </a:pPr>
            <a:r>
              <a:rPr lang="en-US" sz="1200"/>
              <a:t>20 years </a:t>
            </a:r>
          </a:p>
          <a:p>
            <a:pPr eaLnBrk="0" hangingPunct="0">
              <a:spcBef>
                <a:spcPct val="50000"/>
              </a:spcBef>
            </a:pPr>
            <a:r>
              <a:rPr lang="en-US" sz="1200"/>
              <a:t>Etc.</a:t>
            </a:r>
          </a:p>
        </p:txBody>
      </p:sp>
      <p:sp>
        <p:nvSpPr>
          <p:cNvPr id="25608" name="Text Box 8"/>
          <p:cNvSpPr txBox="1">
            <a:spLocks noChangeArrowheads="1"/>
          </p:cNvSpPr>
          <p:nvPr/>
        </p:nvSpPr>
        <p:spPr bwMode="auto">
          <a:xfrm>
            <a:off x="3124200" y="1524000"/>
            <a:ext cx="2203450" cy="3113088"/>
          </a:xfrm>
          <a:prstGeom prst="rect">
            <a:avLst/>
          </a:prstGeom>
          <a:noFill/>
          <a:ln w="9525">
            <a:noFill/>
            <a:miter lim="800000"/>
            <a:headEnd/>
            <a:tailEnd/>
          </a:ln>
        </p:spPr>
        <p:txBody>
          <a:bodyPr>
            <a:spAutoFit/>
          </a:bodyPr>
          <a:lstStyle/>
          <a:p>
            <a:pPr eaLnBrk="0" hangingPunct="0"/>
            <a:r>
              <a:rPr lang="en-US"/>
              <a:t>5 YEAR COHORTS</a:t>
            </a:r>
          </a:p>
          <a:p>
            <a:pPr eaLnBrk="0" hangingPunct="0"/>
            <a:endParaRPr lang="en-US"/>
          </a:p>
          <a:p>
            <a:pPr eaLnBrk="0" hangingPunct="0"/>
            <a:r>
              <a:rPr lang="en-US"/>
              <a:t>&lt; 5 years</a:t>
            </a:r>
          </a:p>
          <a:p>
            <a:pPr eaLnBrk="0" hangingPunct="0"/>
            <a:endParaRPr lang="en-US"/>
          </a:p>
          <a:p>
            <a:pPr eaLnBrk="0" hangingPunct="0"/>
            <a:r>
              <a:rPr lang="en-US"/>
              <a:t>5 to 9 years</a:t>
            </a:r>
          </a:p>
          <a:p>
            <a:pPr eaLnBrk="0" hangingPunct="0"/>
            <a:endParaRPr lang="en-US"/>
          </a:p>
          <a:p>
            <a:pPr eaLnBrk="0" hangingPunct="0"/>
            <a:r>
              <a:rPr lang="en-US"/>
              <a:t>10 to 14 years</a:t>
            </a:r>
          </a:p>
          <a:p>
            <a:pPr eaLnBrk="0" hangingPunct="0"/>
            <a:endParaRPr lang="en-US"/>
          </a:p>
          <a:p>
            <a:pPr eaLnBrk="0" hangingPunct="0"/>
            <a:r>
              <a:rPr lang="en-US"/>
              <a:t>15 to 19 years</a:t>
            </a:r>
          </a:p>
          <a:p>
            <a:pPr eaLnBrk="0" hangingPunct="0"/>
            <a:endParaRPr lang="en-US"/>
          </a:p>
          <a:p>
            <a:pPr eaLnBrk="0" hangingPunct="0"/>
            <a:r>
              <a:rPr lang="en-US"/>
              <a:t>20 years plus</a:t>
            </a:r>
          </a:p>
        </p:txBody>
      </p:sp>
      <p:sp>
        <p:nvSpPr>
          <p:cNvPr id="25609" name="Text Box 9"/>
          <p:cNvSpPr txBox="1">
            <a:spLocks noChangeArrowheads="1"/>
          </p:cNvSpPr>
          <p:nvPr/>
        </p:nvSpPr>
        <p:spPr bwMode="auto">
          <a:xfrm>
            <a:off x="6248400" y="2209800"/>
            <a:ext cx="2330450" cy="2014538"/>
          </a:xfrm>
          <a:prstGeom prst="rect">
            <a:avLst/>
          </a:prstGeom>
          <a:noFill/>
          <a:ln w="9525">
            <a:noFill/>
            <a:miter lim="800000"/>
            <a:headEnd/>
            <a:tailEnd/>
          </a:ln>
        </p:spPr>
        <p:txBody>
          <a:bodyPr wrap="none">
            <a:spAutoFit/>
          </a:bodyPr>
          <a:lstStyle/>
          <a:p>
            <a:pPr eaLnBrk="0" hangingPunct="0"/>
            <a:r>
              <a:rPr lang="en-US"/>
              <a:t>10 YEAR COHORTS</a:t>
            </a:r>
          </a:p>
          <a:p>
            <a:pPr eaLnBrk="0" hangingPunct="0"/>
            <a:endParaRPr lang="en-US"/>
          </a:p>
          <a:p>
            <a:pPr eaLnBrk="0" hangingPunct="0"/>
            <a:r>
              <a:rPr lang="en-US"/>
              <a:t>&lt; 10 years</a:t>
            </a:r>
          </a:p>
          <a:p>
            <a:pPr eaLnBrk="0" hangingPunct="0"/>
            <a:endParaRPr lang="en-US"/>
          </a:p>
          <a:p>
            <a:pPr eaLnBrk="0" hangingPunct="0"/>
            <a:r>
              <a:rPr lang="en-US"/>
              <a:t>10 to 19 years</a:t>
            </a:r>
          </a:p>
          <a:p>
            <a:pPr eaLnBrk="0" hangingPunct="0"/>
            <a:endParaRPr lang="en-US"/>
          </a:p>
          <a:p>
            <a:pPr eaLnBrk="0" hangingPunct="0"/>
            <a:r>
              <a:rPr lang="en-US"/>
              <a:t>20 years plus</a:t>
            </a:r>
          </a:p>
        </p:txBody>
      </p:sp>
      <p:sp>
        <p:nvSpPr>
          <p:cNvPr id="25610" name="Line 10"/>
          <p:cNvSpPr>
            <a:spLocks noChangeShapeType="1"/>
          </p:cNvSpPr>
          <p:nvPr/>
        </p:nvSpPr>
        <p:spPr bwMode="auto">
          <a:xfrm>
            <a:off x="1219200" y="1066800"/>
            <a:ext cx="1981200" cy="1143000"/>
          </a:xfrm>
          <a:prstGeom prst="line">
            <a:avLst/>
          </a:prstGeom>
          <a:noFill/>
          <a:ln w="38100">
            <a:solidFill>
              <a:schemeClr val="tx1"/>
            </a:solidFill>
            <a:round/>
            <a:headEnd/>
            <a:tailEnd type="triangle" w="med" len="med"/>
          </a:ln>
        </p:spPr>
        <p:txBody>
          <a:bodyPr/>
          <a:lstStyle/>
          <a:p>
            <a:endParaRPr lang="en-US"/>
          </a:p>
        </p:txBody>
      </p:sp>
      <p:sp>
        <p:nvSpPr>
          <p:cNvPr id="25611" name="Line 11"/>
          <p:cNvSpPr>
            <a:spLocks noChangeShapeType="1"/>
          </p:cNvSpPr>
          <p:nvPr/>
        </p:nvSpPr>
        <p:spPr bwMode="auto">
          <a:xfrm>
            <a:off x="1219200" y="2438400"/>
            <a:ext cx="1981200" cy="381000"/>
          </a:xfrm>
          <a:prstGeom prst="line">
            <a:avLst/>
          </a:prstGeom>
          <a:noFill/>
          <a:ln w="38100">
            <a:solidFill>
              <a:schemeClr val="tx1"/>
            </a:solidFill>
            <a:round/>
            <a:headEnd/>
            <a:tailEnd type="triangle" w="med" len="med"/>
          </a:ln>
        </p:spPr>
        <p:txBody>
          <a:bodyPr/>
          <a:lstStyle/>
          <a:p>
            <a:endParaRPr lang="en-US"/>
          </a:p>
        </p:txBody>
      </p:sp>
      <p:sp>
        <p:nvSpPr>
          <p:cNvPr id="25612" name="Line 12"/>
          <p:cNvSpPr>
            <a:spLocks noChangeShapeType="1"/>
          </p:cNvSpPr>
          <p:nvPr/>
        </p:nvSpPr>
        <p:spPr bwMode="auto">
          <a:xfrm flipV="1">
            <a:off x="1219200" y="3352800"/>
            <a:ext cx="1981200" cy="457200"/>
          </a:xfrm>
          <a:prstGeom prst="line">
            <a:avLst/>
          </a:prstGeom>
          <a:noFill/>
          <a:ln w="38100">
            <a:solidFill>
              <a:schemeClr val="tx1"/>
            </a:solidFill>
            <a:round/>
            <a:headEnd/>
            <a:tailEnd type="triangle" w="med" len="med"/>
          </a:ln>
        </p:spPr>
        <p:txBody>
          <a:bodyPr/>
          <a:lstStyle/>
          <a:p>
            <a:endParaRPr lang="en-US"/>
          </a:p>
        </p:txBody>
      </p:sp>
      <p:sp>
        <p:nvSpPr>
          <p:cNvPr id="25613" name="Line 13"/>
          <p:cNvSpPr>
            <a:spLocks noChangeShapeType="1"/>
          </p:cNvSpPr>
          <p:nvPr/>
        </p:nvSpPr>
        <p:spPr bwMode="auto">
          <a:xfrm flipV="1">
            <a:off x="1219200" y="3962400"/>
            <a:ext cx="1981200" cy="1219200"/>
          </a:xfrm>
          <a:prstGeom prst="line">
            <a:avLst/>
          </a:prstGeom>
          <a:noFill/>
          <a:ln w="38100">
            <a:solidFill>
              <a:schemeClr val="tx1"/>
            </a:solidFill>
            <a:round/>
            <a:headEnd/>
            <a:tailEnd type="triangle" w="med" len="med"/>
          </a:ln>
        </p:spPr>
        <p:txBody>
          <a:bodyPr/>
          <a:lstStyle/>
          <a:p>
            <a:endParaRPr lang="en-US"/>
          </a:p>
        </p:txBody>
      </p:sp>
      <p:sp>
        <p:nvSpPr>
          <p:cNvPr id="25614" name="Line 14"/>
          <p:cNvSpPr>
            <a:spLocks noChangeShapeType="1"/>
          </p:cNvSpPr>
          <p:nvPr/>
        </p:nvSpPr>
        <p:spPr bwMode="auto">
          <a:xfrm flipV="1">
            <a:off x="1219200" y="4572000"/>
            <a:ext cx="1981200" cy="1676400"/>
          </a:xfrm>
          <a:prstGeom prst="line">
            <a:avLst/>
          </a:prstGeom>
          <a:noFill/>
          <a:ln w="38100">
            <a:solidFill>
              <a:schemeClr val="tx1"/>
            </a:solidFill>
            <a:round/>
            <a:headEnd/>
            <a:tailEnd type="triangle" w="med" len="med"/>
          </a:ln>
        </p:spPr>
        <p:txBody>
          <a:bodyPr/>
          <a:lstStyle/>
          <a:p>
            <a:endParaRPr lang="en-US"/>
          </a:p>
        </p:txBody>
      </p:sp>
      <p:sp>
        <p:nvSpPr>
          <p:cNvPr id="25615" name="Date Placeholder 14"/>
          <p:cNvSpPr>
            <a:spLocks noGrp="1"/>
          </p:cNvSpPr>
          <p:nvPr>
            <p:ph type="dt" sz="half" idx="10"/>
          </p:nvPr>
        </p:nvSpPr>
        <p:spPr>
          <a:xfrm>
            <a:off x="0" y="6619875"/>
            <a:ext cx="2133600" cy="476250"/>
          </a:xfrm>
          <a:noFill/>
        </p:spPr>
        <p:txBody>
          <a:bodyPr/>
          <a:lstStyle/>
          <a:p>
            <a:r>
              <a:rPr lang="en-US" smtClean="0"/>
              <a:t>S18</a:t>
            </a:r>
          </a:p>
        </p:txBody>
      </p:sp>
      <p:sp>
        <p:nvSpPr>
          <p:cNvPr id="25616" name="Slide Number Placeholder 15"/>
          <p:cNvSpPr>
            <a:spLocks noGrp="1"/>
          </p:cNvSpPr>
          <p:nvPr>
            <p:ph type="sldNum" sz="quarter" idx="12"/>
          </p:nvPr>
        </p:nvSpPr>
        <p:spPr>
          <a:xfrm>
            <a:off x="6705600" y="6553200"/>
            <a:ext cx="2133600" cy="304800"/>
          </a:xfrm>
          <a:noFill/>
        </p:spPr>
        <p:txBody>
          <a:bodyPr/>
          <a:lstStyle/>
          <a:p>
            <a:fld id="{344AEC2D-2570-4EE0-A0FC-393616B0EE35}" type="slidenum">
              <a:rPr lang="en-US" smtClean="0"/>
              <a:pPr/>
              <a:t>59</a:t>
            </a:fld>
            <a:endParaRPr lang="en-US"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200400" y="4191000"/>
            <a:ext cx="1600200" cy="6858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6627" name="Rectangle 3"/>
          <p:cNvSpPr>
            <a:spLocks noChangeArrowheads="1"/>
          </p:cNvSpPr>
          <p:nvPr/>
        </p:nvSpPr>
        <p:spPr bwMode="auto">
          <a:xfrm>
            <a:off x="3200400" y="2133600"/>
            <a:ext cx="1600200" cy="9144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6628" name="Rectangle 4"/>
          <p:cNvSpPr>
            <a:spLocks noChangeArrowheads="1"/>
          </p:cNvSpPr>
          <p:nvPr/>
        </p:nvSpPr>
        <p:spPr bwMode="auto">
          <a:xfrm>
            <a:off x="3200400" y="3048000"/>
            <a:ext cx="16002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629" name="Rectangle 5"/>
          <p:cNvSpPr>
            <a:spLocks noChangeArrowheads="1"/>
          </p:cNvSpPr>
          <p:nvPr/>
        </p:nvSpPr>
        <p:spPr bwMode="auto">
          <a:xfrm>
            <a:off x="457200" y="381000"/>
            <a:ext cx="762000" cy="1371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630" name="Rectangle 6"/>
          <p:cNvSpPr>
            <a:spLocks noChangeArrowheads="1"/>
          </p:cNvSpPr>
          <p:nvPr/>
        </p:nvSpPr>
        <p:spPr bwMode="auto">
          <a:xfrm>
            <a:off x="457200" y="4495800"/>
            <a:ext cx="762000" cy="13716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6631" name="Rectangle 7"/>
          <p:cNvSpPr>
            <a:spLocks noChangeArrowheads="1"/>
          </p:cNvSpPr>
          <p:nvPr/>
        </p:nvSpPr>
        <p:spPr bwMode="auto">
          <a:xfrm flipH="1" flipV="1">
            <a:off x="457200" y="1752600"/>
            <a:ext cx="762000" cy="1371600"/>
          </a:xfrm>
          <a:prstGeom prst="rect">
            <a:avLst/>
          </a:prstGeom>
          <a:solidFill>
            <a:schemeClr val="hlink"/>
          </a:solidFill>
          <a:ln w="9525">
            <a:solidFill>
              <a:schemeClr val="tx1"/>
            </a:solidFill>
            <a:miter lim="800000"/>
            <a:headEnd/>
            <a:tailEnd/>
          </a:ln>
        </p:spPr>
        <p:txBody>
          <a:bodyPr wrap="none" anchor="ctr"/>
          <a:lstStyle/>
          <a:p>
            <a:endParaRPr lang="en-US"/>
          </a:p>
        </p:txBody>
      </p:sp>
      <p:sp>
        <p:nvSpPr>
          <p:cNvPr id="26632" name="Rectangle 8"/>
          <p:cNvSpPr>
            <a:spLocks noChangeArrowheads="1"/>
          </p:cNvSpPr>
          <p:nvPr/>
        </p:nvSpPr>
        <p:spPr bwMode="auto">
          <a:xfrm>
            <a:off x="457200" y="3124200"/>
            <a:ext cx="762000" cy="1371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633" name="Rectangle 9"/>
          <p:cNvSpPr>
            <a:spLocks noChangeArrowheads="1"/>
          </p:cNvSpPr>
          <p:nvPr/>
        </p:nvSpPr>
        <p:spPr bwMode="auto">
          <a:xfrm>
            <a:off x="457200" y="5867400"/>
            <a:ext cx="762000" cy="609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634" name="Text Box 10"/>
          <p:cNvSpPr txBox="1">
            <a:spLocks noChangeArrowheads="1"/>
          </p:cNvSpPr>
          <p:nvPr/>
        </p:nvSpPr>
        <p:spPr bwMode="auto">
          <a:xfrm>
            <a:off x="457200" y="0"/>
            <a:ext cx="2057400" cy="6408738"/>
          </a:xfrm>
          <a:prstGeom prst="rect">
            <a:avLst/>
          </a:prstGeom>
          <a:noFill/>
          <a:ln w="9525">
            <a:noFill/>
            <a:miter lim="800000"/>
            <a:headEnd/>
            <a:tailEnd/>
          </a:ln>
        </p:spPr>
        <p:txBody>
          <a:bodyPr>
            <a:spAutoFit/>
          </a:bodyPr>
          <a:lstStyle/>
          <a:p>
            <a:pPr eaLnBrk="0" hangingPunct="0">
              <a:spcBef>
                <a:spcPct val="50000"/>
              </a:spcBef>
            </a:pPr>
            <a:r>
              <a:rPr lang="en-US"/>
              <a:t>SINGLE YEARS</a:t>
            </a:r>
          </a:p>
          <a:p>
            <a:pPr eaLnBrk="0" hangingPunct="0">
              <a:spcBef>
                <a:spcPct val="50000"/>
              </a:spcBef>
            </a:pPr>
            <a:r>
              <a:rPr lang="en-US" sz="1200"/>
              <a:t>&lt; 1 year	</a:t>
            </a:r>
          </a:p>
          <a:p>
            <a:pPr eaLnBrk="0" hangingPunct="0">
              <a:spcBef>
                <a:spcPct val="50000"/>
              </a:spcBef>
            </a:pPr>
            <a:r>
              <a:rPr lang="en-US" sz="1200"/>
              <a:t>1 year</a:t>
            </a:r>
          </a:p>
          <a:p>
            <a:pPr eaLnBrk="0" hangingPunct="0">
              <a:spcBef>
                <a:spcPct val="50000"/>
              </a:spcBef>
            </a:pPr>
            <a:r>
              <a:rPr lang="en-US" sz="1200"/>
              <a:t>2 years</a:t>
            </a:r>
          </a:p>
          <a:p>
            <a:pPr eaLnBrk="0" hangingPunct="0">
              <a:spcBef>
                <a:spcPct val="50000"/>
              </a:spcBef>
            </a:pPr>
            <a:r>
              <a:rPr lang="en-US" sz="1200"/>
              <a:t>3 years</a:t>
            </a:r>
          </a:p>
          <a:p>
            <a:pPr eaLnBrk="0" hangingPunct="0">
              <a:spcBef>
                <a:spcPct val="50000"/>
              </a:spcBef>
            </a:pPr>
            <a:r>
              <a:rPr lang="en-US" sz="1200"/>
              <a:t>4 years</a:t>
            </a:r>
          </a:p>
          <a:p>
            <a:pPr eaLnBrk="0" hangingPunct="0">
              <a:spcBef>
                <a:spcPct val="50000"/>
              </a:spcBef>
            </a:pPr>
            <a:r>
              <a:rPr lang="en-US" sz="1200"/>
              <a:t>5 years</a:t>
            </a:r>
          </a:p>
          <a:p>
            <a:pPr eaLnBrk="0" hangingPunct="0">
              <a:spcBef>
                <a:spcPct val="50000"/>
              </a:spcBef>
            </a:pPr>
            <a:r>
              <a:rPr lang="en-US" sz="1200"/>
              <a:t>6 years</a:t>
            </a:r>
          </a:p>
          <a:p>
            <a:pPr eaLnBrk="0" hangingPunct="0">
              <a:spcBef>
                <a:spcPct val="50000"/>
              </a:spcBef>
            </a:pPr>
            <a:r>
              <a:rPr lang="en-US" sz="1200"/>
              <a:t>7 years</a:t>
            </a:r>
          </a:p>
          <a:p>
            <a:pPr eaLnBrk="0" hangingPunct="0">
              <a:spcBef>
                <a:spcPct val="50000"/>
              </a:spcBef>
            </a:pPr>
            <a:r>
              <a:rPr lang="en-US" sz="1200"/>
              <a:t>8 years</a:t>
            </a:r>
          </a:p>
          <a:p>
            <a:pPr eaLnBrk="0" hangingPunct="0">
              <a:spcBef>
                <a:spcPct val="50000"/>
              </a:spcBef>
            </a:pPr>
            <a:r>
              <a:rPr lang="en-US" sz="1200"/>
              <a:t>9 years</a:t>
            </a:r>
          </a:p>
          <a:p>
            <a:pPr eaLnBrk="0" hangingPunct="0">
              <a:spcBef>
                <a:spcPct val="50000"/>
              </a:spcBef>
            </a:pPr>
            <a:r>
              <a:rPr lang="en-US" sz="1200"/>
              <a:t>10 years</a:t>
            </a:r>
          </a:p>
          <a:p>
            <a:pPr eaLnBrk="0" hangingPunct="0">
              <a:spcBef>
                <a:spcPct val="50000"/>
              </a:spcBef>
            </a:pPr>
            <a:r>
              <a:rPr lang="en-US" sz="1200"/>
              <a:t>11 years</a:t>
            </a:r>
          </a:p>
          <a:p>
            <a:pPr eaLnBrk="0" hangingPunct="0">
              <a:spcBef>
                <a:spcPct val="50000"/>
              </a:spcBef>
            </a:pPr>
            <a:r>
              <a:rPr lang="en-US" sz="1200"/>
              <a:t>12 years</a:t>
            </a:r>
          </a:p>
          <a:p>
            <a:pPr eaLnBrk="0" hangingPunct="0">
              <a:spcBef>
                <a:spcPct val="50000"/>
              </a:spcBef>
            </a:pPr>
            <a:r>
              <a:rPr lang="en-US" sz="1200"/>
              <a:t>13 years</a:t>
            </a:r>
          </a:p>
          <a:p>
            <a:pPr eaLnBrk="0" hangingPunct="0">
              <a:spcBef>
                <a:spcPct val="50000"/>
              </a:spcBef>
            </a:pPr>
            <a:r>
              <a:rPr lang="en-US" sz="1200"/>
              <a:t>14 years</a:t>
            </a:r>
          </a:p>
          <a:p>
            <a:pPr eaLnBrk="0" hangingPunct="0">
              <a:spcBef>
                <a:spcPct val="50000"/>
              </a:spcBef>
            </a:pPr>
            <a:r>
              <a:rPr lang="en-US" sz="1200"/>
              <a:t>15 years</a:t>
            </a:r>
          </a:p>
          <a:p>
            <a:pPr eaLnBrk="0" hangingPunct="0">
              <a:spcBef>
                <a:spcPct val="50000"/>
              </a:spcBef>
            </a:pPr>
            <a:r>
              <a:rPr lang="en-US" sz="1200"/>
              <a:t>16 years</a:t>
            </a:r>
          </a:p>
          <a:p>
            <a:pPr eaLnBrk="0" hangingPunct="0">
              <a:spcBef>
                <a:spcPct val="50000"/>
              </a:spcBef>
            </a:pPr>
            <a:r>
              <a:rPr lang="en-US" sz="1200"/>
              <a:t>17 years</a:t>
            </a:r>
          </a:p>
          <a:p>
            <a:pPr eaLnBrk="0" hangingPunct="0">
              <a:spcBef>
                <a:spcPct val="50000"/>
              </a:spcBef>
            </a:pPr>
            <a:r>
              <a:rPr lang="en-US" sz="1200"/>
              <a:t>18 years</a:t>
            </a:r>
          </a:p>
          <a:p>
            <a:pPr eaLnBrk="0" hangingPunct="0">
              <a:spcBef>
                <a:spcPct val="50000"/>
              </a:spcBef>
            </a:pPr>
            <a:r>
              <a:rPr lang="en-US" sz="1200"/>
              <a:t>19 years</a:t>
            </a:r>
          </a:p>
          <a:p>
            <a:pPr eaLnBrk="0" hangingPunct="0">
              <a:spcBef>
                <a:spcPct val="50000"/>
              </a:spcBef>
            </a:pPr>
            <a:r>
              <a:rPr lang="en-US" sz="1200"/>
              <a:t>20 years </a:t>
            </a:r>
          </a:p>
          <a:p>
            <a:pPr eaLnBrk="0" hangingPunct="0">
              <a:spcBef>
                <a:spcPct val="50000"/>
              </a:spcBef>
            </a:pPr>
            <a:r>
              <a:rPr lang="en-US" sz="1200"/>
              <a:t>Etc.</a:t>
            </a:r>
          </a:p>
        </p:txBody>
      </p:sp>
      <p:sp>
        <p:nvSpPr>
          <p:cNvPr id="26635" name="Text Box 11"/>
          <p:cNvSpPr txBox="1">
            <a:spLocks noChangeArrowheads="1"/>
          </p:cNvSpPr>
          <p:nvPr/>
        </p:nvSpPr>
        <p:spPr bwMode="auto">
          <a:xfrm>
            <a:off x="3124200" y="1524000"/>
            <a:ext cx="2203450" cy="3113088"/>
          </a:xfrm>
          <a:prstGeom prst="rect">
            <a:avLst/>
          </a:prstGeom>
          <a:noFill/>
          <a:ln w="9525">
            <a:noFill/>
            <a:miter lim="800000"/>
            <a:headEnd/>
            <a:tailEnd/>
          </a:ln>
        </p:spPr>
        <p:txBody>
          <a:bodyPr>
            <a:spAutoFit/>
          </a:bodyPr>
          <a:lstStyle/>
          <a:p>
            <a:pPr eaLnBrk="0" hangingPunct="0"/>
            <a:r>
              <a:rPr lang="en-US"/>
              <a:t>5 YEAR COHORTS</a:t>
            </a:r>
          </a:p>
          <a:p>
            <a:pPr eaLnBrk="0" hangingPunct="0"/>
            <a:endParaRPr lang="en-US"/>
          </a:p>
          <a:p>
            <a:pPr eaLnBrk="0" hangingPunct="0"/>
            <a:r>
              <a:rPr lang="en-US"/>
              <a:t>&lt; 5 years</a:t>
            </a:r>
          </a:p>
          <a:p>
            <a:pPr eaLnBrk="0" hangingPunct="0"/>
            <a:endParaRPr lang="en-US"/>
          </a:p>
          <a:p>
            <a:pPr eaLnBrk="0" hangingPunct="0"/>
            <a:r>
              <a:rPr lang="en-US"/>
              <a:t>5 to 9 years</a:t>
            </a:r>
          </a:p>
          <a:p>
            <a:pPr eaLnBrk="0" hangingPunct="0"/>
            <a:endParaRPr lang="en-US"/>
          </a:p>
          <a:p>
            <a:pPr eaLnBrk="0" hangingPunct="0"/>
            <a:r>
              <a:rPr lang="en-US"/>
              <a:t>10 to 14 years</a:t>
            </a:r>
          </a:p>
          <a:p>
            <a:pPr eaLnBrk="0" hangingPunct="0"/>
            <a:endParaRPr lang="en-US"/>
          </a:p>
          <a:p>
            <a:pPr eaLnBrk="0" hangingPunct="0"/>
            <a:r>
              <a:rPr lang="en-US"/>
              <a:t>15 to 19 years</a:t>
            </a:r>
          </a:p>
          <a:p>
            <a:pPr eaLnBrk="0" hangingPunct="0"/>
            <a:endParaRPr lang="en-US"/>
          </a:p>
          <a:p>
            <a:pPr eaLnBrk="0" hangingPunct="0"/>
            <a:r>
              <a:rPr lang="en-US"/>
              <a:t>20 years plus</a:t>
            </a:r>
          </a:p>
        </p:txBody>
      </p:sp>
      <p:sp>
        <p:nvSpPr>
          <p:cNvPr id="26636" name="Text Box 12"/>
          <p:cNvSpPr txBox="1">
            <a:spLocks noChangeArrowheads="1"/>
          </p:cNvSpPr>
          <p:nvPr/>
        </p:nvSpPr>
        <p:spPr bwMode="auto">
          <a:xfrm>
            <a:off x="6248400" y="2209800"/>
            <a:ext cx="2330450" cy="2014538"/>
          </a:xfrm>
          <a:prstGeom prst="rect">
            <a:avLst/>
          </a:prstGeom>
          <a:noFill/>
          <a:ln w="9525">
            <a:noFill/>
            <a:miter lim="800000"/>
            <a:headEnd/>
            <a:tailEnd/>
          </a:ln>
        </p:spPr>
        <p:txBody>
          <a:bodyPr wrap="none">
            <a:spAutoFit/>
          </a:bodyPr>
          <a:lstStyle/>
          <a:p>
            <a:pPr eaLnBrk="0" hangingPunct="0"/>
            <a:r>
              <a:rPr lang="en-US"/>
              <a:t>10 YEAR COHORTS</a:t>
            </a:r>
          </a:p>
          <a:p>
            <a:pPr eaLnBrk="0" hangingPunct="0"/>
            <a:endParaRPr lang="en-US"/>
          </a:p>
          <a:p>
            <a:pPr eaLnBrk="0" hangingPunct="0"/>
            <a:r>
              <a:rPr lang="en-US"/>
              <a:t>&lt; 10 years</a:t>
            </a:r>
          </a:p>
          <a:p>
            <a:pPr eaLnBrk="0" hangingPunct="0"/>
            <a:endParaRPr lang="en-US"/>
          </a:p>
          <a:p>
            <a:pPr eaLnBrk="0" hangingPunct="0"/>
            <a:r>
              <a:rPr lang="en-US"/>
              <a:t>10 to 19 years</a:t>
            </a:r>
          </a:p>
          <a:p>
            <a:pPr eaLnBrk="0" hangingPunct="0"/>
            <a:endParaRPr lang="en-US"/>
          </a:p>
          <a:p>
            <a:pPr eaLnBrk="0" hangingPunct="0"/>
            <a:r>
              <a:rPr lang="en-US"/>
              <a:t>20 years plus</a:t>
            </a:r>
          </a:p>
        </p:txBody>
      </p:sp>
      <p:sp>
        <p:nvSpPr>
          <p:cNvPr id="26637" name="Line 13"/>
          <p:cNvSpPr>
            <a:spLocks noChangeShapeType="1"/>
          </p:cNvSpPr>
          <p:nvPr/>
        </p:nvSpPr>
        <p:spPr bwMode="auto">
          <a:xfrm>
            <a:off x="1219200" y="1066800"/>
            <a:ext cx="1981200" cy="1143000"/>
          </a:xfrm>
          <a:prstGeom prst="line">
            <a:avLst/>
          </a:prstGeom>
          <a:noFill/>
          <a:ln w="38100">
            <a:solidFill>
              <a:schemeClr val="tx1"/>
            </a:solidFill>
            <a:round/>
            <a:headEnd/>
            <a:tailEnd type="triangle" w="med" len="med"/>
          </a:ln>
        </p:spPr>
        <p:txBody>
          <a:bodyPr/>
          <a:lstStyle/>
          <a:p>
            <a:endParaRPr lang="en-US"/>
          </a:p>
        </p:txBody>
      </p:sp>
      <p:sp>
        <p:nvSpPr>
          <p:cNvPr id="26638" name="Line 14"/>
          <p:cNvSpPr>
            <a:spLocks noChangeShapeType="1"/>
          </p:cNvSpPr>
          <p:nvPr/>
        </p:nvSpPr>
        <p:spPr bwMode="auto">
          <a:xfrm>
            <a:off x="1219200" y="2438400"/>
            <a:ext cx="1981200" cy="381000"/>
          </a:xfrm>
          <a:prstGeom prst="line">
            <a:avLst/>
          </a:prstGeom>
          <a:noFill/>
          <a:ln w="38100">
            <a:solidFill>
              <a:schemeClr val="tx1"/>
            </a:solidFill>
            <a:round/>
            <a:headEnd/>
            <a:tailEnd type="triangle" w="med" len="med"/>
          </a:ln>
        </p:spPr>
        <p:txBody>
          <a:bodyPr/>
          <a:lstStyle/>
          <a:p>
            <a:endParaRPr lang="en-US"/>
          </a:p>
        </p:txBody>
      </p:sp>
      <p:sp>
        <p:nvSpPr>
          <p:cNvPr id="26639" name="Line 15"/>
          <p:cNvSpPr>
            <a:spLocks noChangeShapeType="1"/>
          </p:cNvSpPr>
          <p:nvPr/>
        </p:nvSpPr>
        <p:spPr bwMode="auto">
          <a:xfrm flipV="1">
            <a:off x="1219200" y="3352800"/>
            <a:ext cx="1981200" cy="457200"/>
          </a:xfrm>
          <a:prstGeom prst="line">
            <a:avLst/>
          </a:prstGeom>
          <a:noFill/>
          <a:ln w="38100">
            <a:solidFill>
              <a:schemeClr val="tx1"/>
            </a:solidFill>
            <a:round/>
            <a:headEnd/>
            <a:tailEnd type="triangle" w="med" len="med"/>
          </a:ln>
        </p:spPr>
        <p:txBody>
          <a:bodyPr/>
          <a:lstStyle/>
          <a:p>
            <a:endParaRPr lang="en-US"/>
          </a:p>
        </p:txBody>
      </p:sp>
      <p:sp>
        <p:nvSpPr>
          <p:cNvPr id="26640" name="Line 16"/>
          <p:cNvSpPr>
            <a:spLocks noChangeShapeType="1"/>
          </p:cNvSpPr>
          <p:nvPr/>
        </p:nvSpPr>
        <p:spPr bwMode="auto">
          <a:xfrm flipV="1">
            <a:off x="1219200" y="3962400"/>
            <a:ext cx="1981200" cy="1219200"/>
          </a:xfrm>
          <a:prstGeom prst="line">
            <a:avLst/>
          </a:prstGeom>
          <a:noFill/>
          <a:ln w="38100">
            <a:solidFill>
              <a:schemeClr val="tx1"/>
            </a:solidFill>
            <a:round/>
            <a:headEnd/>
            <a:tailEnd type="triangle" w="med" len="med"/>
          </a:ln>
        </p:spPr>
        <p:txBody>
          <a:bodyPr/>
          <a:lstStyle/>
          <a:p>
            <a:endParaRPr lang="en-US"/>
          </a:p>
        </p:txBody>
      </p:sp>
      <p:sp>
        <p:nvSpPr>
          <p:cNvPr id="26641" name="Line 17"/>
          <p:cNvSpPr>
            <a:spLocks noChangeShapeType="1"/>
          </p:cNvSpPr>
          <p:nvPr/>
        </p:nvSpPr>
        <p:spPr bwMode="auto">
          <a:xfrm flipV="1">
            <a:off x="1219200" y="4572000"/>
            <a:ext cx="1981200" cy="1676400"/>
          </a:xfrm>
          <a:prstGeom prst="line">
            <a:avLst/>
          </a:prstGeom>
          <a:noFill/>
          <a:ln w="38100">
            <a:solidFill>
              <a:schemeClr val="tx1"/>
            </a:solidFill>
            <a:round/>
            <a:headEnd/>
            <a:tailEnd type="triangle" w="med" len="med"/>
          </a:ln>
        </p:spPr>
        <p:txBody>
          <a:bodyPr/>
          <a:lstStyle/>
          <a:p>
            <a:endParaRPr lang="en-US"/>
          </a:p>
        </p:txBody>
      </p:sp>
      <p:sp>
        <p:nvSpPr>
          <p:cNvPr id="26642" name="Line 18"/>
          <p:cNvSpPr>
            <a:spLocks noChangeShapeType="1"/>
          </p:cNvSpPr>
          <p:nvPr/>
        </p:nvSpPr>
        <p:spPr bwMode="auto">
          <a:xfrm>
            <a:off x="4800600" y="2514600"/>
            <a:ext cx="1447800" cy="381000"/>
          </a:xfrm>
          <a:prstGeom prst="line">
            <a:avLst/>
          </a:prstGeom>
          <a:noFill/>
          <a:ln w="38100">
            <a:solidFill>
              <a:schemeClr val="tx1"/>
            </a:solidFill>
            <a:round/>
            <a:headEnd/>
            <a:tailEnd type="triangle" w="med" len="med"/>
          </a:ln>
        </p:spPr>
        <p:txBody>
          <a:bodyPr/>
          <a:lstStyle/>
          <a:p>
            <a:endParaRPr lang="en-US"/>
          </a:p>
        </p:txBody>
      </p:sp>
      <p:sp>
        <p:nvSpPr>
          <p:cNvPr id="26643" name="Line 19"/>
          <p:cNvSpPr>
            <a:spLocks noChangeShapeType="1"/>
          </p:cNvSpPr>
          <p:nvPr/>
        </p:nvSpPr>
        <p:spPr bwMode="auto">
          <a:xfrm flipV="1">
            <a:off x="4800600" y="3505200"/>
            <a:ext cx="1524000" cy="76200"/>
          </a:xfrm>
          <a:prstGeom prst="line">
            <a:avLst/>
          </a:prstGeom>
          <a:noFill/>
          <a:ln w="38100">
            <a:solidFill>
              <a:schemeClr val="tx1"/>
            </a:solidFill>
            <a:round/>
            <a:headEnd/>
            <a:tailEnd type="triangle" w="med" len="med"/>
          </a:ln>
        </p:spPr>
        <p:txBody>
          <a:bodyPr/>
          <a:lstStyle/>
          <a:p>
            <a:endParaRPr lang="en-US"/>
          </a:p>
        </p:txBody>
      </p:sp>
      <p:sp>
        <p:nvSpPr>
          <p:cNvPr id="26644" name="Line 20"/>
          <p:cNvSpPr>
            <a:spLocks noChangeShapeType="1"/>
          </p:cNvSpPr>
          <p:nvPr/>
        </p:nvSpPr>
        <p:spPr bwMode="auto">
          <a:xfrm flipV="1">
            <a:off x="4800600" y="4038600"/>
            <a:ext cx="1447800" cy="457200"/>
          </a:xfrm>
          <a:prstGeom prst="line">
            <a:avLst/>
          </a:prstGeom>
          <a:noFill/>
          <a:ln w="38100">
            <a:solidFill>
              <a:schemeClr val="tx1"/>
            </a:solidFill>
            <a:round/>
            <a:headEnd/>
            <a:tailEnd type="triangle" w="med" len="med"/>
          </a:ln>
        </p:spPr>
        <p:txBody>
          <a:bodyPr/>
          <a:lstStyle/>
          <a:p>
            <a:endParaRPr lang="en-US"/>
          </a:p>
        </p:txBody>
      </p:sp>
      <p:sp>
        <p:nvSpPr>
          <p:cNvPr id="26645" name="Text Box 21"/>
          <p:cNvSpPr txBox="1">
            <a:spLocks noChangeArrowheads="1"/>
          </p:cNvSpPr>
          <p:nvPr/>
        </p:nvSpPr>
        <p:spPr bwMode="auto">
          <a:xfrm>
            <a:off x="4191000" y="5181600"/>
            <a:ext cx="4095750" cy="641350"/>
          </a:xfrm>
          <a:prstGeom prst="rect">
            <a:avLst/>
          </a:prstGeom>
          <a:noFill/>
          <a:ln w="9525">
            <a:noFill/>
            <a:miter lim="800000"/>
            <a:headEnd/>
            <a:tailEnd/>
          </a:ln>
        </p:spPr>
        <p:txBody>
          <a:bodyPr wrap="none">
            <a:spAutoFit/>
          </a:bodyPr>
          <a:lstStyle/>
          <a:p>
            <a:pPr eaLnBrk="0" hangingPunct="0"/>
            <a:r>
              <a:rPr lang="en-US">
                <a:solidFill>
                  <a:srgbClr val="259693"/>
                </a:solidFill>
              </a:rPr>
              <a:t>Each with both a human readable and </a:t>
            </a:r>
          </a:p>
          <a:p>
            <a:pPr eaLnBrk="0" hangingPunct="0"/>
            <a:r>
              <a:rPr lang="en-US">
                <a:solidFill>
                  <a:srgbClr val="259693"/>
                </a:solidFill>
              </a:rPr>
              <a:t>machine-actionable command</a:t>
            </a:r>
          </a:p>
        </p:txBody>
      </p:sp>
      <p:sp>
        <p:nvSpPr>
          <p:cNvPr id="26646" name="Date Placeholder 21"/>
          <p:cNvSpPr>
            <a:spLocks noGrp="1"/>
          </p:cNvSpPr>
          <p:nvPr>
            <p:ph type="dt" sz="half" idx="10"/>
          </p:nvPr>
        </p:nvSpPr>
        <p:spPr>
          <a:xfrm>
            <a:off x="0" y="6619875"/>
            <a:ext cx="2133600" cy="476250"/>
          </a:xfrm>
          <a:noFill/>
        </p:spPr>
        <p:txBody>
          <a:bodyPr/>
          <a:lstStyle/>
          <a:p>
            <a:r>
              <a:rPr lang="en-US" smtClean="0"/>
              <a:t>S18</a:t>
            </a:r>
          </a:p>
        </p:txBody>
      </p:sp>
      <p:sp>
        <p:nvSpPr>
          <p:cNvPr id="26647" name="Slide Number Placeholder 22"/>
          <p:cNvSpPr>
            <a:spLocks noGrp="1"/>
          </p:cNvSpPr>
          <p:nvPr>
            <p:ph type="sldNum" sz="quarter" idx="12"/>
          </p:nvPr>
        </p:nvSpPr>
        <p:spPr>
          <a:xfrm>
            <a:off x="6781800" y="6619875"/>
            <a:ext cx="2133600" cy="476250"/>
          </a:xfrm>
          <a:noFill/>
        </p:spPr>
        <p:txBody>
          <a:bodyPr/>
          <a:lstStyle/>
          <a:p>
            <a:fld id="{A595C8DB-C24F-4506-AB0D-4816035147C4}" type="slidenum">
              <a:rPr lang="en-US" smtClean="0"/>
              <a:pPr/>
              <a:t>60</a:t>
            </a:fld>
            <a:endParaRPr lang="en-US"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457200" y="274638"/>
            <a:ext cx="8229600" cy="792162"/>
          </a:xfrm>
        </p:spPr>
        <p:txBody>
          <a:bodyPr/>
          <a:lstStyle/>
          <a:p>
            <a:r>
              <a:rPr lang="en-US" smtClean="0"/>
              <a:t>Comparability</a:t>
            </a:r>
          </a:p>
        </p:txBody>
      </p:sp>
      <p:sp>
        <p:nvSpPr>
          <p:cNvPr id="27651" name="Content Placeholder 4"/>
          <p:cNvSpPr>
            <a:spLocks noGrp="1"/>
          </p:cNvSpPr>
          <p:nvPr>
            <p:ph idx="1"/>
          </p:nvPr>
        </p:nvSpPr>
        <p:spPr>
          <a:xfrm>
            <a:off x="381000" y="1066800"/>
            <a:ext cx="8229600" cy="5029200"/>
          </a:xfrm>
        </p:spPr>
        <p:txBody>
          <a:bodyPr/>
          <a:lstStyle/>
          <a:p>
            <a:r>
              <a:rPr lang="en-US" sz="2400" smtClean="0"/>
              <a:t>The comparability of a question or variable can be complex. You must look at all components. For example, with a question you need to look at:</a:t>
            </a:r>
          </a:p>
          <a:p>
            <a:pPr lvl="1"/>
            <a:r>
              <a:rPr lang="en-US" sz="2000" smtClean="0"/>
              <a:t>Question text</a:t>
            </a:r>
          </a:p>
          <a:p>
            <a:pPr lvl="1"/>
            <a:r>
              <a:rPr lang="en-US" sz="2000" smtClean="0"/>
              <a:t>Response domain structure</a:t>
            </a:r>
          </a:p>
          <a:p>
            <a:pPr lvl="2"/>
            <a:r>
              <a:rPr lang="en-US" sz="2000" smtClean="0"/>
              <a:t>Type of response domain</a:t>
            </a:r>
          </a:p>
          <a:p>
            <a:pPr lvl="2"/>
            <a:r>
              <a:rPr lang="en-US" sz="2000" smtClean="0"/>
              <a:t>Valid content, category, and coding schemes</a:t>
            </a:r>
          </a:p>
          <a:p>
            <a:r>
              <a:rPr lang="en-US" sz="2400" smtClean="0"/>
              <a:t>The following table looks at levels of comparability for a question with a coded response domain</a:t>
            </a:r>
          </a:p>
          <a:p>
            <a:r>
              <a:rPr lang="en-US" sz="2400" smtClean="0"/>
              <a:t>More than one comparability “map” may be needed to accurately describe comparability of a complex component</a:t>
            </a:r>
          </a:p>
        </p:txBody>
      </p:sp>
      <p:sp>
        <p:nvSpPr>
          <p:cNvPr id="27652" name="Date Placeholder 1"/>
          <p:cNvSpPr>
            <a:spLocks noGrp="1"/>
          </p:cNvSpPr>
          <p:nvPr>
            <p:ph type="dt" sz="half" idx="10"/>
          </p:nvPr>
        </p:nvSpPr>
        <p:spPr>
          <a:noFill/>
        </p:spPr>
        <p:txBody>
          <a:bodyPr/>
          <a:lstStyle/>
          <a:p>
            <a:r>
              <a:rPr lang="en-US" smtClean="0"/>
              <a:t>S18</a:t>
            </a:r>
          </a:p>
        </p:txBody>
      </p:sp>
      <p:sp>
        <p:nvSpPr>
          <p:cNvPr id="27653" name="Slide Number Placeholder 2"/>
          <p:cNvSpPr>
            <a:spLocks noGrp="1"/>
          </p:cNvSpPr>
          <p:nvPr>
            <p:ph type="sldNum" sz="quarter" idx="12"/>
          </p:nvPr>
        </p:nvSpPr>
        <p:spPr>
          <a:noFill/>
        </p:spPr>
        <p:txBody>
          <a:bodyPr/>
          <a:lstStyle/>
          <a:p>
            <a:fld id="{D5FE8FD7-4B54-49FB-A4FE-01C926594DEF}" type="slidenum">
              <a:rPr lang="en-US" smtClean="0"/>
              <a:pPr/>
              <a:t>61</a:t>
            </a:fld>
            <a:endParaRPr lang="en-US"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55" name="Date Placeholder 3"/>
          <p:cNvSpPr>
            <a:spLocks noGrp="1"/>
          </p:cNvSpPr>
          <p:nvPr>
            <p:ph type="dt" sz="half" idx="10"/>
          </p:nvPr>
        </p:nvSpPr>
        <p:spPr>
          <a:xfrm>
            <a:off x="0" y="0"/>
            <a:ext cx="2133600" cy="476250"/>
          </a:xfrm>
          <a:noFill/>
        </p:spPr>
        <p:txBody>
          <a:bodyPr/>
          <a:lstStyle/>
          <a:p>
            <a:r>
              <a:rPr lang="en-US" smtClean="0"/>
              <a:t>S18</a:t>
            </a:r>
          </a:p>
        </p:txBody>
      </p:sp>
      <p:sp>
        <p:nvSpPr>
          <p:cNvPr id="28756" name="Slide Number Placeholder 4"/>
          <p:cNvSpPr>
            <a:spLocks noGrp="1"/>
          </p:cNvSpPr>
          <p:nvPr>
            <p:ph type="sldNum" sz="quarter" idx="12"/>
          </p:nvPr>
        </p:nvSpPr>
        <p:spPr>
          <a:xfrm>
            <a:off x="7010400" y="0"/>
            <a:ext cx="2133600" cy="476250"/>
          </a:xfrm>
          <a:noFill/>
        </p:spPr>
        <p:txBody>
          <a:bodyPr/>
          <a:lstStyle/>
          <a:p>
            <a:fld id="{B8E6A1F3-5BD3-4CE4-8CA0-49558E2E3AC8}" type="slidenum">
              <a:rPr lang="en-US" smtClean="0"/>
              <a:pPr/>
              <a:t>62</a:t>
            </a:fld>
            <a:endParaRPr lang="en-US" smtClean="0"/>
          </a:p>
        </p:txBody>
      </p:sp>
      <p:sp>
        <p:nvSpPr>
          <p:cNvPr id="28674" name="Title 1"/>
          <p:cNvSpPr>
            <a:spLocks noGrp="1"/>
          </p:cNvSpPr>
          <p:nvPr>
            <p:ph type="title" idx="4294967295"/>
          </p:nvPr>
        </p:nvSpPr>
        <p:spPr>
          <a:xfrm>
            <a:off x="457200" y="457200"/>
            <a:ext cx="8686800" cy="838200"/>
          </a:xfrm>
        </p:spPr>
        <p:txBody>
          <a:bodyPr/>
          <a:lstStyle/>
          <a:p>
            <a:pPr eaLnBrk="1" hangingPunct="1"/>
            <a:r>
              <a:rPr lang="en-US" smtClean="0"/>
              <a:t>Detail of question comparability</a:t>
            </a:r>
          </a:p>
        </p:txBody>
      </p:sp>
      <p:graphicFrame>
        <p:nvGraphicFramePr>
          <p:cNvPr id="722008" name="Group 88"/>
          <p:cNvGraphicFramePr>
            <a:graphicFrameLocks noGrp="1"/>
          </p:cNvGraphicFramePr>
          <p:nvPr>
            <p:ph idx="4294967295"/>
          </p:nvPr>
        </p:nvGraphicFramePr>
        <p:xfrm>
          <a:off x="0" y="1600200"/>
          <a:ext cx="8229600" cy="5026347"/>
        </p:xfrm>
        <a:graphic>
          <a:graphicData uri="http://schemas.openxmlformats.org/drawingml/2006/table">
            <a:tbl>
              <a:tblPr/>
              <a:tblGrid>
                <a:gridCol w="1600200"/>
                <a:gridCol w="990600"/>
                <a:gridCol w="1143000"/>
                <a:gridCol w="1143000"/>
                <a:gridCol w="1143000"/>
                <a:gridCol w="1033463"/>
                <a:gridCol w="1176337"/>
              </a:tblGrid>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Comparison Map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Textual Content of   Main Body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Category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Code Scheme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r>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Different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rowSpan="8">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000000"/>
                          </a:solidFill>
                          <a:effectLst/>
                          <a:latin typeface="Arial" charset="0"/>
                        </a:rPr>
                        <a:t>Question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Interaction with other standards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What does interoperability mean?</a:t>
            </a:r>
          </a:p>
          <a:p>
            <a:r>
              <a:rPr lang="en-US" dirty="0" smtClean="0"/>
              <a:t>Which standards</a:t>
            </a:r>
          </a:p>
          <a:p>
            <a:pPr lvl="1"/>
            <a:r>
              <a:rPr lang="en-US" dirty="0" smtClean="0"/>
              <a:t>Dublin Core</a:t>
            </a:r>
          </a:p>
          <a:p>
            <a:pPr lvl="1"/>
            <a:r>
              <a:rPr lang="en-US" dirty="0" smtClean="0"/>
              <a:t>ISO/IEC 11179 – Data Element structures</a:t>
            </a:r>
          </a:p>
          <a:p>
            <a:pPr lvl="1"/>
            <a:r>
              <a:rPr lang="en-US" dirty="0" smtClean="0"/>
              <a:t>ISO/IEC 19115 – Geography</a:t>
            </a:r>
          </a:p>
          <a:p>
            <a:pPr lvl="1"/>
            <a:r>
              <a:rPr lang="en-US" dirty="0" smtClean="0"/>
              <a:t>SDMX</a:t>
            </a:r>
          </a:p>
          <a:p>
            <a:pPr lvl="1"/>
            <a:r>
              <a:rPr lang="en-US" dirty="0" smtClean="0"/>
              <a:t>Semantic web – RDF</a:t>
            </a:r>
          </a:p>
          <a:p>
            <a:pPr lvl="1"/>
            <a:r>
              <a:rPr lang="en-US" dirty="0" smtClean="0"/>
              <a:t>PREMIS</a:t>
            </a:r>
          </a:p>
          <a:p>
            <a:pPr lvl="1"/>
            <a:r>
              <a:rPr lang="en-US" dirty="0" smtClean="0"/>
              <a:t>Case study [check Sophia’s stuff]</a:t>
            </a:r>
          </a:p>
          <a:p>
            <a:pPr lvl="1"/>
            <a:r>
              <a:rPr lang="en-US" dirty="0" smtClean="0"/>
              <a:t>Environmental data structures</a:t>
            </a:r>
          </a:p>
          <a:p>
            <a:endParaRPr lang="en-US" dirty="0" smtClean="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Interoperability</a:t>
            </a:r>
            <a:endParaRPr lang="en-US" dirty="0"/>
          </a:p>
        </p:txBody>
      </p:sp>
      <p:sp>
        <p:nvSpPr>
          <p:cNvPr id="3" name="Content Placeholder 2"/>
          <p:cNvSpPr>
            <a:spLocks noGrp="1"/>
          </p:cNvSpPr>
          <p:nvPr>
            <p:ph idx="1"/>
          </p:nvPr>
        </p:nvSpPr>
        <p:spPr/>
        <p:txBody>
          <a:bodyPr/>
          <a:lstStyle/>
          <a:p>
            <a:r>
              <a:rPr lang="en-US" dirty="0" smtClean="0"/>
              <a:t>Known, predictable, and consistent relationship between objects</a:t>
            </a:r>
          </a:p>
          <a:p>
            <a:r>
              <a:rPr lang="en-US" dirty="0" smtClean="0"/>
              <a:t>Integration of standard</a:t>
            </a:r>
          </a:p>
          <a:p>
            <a:r>
              <a:rPr lang="en-US" dirty="0" smtClean="0"/>
              <a:t>Model consistency and coverage</a:t>
            </a:r>
          </a:p>
          <a:p>
            <a:r>
              <a:rPr lang="en-US" dirty="0" smtClean="0"/>
              <a:t>Mapping</a:t>
            </a:r>
          </a:p>
          <a:p>
            <a:r>
              <a:rPr lang="en-US" dirty="0" smtClean="0"/>
              <a:t>Identifying regions of overlap required for interaction and linking</a:t>
            </a:r>
            <a:endParaRPr lang="en-US" dirty="0"/>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Date Placeholder 3"/>
          <p:cNvSpPr>
            <a:spLocks noGrp="1"/>
          </p:cNvSpPr>
          <p:nvPr>
            <p:ph type="dt" sz="half" idx="10"/>
          </p:nvPr>
        </p:nvSpPr>
        <p:spPr>
          <a:noFill/>
        </p:spPr>
        <p:txBody>
          <a:bodyPr/>
          <a:lstStyle/>
          <a:p>
            <a:r>
              <a:rPr lang="en-US" smtClean="0"/>
              <a:t>S20</a:t>
            </a:r>
          </a:p>
        </p:txBody>
      </p:sp>
      <p:sp>
        <p:nvSpPr>
          <p:cNvPr id="32773" name="Slide Number Placeholder 4"/>
          <p:cNvSpPr>
            <a:spLocks noGrp="1"/>
          </p:cNvSpPr>
          <p:nvPr>
            <p:ph type="sldNum" sz="quarter" idx="12"/>
          </p:nvPr>
        </p:nvSpPr>
        <p:spPr>
          <a:noFill/>
        </p:spPr>
        <p:txBody>
          <a:bodyPr/>
          <a:lstStyle/>
          <a:p>
            <a:fld id="{2F41D4E2-3C89-422B-9F5D-5A138D416BC1}" type="slidenum">
              <a:rPr lang="en-US" smtClean="0"/>
              <a:pPr/>
              <a:t>65</a:t>
            </a:fld>
            <a:endParaRPr lang="en-US" smtClean="0"/>
          </a:p>
        </p:txBody>
      </p:sp>
      <p:sp>
        <p:nvSpPr>
          <p:cNvPr id="32770" name="Rectangle 2"/>
          <p:cNvSpPr>
            <a:spLocks noGrp="1" noChangeArrowheads="1"/>
          </p:cNvSpPr>
          <p:nvPr>
            <p:ph type="title" idx="4294967295"/>
          </p:nvPr>
        </p:nvSpPr>
        <p:spPr>
          <a:xfrm>
            <a:off x="0" y="274638"/>
            <a:ext cx="8229600" cy="1477962"/>
          </a:xfrm>
        </p:spPr>
        <p:txBody>
          <a:bodyPr/>
          <a:lstStyle/>
          <a:p>
            <a:pPr eaLnBrk="1" hangingPunct="1"/>
            <a:r>
              <a:rPr lang="en-US" smtClean="0"/>
              <a:t>Relationship to Other Standards: Archival </a:t>
            </a:r>
          </a:p>
        </p:txBody>
      </p:sp>
      <p:sp>
        <p:nvSpPr>
          <p:cNvPr id="32771" name="Rectangle 3"/>
          <p:cNvSpPr>
            <a:spLocks noGrp="1" noChangeArrowheads="1"/>
          </p:cNvSpPr>
          <p:nvPr>
            <p:ph type="body" idx="4294967295"/>
          </p:nvPr>
        </p:nvSpPr>
        <p:spPr>
          <a:xfrm>
            <a:off x="0" y="2057400"/>
            <a:ext cx="8229600" cy="4068763"/>
          </a:xfrm>
        </p:spPr>
        <p:txBody>
          <a:bodyPr/>
          <a:lstStyle/>
          <a:p>
            <a:pPr eaLnBrk="1" hangingPunct="1">
              <a:lnSpc>
                <a:spcPct val="80000"/>
              </a:lnSpc>
            </a:pPr>
            <a:r>
              <a:rPr lang="en-US" sz="2400" smtClean="0"/>
              <a:t>Dublin Core</a:t>
            </a:r>
          </a:p>
          <a:p>
            <a:pPr lvl="1" eaLnBrk="1" hangingPunct="1">
              <a:lnSpc>
                <a:spcPct val="80000"/>
              </a:lnSpc>
            </a:pPr>
            <a:r>
              <a:rPr lang="en-US" sz="2000" smtClean="0"/>
              <a:t>Basic bibliographic citation information</a:t>
            </a:r>
          </a:p>
          <a:p>
            <a:pPr lvl="1" eaLnBrk="1" hangingPunct="1">
              <a:lnSpc>
                <a:spcPct val="80000"/>
              </a:lnSpc>
            </a:pPr>
            <a:r>
              <a:rPr lang="en-US" sz="2000" smtClean="0"/>
              <a:t>Basic holdings and format information</a:t>
            </a:r>
          </a:p>
          <a:p>
            <a:pPr eaLnBrk="1" hangingPunct="1">
              <a:lnSpc>
                <a:spcPct val="80000"/>
              </a:lnSpc>
            </a:pPr>
            <a:r>
              <a:rPr lang="en-US" sz="2400" smtClean="0"/>
              <a:t>METS</a:t>
            </a:r>
          </a:p>
          <a:p>
            <a:pPr lvl="1" eaLnBrk="1" hangingPunct="1">
              <a:lnSpc>
                <a:spcPct val="80000"/>
              </a:lnSpc>
            </a:pPr>
            <a:r>
              <a:rPr lang="en-US" sz="2000" smtClean="0"/>
              <a:t>Upper level descriptive information for managing digital objects</a:t>
            </a:r>
          </a:p>
          <a:p>
            <a:pPr lvl="1" eaLnBrk="1" hangingPunct="1">
              <a:lnSpc>
                <a:spcPct val="80000"/>
              </a:lnSpc>
            </a:pPr>
            <a:r>
              <a:rPr lang="en-US" sz="2000" smtClean="0"/>
              <a:t>Provides specified structures for domain specific metadata</a:t>
            </a:r>
          </a:p>
          <a:p>
            <a:pPr eaLnBrk="1" hangingPunct="1">
              <a:lnSpc>
                <a:spcPct val="80000"/>
              </a:lnSpc>
            </a:pPr>
            <a:r>
              <a:rPr lang="en-US" sz="2400" smtClean="0"/>
              <a:t>OAIS </a:t>
            </a:r>
          </a:p>
          <a:p>
            <a:pPr lvl="1" eaLnBrk="1" hangingPunct="1">
              <a:lnSpc>
                <a:spcPct val="80000"/>
              </a:lnSpc>
            </a:pPr>
            <a:r>
              <a:rPr lang="en-US" sz="2000" smtClean="0"/>
              <a:t>Reference model for the archival lifecycle</a:t>
            </a:r>
          </a:p>
          <a:p>
            <a:pPr eaLnBrk="1" hangingPunct="1">
              <a:lnSpc>
                <a:spcPct val="80000"/>
              </a:lnSpc>
            </a:pPr>
            <a:r>
              <a:rPr lang="en-US" sz="2400" smtClean="0"/>
              <a:t>PREMIS</a:t>
            </a:r>
          </a:p>
          <a:p>
            <a:pPr lvl="1" eaLnBrk="1" hangingPunct="1">
              <a:lnSpc>
                <a:spcPct val="80000"/>
              </a:lnSpc>
            </a:pPr>
            <a:r>
              <a:rPr lang="en-US" sz="2000" smtClean="0"/>
              <a:t>Supports and documents the digital preservation process</a:t>
            </a:r>
          </a:p>
          <a:p>
            <a:pPr lvl="1" eaLnBrk="1" hangingPunct="1">
              <a:lnSpc>
                <a:spcPct val="80000"/>
              </a:lnSpc>
            </a:pPr>
            <a:endParaRPr lang="en-US" sz="2000" smtClean="0"/>
          </a:p>
          <a:p>
            <a:pPr lvl="1" eaLnBrk="1" hangingPunct="1">
              <a:lnSpc>
                <a:spcPct val="80000"/>
              </a:lnSpc>
            </a:pPr>
            <a:endParaRPr lang="en-US" sz="2000" smtClean="0"/>
          </a:p>
          <a:p>
            <a:pPr eaLnBrk="1" hangingPunct="1">
              <a:lnSpc>
                <a:spcPct val="80000"/>
              </a:lnSpc>
            </a:pPr>
            <a:endParaRPr lang="en-US" sz="240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Date Placeholder 3"/>
          <p:cNvSpPr>
            <a:spLocks noGrp="1"/>
          </p:cNvSpPr>
          <p:nvPr>
            <p:ph type="dt" sz="half" idx="10"/>
          </p:nvPr>
        </p:nvSpPr>
        <p:spPr>
          <a:noFill/>
        </p:spPr>
        <p:txBody>
          <a:bodyPr/>
          <a:lstStyle/>
          <a:p>
            <a:r>
              <a:rPr lang="en-US" smtClean="0"/>
              <a:t>S20</a:t>
            </a:r>
          </a:p>
        </p:txBody>
      </p:sp>
      <p:sp>
        <p:nvSpPr>
          <p:cNvPr id="33797" name="Slide Number Placeholder 4"/>
          <p:cNvSpPr>
            <a:spLocks noGrp="1"/>
          </p:cNvSpPr>
          <p:nvPr>
            <p:ph type="sldNum" sz="quarter" idx="12"/>
          </p:nvPr>
        </p:nvSpPr>
        <p:spPr>
          <a:noFill/>
        </p:spPr>
        <p:txBody>
          <a:bodyPr/>
          <a:lstStyle/>
          <a:p>
            <a:fld id="{9358D89C-9DB7-438F-B61C-C9C0430D8437}" type="slidenum">
              <a:rPr lang="en-US" smtClean="0"/>
              <a:pPr/>
              <a:t>66</a:t>
            </a:fld>
            <a:endParaRPr lang="en-US" smtClean="0"/>
          </a:p>
        </p:txBody>
      </p:sp>
      <p:sp>
        <p:nvSpPr>
          <p:cNvPr id="33794" name="Rectangle 2"/>
          <p:cNvSpPr>
            <a:spLocks noGrp="1" noChangeArrowheads="1"/>
          </p:cNvSpPr>
          <p:nvPr>
            <p:ph type="title" idx="4294967295"/>
          </p:nvPr>
        </p:nvSpPr>
        <p:spPr>
          <a:xfrm>
            <a:off x="457200" y="457200"/>
            <a:ext cx="8686800" cy="838200"/>
          </a:xfrm>
        </p:spPr>
        <p:txBody>
          <a:bodyPr/>
          <a:lstStyle/>
          <a:p>
            <a:pPr eaLnBrk="1" hangingPunct="1"/>
            <a:r>
              <a:rPr lang="en-US" smtClean="0"/>
              <a:t>Dublin Core  [AGLS]</a:t>
            </a:r>
          </a:p>
        </p:txBody>
      </p:sp>
      <p:sp>
        <p:nvSpPr>
          <p:cNvPr id="33795" name="Rectangle 3"/>
          <p:cNvSpPr>
            <a:spLocks noGrp="1" noChangeArrowheads="1"/>
          </p:cNvSpPr>
          <p:nvPr>
            <p:ph type="body" idx="4294967295"/>
          </p:nvPr>
        </p:nvSpPr>
        <p:spPr>
          <a:xfrm>
            <a:off x="0" y="1295400"/>
            <a:ext cx="8229600" cy="4830763"/>
          </a:xfrm>
        </p:spPr>
        <p:txBody>
          <a:bodyPr/>
          <a:lstStyle/>
          <a:p>
            <a:pPr eaLnBrk="1" hangingPunct="1"/>
            <a:r>
              <a:rPr lang="en-US" smtClean="0"/>
              <a:t>Purpose: describe resources</a:t>
            </a:r>
          </a:p>
          <a:p>
            <a:pPr lvl="1" eaLnBrk="1" hangingPunct="1"/>
            <a:r>
              <a:rPr lang="en-US" smtClean="0"/>
              <a:t>Standard for cross-domain information resource description</a:t>
            </a:r>
          </a:p>
          <a:p>
            <a:pPr lvl="1" eaLnBrk="1" hangingPunct="1"/>
            <a:r>
              <a:rPr lang="en-US" smtClean="0"/>
              <a:t>Widely used to describe digital materials such as video, sound, image, text, and composite media</a:t>
            </a:r>
          </a:p>
          <a:p>
            <a:pPr lvl="1" eaLnBrk="1" hangingPunct="1"/>
            <a:r>
              <a:rPr lang="en-US" smtClean="0"/>
              <a:t>Small core set of elements – can be extended</a:t>
            </a:r>
          </a:p>
          <a:p>
            <a:pPr lvl="1" eaLnBrk="1" hangingPunct="1"/>
            <a:r>
              <a:rPr lang="en-US" smtClean="0"/>
              <a:t>Used for survey documentation</a:t>
            </a:r>
          </a:p>
          <a:p>
            <a:pPr eaLnBrk="1" hangingPunct="1"/>
            <a:r>
              <a:rPr lang="en-US" smtClean="0"/>
              <a:t>Sponsors: Dublin Core Metadata Initiative</a:t>
            </a:r>
          </a:p>
          <a:p>
            <a:pPr eaLnBrk="1" hangingPunct="1"/>
            <a:r>
              <a:rPr lang="en-US" smtClean="0"/>
              <a:t>http://dublincore.org/</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Date Placeholder 3"/>
          <p:cNvSpPr>
            <a:spLocks noGrp="1"/>
          </p:cNvSpPr>
          <p:nvPr>
            <p:ph type="dt" sz="half" idx="10"/>
          </p:nvPr>
        </p:nvSpPr>
        <p:spPr>
          <a:noFill/>
        </p:spPr>
        <p:txBody>
          <a:bodyPr/>
          <a:lstStyle/>
          <a:p>
            <a:r>
              <a:rPr lang="en-US" smtClean="0"/>
              <a:t>S20</a:t>
            </a:r>
          </a:p>
        </p:txBody>
      </p:sp>
      <p:sp>
        <p:nvSpPr>
          <p:cNvPr id="34821" name="Slide Number Placeholder 4"/>
          <p:cNvSpPr>
            <a:spLocks noGrp="1"/>
          </p:cNvSpPr>
          <p:nvPr>
            <p:ph type="sldNum" sz="quarter" idx="12"/>
          </p:nvPr>
        </p:nvSpPr>
        <p:spPr>
          <a:noFill/>
        </p:spPr>
        <p:txBody>
          <a:bodyPr/>
          <a:lstStyle/>
          <a:p>
            <a:fld id="{1005356B-DAE9-4B74-80BB-D30FCFE1ADC7}" type="slidenum">
              <a:rPr lang="en-US" smtClean="0"/>
              <a:pPr/>
              <a:t>67</a:t>
            </a:fld>
            <a:endParaRPr lang="en-US" smtClean="0"/>
          </a:p>
        </p:txBody>
      </p:sp>
      <p:sp>
        <p:nvSpPr>
          <p:cNvPr id="34818"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METS: Metadata Encoding &amp; Transmission Standard</a:t>
            </a:r>
          </a:p>
        </p:txBody>
      </p:sp>
      <p:sp>
        <p:nvSpPr>
          <p:cNvPr id="34819" name="Rectangle 3"/>
          <p:cNvSpPr>
            <a:spLocks noGrp="1" noChangeArrowheads="1"/>
          </p:cNvSpPr>
          <p:nvPr>
            <p:ph type="body" idx="4294967295"/>
          </p:nvPr>
        </p:nvSpPr>
        <p:spPr>
          <a:xfrm>
            <a:off x="457200" y="1554163"/>
            <a:ext cx="8686800" cy="4525962"/>
          </a:xfrm>
        </p:spPr>
        <p:txBody>
          <a:bodyPr/>
          <a:lstStyle/>
          <a:p>
            <a:pPr eaLnBrk="1" hangingPunct="1">
              <a:lnSpc>
                <a:spcPct val="90000"/>
              </a:lnSpc>
            </a:pPr>
            <a:r>
              <a:rPr lang="en-US" sz="2400" smtClean="0"/>
              <a:t>A standard for encoding descriptive, administrative, and structural metadata regarding objects within a digital library</a:t>
            </a:r>
          </a:p>
          <a:p>
            <a:pPr eaLnBrk="1" hangingPunct="1">
              <a:lnSpc>
                <a:spcPct val="90000"/>
              </a:lnSpc>
            </a:pPr>
            <a:r>
              <a:rPr lang="en-US" sz="2400" smtClean="0"/>
              <a:t>Expressed using XML Schema</a:t>
            </a:r>
          </a:p>
          <a:p>
            <a:pPr eaLnBrk="1" hangingPunct="1">
              <a:lnSpc>
                <a:spcPct val="90000"/>
              </a:lnSpc>
            </a:pPr>
            <a:r>
              <a:rPr lang="en-US" sz="2400" smtClean="0"/>
              <a:t>Maintained in the Network Development and MARC Standards Office of the Library of Congress, </a:t>
            </a:r>
          </a:p>
          <a:p>
            <a:pPr eaLnBrk="1" hangingPunct="1">
              <a:lnSpc>
                <a:spcPct val="90000"/>
              </a:lnSpc>
            </a:pPr>
            <a:r>
              <a:rPr lang="en-US" sz="2400" smtClean="0"/>
              <a:t>Developed as an initiative of the Digital Library Federation.</a:t>
            </a:r>
          </a:p>
          <a:p>
            <a:pPr eaLnBrk="1" hangingPunct="1">
              <a:lnSpc>
                <a:spcPct val="90000"/>
              </a:lnSpc>
            </a:pPr>
            <a:r>
              <a:rPr lang="en-US" sz="2400" smtClean="0"/>
              <a:t>The editorial board endorses DDI for use with METS</a:t>
            </a:r>
          </a:p>
          <a:p>
            <a:pPr eaLnBrk="1" hangingPunct="1">
              <a:lnSpc>
                <a:spcPct val="90000"/>
              </a:lnSpc>
            </a:pPr>
            <a:r>
              <a:rPr lang="en-US" sz="2400" smtClean="0"/>
              <a:t>http://www.loc.gov/standards/mets/</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Date Placeholder 3"/>
          <p:cNvSpPr>
            <a:spLocks noGrp="1"/>
          </p:cNvSpPr>
          <p:nvPr>
            <p:ph type="dt" sz="half" idx="10"/>
          </p:nvPr>
        </p:nvSpPr>
        <p:spPr>
          <a:noFill/>
        </p:spPr>
        <p:txBody>
          <a:bodyPr/>
          <a:lstStyle/>
          <a:p>
            <a:r>
              <a:rPr lang="en-US" smtClean="0"/>
              <a:t>S20</a:t>
            </a:r>
          </a:p>
        </p:txBody>
      </p:sp>
      <p:sp>
        <p:nvSpPr>
          <p:cNvPr id="35845" name="Slide Number Placeholder 4"/>
          <p:cNvSpPr>
            <a:spLocks noGrp="1"/>
          </p:cNvSpPr>
          <p:nvPr>
            <p:ph type="sldNum" sz="quarter" idx="12"/>
          </p:nvPr>
        </p:nvSpPr>
        <p:spPr>
          <a:noFill/>
        </p:spPr>
        <p:txBody>
          <a:bodyPr/>
          <a:lstStyle/>
          <a:p>
            <a:fld id="{D31D7FBF-9F00-44F7-B83B-8374B3D3958F}" type="slidenum">
              <a:rPr lang="en-US" smtClean="0"/>
              <a:pPr/>
              <a:t>68</a:t>
            </a:fld>
            <a:endParaRPr lang="en-US" smtClean="0"/>
          </a:p>
        </p:txBody>
      </p:sp>
      <p:sp>
        <p:nvSpPr>
          <p:cNvPr id="35842"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PREMIS: Preservation Metadata Implementation Strategies</a:t>
            </a:r>
          </a:p>
        </p:txBody>
      </p:sp>
      <p:sp>
        <p:nvSpPr>
          <p:cNvPr id="35843" name="Rectangle 3"/>
          <p:cNvSpPr>
            <a:spLocks noGrp="1" noChangeArrowheads="1"/>
          </p:cNvSpPr>
          <p:nvPr>
            <p:ph type="body" idx="4294967295"/>
          </p:nvPr>
        </p:nvSpPr>
        <p:spPr>
          <a:xfrm>
            <a:off x="457200" y="1554163"/>
            <a:ext cx="8686800" cy="4525962"/>
          </a:xfrm>
        </p:spPr>
        <p:txBody>
          <a:bodyPr/>
          <a:lstStyle/>
          <a:p>
            <a:pPr eaLnBrk="1" hangingPunct="1">
              <a:lnSpc>
                <a:spcPct val="90000"/>
              </a:lnSpc>
              <a:buFontTx/>
              <a:buNone/>
            </a:pPr>
            <a:endParaRPr lang="en-US" sz="2400" smtClean="0"/>
          </a:p>
          <a:p>
            <a:pPr eaLnBrk="1" hangingPunct="1">
              <a:lnSpc>
                <a:spcPct val="90000"/>
              </a:lnSpc>
            </a:pPr>
            <a:r>
              <a:rPr lang="en-US" sz="2400" smtClean="0"/>
              <a:t>Preservation metadata makes digital objects self documenting over time</a:t>
            </a:r>
          </a:p>
          <a:p>
            <a:pPr eaLnBrk="1" hangingPunct="1">
              <a:lnSpc>
                <a:spcPct val="90000"/>
              </a:lnSpc>
            </a:pPr>
            <a:r>
              <a:rPr lang="en-US" sz="2400" smtClean="0"/>
              <a:t>XML based standard which can be used as an implementation of OAIS or other archival model</a:t>
            </a:r>
          </a:p>
          <a:p>
            <a:pPr eaLnBrk="1" hangingPunct="1">
              <a:lnSpc>
                <a:spcPct val="90000"/>
              </a:lnSpc>
            </a:pPr>
            <a:r>
              <a:rPr lang="en-US" sz="2400" smtClean="0"/>
              <a:t>Addresses:</a:t>
            </a:r>
          </a:p>
          <a:p>
            <a:pPr lvl="1" eaLnBrk="1" hangingPunct="1">
              <a:lnSpc>
                <a:spcPct val="90000"/>
              </a:lnSpc>
            </a:pPr>
            <a:r>
              <a:rPr lang="en-US" sz="2000" smtClean="0"/>
              <a:t>Provenance</a:t>
            </a:r>
          </a:p>
          <a:p>
            <a:pPr lvl="1" eaLnBrk="1" hangingPunct="1">
              <a:lnSpc>
                <a:spcPct val="90000"/>
              </a:lnSpc>
            </a:pPr>
            <a:r>
              <a:rPr lang="en-US" sz="2000" smtClean="0"/>
              <a:t>Authenticity</a:t>
            </a:r>
          </a:p>
          <a:p>
            <a:pPr lvl="1" eaLnBrk="1" hangingPunct="1">
              <a:lnSpc>
                <a:spcPct val="90000"/>
              </a:lnSpc>
            </a:pPr>
            <a:r>
              <a:rPr lang="en-US" sz="2000" smtClean="0"/>
              <a:t>Preservation activity</a:t>
            </a:r>
          </a:p>
          <a:p>
            <a:pPr lvl="1" eaLnBrk="1" hangingPunct="1">
              <a:lnSpc>
                <a:spcPct val="90000"/>
              </a:lnSpc>
            </a:pPr>
            <a:r>
              <a:rPr lang="en-US" sz="2000" smtClean="0"/>
              <a:t>Technical environment</a:t>
            </a:r>
          </a:p>
          <a:p>
            <a:pPr lvl="1" eaLnBrk="1" hangingPunct="1">
              <a:lnSpc>
                <a:spcPct val="90000"/>
              </a:lnSpc>
            </a:pPr>
            <a:r>
              <a:rPr lang="en-US" sz="2000" smtClean="0"/>
              <a:t>Rights management</a:t>
            </a:r>
          </a:p>
          <a:p>
            <a:pPr eaLnBrk="1" hangingPunct="1">
              <a:lnSpc>
                <a:spcPct val="90000"/>
              </a:lnSpc>
            </a:pPr>
            <a:r>
              <a:rPr lang="en-US" sz="2400" smtClean="0"/>
              <a:t>http://www.loc.gov/standards/premis/</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Date Placeholder 3"/>
          <p:cNvSpPr>
            <a:spLocks noGrp="1"/>
          </p:cNvSpPr>
          <p:nvPr>
            <p:ph type="dt" sz="half" idx="10"/>
          </p:nvPr>
        </p:nvSpPr>
        <p:spPr>
          <a:noFill/>
        </p:spPr>
        <p:txBody>
          <a:bodyPr/>
          <a:lstStyle/>
          <a:p>
            <a:r>
              <a:rPr lang="en-US" smtClean="0"/>
              <a:t>S20</a:t>
            </a:r>
          </a:p>
        </p:txBody>
      </p:sp>
      <p:sp>
        <p:nvSpPr>
          <p:cNvPr id="36869" name="Slide Number Placeholder 4"/>
          <p:cNvSpPr>
            <a:spLocks noGrp="1"/>
          </p:cNvSpPr>
          <p:nvPr>
            <p:ph type="sldNum" sz="quarter" idx="12"/>
          </p:nvPr>
        </p:nvSpPr>
        <p:spPr>
          <a:noFill/>
        </p:spPr>
        <p:txBody>
          <a:bodyPr/>
          <a:lstStyle/>
          <a:p>
            <a:fld id="{6648EC79-27E6-432C-A9EE-E52DDA1AE3F6}" type="slidenum">
              <a:rPr lang="en-US" smtClean="0"/>
              <a:pPr/>
              <a:t>69</a:t>
            </a:fld>
            <a:endParaRPr lang="en-US" smtClean="0"/>
          </a:p>
        </p:txBody>
      </p:sp>
      <p:sp>
        <p:nvSpPr>
          <p:cNvPr id="36866"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Relationship to Other Standards: Non-Archival</a:t>
            </a:r>
          </a:p>
        </p:txBody>
      </p:sp>
      <p:sp>
        <p:nvSpPr>
          <p:cNvPr id="36867" name="Rectangle 3"/>
          <p:cNvSpPr>
            <a:spLocks noGrp="1" noChangeArrowheads="1"/>
          </p:cNvSpPr>
          <p:nvPr>
            <p:ph type="body" idx="4294967295"/>
          </p:nvPr>
        </p:nvSpPr>
        <p:spPr>
          <a:xfrm>
            <a:off x="0" y="1981200"/>
            <a:ext cx="8229600" cy="4144963"/>
          </a:xfrm>
        </p:spPr>
        <p:txBody>
          <a:bodyPr/>
          <a:lstStyle/>
          <a:p>
            <a:pPr eaLnBrk="1" hangingPunct="1">
              <a:lnSpc>
                <a:spcPct val="80000"/>
              </a:lnSpc>
            </a:pPr>
            <a:r>
              <a:rPr lang="en-US" sz="2400" smtClean="0"/>
              <a:t>ISO 19115 – Geography</a:t>
            </a:r>
          </a:p>
          <a:p>
            <a:pPr lvl="1" eaLnBrk="1" hangingPunct="1">
              <a:lnSpc>
                <a:spcPct val="80000"/>
              </a:lnSpc>
            </a:pPr>
            <a:r>
              <a:rPr lang="en-US" sz="2000" smtClean="0"/>
              <a:t>Metadata structure for describing geographic feature files such as shape, boundary, or map image files and their associated attributes</a:t>
            </a:r>
          </a:p>
          <a:p>
            <a:pPr eaLnBrk="1" hangingPunct="1">
              <a:lnSpc>
                <a:spcPct val="80000"/>
              </a:lnSpc>
            </a:pPr>
            <a:r>
              <a:rPr lang="en-US" sz="2400" smtClean="0"/>
              <a:t>ISO/IEC 11179</a:t>
            </a:r>
          </a:p>
          <a:p>
            <a:pPr lvl="1" eaLnBrk="1" hangingPunct="1">
              <a:lnSpc>
                <a:spcPct val="80000"/>
              </a:lnSpc>
            </a:pPr>
            <a:r>
              <a:rPr lang="en-US" sz="2000" smtClean="0"/>
              <a:t>International standard for representing metadata in a Metadata Registry</a:t>
            </a:r>
          </a:p>
          <a:p>
            <a:pPr lvl="1" eaLnBrk="1" hangingPunct="1">
              <a:lnSpc>
                <a:spcPct val="80000"/>
              </a:lnSpc>
            </a:pPr>
            <a:r>
              <a:rPr lang="en-US" sz="2000" smtClean="0"/>
              <a:t>Consists of a hierarchy of “concepts” with associated properties for each concept</a:t>
            </a:r>
            <a:r>
              <a:rPr lang="en-US" smtClean="0"/>
              <a:t> </a:t>
            </a:r>
          </a:p>
          <a:p>
            <a:pPr eaLnBrk="1" hangingPunct="1">
              <a:lnSpc>
                <a:spcPct val="80000"/>
              </a:lnSpc>
            </a:pPr>
            <a:r>
              <a:rPr lang="en-US" sz="2400" smtClean="0"/>
              <a:t>SDMX</a:t>
            </a:r>
          </a:p>
          <a:p>
            <a:pPr lvl="1" eaLnBrk="1" hangingPunct="1">
              <a:lnSpc>
                <a:spcPct val="80000"/>
              </a:lnSpc>
            </a:pPr>
            <a:r>
              <a:rPr lang="en-US" sz="2000" smtClean="0"/>
              <a:t>Exchange of statistical information (time series/indicators) </a:t>
            </a:r>
          </a:p>
          <a:p>
            <a:pPr lvl="1" eaLnBrk="1" hangingPunct="1">
              <a:lnSpc>
                <a:spcPct val="80000"/>
              </a:lnSpc>
            </a:pPr>
            <a:r>
              <a:rPr lang="en-US" sz="2000" smtClean="0"/>
              <a:t>Supports metadata capture as well as implementation of registries</a:t>
            </a:r>
          </a:p>
          <a:p>
            <a:pPr lvl="1" eaLnBrk="1" hangingPunct="1">
              <a:lnSpc>
                <a:spcPct val="80000"/>
              </a:lnSpc>
              <a:buFontTx/>
              <a:buNone/>
            </a:pPr>
            <a:endParaRPr lang="en-US" sz="200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Date Placeholder 3"/>
          <p:cNvSpPr>
            <a:spLocks noGrp="1"/>
          </p:cNvSpPr>
          <p:nvPr>
            <p:ph type="dt" sz="half" idx="10"/>
          </p:nvPr>
        </p:nvSpPr>
        <p:spPr>
          <a:noFill/>
        </p:spPr>
        <p:txBody>
          <a:bodyPr/>
          <a:lstStyle/>
          <a:p>
            <a:r>
              <a:rPr lang="en-US" smtClean="0"/>
              <a:t>S20</a:t>
            </a:r>
          </a:p>
        </p:txBody>
      </p:sp>
      <p:sp>
        <p:nvSpPr>
          <p:cNvPr id="37893" name="Slide Number Placeholder 4"/>
          <p:cNvSpPr>
            <a:spLocks noGrp="1"/>
          </p:cNvSpPr>
          <p:nvPr>
            <p:ph type="sldNum" sz="quarter" idx="12"/>
          </p:nvPr>
        </p:nvSpPr>
        <p:spPr>
          <a:noFill/>
        </p:spPr>
        <p:txBody>
          <a:bodyPr/>
          <a:lstStyle/>
          <a:p>
            <a:fld id="{95768F87-BDC4-460E-9844-0D30FF9E526F}" type="slidenum">
              <a:rPr lang="en-US" smtClean="0"/>
              <a:pPr/>
              <a:t>70</a:t>
            </a:fld>
            <a:endParaRPr lang="en-US" smtClean="0"/>
          </a:p>
        </p:txBody>
      </p:sp>
      <p:sp>
        <p:nvSpPr>
          <p:cNvPr id="37890" name="Rectangle 2"/>
          <p:cNvSpPr>
            <a:spLocks noGrp="1" noChangeArrowheads="1"/>
          </p:cNvSpPr>
          <p:nvPr>
            <p:ph type="title" idx="4294967295"/>
          </p:nvPr>
        </p:nvSpPr>
        <p:spPr>
          <a:xfrm>
            <a:off x="457200" y="457200"/>
            <a:ext cx="8686800" cy="838200"/>
          </a:xfrm>
        </p:spPr>
        <p:txBody>
          <a:bodyPr/>
          <a:lstStyle/>
          <a:p>
            <a:pPr eaLnBrk="1" hangingPunct="1"/>
            <a:r>
              <a:rPr lang="en-US" smtClean="0"/>
              <a:t>ISO 19115</a:t>
            </a:r>
          </a:p>
        </p:txBody>
      </p:sp>
      <p:sp>
        <p:nvSpPr>
          <p:cNvPr id="37891" name="Rectangle 3"/>
          <p:cNvSpPr>
            <a:spLocks noGrp="1" noChangeArrowheads="1"/>
          </p:cNvSpPr>
          <p:nvPr>
            <p:ph type="body" idx="4294967295"/>
          </p:nvPr>
        </p:nvSpPr>
        <p:spPr>
          <a:xfrm>
            <a:off x="457200" y="1554163"/>
            <a:ext cx="8686800" cy="4525962"/>
          </a:xfrm>
        </p:spPr>
        <p:txBody>
          <a:bodyPr/>
          <a:lstStyle/>
          <a:p>
            <a:pPr eaLnBrk="1" hangingPunct="1">
              <a:lnSpc>
                <a:spcPct val="90000"/>
              </a:lnSpc>
            </a:pPr>
            <a:r>
              <a:rPr lang="en-US" sz="2800" smtClean="0"/>
              <a:t>Purpose: Capture geography</a:t>
            </a:r>
          </a:p>
          <a:p>
            <a:pPr lvl="1" eaLnBrk="1" hangingPunct="1">
              <a:lnSpc>
                <a:spcPct val="90000"/>
              </a:lnSpc>
            </a:pPr>
            <a:r>
              <a:rPr lang="en-US" sz="2400" smtClean="0"/>
              <a:t>It is a component of the series of ISO 191xx standards for Geospatial metadata. </a:t>
            </a:r>
          </a:p>
          <a:p>
            <a:pPr lvl="1" eaLnBrk="1" hangingPunct="1">
              <a:lnSpc>
                <a:spcPct val="90000"/>
              </a:lnSpc>
            </a:pPr>
            <a:r>
              <a:rPr lang="en-US" sz="2400" smtClean="0"/>
              <a:t>ISO 19115 defines how to describe geographical information and associated services, including contents, spatial-temporal purchases, data quality, access and rights to use.</a:t>
            </a:r>
          </a:p>
          <a:p>
            <a:pPr lvl="1" eaLnBrk="1" hangingPunct="1">
              <a:lnSpc>
                <a:spcPct val="90000"/>
              </a:lnSpc>
            </a:pPr>
            <a:r>
              <a:rPr lang="en-US" sz="2400" smtClean="0"/>
              <a:t>DDI 3 supports the ISO 19115 model</a:t>
            </a:r>
          </a:p>
          <a:p>
            <a:pPr eaLnBrk="1" hangingPunct="1">
              <a:lnSpc>
                <a:spcPct val="90000"/>
              </a:lnSpc>
            </a:pPr>
            <a:r>
              <a:rPr lang="en-US" sz="2800" smtClean="0"/>
              <a:t>Sponsors: ISO/TC 211 Geographic information/Geomatics</a:t>
            </a:r>
          </a:p>
          <a:p>
            <a:pPr eaLnBrk="1" hangingPunct="1">
              <a:lnSpc>
                <a:spcPct val="90000"/>
              </a:lnSpc>
            </a:pPr>
            <a:r>
              <a:rPr lang="en-US" sz="2800" smtClean="0"/>
              <a:t>http://www.isotc211.org/</a:t>
            </a:r>
          </a:p>
          <a:p>
            <a:pPr eaLnBrk="1" hangingPunct="1">
              <a:lnSpc>
                <a:spcPct val="90000"/>
              </a:lnSpc>
              <a:buFontTx/>
              <a:buNone/>
            </a:pPr>
            <a:endParaRPr lang="en-US" sz="2800" smtClean="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Date Placeholder 3"/>
          <p:cNvSpPr>
            <a:spLocks noGrp="1"/>
          </p:cNvSpPr>
          <p:nvPr>
            <p:ph type="dt" sz="half" idx="10"/>
          </p:nvPr>
        </p:nvSpPr>
        <p:spPr>
          <a:noFill/>
        </p:spPr>
        <p:txBody>
          <a:bodyPr/>
          <a:lstStyle/>
          <a:p>
            <a:r>
              <a:rPr lang="en-US" smtClean="0"/>
              <a:t>S20</a:t>
            </a:r>
          </a:p>
        </p:txBody>
      </p:sp>
      <p:sp>
        <p:nvSpPr>
          <p:cNvPr id="38917" name="Slide Number Placeholder 4"/>
          <p:cNvSpPr>
            <a:spLocks noGrp="1"/>
          </p:cNvSpPr>
          <p:nvPr>
            <p:ph type="sldNum" sz="quarter" idx="12"/>
          </p:nvPr>
        </p:nvSpPr>
        <p:spPr>
          <a:noFill/>
        </p:spPr>
        <p:txBody>
          <a:bodyPr/>
          <a:lstStyle/>
          <a:p>
            <a:fld id="{4BEB3927-0AC9-41A2-8985-CFF6E1E593C5}" type="slidenum">
              <a:rPr lang="en-US" smtClean="0"/>
              <a:pPr/>
              <a:t>71</a:t>
            </a:fld>
            <a:endParaRPr lang="en-US" smtClean="0"/>
          </a:p>
        </p:txBody>
      </p:sp>
      <p:sp>
        <p:nvSpPr>
          <p:cNvPr id="38914" name="Rectangle 2"/>
          <p:cNvSpPr>
            <a:spLocks noGrp="1" noChangeArrowheads="1"/>
          </p:cNvSpPr>
          <p:nvPr>
            <p:ph type="title" idx="4294967295"/>
          </p:nvPr>
        </p:nvSpPr>
        <p:spPr>
          <a:xfrm>
            <a:off x="457200" y="457200"/>
            <a:ext cx="8686800" cy="838200"/>
          </a:xfrm>
        </p:spPr>
        <p:txBody>
          <a:bodyPr/>
          <a:lstStyle/>
          <a:p>
            <a:pPr eaLnBrk="1" hangingPunct="1"/>
            <a:r>
              <a:rPr lang="en-US" smtClean="0"/>
              <a:t>ISO/IEC 11179</a:t>
            </a:r>
          </a:p>
        </p:txBody>
      </p:sp>
      <p:sp>
        <p:nvSpPr>
          <p:cNvPr id="38915" name="Rectangle 3"/>
          <p:cNvSpPr>
            <a:spLocks noGrp="1" noChangeArrowheads="1"/>
          </p:cNvSpPr>
          <p:nvPr>
            <p:ph type="body" idx="4294967295"/>
          </p:nvPr>
        </p:nvSpPr>
        <p:spPr>
          <a:xfrm>
            <a:off x="0" y="1447800"/>
            <a:ext cx="8229600" cy="4678363"/>
          </a:xfrm>
        </p:spPr>
        <p:txBody>
          <a:bodyPr/>
          <a:lstStyle/>
          <a:p>
            <a:pPr eaLnBrk="1" hangingPunct="1">
              <a:lnSpc>
                <a:spcPct val="90000"/>
              </a:lnSpc>
            </a:pPr>
            <a:r>
              <a:rPr lang="en-US" sz="2800" smtClean="0"/>
              <a:t>Purpose: Manage registries /  concepts</a:t>
            </a:r>
          </a:p>
          <a:p>
            <a:pPr lvl="1" eaLnBrk="1" hangingPunct="1">
              <a:lnSpc>
                <a:spcPct val="90000"/>
              </a:lnSpc>
            </a:pPr>
            <a:r>
              <a:rPr lang="en-US" sz="2400" smtClean="0"/>
              <a:t>International standard for representing metadata for an organization in a Metadata Registry (a central location in an organization where metadata definitions are stored and maintained in a controlled fashion)</a:t>
            </a:r>
          </a:p>
          <a:p>
            <a:pPr lvl="1" eaLnBrk="1" hangingPunct="1">
              <a:lnSpc>
                <a:spcPct val="90000"/>
              </a:lnSpc>
            </a:pPr>
            <a:r>
              <a:rPr lang="en-US" sz="2400" smtClean="0"/>
              <a:t>Compliance with this standard is important for other standards, and both DDI 3 and SDMX have mapping mechanisms</a:t>
            </a:r>
          </a:p>
          <a:p>
            <a:pPr eaLnBrk="1" hangingPunct="1">
              <a:lnSpc>
                <a:spcPct val="90000"/>
              </a:lnSpc>
            </a:pPr>
            <a:r>
              <a:rPr lang="en-US" sz="2800" smtClean="0"/>
              <a:t>Sponsors: ISO/IEC Joint Technical Committee on Metadata Standards</a:t>
            </a:r>
          </a:p>
          <a:p>
            <a:pPr eaLnBrk="1" hangingPunct="1">
              <a:lnSpc>
                <a:spcPct val="90000"/>
              </a:lnSpc>
            </a:pPr>
            <a:r>
              <a:rPr lang="en-US" sz="2800" smtClean="0"/>
              <a:t>http://metadata-standards.org/</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4" name="Date Placeholder 17"/>
          <p:cNvSpPr>
            <a:spLocks noGrp="1"/>
          </p:cNvSpPr>
          <p:nvPr>
            <p:ph type="dt" sz="half" idx="10"/>
          </p:nvPr>
        </p:nvSpPr>
        <p:spPr>
          <a:noFill/>
        </p:spPr>
        <p:txBody>
          <a:bodyPr/>
          <a:lstStyle/>
          <a:p>
            <a:r>
              <a:rPr lang="en-US" smtClean="0"/>
              <a:t>S20</a:t>
            </a:r>
          </a:p>
        </p:txBody>
      </p:sp>
      <p:sp>
        <p:nvSpPr>
          <p:cNvPr id="39955" name="Slide Number Placeholder 19"/>
          <p:cNvSpPr>
            <a:spLocks noGrp="1"/>
          </p:cNvSpPr>
          <p:nvPr>
            <p:ph type="sldNum" sz="quarter" idx="12"/>
          </p:nvPr>
        </p:nvSpPr>
        <p:spPr>
          <a:noFill/>
        </p:spPr>
        <p:txBody>
          <a:bodyPr/>
          <a:lstStyle/>
          <a:p>
            <a:fld id="{5399B1BA-55AB-4077-AEF3-36D2FBC03FB8}" type="slidenum">
              <a:rPr lang="en-US" smtClean="0"/>
              <a:pPr/>
              <a:t>72</a:t>
            </a:fld>
            <a:endParaRPr lang="en-US" smtClean="0"/>
          </a:p>
        </p:txBody>
      </p:sp>
      <p:sp>
        <p:nvSpPr>
          <p:cNvPr id="39938" name="Title 3"/>
          <p:cNvSpPr>
            <a:spLocks noGrp="1"/>
          </p:cNvSpPr>
          <p:nvPr>
            <p:ph type="title" idx="4294967295"/>
          </p:nvPr>
        </p:nvSpPr>
        <p:spPr>
          <a:xfrm>
            <a:off x="0" y="4800600"/>
            <a:ext cx="5486400" cy="566738"/>
          </a:xfrm>
        </p:spPr>
        <p:txBody>
          <a:bodyPr anchor="b"/>
          <a:lstStyle/>
          <a:p>
            <a:pPr algn="l"/>
            <a:r>
              <a:rPr lang="en-US" sz="2000" b="1" smtClean="0"/>
              <a:t>ISO/IEC 11179-1</a:t>
            </a:r>
          </a:p>
        </p:txBody>
      </p:sp>
      <p:sp>
        <p:nvSpPr>
          <p:cNvPr id="6" name="Text Placeholder 5"/>
          <p:cNvSpPr>
            <a:spLocks noGrp="1"/>
          </p:cNvSpPr>
          <p:nvPr>
            <p:ph type="body" sz="half" idx="4294967295"/>
          </p:nvPr>
        </p:nvSpPr>
        <p:spPr>
          <a:xfrm>
            <a:off x="0" y="5367338"/>
            <a:ext cx="5486400" cy="804862"/>
          </a:xfrm>
        </p:spPr>
        <p:txBody>
          <a:bodyPr>
            <a:normAutofit lnSpcReduction="10000"/>
          </a:bodyPr>
          <a:lstStyle/>
          <a:p>
            <a:pPr marL="0" indent="0">
              <a:lnSpc>
                <a:spcPct val="80000"/>
              </a:lnSpc>
              <a:buFontTx/>
              <a:buNone/>
              <a:defRPr/>
            </a:pPr>
            <a:r>
              <a:rPr lang="en-US" sz="1000" dirty="0"/>
              <a:t>International Standard ISO/IEC 11179-1: Information technology – Specification and standardization of data elements – Part 1: Framework for the specification and standardization of data elements Technologies de </a:t>
            </a:r>
            <a:r>
              <a:rPr lang="en-US" sz="1000" dirty="0" err="1"/>
              <a:t>l’informatin</a:t>
            </a:r>
            <a:r>
              <a:rPr lang="en-US" sz="1000" dirty="0"/>
              <a:t> – </a:t>
            </a:r>
            <a:r>
              <a:rPr lang="en-US" sz="1000" dirty="0" err="1"/>
              <a:t>Spécifiction</a:t>
            </a:r>
            <a:r>
              <a:rPr lang="en-US" sz="1000" dirty="0"/>
              <a:t> et normalization des elements de </a:t>
            </a:r>
            <a:r>
              <a:rPr lang="en-US" sz="1000" dirty="0" err="1"/>
              <a:t>données</a:t>
            </a:r>
            <a:r>
              <a:rPr lang="en-US" sz="1000" dirty="0"/>
              <a:t> – </a:t>
            </a:r>
            <a:r>
              <a:rPr lang="en-US" sz="1000" dirty="0" err="1"/>
              <a:t>Partie</a:t>
            </a:r>
            <a:r>
              <a:rPr lang="en-US" sz="1000" dirty="0"/>
              <a:t> 1: Cadre pout la specification et la normalization des elements de </a:t>
            </a:r>
            <a:r>
              <a:rPr lang="en-US" sz="1000" dirty="0" err="1"/>
              <a:t>données</a:t>
            </a:r>
            <a:r>
              <a:rPr lang="en-US" sz="1000" dirty="0"/>
              <a:t>. First edition 1999-12-01 (p26) http://metadata-standards.org/11179-1/ISO-IEC_11179-1_1999_IS_E.pdf</a:t>
            </a:r>
          </a:p>
        </p:txBody>
      </p:sp>
      <p:pic>
        <p:nvPicPr>
          <p:cNvPr id="39940" name="Picture 2"/>
          <p:cNvPicPr>
            <a:picLocks noGrp="1" noChangeAspect="1" noChangeArrowheads="1"/>
          </p:cNvPicPr>
          <p:nvPr>
            <p:ph idx="4294967295"/>
          </p:nvPr>
        </p:nvPicPr>
        <p:blipFill>
          <a:blip r:embed="rId2" cstate="print"/>
          <a:srcRect t="168" b="168"/>
          <a:stretch>
            <a:fillRect/>
          </a:stretch>
        </p:blipFill>
        <p:spPr>
          <a:xfrm>
            <a:off x="1752600" y="685800"/>
            <a:ext cx="5486400" cy="4114800"/>
          </a:xfrm>
        </p:spPr>
      </p:pic>
      <p:sp>
        <p:nvSpPr>
          <p:cNvPr id="8" name="TextBox 7"/>
          <p:cNvSpPr txBox="1">
            <a:spLocks noChangeArrowheads="1"/>
          </p:cNvSpPr>
          <p:nvPr/>
        </p:nvSpPr>
        <p:spPr bwMode="auto">
          <a:xfrm>
            <a:off x="6781800" y="609600"/>
            <a:ext cx="1022350" cy="369888"/>
          </a:xfrm>
          <a:prstGeom prst="rect">
            <a:avLst/>
          </a:prstGeom>
          <a:noFill/>
          <a:ln w="9525">
            <a:noFill/>
            <a:miter lim="800000"/>
            <a:headEnd/>
            <a:tailEnd/>
          </a:ln>
        </p:spPr>
        <p:txBody>
          <a:bodyPr wrap="none">
            <a:spAutoFit/>
          </a:bodyPr>
          <a:lstStyle/>
          <a:p>
            <a:r>
              <a:rPr lang="en-US" b="1">
                <a:solidFill>
                  <a:srgbClr val="C00000"/>
                </a:solidFill>
                <a:latin typeface="Calibri" pitchFamily="34" charset="0"/>
              </a:rPr>
              <a:t>Universe</a:t>
            </a:r>
          </a:p>
        </p:txBody>
      </p:sp>
      <p:cxnSp>
        <p:nvCxnSpPr>
          <p:cNvPr id="10" name="Straight Arrow Connector 9"/>
          <p:cNvCxnSpPr>
            <a:stCxn id="8" idx="1"/>
          </p:cNvCxnSpPr>
          <p:nvPr/>
        </p:nvCxnSpPr>
        <p:spPr>
          <a:xfrm rot="10800000" flipV="1">
            <a:off x="4724400" y="793750"/>
            <a:ext cx="2057400" cy="806450"/>
          </a:xfrm>
          <a:prstGeom prst="straightConnector1">
            <a:avLst/>
          </a:prstGeom>
          <a:ln>
            <a:headEnd w="lg" len="lg"/>
            <a:tailEnd type="arrow"/>
          </a:ln>
        </p:spPr>
        <p:style>
          <a:lnRef idx="3">
            <a:schemeClr val="accent2"/>
          </a:lnRef>
          <a:fillRef idx="0">
            <a:schemeClr val="accent2"/>
          </a:fillRef>
          <a:effectRef idx="2">
            <a:schemeClr val="accent2"/>
          </a:effectRef>
          <a:fontRef idx="minor">
            <a:schemeClr val="tx1"/>
          </a:fontRef>
        </p:style>
      </p:cxnSp>
      <p:sp>
        <p:nvSpPr>
          <p:cNvPr id="11" name="TextBox 10"/>
          <p:cNvSpPr txBox="1">
            <a:spLocks noChangeArrowheads="1"/>
          </p:cNvSpPr>
          <p:nvPr/>
        </p:nvSpPr>
        <p:spPr bwMode="auto">
          <a:xfrm>
            <a:off x="7162800" y="1371600"/>
            <a:ext cx="962025" cy="369888"/>
          </a:xfrm>
          <a:prstGeom prst="rect">
            <a:avLst/>
          </a:prstGeom>
          <a:noFill/>
          <a:ln w="9525">
            <a:noFill/>
            <a:miter lim="800000"/>
            <a:headEnd/>
            <a:tailEnd/>
          </a:ln>
        </p:spPr>
        <p:txBody>
          <a:bodyPr wrap="none">
            <a:spAutoFit/>
          </a:bodyPr>
          <a:lstStyle/>
          <a:p>
            <a:r>
              <a:rPr lang="en-US" b="1">
                <a:solidFill>
                  <a:srgbClr val="C00000"/>
                </a:solidFill>
                <a:latin typeface="Calibri" pitchFamily="34" charset="0"/>
              </a:rPr>
              <a:t>Concept</a:t>
            </a:r>
          </a:p>
        </p:txBody>
      </p:sp>
      <p:cxnSp>
        <p:nvCxnSpPr>
          <p:cNvPr id="13" name="Straight Arrow Connector 12"/>
          <p:cNvCxnSpPr>
            <a:stCxn id="11" idx="1"/>
          </p:cNvCxnSpPr>
          <p:nvPr/>
        </p:nvCxnSpPr>
        <p:spPr>
          <a:xfrm rot="10800000" flipV="1">
            <a:off x="4724400" y="1555750"/>
            <a:ext cx="2438400" cy="1035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4" name="TextBox 13"/>
          <p:cNvSpPr txBox="1">
            <a:spLocks noChangeArrowheads="1"/>
          </p:cNvSpPr>
          <p:nvPr/>
        </p:nvSpPr>
        <p:spPr bwMode="auto">
          <a:xfrm>
            <a:off x="6369050" y="3200400"/>
            <a:ext cx="2820988" cy="646113"/>
          </a:xfrm>
          <a:prstGeom prst="rect">
            <a:avLst/>
          </a:prstGeom>
          <a:noFill/>
          <a:ln w="9525">
            <a:noFill/>
            <a:miter lim="800000"/>
            <a:headEnd/>
            <a:tailEnd/>
          </a:ln>
        </p:spPr>
        <p:txBody>
          <a:bodyPr wrap="none">
            <a:spAutoFit/>
          </a:bodyPr>
          <a:lstStyle/>
          <a:p>
            <a:r>
              <a:rPr lang="en-US" b="1">
                <a:solidFill>
                  <a:srgbClr val="C00000"/>
                </a:solidFill>
                <a:latin typeface="Calibri" pitchFamily="34" charset="0"/>
              </a:rPr>
              <a:t>Variable Representation</a:t>
            </a:r>
          </a:p>
          <a:p>
            <a:r>
              <a:rPr lang="en-US" b="1">
                <a:solidFill>
                  <a:srgbClr val="C00000"/>
                </a:solidFill>
                <a:latin typeface="Calibri" pitchFamily="34" charset="0"/>
              </a:rPr>
              <a:t>Question Response Domain</a:t>
            </a:r>
          </a:p>
        </p:txBody>
      </p:sp>
      <p:cxnSp>
        <p:nvCxnSpPr>
          <p:cNvPr id="16" name="Straight Arrow Connector 15"/>
          <p:cNvCxnSpPr>
            <a:stCxn id="14" idx="1"/>
          </p:cNvCxnSpPr>
          <p:nvPr/>
        </p:nvCxnSpPr>
        <p:spPr>
          <a:xfrm rot="10800000" flipV="1">
            <a:off x="4724400" y="3524250"/>
            <a:ext cx="1644650" cy="2095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TextBox 11"/>
          <p:cNvSpPr txBox="1">
            <a:spLocks noChangeArrowheads="1"/>
          </p:cNvSpPr>
          <p:nvPr/>
        </p:nvSpPr>
        <p:spPr bwMode="auto">
          <a:xfrm>
            <a:off x="228600" y="1905000"/>
            <a:ext cx="2025650" cy="915988"/>
          </a:xfrm>
          <a:prstGeom prst="rect">
            <a:avLst/>
          </a:prstGeom>
          <a:noFill/>
          <a:ln w="9525">
            <a:noFill/>
            <a:miter lim="800000"/>
            <a:headEnd/>
            <a:tailEnd/>
          </a:ln>
        </p:spPr>
        <p:txBody>
          <a:bodyPr>
            <a:spAutoFit/>
          </a:bodyPr>
          <a:lstStyle/>
          <a:p>
            <a:pPr fontAlgn="auto">
              <a:spcBef>
                <a:spcPts val="0"/>
              </a:spcBef>
              <a:spcAft>
                <a:spcPts val="0"/>
              </a:spcAft>
              <a:defRPr/>
            </a:pPr>
            <a:r>
              <a:rPr lang="en-US" b="1" dirty="0">
                <a:solidFill>
                  <a:schemeClr val="accent1">
                    <a:lumMod val="75000"/>
                  </a:schemeClr>
                </a:solidFill>
                <a:latin typeface="+mn-lt"/>
              </a:rPr>
              <a:t>Variable OR</a:t>
            </a:r>
          </a:p>
          <a:p>
            <a:pPr fontAlgn="auto">
              <a:spcBef>
                <a:spcPts val="0"/>
              </a:spcBef>
              <a:spcAft>
                <a:spcPts val="0"/>
              </a:spcAft>
              <a:defRPr/>
            </a:pPr>
            <a:r>
              <a:rPr lang="en-US" b="1" dirty="0">
                <a:solidFill>
                  <a:schemeClr val="accent1">
                    <a:lumMod val="75000"/>
                  </a:schemeClr>
                </a:solidFill>
                <a:latin typeface="+mn-lt"/>
              </a:rPr>
              <a:t>Question Construct</a:t>
            </a:r>
          </a:p>
        </p:txBody>
      </p:sp>
      <p:cxnSp>
        <p:nvCxnSpPr>
          <p:cNvPr id="17" name="Straight Arrow Connector 16"/>
          <p:cNvCxnSpPr>
            <a:stCxn id="12" idx="3"/>
          </p:cNvCxnSpPr>
          <p:nvPr/>
        </p:nvCxnSpPr>
        <p:spPr>
          <a:xfrm flipV="1">
            <a:off x="2254250" y="1887538"/>
            <a:ext cx="1631950" cy="4762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Straight Arrow Connector 18"/>
          <p:cNvCxnSpPr>
            <a:stCxn id="12" idx="3"/>
          </p:cNvCxnSpPr>
          <p:nvPr/>
        </p:nvCxnSpPr>
        <p:spPr>
          <a:xfrm>
            <a:off x="2254250" y="2363788"/>
            <a:ext cx="1631950" cy="3619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1" name="Straight Arrow Connector 20"/>
          <p:cNvCxnSpPr>
            <a:stCxn id="12" idx="3"/>
          </p:cNvCxnSpPr>
          <p:nvPr/>
        </p:nvCxnSpPr>
        <p:spPr>
          <a:xfrm>
            <a:off x="2254250" y="2363788"/>
            <a:ext cx="1631950" cy="12763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2" name="TextBox 21"/>
          <p:cNvSpPr txBox="1"/>
          <p:nvPr/>
        </p:nvSpPr>
        <p:spPr>
          <a:xfrm>
            <a:off x="7086600" y="1981200"/>
            <a:ext cx="1474788" cy="646113"/>
          </a:xfrm>
          <a:prstGeom prst="rect">
            <a:avLst/>
          </a:prstGeom>
          <a:noFill/>
        </p:spPr>
        <p:txBody>
          <a:bodyPr wrap="none">
            <a:spAutoFit/>
          </a:bodyPr>
          <a:lstStyle/>
          <a:p>
            <a:pPr fontAlgn="auto">
              <a:spcBef>
                <a:spcPts val="0"/>
              </a:spcBef>
              <a:spcAft>
                <a:spcPts val="0"/>
              </a:spcAft>
              <a:defRPr/>
            </a:pPr>
            <a:r>
              <a:rPr lang="en-US" b="1" dirty="0">
                <a:solidFill>
                  <a:schemeClr val="accent1">
                    <a:lumMod val="75000"/>
                  </a:schemeClr>
                </a:solidFill>
                <a:latin typeface="+mn-lt"/>
              </a:rPr>
              <a:t>Data Element</a:t>
            </a:r>
          </a:p>
          <a:p>
            <a:pPr fontAlgn="auto">
              <a:spcBef>
                <a:spcPts val="0"/>
              </a:spcBef>
              <a:spcAft>
                <a:spcPts val="0"/>
              </a:spcAft>
              <a:defRPr/>
            </a:pPr>
            <a:r>
              <a:rPr lang="en-US" b="1" dirty="0">
                <a:solidFill>
                  <a:schemeClr val="accent1">
                    <a:lumMod val="75000"/>
                  </a:schemeClr>
                </a:solidFill>
                <a:latin typeface="+mn-lt"/>
              </a:rPr>
              <a:t>Concept</a:t>
            </a:r>
          </a:p>
        </p:txBody>
      </p:sp>
      <p:cxnSp>
        <p:nvCxnSpPr>
          <p:cNvPr id="24" name="Straight Arrow Connector 23"/>
          <p:cNvCxnSpPr/>
          <p:nvPr/>
        </p:nvCxnSpPr>
        <p:spPr>
          <a:xfrm rot="10800000">
            <a:off x="4953000" y="1676400"/>
            <a:ext cx="2133600" cy="609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a:stCxn id="22" idx="1"/>
          </p:cNvCxnSpPr>
          <p:nvPr/>
        </p:nvCxnSpPr>
        <p:spPr>
          <a:xfrm rot="10800000" flipV="1">
            <a:off x="4953000" y="2305050"/>
            <a:ext cx="2133600" cy="3619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TextBox 19"/>
          <p:cNvSpPr txBox="1"/>
          <p:nvPr/>
        </p:nvSpPr>
        <p:spPr>
          <a:xfrm>
            <a:off x="0" y="2971800"/>
            <a:ext cx="1654620" cy="646331"/>
          </a:xfrm>
          <a:prstGeom prst="rect">
            <a:avLst/>
          </a:prstGeom>
          <a:noFill/>
        </p:spPr>
        <p:txBody>
          <a:bodyPr wrap="none" rtlCol="0">
            <a:spAutoFit/>
          </a:bodyPr>
          <a:lstStyle/>
          <a:p>
            <a:pPr algn="ctr"/>
            <a:r>
              <a:rPr lang="en-US" b="1" dirty="0" smtClean="0">
                <a:solidFill>
                  <a:schemeClr val="accent6"/>
                </a:solidFill>
                <a:cs typeface="Aharoni" pitchFamily="2" charset="-79"/>
              </a:rPr>
              <a:t>New</a:t>
            </a:r>
          </a:p>
          <a:p>
            <a:pPr algn="ctr"/>
            <a:r>
              <a:rPr lang="en-US" b="1" dirty="0" smtClean="0">
                <a:solidFill>
                  <a:schemeClr val="accent6"/>
                </a:solidFill>
                <a:cs typeface="Aharoni" pitchFamily="2" charset="-79"/>
              </a:rPr>
              <a:t>  Data Element</a:t>
            </a:r>
            <a:endParaRPr lang="en-US" b="1" dirty="0">
              <a:solidFill>
                <a:schemeClr val="accent6"/>
              </a:solidFill>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1" nodeType="clickEffect">
                                  <p:stCondLst>
                                    <p:cond delay="0"/>
                                  </p:stCondLst>
                                  <p:childTnLst>
                                    <p:animEffect transition="out" filter="dissolv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par>
                                <p:cTn id="38" presetID="9" presetClass="exit" presetSubtype="0" fill="hold" grpId="1" nodeType="withEffect">
                                  <p:stCondLst>
                                    <p:cond delay="0"/>
                                  </p:stCondLst>
                                  <p:childTnLst>
                                    <p:animEffect transition="out" filter="dissolv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par>
                                <p:cTn id="41" presetID="9" presetClass="exit" presetSubtype="0" fill="hold" nodeType="withEffect">
                                  <p:stCondLst>
                                    <p:cond delay="0"/>
                                  </p:stCondLst>
                                  <p:childTnLst>
                                    <p:animEffect transition="out" filter="dissolve">
                                      <p:cBhvr>
                                        <p:cTn id="42" dur="500"/>
                                        <p:tgtEl>
                                          <p:spTgt spid="10"/>
                                        </p:tgtEl>
                                      </p:cBhvr>
                                    </p:animEffect>
                                    <p:set>
                                      <p:cBhvr>
                                        <p:cTn id="43" dur="1" fill="hold">
                                          <p:stCondLst>
                                            <p:cond delay="499"/>
                                          </p:stCondLst>
                                        </p:cTn>
                                        <p:tgtEl>
                                          <p:spTgt spid="10"/>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par>
                                <p:cTn id="47" presetID="9" presetClass="exit" presetSubtype="0" fill="hold" grpId="1" nodeType="withEffect">
                                  <p:stCondLst>
                                    <p:cond delay="0"/>
                                  </p:stCondLst>
                                  <p:childTnLst>
                                    <p:animEffect transition="out" filter="dissolv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par>
                                <p:cTn id="50" presetID="9" presetClass="exit" presetSubtype="0" fill="hold" nodeType="withEffect">
                                  <p:stCondLst>
                                    <p:cond delay="0"/>
                                  </p:stCondLst>
                                  <p:childTnLst>
                                    <p:animEffect transition="out" filter="dissolv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1" grpId="0"/>
      <p:bldP spid="11" grpId="1"/>
      <p:bldP spid="14" grpId="0"/>
      <p:bldP spid="14" grpId="1"/>
      <p:bldP spid="12" grpId="0"/>
      <p:bldP spid="22" grpId="0"/>
      <p:bldP spid="2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Date Placeholder 3"/>
          <p:cNvSpPr>
            <a:spLocks noGrp="1"/>
          </p:cNvSpPr>
          <p:nvPr>
            <p:ph type="dt" sz="half" idx="10"/>
          </p:nvPr>
        </p:nvSpPr>
        <p:spPr>
          <a:xfrm>
            <a:off x="0" y="6381750"/>
            <a:ext cx="2133600" cy="476250"/>
          </a:xfrm>
          <a:noFill/>
        </p:spPr>
        <p:txBody>
          <a:bodyPr/>
          <a:lstStyle/>
          <a:p>
            <a:r>
              <a:rPr lang="en-US" smtClean="0"/>
              <a:t>S20</a:t>
            </a:r>
          </a:p>
        </p:txBody>
      </p:sp>
      <p:sp>
        <p:nvSpPr>
          <p:cNvPr id="40965" name="Slide Number Placeholder 4"/>
          <p:cNvSpPr>
            <a:spLocks noGrp="1"/>
          </p:cNvSpPr>
          <p:nvPr>
            <p:ph type="sldNum" sz="quarter" idx="12"/>
          </p:nvPr>
        </p:nvSpPr>
        <p:spPr>
          <a:xfrm>
            <a:off x="7010400" y="6381750"/>
            <a:ext cx="2133600" cy="476250"/>
          </a:xfrm>
          <a:noFill/>
        </p:spPr>
        <p:txBody>
          <a:bodyPr/>
          <a:lstStyle/>
          <a:p>
            <a:fld id="{90F41721-D0B5-4D26-99C8-038A6A957FA5}" type="slidenum">
              <a:rPr lang="en-US" smtClean="0"/>
              <a:pPr/>
              <a:t>73</a:t>
            </a:fld>
            <a:endParaRPr lang="en-US" smtClean="0"/>
          </a:p>
        </p:txBody>
      </p:sp>
      <p:sp>
        <p:nvSpPr>
          <p:cNvPr id="40962"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Statistical Data and Metadata Exchange (SDMX)</a:t>
            </a:r>
          </a:p>
        </p:txBody>
      </p:sp>
      <p:sp>
        <p:nvSpPr>
          <p:cNvPr id="40963" name="Rectangle 3"/>
          <p:cNvSpPr>
            <a:spLocks noGrp="1" noChangeArrowheads="1"/>
          </p:cNvSpPr>
          <p:nvPr>
            <p:ph type="body" idx="4294967295"/>
          </p:nvPr>
        </p:nvSpPr>
        <p:spPr>
          <a:xfrm>
            <a:off x="457200" y="1554163"/>
            <a:ext cx="8686800" cy="4525962"/>
          </a:xfrm>
        </p:spPr>
        <p:txBody>
          <a:bodyPr>
            <a:normAutofit lnSpcReduction="10000"/>
          </a:bodyPr>
          <a:lstStyle/>
          <a:p>
            <a:pPr eaLnBrk="1" hangingPunct="1"/>
            <a:r>
              <a:rPr lang="en-US" sz="2800" smtClean="0"/>
              <a:t>Purpose: Exchange of statistical information (time series/indicators). </a:t>
            </a:r>
          </a:p>
          <a:p>
            <a:pPr lvl="1" eaLnBrk="1" hangingPunct="1"/>
            <a:r>
              <a:rPr lang="en-US" sz="2000" smtClean="0"/>
              <a:t>Covers the metadata capture as well as implementation of registries. </a:t>
            </a:r>
          </a:p>
          <a:p>
            <a:pPr lvl="1" eaLnBrk="1" hangingPunct="1"/>
            <a:r>
              <a:rPr lang="en-US" sz="2000" smtClean="0"/>
              <a:t>Currently version 2.0 and also an ISO standard (17369:2005)</a:t>
            </a:r>
          </a:p>
          <a:p>
            <a:pPr eaLnBrk="1" hangingPunct="1"/>
            <a:r>
              <a:rPr lang="en-US" sz="2800" smtClean="0"/>
              <a:t>Sponsors: </a:t>
            </a:r>
            <a:r>
              <a:rPr lang="en-US" sz="2000" smtClean="0"/>
              <a:t>Bank for International Settlements (BIS), European Central Bank (ECB), EUROSTAT, International Monetary Fund (IMF), Organization for Economic Cooperation and Development (OECD), United Nations (UN), World Bank</a:t>
            </a:r>
          </a:p>
          <a:p>
            <a:pPr eaLnBrk="1" hangingPunct="1"/>
            <a:r>
              <a:rPr lang="en-US" sz="2800" smtClean="0"/>
              <a:t>Can actually be used for many other purposes. It’s a metadata metadata model.</a:t>
            </a:r>
          </a:p>
          <a:p>
            <a:pPr eaLnBrk="1" hangingPunct="1"/>
            <a:r>
              <a:rPr lang="en-US" sz="2800" smtClean="0"/>
              <a:t>http://www.sdmx.org</a:t>
            </a: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Date Placeholder 3"/>
          <p:cNvSpPr>
            <a:spLocks noGrp="1"/>
          </p:cNvSpPr>
          <p:nvPr>
            <p:ph type="dt" sz="half" idx="10"/>
          </p:nvPr>
        </p:nvSpPr>
        <p:spPr>
          <a:xfrm>
            <a:off x="228600" y="228600"/>
            <a:ext cx="2133600" cy="476250"/>
          </a:xfrm>
          <a:noFill/>
        </p:spPr>
        <p:txBody>
          <a:bodyPr/>
          <a:lstStyle/>
          <a:p>
            <a:r>
              <a:rPr lang="en-US" smtClean="0"/>
              <a:t>S20</a:t>
            </a:r>
          </a:p>
        </p:txBody>
      </p:sp>
      <p:sp>
        <p:nvSpPr>
          <p:cNvPr id="41989" name="Slide Number Placeholder 4"/>
          <p:cNvSpPr>
            <a:spLocks noGrp="1"/>
          </p:cNvSpPr>
          <p:nvPr>
            <p:ph type="sldNum" sz="quarter" idx="12"/>
          </p:nvPr>
        </p:nvSpPr>
        <p:spPr>
          <a:xfrm>
            <a:off x="6781800" y="228600"/>
            <a:ext cx="2133600" cy="476250"/>
          </a:xfrm>
          <a:noFill/>
        </p:spPr>
        <p:txBody>
          <a:bodyPr/>
          <a:lstStyle/>
          <a:p>
            <a:fld id="{9116F617-0532-41B1-ACF6-A01D46951D8E}" type="slidenum">
              <a:rPr lang="en-US" smtClean="0"/>
              <a:pPr/>
              <a:t>74</a:t>
            </a:fld>
            <a:endParaRPr lang="en-US" smtClean="0"/>
          </a:p>
        </p:txBody>
      </p:sp>
      <p:sp>
        <p:nvSpPr>
          <p:cNvPr id="41986" name="Rectangle 2"/>
          <p:cNvSpPr>
            <a:spLocks noGrp="1" noChangeArrowheads="1"/>
          </p:cNvSpPr>
          <p:nvPr>
            <p:ph type="title" idx="4294967295"/>
          </p:nvPr>
        </p:nvSpPr>
        <p:spPr>
          <a:xfrm>
            <a:off x="457200" y="457200"/>
            <a:ext cx="8686800" cy="838200"/>
          </a:xfrm>
        </p:spPr>
        <p:txBody>
          <a:bodyPr/>
          <a:lstStyle/>
          <a:p>
            <a:pPr eaLnBrk="1" hangingPunct="1"/>
            <a:r>
              <a:rPr lang="en-US" smtClean="0"/>
              <a:t>DDI 3 &amp; SDMX 2.0</a:t>
            </a:r>
          </a:p>
        </p:txBody>
      </p:sp>
      <p:sp>
        <p:nvSpPr>
          <p:cNvPr id="41987" name="Rectangle 3"/>
          <p:cNvSpPr>
            <a:spLocks noGrp="1" noChangeArrowheads="1"/>
          </p:cNvSpPr>
          <p:nvPr>
            <p:ph type="body" idx="4294967295"/>
          </p:nvPr>
        </p:nvSpPr>
        <p:spPr>
          <a:xfrm>
            <a:off x="457200" y="1554163"/>
            <a:ext cx="8686800" cy="4525962"/>
          </a:xfrm>
        </p:spPr>
        <p:txBody>
          <a:bodyPr>
            <a:normAutofit fontScale="92500"/>
          </a:bodyPr>
          <a:lstStyle/>
          <a:p>
            <a:pPr eaLnBrk="1" hangingPunct="1">
              <a:lnSpc>
                <a:spcPct val="90000"/>
              </a:lnSpc>
            </a:pPr>
            <a:r>
              <a:rPr lang="en-US" sz="2800" smtClean="0"/>
              <a:t>Are complementary specifications</a:t>
            </a:r>
          </a:p>
          <a:p>
            <a:pPr eaLnBrk="1" hangingPunct="1">
              <a:lnSpc>
                <a:spcPct val="90000"/>
              </a:lnSpc>
            </a:pPr>
            <a:r>
              <a:rPr lang="en-US" sz="2800" smtClean="0"/>
              <a:t>DDI 3 and SDMX 2.0 have been designed to work with each other</a:t>
            </a:r>
          </a:p>
          <a:p>
            <a:pPr lvl="1" eaLnBrk="1" hangingPunct="1">
              <a:lnSpc>
                <a:spcPct val="90000"/>
              </a:lnSpc>
            </a:pPr>
            <a:r>
              <a:rPr lang="en-US" sz="2400" smtClean="0"/>
              <a:t>SDMX registries can wrap DDI documents</a:t>
            </a:r>
          </a:p>
          <a:p>
            <a:pPr lvl="1" eaLnBrk="1" hangingPunct="1">
              <a:lnSpc>
                <a:spcPct val="90000"/>
              </a:lnSpc>
            </a:pPr>
            <a:r>
              <a:rPr lang="en-US" sz="2400" smtClean="0"/>
              <a:t>Microdata: single point in time / geography, high level of details (for statisticians, researchers)</a:t>
            </a:r>
          </a:p>
          <a:p>
            <a:pPr lvl="1" eaLnBrk="1" hangingPunct="1">
              <a:lnSpc>
                <a:spcPct val="90000"/>
              </a:lnSpc>
            </a:pPr>
            <a:r>
              <a:rPr lang="en-US" sz="2400" smtClean="0"/>
              <a:t>Macrodata: high level indicators across time and geography (for economists, policy makers)</a:t>
            </a:r>
          </a:p>
          <a:p>
            <a:pPr lvl="1" eaLnBrk="1" hangingPunct="1">
              <a:lnSpc>
                <a:spcPct val="90000"/>
              </a:lnSpc>
            </a:pPr>
            <a:r>
              <a:rPr lang="en-US" sz="2400" smtClean="0"/>
              <a:t>Using DDI+SDMX allows linkages and drilling down from indicator to its source</a:t>
            </a:r>
          </a:p>
          <a:p>
            <a:pPr lvl="1" eaLnBrk="1" hangingPunct="1">
              <a:lnSpc>
                <a:spcPct val="90000"/>
              </a:lnSpc>
            </a:pPr>
            <a:endParaRPr lang="en-US" sz="2400" smtClean="0"/>
          </a:p>
          <a:p>
            <a:pPr eaLnBrk="1" hangingPunct="1">
              <a:lnSpc>
                <a:spcPct val="90000"/>
              </a:lnSpc>
            </a:pPr>
            <a:r>
              <a:rPr lang="en-US" sz="1800" smtClean="0"/>
              <a:t>See "DDI and SDMX: Complementary, Not Competing, Standards", A. Gregory, P. Heus, July 2007 available at http://www.opendatafoundation.org/?lvl1=resources&amp;lvl2=papers</a:t>
            </a: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Date Placeholder 3"/>
          <p:cNvSpPr>
            <a:spLocks noGrp="1"/>
          </p:cNvSpPr>
          <p:nvPr>
            <p:ph type="dt" sz="half" idx="10"/>
          </p:nvPr>
        </p:nvSpPr>
        <p:spPr>
          <a:noFill/>
        </p:spPr>
        <p:txBody>
          <a:bodyPr/>
          <a:lstStyle/>
          <a:p>
            <a:r>
              <a:rPr lang="en-US" smtClean="0"/>
              <a:t>S20</a:t>
            </a:r>
          </a:p>
        </p:txBody>
      </p:sp>
      <p:sp>
        <p:nvSpPr>
          <p:cNvPr id="43013" name="Slide Number Placeholder 4"/>
          <p:cNvSpPr>
            <a:spLocks noGrp="1"/>
          </p:cNvSpPr>
          <p:nvPr>
            <p:ph type="sldNum" sz="quarter" idx="12"/>
          </p:nvPr>
        </p:nvSpPr>
        <p:spPr>
          <a:noFill/>
        </p:spPr>
        <p:txBody>
          <a:bodyPr/>
          <a:lstStyle/>
          <a:p>
            <a:fld id="{D68EEEB4-519F-439E-85D3-254F50BEAE60}" type="slidenum">
              <a:rPr lang="en-US" smtClean="0"/>
              <a:pPr/>
              <a:t>75</a:t>
            </a:fld>
            <a:endParaRPr lang="en-US" smtClean="0"/>
          </a:p>
        </p:txBody>
      </p:sp>
      <p:sp>
        <p:nvSpPr>
          <p:cNvPr id="43010" name="Rectangle 2"/>
          <p:cNvSpPr>
            <a:spLocks noGrp="1" noChangeArrowheads="1"/>
          </p:cNvSpPr>
          <p:nvPr>
            <p:ph type="title" idx="4294967295"/>
          </p:nvPr>
        </p:nvSpPr>
        <p:spPr>
          <a:xfrm>
            <a:off x="457200" y="457200"/>
            <a:ext cx="8686800" cy="838200"/>
          </a:xfrm>
        </p:spPr>
        <p:txBody>
          <a:bodyPr>
            <a:normAutofit fontScale="90000"/>
          </a:bodyPr>
          <a:lstStyle/>
          <a:p>
            <a:pPr eaLnBrk="1" hangingPunct="1"/>
            <a:r>
              <a:rPr lang="en-US" sz="4000" smtClean="0"/>
              <a:t>OAIS: Open Archival Information System</a:t>
            </a:r>
          </a:p>
        </p:txBody>
      </p:sp>
      <p:sp>
        <p:nvSpPr>
          <p:cNvPr id="43011" name="Rectangle 3"/>
          <p:cNvSpPr>
            <a:spLocks noGrp="1" noChangeArrowheads="1"/>
          </p:cNvSpPr>
          <p:nvPr>
            <p:ph type="body" idx="4294967295"/>
          </p:nvPr>
        </p:nvSpPr>
        <p:spPr>
          <a:xfrm>
            <a:off x="457200" y="1554163"/>
            <a:ext cx="8686800" cy="4525962"/>
          </a:xfrm>
        </p:spPr>
        <p:txBody>
          <a:bodyPr/>
          <a:lstStyle/>
          <a:p>
            <a:pPr eaLnBrk="1" hangingPunct="1"/>
            <a:r>
              <a:rPr lang="en-US" smtClean="0"/>
              <a:t>Addresses a full range of archival information preservation functions including ingest, archival storage, data management, access, and dissemination. </a:t>
            </a:r>
          </a:p>
          <a:p>
            <a:pPr eaLnBrk="1" hangingPunct="1"/>
            <a:r>
              <a:rPr lang="en-US" smtClean="0"/>
              <a:t>ISO 14721:2003</a:t>
            </a:r>
          </a:p>
          <a:p>
            <a:pPr eaLnBrk="1" hangingPunct="1"/>
            <a:r>
              <a:rPr lang="en-US" smtClean="0"/>
              <a:t>http://nost.gsfc.nasa.gov/isoas/</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r>
              <a:rPr lang="en-US" sz="4000" smtClean="0"/>
              <a:t>The Generic Staistical Business Process Model (GSBPM)</a:t>
            </a:r>
          </a:p>
        </p:txBody>
      </p:sp>
      <p:sp>
        <p:nvSpPr>
          <p:cNvPr id="56323" name="Rectangle 3"/>
          <p:cNvSpPr>
            <a:spLocks noGrp="1" noChangeArrowheads="1"/>
          </p:cNvSpPr>
          <p:nvPr>
            <p:ph idx="1"/>
          </p:nvPr>
        </p:nvSpPr>
        <p:spPr/>
        <p:txBody>
          <a:bodyPr/>
          <a:lstStyle/>
          <a:p>
            <a:pPr>
              <a:lnSpc>
                <a:spcPct val="90000"/>
              </a:lnSpc>
            </a:pPr>
            <a:r>
              <a:rPr lang="en-US" smtClean="0"/>
              <a:t>The METIS group is a part of UN/ECE which addresses metadata issues for national statistical agencies (and other producers of official statistics)</a:t>
            </a:r>
          </a:p>
          <a:p>
            <a:pPr lvl="1">
              <a:lnSpc>
                <a:spcPct val="90000"/>
              </a:lnSpc>
            </a:pPr>
            <a:r>
              <a:rPr lang="en-US" smtClean="0"/>
              <a:t>This community uses both SDMX and DDI</a:t>
            </a:r>
          </a:p>
          <a:p>
            <a:pPr>
              <a:lnSpc>
                <a:spcPct val="90000"/>
              </a:lnSpc>
            </a:pPr>
            <a:r>
              <a:rPr lang="en-US" smtClean="0"/>
              <a:t>They have produced a reference model of the statistical production process</a:t>
            </a:r>
          </a:p>
          <a:p>
            <a:pPr lvl="1">
              <a:lnSpc>
                <a:spcPct val="90000"/>
              </a:lnSpc>
            </a:pPr>
            <a:r>
              <a:rPr lang="en-US" smtClean="0"/>
              <a:t>The DDI 3 Lifecycle Model was a major input</a:t>
            </a:r>
          </a:p>
          <a:p>
            <a:pPr lvl="1">
              <a:lnSpc>
                <a:spcPct val="90000"/>
              </a:lnSpc>
            </a:pPr>
            <a:r>
              <a:rPr lang="en-US" smtClean="0"/>
              <a:t>GSBPM has a much greater level of detail</a:t>
            </a:r>
          </a:p>
          <a:p>
            <a:pPr lvl="1">
              <a:lnSpc>
                <a:spcPct val="90000"/>
              </a:lnSpc>
            </a:pPr>
            <a:endParaRPr lang="en-US" smtClean="0"/>
          </a:p>
        </p:txBody>
      </p:sp>
      <p:sp>
        <p:nvSpPr>
          <p:cNvPr id="56324" name="Date Placeholder 3"/>
          <p:cNvSpPr>
            <a:spLocks noGrp="1"/>
          </p:cNvSpPr>
          <p:nvPr>
            <p:ph type="dt" sz="half" idx="10"/>
          </p:nvPr>
        </p:nvSpPr>
        <p:spPr>
          <a:noFill/>
        </p:spPr>
        <p:txBody>
          <a:bodyPr/>
          <a:lstStyle/>
          <a:p>
            <a:r>
              <a:rPr lang="en-US" smtClean="0"/>
              <a:t>S20</a:t>
            </a:r>
          </a:p>
        </p:txBody>
      </p:sp>
      <p:sp>
        <p:nvSpPr>
          <p:cNvPr id="56325" name="Slide Number Placeholder 4"/>
          <p:cNvSpPr>
            <a:spLocks noGrp="1"/>
          </p:cNvSpPr>
          <p:nvPr>
            <p:ph type="sldNum" sz="quarter" idx="12"/>
          </p:nvPr>
        </p:nvSpPr>
        <p:spPr>
          <a:noFill/>
        </p:spPr>
        <p:txBody>
          <a:bodyPr/>
          <a:lstStyle/>
          <a:p>
            <a:fld id="{EC04711D-CAD7-4160-AEA9-18A3658D086F}" type="slidenum">
              <a:rPr lang="en-US" smtClean="0"/>
              <a:pPr/>
              <a:t>76</a:t>
            </a:fld>
            <a:endParaRPr lang="en-US" smtClean="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GSBPM"/>
          <p:cNvPicPr>
            <a:picLocks noChangeAspect="1" noChangeArrowheads="1"/>
          </p:cNvPicPr>
          <p:nvPr/>
        </p:nvPicPr>
        <p:blipFill>
          <a:blip r:embed="rId2" cstate="print"/>
          <a:srcRect/>
          <a:stretch>
            <a:fillRect/>
          </a:stretch>
        </p:blipFill>
        <p:spPr bwMode="auto">
          <a:xfrm>
            <a:off x="304800" y="228600"/>
            <a:ext cx="8686800" cy="6291263"/>
          </a:xfrm>
          <a:prstGeom prst="rect">
            <a:avLst/>
          </a:prstGeom>
          <a:noFill/>
          <a:ln w="9525">
            <a:noFill/>
            <a:miter lim="800000"/>
            <a:headEnd/>
            <a:tailEnd/>
          </a:ln>
        </p:spPr>
      </p:pic>
      <p:sp>
        <p:nvSpPr>
          <p:cNvPr id="57347" name="Date Placeholder 2"/>
          <p:cNvSpPr>
            <a:spLocks noGrp="1"/>
          </p:cNvSpPr>
          <p:nvPr>
            <p:ph type="dt" sz="half" idx="10"/>
          </p:nvPr>
        </p:nvSpPr>
        <p:spPr>
          <a:noFill/>
        </p:spPr>
        <p:txBody>
          <a:bodyPr/>
          <a:lstStyle/>
          <a:p>
            <a:r>
              <a:rPr lang="en-US" smtClean="0"/>
              <a:t>S20</a:t>
            </a:r>
          </a:p>
        </p:txBody>
      </p:sp>
      <p:sp>
        <p:nvSpPr>
          <p:cNvPr id="57348" name="Slide Number Placeholder 3"/>
          <p:cNvSpPr>
            <a:spLocks noGrp="1"/>
          </p:cNvSpPr>
          <p:nvPr>
            <p:ph type="sldNum" sz="quarter" idx="12"/>
          </p:nvPr>
        </p:nvSpPr>
        <p:spPr>
          <a:noFill/>
        </p:spPr>
        <p:txBody>
          <a:bodyPr/>
          <a:lstStyle/>
          <a:p>
            <a:fld id="{C7816089-4E80-4A57-ADF8-639E23335B6C}" type="slidenum">
              <a:rPr lang="en-US" smtClean="0"/>
              <a:pPr/>
              <a:t>77</a:t>
            </a:fld>
            <a:endParaRPr lang="en-US"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US" sz="4000" smtClean="0"/>
              <a:t>The Generic Statistical Information Model (GSIM)</a:t>
            </a:r>
          </a:p>
        </p:txBody>
      </p:sp>
      <p:sp>
        <p:nvSpPr>
          <p:cNvPr id="58371" name="Rectangle 3"/>
          <p:cNvSpPr>
            <a:spLocks noGrp="1" noChangeArrowheads="1"/>
          </p:cNvSpPr>
          <p:nvPr>
            <p:ph idx="1"/>
          </p:nvPr>
        </p:nvSpPr>
        <p:spPr/>
        <p:txBody>
          <a:bodyPr/>
          <a:lstStyle/>
          <a:p>
            <a:pPr>
              <a:lnSpc>
                <a:spcPct val="80000"/>
              </a:lnSpc>
            </a:pPr>
            <a:r>
              <a:rPr lang="en-US" sz="2800" smtClean="0"/>
              <a:t>Early work on an information model to accompany the GSBPM is starting</a:t>
            </a:r>
          </a:p>
          <a:p>
            <a:pPr lvl="1">
              <a:lnSpc>
                <a:spcPct val="80000"/>
              </a:lnSpc>
            </a:pPr>
            <a:r>
              <a:rPr lang="en-US" sz="2400" smtClean="0"/>
              <a:t>Still informal, very early</a:t>
            </a:r>
          </a:p>
          <a:p>
            <a:pPr lvl="1">
              <a:lnSpc>
                <a:spcPct val="80000"/>
              </a:lnSpc>
            </a:pPr>
            <a:r>
              <a:rPr lang="en-US" sz="2400" smtClean="0"/>
              <a:t>Involves some of the statistical agencies which lead the work on GSBPM</a:t>
            </a:r>
          </a:p>
          <a:p>
            <a:pPr>
              <a:lnSpc>
                <a:spcPct val="80000"/>
              </a:lnSpc>
            </a:pPr>
            <a:r>
              <a:rPr lang="en-US" sz="2800" smtClean="0"/>
              <a:t>GSIM will take as a major input both the DDI and SDMX information models</a:t>
            </a:r>
          </a:p>
          <a:p>
            <a:pPr lvl="1">
              <a:lnSpc>
                <a:spcPct val="80000"/>
              </a:lnSpc>
            </a:pPr>
            <a:r>
              <a:rPr lang="en-US" sz="2400" smtClean="0"/>
              <a:t>Will also cover other metadata</a:t>
            </a:r>
          </a:p>
          <a:p>
            <a:pPr lvl="1">
              <a:lnSpc>
                <a:spcPct val="80000"/>
              </a:lnSpc>
            </a:pPr>
            <a:r>
              <a:rPr lang="en-US" sz="2400" smtClean="0"/>
              <a:t>Will also draw on other standards (Neuchatel Model for Classifications, etc.)</a:t>
            </a:r>
          </a:p>
          <a:p>
            <a:pPr>
              <a:lnSpc>
                <a:spcPct val="80000"/>
              </a:lnSpc>
            </a:pPr>
            <a:r>
              <a:rPr lang="en-US" sz="2800" smtClean="0"/>
              <a:t>Goal is to publish GSIM through METIS alongside the GSBPM</a:t>
            </a:r>
          </a:p>
        </p:txBody>
      </p:sp>
      <p:sp>
        <p:nvSpPr>
          <p:cNvPr id="58372" name="Date Placeholder 3"/>
          <p:cNvSpPr>
            <a:spLocks noGrp="1"/>
          </p:cNvSpPr>
          <p:nvPr>
            <p:ph type="dt" sz="half" idx="10"/>
          </p:nvPr>
        </p:nvSpPr>
        <p:spPr>
          <a:noFill/>
        </p:spPr>
        <p:txBody>
          <a:bodyPr/>
          <a:lstStyle/>
          <a:p>
            <a:r>
              <a:rPr lang="en-US" smtClean="0"/>
              <a:t>S20</a:t>
            </a:r>
          </a:p>
        </p:txBody>
      </p:sp>
      <p:sp>
        <p:nvSpPr>
          <p:cNvPr id="58373" name="Slide Number Placeholder 4"/>
          <p:cNvSpPr>
            <a:spLocks noGrp="1"/>
          </p:cNvSpPr>
          <p:nvPr>
            <p:ph type="sldNum" sz="quarter" idx="12"/>
          </p:nvPr>
        </p:nvSpPr>
        <p:spPr>
          <a:noFill/>
        </p:spPr>
        <p:txBody>
          <a:bodyPr/>
          <a:lstStyle/>
          <a:p>
            <a:fld id="{C37A5464-9B70-41AC-90E3-526DCBE18007}" type="slidenum">
              <a:rPr lang="en-US" smtClean="0"/>
              <a:pPr/>
              <a:t>78</a:t>
            </a:fld>
            <a:endParaRPr lang="en-US" smtClean="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integrate </a:t>
            </a:r>
            <a:r>
              <a:rPr lang="en-US" dirty="0" err="1" smtClean="0"/>
              <a:t>ddi</a:t>
            </a:r>
            <a:r>
              <a:rPr lang="en-US" dirty="0" smtClean="0"/>
              <a:t> into a system</a:t>
            </a:r>
            <a:endParaRPr lang="en-US" dirty="0"/>
          </a:p>
        </p:txBody>
      </p:sp>
      <p:sp>
        <p:nvSpPr>
          <p:cNvPr id="3" name="Content Placeholder 2"/>
          <p:cNvSpPr>
            <a:spLocks noGrp="1"/>
          </p:cNvSpPr>
          <p:nvPr>
            <p:ph idx="1"/>
          </p:nvPr>
        </p:nvSpPr>
        <p:spPr/>
        <p:txBody>
          <a:bodyPr/>
          <a:lstStyle/>
          <a:p>
            <a:r>
              <a:rPr lang="en-US" dirty="0" smtClean="0"/>
              <a:t>Where and how to start</a:t>
            </a:r>
          </a:p>
          <a:p>
            <a:r>
              <a:rPr lang="en-US" dirty="0" smtClean="0"/>
              <a:t>Payoffs vary by process, point in process, business structure, business goals</a:t>
            </a:r>
          </a:p>
          <a:p>
            <a:r>
              <a:rPr lang="en-US" dirty="0" smtClean="0"/>
              <a:t>Not only what you do but who you are working with now and in the future</a:t>
            </a:r>
          </a:p>
          <a:p>
            <a:r>
              <a:rPr lang="en-US" dirty="0" smtClean="0"/>
              <a:t>If you can’t benefit the people doing the work it is not going </a:t>
            </a:r>
            <a:r>
              <a:rPr lang="en-US" smtClean="0"/>
              <a:t>to happen</a:t>
            </a:r>
          </a:p>
          <a:p>
            <a:endParaRPr lang="en-US"/>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GSBPM"/>
          <p:cNvPicPr>
            <a:picLocks noChangeAspect="1" noChangeArrowheads="1"/>
          </p:cNvPicPr>
          <p:nvPr/>
        </p:nvPicPr>
        <p:blipFill>
          <a:blip r:embed="rId2" cstate="print"/>
          <a:srcRect/>
          <a:stretch>
            <a:fillRect/>
          </a:stretch>
        </p:blipFill>
        <p:spPr bwMode="auto">
          <a:xfrm>
            <a:off x="304800" y="228600"/>
            <a:ext cx="8686800" cy="6291263"/>
          </a:xfrm>
          <a:prstGeom prst="rect">
            <a:avLst/>
          </a:prstGeom>
          <a:noFill/>
          <a:ln w="9525">
            <a:noFill/>
            <a:miter lim="800000"/>
            <a:headEnd/>
            <a:tailEnd/>
          </a:ln>
        </p:spPr>
      </p:pic>
      <p:sp>
        <p:nvSpPr>
          <p:cNvPr id="57347" name="Date Placeholder 2"/>
          <p:cNvSpPr>
            <a:spLocks noGrp="1"/>
          </p:cNvSpPr>
          <p:nvPr>
            <p:ph type="dt" sz="half" idx="10"/>
          </p:nvPr>
        </p:nvSpPr>
        <p:spPr>
          <a:noFill/>
        </p:spPr>
        <p:txBody>
          <a:bodyPr/>
          <a:lstStyle/>
          <a:p>
            <a:r>
              <a:rPr lang="en-US" smtClean="0"/>
              <a:t>S20</a:t>
            </a:r>
          </a:p>
        </p:txBody>
      </p:sp>
      <p:sp>
        <p:nvSpPr>
          <p:cNvPr id="57348" name="Slide Number Placeholder 3"/>
          <p:cNvSpPr>
            <a:spLocks noGrp="1"/>
          </p:cNvSpPr>
          <p:nvPr>
            <p:ph type="sldNum" sz="quarter" idx="12"/>
          </p:nvPr>
        </p:nvSpPr>
        <p:spPr>
          <a:noFill/>
        </p:spPr>
        <p:txBody>
          <a:bodyPr/>
          <a:lstStyle/>
          <a:p>
            <a:fld id="{C7816089-4E80-4A57-ADF8-639E23335B6C}" type="slidenum">
              <a:rPr lang="en-US" smtClean="0"/>
              <a:pPr/>
              <a:t>80</a:t>
            </a:fld>
            <a:endParaRPr lang="en-US" smtClean="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W. Thomas - EDDI2011</a:t>
            </a:r>
            <a:endParaRPr lang="en-US"/>
          </a:p>
        </p:txBody>
      </p:sp>
      <p:pic>
        <p:nvPicPr>
          <p:cNvPr id="6" name="Picture 5" descr="whiteboard1.jpg"/>
          <p:cNvPicPr>
            <a:picLocks noChangeAspect="1"/>
          </p:cNvPicPr>
          <p:nvPr/>
        </p:nvPicPr>
        <p:blipFill>
          <a:blip r:embed="rId2" cstate="print"/>
          <a:stretch>
            <a:fillRect/>
          </a:stretch>
        </p:blipFill>
        <p:spPr>
          <a:xfrm>
            <a:off x="838200" y="0"/>
            <a:ext cx="4101353" cy="6858000"/>
          </a:xfrm>
          <a:prstGeom prst="rect">
            <a:avLst/>
          </a:prstGeom>
        </p:spPr>
      </p:pic>
      <p:pic>
        <p:nvPicPr>
          <p:cNvPr id="7" name="Picture 6" descr="whiteboard2.jpg"/>
          <p:cNvPicPr>
            <a:picLocks noChangeAspect="1"/>
          </p:cNvPicPr>
          <p:nvPr/>
        </p:nvPicPr>
        <p:blipFill>
          <a:blip r:embed="rId3" cstate="print"/>
          <a:stretch>
            <a:fillRect/>
          </a:stretch>
        </p:blipFill>
        <p:spPr>
          <a:xfrm>
            <a:off x="5042647" y="0"/>
            <a:ext cx="3645647" cy="6096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t>Recent DDI Publications</a:t>
            </a:r>
          </a:p>
        </p:txBody>
      </p:sp>
      <p:sp>
        <p:nvSpPr>
          <p:cNvPr id="20483" name="Content Placeholder 2"/>
          <p:cNvSpPr>
            <a:spLocks noGrp="1"/>
          </p:cNvSpPr>
          <p:nvPr>
            <p:ph idx="1"/>
          </p:nvPr>
        </p:nvSpPr>
        <p:spPr>
          <a:xfrm>
            <a:off x="457200" y="1295400"/>
            <a:ext cx="8382000" cy="4525963"/>
          </a:xfrm>
        </p:spPr>
        <p:txBody>
          <a:bodyPr/>
          <a:lstStyle/>
          <a:p>
            <a:r>
              <a:rPr lang="en-US" sz="2400" smtClean="0"/>
              <a:t>Best Practices Across the Data Life Cycle</a:t>
            </a:r>
          </a:p>
          <a:p>
            <a:pPr lvl="1"/>
            <a:r>
              <a:rPr lang="en-US" sz="2000" b="1" smtClean="0">
                <a:latin typeface="Candara" pitchFamily="34" charset="0"/>
                <a:hlinkClick r:id="rId2"/>
              </a:rPr>
              <a:t>www.ddialliance.org/resources/publications/working/bestpractices</a:t>
            </a:r>
            <a:endParaRPr lang="en-US" sz="2000" b="1" smtClean="0">
              <a:latin typeface="Candara" pitchFamily="34" charset="0"/>
            </a:endParaRPr>
          </a:p>
          <a:p>
            <a:pPr lvl="1"/>
            <a:r>
              <a:rPr lang="en-US" sz="2000" smtClean="0"/>
              <a:t>The work of 25 individuals who came together at Schloss Dagstuhl, in Wadern Germany, in November 2008</a:t>
            </a:r>
          </a:p>
          <a:p>
            <a:r>
              <a:rPr lang="en-US" sz="2400" smtClean="0"/>
              <a:t>Use Cases</a:t>
            </a:r>
          </a:p>
          <a:p>
            <a:pPr lvl="1"/>
            <a:r>
              <a:rPr lang="en-US" sz="2000" b="1" smtClean="0">
                <a:latin typeface="Candara" pitchFamily="34" charset="0"/>
                <a:hlinkClick r:id="rId3"/>
              </a:rPr>
              <a:t>www.ddialliance.org/resources/publications/working/usecases</a:t>
            </a:r>
            <a:endParaRPr lang="en-US" sz="2000" b="1" smtClean="0">
              <a:latin typeface="Candara" pitchFamily="34" charset="0"/>
            </a:endParaRPr>
          </a:p>
          <a:p>
            <a:pPr lvl="1"/>
            <a:r>
              <a:rPr lang="en-US" sz="2000" smtClean="0"/>
              <a:t>These papers on DDI 3 use cases are the outcomes of a workshop held at Schloss Dagstuhl - Leibniz Center for Informatics in Wadern, Germany, November 2-6, 2009.</a:t>
            </a:r>
          </a:p>
          <a:p>
            <a:r>
              <a:rPr lang="en-US" sz="2400" smtClean="0"/>
              <a:t>IASSIST Quarterly v.33:1-2 spring/summer 2009</a:t>
            </a:r>
          </a:p>
          <a:p>
            <a:pPr lvl="1"/>
            <a:r>
              <a:rPr lang="en-US" sz="2000" b="1" smtClean="0">
                <a:latin typeface="Candara" pitchFamily="34" charset="0"/>
                <a:hlinkClick r:id="rId4"/>
              </a:rPr>
              <a:t>www.iassistdata.org/iq/</a:t>
            </a:r>
            <a:endParaRPr lang="en-US" sz="2000" b="1" smtClean="0">
              <a:latin typeface="Candara" pitchFamily="34" charset="0"/>
            </a:endParaRPr>
          </a:p>
          <a:p>
            <a:pPr lvl="1"/>
            <a:r>
              <a:rPr lang="en-US" sz="2000" smtClean="0"/>
              <a:t>A special double feature focusing on various projects related to DDI 3 and it’s enhanced features</a:t>
            </a:r>
          </a:p>
          <a:p>
            <a:pPr lvl="1"/>
            <a:r>
              <a:rPr lang="en-US" sz="2000" smtClean="0"/>
              <a:t>Articles related to DDI can be found in many issues of the IQ</a:t>
            </a:r>
          </a:p>
        </p:txBody>
      </p:sp>
      <p:sp>
        <p:nvSpPr>
          <p:cNvPr id="20484" name="Date Placeholder 3"/>
          <p:cNvSpPr>
            <a:spLocks noGrp="1"/>
          </p:cNvSpPr>
          <p:nvPr>
            <p:ph type="dt" sz="quarter" idx="10"/>
          </p:nvPr>
        </p:nvSpPr>
        <p:spPr>
          <a:noFill/>
        </p:spPr>
        <p:txBody>
          <a:bodyPr/>
          <a:lstStyle/>
          <a:p>
            <a:r>
              <a:rPr lang="en-US" smtClean="0"/>
              <a:t>S20</a:t>
            </a:r>
          </a:p>
        </p:txBody>
      </p:sp>
      <p:sp>
        <p:nvSpPr>
          <p:cNvPr id="20485" name="Slide Number Placeholder 4"/>
          <p:cNvSpPr>
            <a:spLocks noGrp="1"/>
          </p:cNvSpPr>
          <p:nvPr>
            <p:ph type="sldNum" sz="quarter" idx="12"/>
          </p:nvPr>
        </p:nvSpPr>
        <p:spPr>
          <a:noFill/>
        </p:spPr>
        <p:txBody>
          <a:bodyPr/>
          <a:lstStyle/>
          <a:p>
            <a:fld id="{8F152616-A45F-4353-9B8A-0AD79CE8168C}" type="slidenum">
              <a:rPr lang="en-US" smtClean="0"/>
              <a:pPr/>
              <a:t>82</a:t>
            </a:fld>
            <a:endParaRPr lang="en-US"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4941</Words>
  <Application>Microsoft Office PowerPoint</Application>
  <PresentationFormat>On-screen Show (4:3)</PresentationFormat>
  <Paragraphs>1225</Paragraphs>
  <Slides>82</Slides>
  <Notes>26</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Trek</vt:lpstr>
      <vt:lpstr>[Meta]-Data Management using DDI</vt:lpstr>
      <vt:lpstr>Outline</vt:lpstr>
      <vt:lpstr>Introductions</vt:lpstr>
      <vt:lpstr>Business goals</vt:lpstr>
      <vt:lpstr>DDI structures</vt:lpstr>
      <vt:lpstr>DDI Development</vt:lpstr>
      <vt:lpstr>Desired Areas of Coverage</vt:lpstr>
      <vt:lpstr>Technical difference between  Codebook and Lifecycle structures</vt:lpstr>
      <vt:lpstr>DDI 3 Lifecycle Model</vt:lpstr>
      <vt:lpstr>Coverage</vt:lpstr>
      <vt:lpstr>Future features</vt:lpstr>
      <vt:lpstr>General future trends</vt:lpstr>
      <vt:lpstr>Basic features</vt:lpstr>
      <vt:lpstr>XML Schemas, DDI Modules,  and DDI Schemes</vt:lpstr>
      <vt:lpstr>Why Schemes?</vt:lpstr>
      <vt:lpstr>SCHEMES</vt:lpstr>
      <vt:lpstr>What do schemes contain?</vt:lpstr>
      <vt:lpstr>Currently available schemes</vt:lpstr>
      <vt:lpstr>Schemes under consideration</vt:lpstr>
      <vt:lpstr>XML Schemas, DDI Modules,  and DDI Schemes</vt:lpstr>
      <vt:lpstr>XML Schemas, DDI Modules,  and DDI Schemes</vt:lpstr>
      <vt:lpstr>XML Schemas, DDI Modules,  and DDI Schemes</vt:lpstr>
      <vt:lpstr>Slide 23</vt:lpstr>
      <vt:lpstr>Slide 24</vt:lpstr>
      <vt:lpstr>Slide 25</vt:lpstr>
      <vt:lpstr>Slide 26</vt:lpstr>
      <vt:lpstr>Slide 27</vt:lpstr>
      <vt:lpstr>DDI 3 Lifecycle Model and Related Modules</vt:lpstr>
      <vt:lpstr>Slide 29</vt:lpstr>
      <vt:lpstr>Slide 30</vt:lpstr>
      <vt:lpstr>Building from Component Parts</vt:lpstr>
      <vt:lpstr>Maintainable, Versionable, and Identifiable</vt:lpstr>
      <vt:lpstr>Basic Element Types</vt:lpstr>
      <vt:lpstr>In the Object Model…</vt:lpstr>
      <vt:lpstr>What Does This Mean?</vt:lpstr>
      <vt:lpstr>Rationale</vt:lpstr>
      <vt:lpstr>Versioning and Maintenance</vt:lpstr>
      <vt:lpstr>Publication in DDI</vt:lpstr>
      <vt:lpstr>Maintenance Rules</vt:lpstr>
      <vt:lpstr>Versioning Rules</vt:lpstr>
      <vt:lpstr>Versioning Across the DDI 3 Lifecycle Model</vt:lpstr>
      <vt:lpstr>Versioning: Changes</vt:lpstr>
      <vt:lpstr>Identifiable Rules</vt:lpstr>
      <vt:lpstr>Inheriting Identifying Fields</vt:lpstr>
      <vt:lpstr>DDI 3.1 Identifiers</vt:lpstr>
      <vt:lpstr>Parts of the Identification Series</vt:lpstr>
      <vt:lpstr>Referencing</vt:lpstr>
      <vt:lpstr>DDI External References</vt:lpstr>
      <vt:lpstr>Reference Examples</vt:lpstr>
      <vt:lpstr>Types of Grouping</vt:lpstr>
      <vt:lpstr>Group:  Grouping and Inheritance</vt:lpstr>
      <vt:lpstr>Group Contents</vt:lpstr>
      <vt:lpstr>Inheritance</vt:lpstr>
      <vt:lpstr>German Social Economic Panel (SOEP) Study Example</vt:lpstr>
      <vt:lpstr>Slide 55</vt:lpstr>
      <vt:lpstr>DDI Support for Comparison</vt:lpstr>
      <vt:lpstr>Slide 57</vt:lpstr>
      <vt:lpstr>Slide 58</vt:lpstr>
      <vt:lpstr>Slide 59</vt:lpstr>
      <vt:lpstr>Slide 60</vt:lpstr>
      <vt:lpstr>Comparability</vt:lpstr>
      <vt:lpstr>Detail of question comparability</vt:lpstr>
      <vt:lpstr>Interaction with other standards</vt:lpstr>
      <vt:lpstr>Interoperability</vt:lpstr>
      <vt:lpstr>Relationship to Other Standards: Archival </vt:lpstr>
      <vt:lpstr>Dublin Core  [AGLS]</vt:lpstr>
      <vt:lpstr>METS: Metadata Encoding &amp; Transmission Standard</vt:lpstr>
      <vt:lpstr>PREMIS: Preservation Metadata Implementation Strategies</vt:lpstr>
      <vt:lpstr>Relationship to Other Standards: Non-Archival</vt:lpstr>
      <vt:lpstr>ISO 19115</vt:lpstr>
      <vt:lpstr>ISO/IEC 11179</vt:lpstr>
      <vt:lpstr>ISO/IEC 11179-1</vt:lpstr>
      <vt:lpstr>Statistical Data and Metadata Exchange (SDMX)</vt:lpstr>
      <vt:lpstr>DDI 3 &amp; SDMX 2.0</vt:lpstr>
      <vt:lpstr>OAIS: Open Archival Information System</vt:lpstr>
      <vt:lpstr>The Generic Staistical Business Process Model (GSBPM)</vt:lpstr>
      <vt:lpstr>Slide 77</vt:lpstr>
      <vt:lpstr>The Generic Statistical Information Model (GSIM)</vt:lpstr>
      <vt:lpstr>How to integrate ddi into a system</vt:lpstr>
      <vt:lpstr>Slide 80</vt:lpstr>
      <vt:lpstr>Slide 81</vt:lpstr>
      <vt:lpstr>Recent DDI Publications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[Meta]-Data Management using DDI</dc:title>
  <dc:creator>wendy</dc:creator>
  <cp:lastModifiedBy>wendy</cp:lastModifiedBy>
  <cp:revision>27</cp:revision>
  <dcterms:created xsi:type="dcterms:W3CDTF">2011-11-29T10:12:59Z</dcterms:created>
  <dcterms:modified xsi:type="dcterms:W3CDTF">2011-12-03T13:57:21Z</dcterms:modified>
</cp:coreProperties>
</file>