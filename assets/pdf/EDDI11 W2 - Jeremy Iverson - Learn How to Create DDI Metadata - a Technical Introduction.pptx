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4"/>
  </p:notesMasterIdLst>
  <p:sldIdLst>
    <p:sldId id="257" r:id="rId2"/>
    <p:sldId id="318" r:id="rId3"/>
    <p:sldId id="260" r:id="rId4"/>
    <p:sldId id="261" r:id="rId5"/>
    <p:sldId id="262" r:id="rId6"/>
    <p:sldId id="263" r:id="rId7"/>
    <p:sldId id="270" r:id="rId8"/>
    <p:sldId id="264" r:id="rId9"/>
    <p:sldId id="268" r:id="rId10"/>
    <p:sldId id="266" r:id="rId11"/>
    <p:sldId id="269" r:id="rId12"/>
    <p:sldId id="271" r:id="rId13"/>
    <p:sldId id="274" r:id="rId14"/>
    <p:sldId id="275" r:id="rId15"/>
    <p:sldId id="278" r:id="rId16"/>
    <p:sldId id="279" r:id="rId17"/>
    <p:sldId id="280" r:id="rId18"/>
    <p:sldId id="315" r:id="rId19"/>
    <p:sldId id="281" r:id="rId20"/>
    <p:sldId id="311" r:id="rId21"/>
    <p:sldId id="312" r:id="rId22"/>
    <p:sldId id="313" r:id="rId23"/>
    <p:sldId id="317" r:id="rId24"/>
    <p:sldId id="316" r:id="rId25"/>
    <p:sldId id="289" r:id="rId26"/>
    <p:sldId id="291" r:id="rId27"/>
    <p:sldId id="297" r:id="rId28"/>
    <p:sldId id="314" r:id="rId29"/>
    <p:sldId id="298" r:id="rId30"/>
    <p:sldId id="288" r:id="rId31"/>
    <p:sldId id="292" r:id="rId32"/>
    <p:sldId id="303" r:id="rId33"/>
    <p:sldId id="287" r:id="rId34"/>
    <p:sldId id="300" r:id="rId35"/>
    <p:sldId id="299" r:id="rId36"/>
    <p:sldId id="293" r:id="rId37"/>
    <p:sldId id="302" r:id="rId38"/>
    <p:sldId id="301" r:id="rId39"/>
    <p:sldId id="304" r:id="rId40"/>
    <p:sldId id="286" r:id="rId41"/>
    <p:sldId id="294" r:id="rId42"/>
    <p:sldId id="306" r:id="rId43"/>
    <p:sldId id="308" r:id="rId44"/>
    <p:sldId id="307" r:id="rId45"/>
    <p:sldId id="285" r:id="rId46"/>
    <p:sldId id="295" r:id="rId47"/>
    <p:sldId id="309" r:id="rId48"/>
    <p:sldId id="290" r:id="rId49"/>
    <p:sldId id="284" r:id="rId50"/>
    <p:sldId id="310" r:id="rId51"/>
    <p:sldId id="283" r:id="rId52"/>
    <p:sldId id="267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4368FB5F-B8C4-497B-8733-7662E2445C90}">
          <p14:sldIdLst>
            <p14:sldId id="257"/>
            <p14:sldId id="318"/>
            <p14:sldId id="260"/>
          </p14:sldIdLst>
        </p14:section>
        <p14:section name="DDI Content Introduction" id="{EDD76E03-74C9-42E8-8B50-0704A174CED1}">
          <p14:sldIdLst>
            <p14:sldId id="261"/>
            <p14:sldId id="262"/>
            <p14:sldId id="263"/>
            <p14:sldId id="270"/>
            <p14:sldId id="264"/>
            <p14:sldId id="268"/>
            <p14:sldId id="266"/>
            <p14:sldId id="269"/>
          </p14:sldIdLst>
        </p14:section>
        <p14:section name="XML Introduction" id="{9A3171E3-1919-4984-B78E-5E9E61B957F1}">
          <p14:sldIdLst>
            <p14:sldId id="271"/>
            <p14:sldId id="274"/>
            <p14:sldId id="275"/>
            <p14:sldId id="278"/>
            <p14:sldId id="279"/>
            <p14:sldId id="280"/>
            <p14:sldId id="315"/>
          </p14:sldIdLst>
        </p14:section>
        <p14:section name="DDI Walkthrough and Exercises" id="{52576D83-FF07-44A6-90AA-645BCA1ED839}">
          <p14:sldIdLst>
            <p14:sldId id="281"/>
          </p14:sldIdLst>
        </p14:section>
        <p14:section name="Universes" id="{210F16F0-AAA7-4CE5-A3A7-5393374F69FD}">
          <p14:sldIdLst>
            <p14:sldId id="311"/>
            <p14:sldId id="312"/>
            <p14:sldId id="313"/>
            <p14:sldId id="317"/>
            <p14:sldId id="316"/>
          </p14:sldIdLst>
        </p14:section>
        <p14:section name="Concepts" id="{E2C552B4-E0E8-4BE5-93A1-6EA40FBA1427}">
          <p14:sldIdLst>
            <p14:sldId id="289"/>
            <p14:sldId id="291"/>
            <p14:sldId id="297"/>
            <p14:sldId id="314"/>
            <p14:sldId id="298"/>
          </p14:sldIdLst>
        </p14:section>
        <p14:section name="Categories" id="{DA43C878-E773-4E2A-90CE-3C5A99208D83}">
          <p14:sldIdLst>
            <p14:sldId id="288"/>
            <p14:sldId id="292"/>
            <p14:sldId id="303"/>
          </p14:sldIdLst>
        </p14:section>
        <p14:section name="Codes" id="{A47C5B19-08C7-4A7D-AD86-F32BF610599D}">
          <p14:sldIdLst>
            <p14:sldId id="287"/>
            <p14:sldId id="300"/>
            <p14:sldId id="299"/>
            <p14:sldId id="293"/>
            <p14:sldId id="302"/>
            <p14:sldId id="301"/>
            <p14:sldId id="304"/>
          </p14:sldIdLst>
        </p14:section>
        <p14:section name="Questions" id="{4F2325FB-9735-4C5D-8C96-08A3E4517F21}">
          <p14:sldIdLst>
            <p14:sldId id="286"/>
            <p14:sldId id="294"/>
            <p14:sldId id="306"/>
            <p14:sldId id="308"/>
            <p14:sldId id="307"/>
          </p14:sldIdLst>
        </p14:section>
        <p14:section name="Variables" id="{E8FBE2B8-1392-49CD-9AF2-85473692BED9}">
          <p14:sldIdLst>
            <p14:sldId id="285"/>
            <p14:sldId id="295"/>
            <p14:sldId id="309"/>
          </p14:sldIdLst>
        </p14:section>
        <p14:section name="Publish" id="{7A943392-6D3F-4C1D-845E-6C7FB7D60755}">
          <p14:sldIdLst>
            <p14:sldId id="290"/>
            <p14:sldId id="284"/>
            <p14:sldId id="310"/>
          </p14:sldIdLst>
        </p14:section>
        <p14:section name="Where to Learn More" id="{41C5B02D-7A30-469F-9015-A81C5F07B199}">
          <p14:sldIdLst>
            <p14:sldId id="283"/>
          </p14:sldIdLst>
        </p14:section>
        <p14:section name="Thank You" id="{704AF652-EDF9-480A-9734-3C199FC4CB36}">
          <p14:sldIdLst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8" autoAdjust="0"/>
    <p:restoredTop sz="62367" autoAdjust="0"/>
  </p:normalViewPr>
  <p:slideViewPr>
    <p:cSldViewPr>
      <p:cViewPr varScale="1">
        <p:scale>
          <a:sx n="69" d="100"/>
          <a:sy n="69" d="100"/>
        </p:scale>
        <p:origin x="-146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9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7D9A44-BD66-43CD-B181-E822E8E56883}" type="datetimeFigureOut">
              <a:rPr lang="en-US" smtClean="0"/>
              <a:t>12/4/2011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A0E83-83A5-48D0-A691-BE3A66684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44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Intro</a:t>
            </a:r>
            <a:r>
              <a:rPr lang="en-US" baseline="0" dirty="0" smtClean="0"/>
              <a:t> questions</a:t>
            </a:r>
          </a:p>
          <a:p>
            <a:endParaRPr lang="en-US" baseline="0" dirty="0" smtClean="0"/>
          </a:p>
          <a:p>
            <a:pPr marL="171450" indent="-171450">
              <a:buFontTx/>
              <a:buChar char="-"/>
            </a:pPr>
            <a:r>
              <a:rPr lang="en-US" baseline="0" dirty="0" smtClean="0"/>
              <a:t>Who has used DDI in the past?</a:t>
            </a:r>
          </a:p>
          <a:p>
            <a:pPr marL="171450" indent="-171450">
              <a:buFontTx/>
              <a:buChar char="-"/>
            </a:pPr>
            <a:endParaRPr lang="en-US" baseline="0" dirty="0" smtClean="0"/>
          </a:p>
          <a:p>
            <a:pPr marL="171450" indent="-171450">
              <a:buFontTx/>
              <a:buChar char="-"/>
            </a:pPr>
            <a:r>
              <a:rPr lang="en-US" baseline="0" dirty="0" smtClean="0"/>
              <a:t>Who is familiar with XML?</a:t>
            </a:r>
          </a:p>
          <a:p>
            <a:pPr marL="171450" indent="-171450">
              <a:buFontTx/>
              <a:buChar char="-"/>
            </a:pPr>
            <a:endParaRPr lang="en-US" baseline="0" dirty="0" smtClean="0"/>
          </a:p>
          <a:p>
            <a:pPr marL="171450" indent="-171450">
              <a:buFontTx/>
              <a:buChar char="-"/>
            </a:pPr>
            <a:r>
              <a:rPr lang="en-US" baseline="0" dirty="0" smtClean="0"/>
              <a:t>Who thinks it will be useful to learn DDI XML as opposed a higher level overview?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A0E83-83A5-48D0-A691-BE3A666842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90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smtClean="0"/>
              <a:t>This </a:t>
            </a:r>
            <a:r>
              <a:rPr lang="en-US" baseline="0" dirty="0" smtClean="0"/>
              <a:t>looks like a paper form I guess. But if we look a little closer it’s made by a researcher who’s specifying a few things for the people who are going to the programming for the instrument.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This is a pretty typical way to specify a questionnaire design, in Word format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The issue with this is that:</a:t>
            </a:r>
            <a:endParaRPr lang="en-US" dirty="0" smtClean="0"/>
          </a:p>
          <a:p>
            <a:pPr marL="628650" lvl="1" indent="-171450">
              <a:buFontTx/>
              <a:buChar char="-"/>
            </a:pPr>
            <a:r>
              <a:rPr lang="en-US" dirty="0" smtClean="0"/>
              <a:t>You have the researcher writing the question, </a:t>
            </a:r>
          </a:p>
          <a:p>
            <a:pPr marL="628650" lvl="1" indent="-171450">
              <a:buFontTx/>
              <a:buChar char="-"/>
            </a:pPr>
            <a:r>
              <a:rPr lang="en-US" dirty="0" smtClean="0"/>
              <a:t>a programmer retyping the question in a special syntax, </a:t>
            </a:r>
          </a:p>
          <a:p>
            <a:pPr marL="628650" lvl="1" indent="-171450">
              <a:buFontTx/>
              <a:buChar char="-"/>
            </a:pPr>
            <a:r>
              <a:rPr lang="en-US" dirty="0" smtClean="0"/>
              <a:t>and a designer who might turn it into</a:t>
            </a:r>
            <a:r>
              <a:rPr lang="en-US" baseline="0" dirty="0" smtClean="0"/>
              <a:t> a paper questionnaire. </a:t>
            </a:r>
            <a:r>
              <a:rPr lang="en-US" dirty="0" smtClean="0"/>
              <a:t>in a nice-looking format. </a:t>
            </a:r>
          </a:p>
          <a:p>
            <a:pPr marL="628650" lvl="1" indent="-171450">
              <a:buFontTx/>
              <a:buChar char="-"/>
            </a:pPr>
            <a:r>
              <a:rPr lang="en-US" dirty="0" smtClean="0"/>
              <a:t>And then after all that, somebody might go back and document the questions that were</a:t>
            </a:r>
            <a:r>
              <a:rPr lang="en-US" baseline="0" dirty="0" smtClean="0"/>
              <a:t> asked so you can put it up on the web. Or PDF or whatever.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How many times was the same question text typed in? Or maybe copied and pasted.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Besides the manual work, what if something changes? You need to be sure to find each place it was used and correct it there.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For a short study this might not be a big deal. But for a large, possibly longitudinal study with 100s or 1000s or 10,000s of questions and variables, </a:t>
            </a:r>
          </a:p>
          <a:p>
            <a:pPr marL="628650" lvl="1" indent="-171450">
              <a:buFontTx/>
              <a:buChar char="-"/>
            </a:pPr>
            <a:r>
              <a:rPr lang="en-US" baseline="0" dirty="0" smtClean="0"/>
              <a:t>this can represent months or years of effort.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By defining the metadata first and using that to drive the creation of CAI source code, paper questionnaires, and documentation for the web and for paper, </a:t>
            </a:r>
          </a:p>
          <a:p>
            <a:pPr marL="628650" lvl="1" indent="-171450">
              <a:buFontTx/>
              <a:buChar char="-"/>
            </a:pPr>
            <a:r>
              <a:rPr lang="en-US" baseline="0" dirty="0" smtClean="0"/>
              <a:t>we can save a lot of effort and eliminate lots of opportunities for mistakes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13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smtClean="0"/>
              <a:t>Why do it? Let</a:t>
            </a:r>
            <a:r>
              <a:rPr lang="en-US" baseline="0" dirty="0" smtClean="0"/>
              <a:t>’</a:t>
            </a:r>
            <a:r>
              <a:rPr lang="en-US" dirty="0" smtClean="0"/>
              <a:t>s take a look at</a:t>
            </a:r>
            <a:r>
              <a:rPr lang="en-US" baseline="0" dirty="0" smtClean="0"/>
              <a:t> the data lifecycle and look at the areas where you typically have documentation and where you don’t.</a:t>
            </a:r>
          </a:p>
          <a:p>
            <a:pPr marL="171450" indent="-171450">
              <a:buFontTx/>
              <a:buChar char="-"/>
            </a:pPr>
            <a:endParaRPr lang="en-US" baseline="0" dirty="0" smtClean="0"/>
          </a:p>
          <a:p>
            <a:pPr marL="171450" indent="-171450">
              <a:buFontTx/>
              <a:buChar char="-"/>
            </a:pPr>
            <a:r>
              <a:rPr lang="en-US" baseline="0" dirty="0" smtClean="0"/>
              <a:t>(Go through it)</a:t>
            </a:r>
          </a:p>
          <a:p>
            <a:pPr marL="171450" indent="-171450">
              <a:buFontTx/>
              <a:buChar char="-"/>
            </a:pPr>
            <a:endParaRPr lang="en-US" baseline="0" dirty="0" smtClean="0"/>
          </a:p>
          <a:p>
            <a:pPr marL="171450" indent="-171450">
              <a:buFontTx/>
              <a:buChar char="-"/>
            </a:pPr>
            <a:r>
              <a:rPr lang="en-US" baseline="0" dirty="0" smtClean="0"/>
              <a:t>What parts of this are generally documented?  Basically, these are the big parts…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There’s a lot of other stuff going on here.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Often times, all the metadata that’s being created during the conceptual, data collection, and data processing stages is just lost. It’s not captured.</a:t>
            </a:r>
          </a:p>
          <a:p>
            <a:pPr marL="171450" indent="-171450">
              <a:buFontTx/>
              <a:buChar char="-"/>
            </a:pPr>
            <a:endParaRPr lang="en-US" baseline="0" dirty="0" smtClean="0"/>
          </a:p>
          <a:p>
            <a:pPr marL="171450" indent="-171450">
              <a:buFontTx/>
              <a:buChar char="-"/>
            </a:pPr>
            <a:r>
              <a:rPr lang="en-US" baseline="0" dirty="0" smtClean="0"/>
              <a:t>The reason for doing a metadata first approach, is that it let’s us capture all that documentation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67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smtClean="0"/>
              <a:t>Besides</a:t>
            </a:r>
            <a:r>
              <a:rPr lang="en-US" baseline="0" dirty="0" smtClean="0"/>
              <a:t> saving the effort, I think it can create better documentation.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When you get to the processing and analysis stages of a project, documentation is often a lower priority than the processing and analysis itself.</a:t>
            </a:r>
          </a:p>
          <a:p>
            <a:pPr marL="628650" lvl="1" indent="-171450">
              <a:buFontTx/>
              <a:buChar char="-"/>
            </a:pPr>
            <a:r>
              <a:rPr lang="en-US" baseline="0" dirty="0" smtClean="0"/>
              <a:t>That may depend on the staffing levels your organization have</a:t>
            </a:r>
          </a:p>
          <a:p>
            <a:pPr marL="171450" lvl="0" indent="-171450">
              <a:buFontTx/>
              <a:buChar char="-"/>
            </a:pPr>
            <a:r>
              <a:rPr lang="en-US" baseline="0" dirty="0" smtClean="0"/>
              <a:t>If you can make the documentation a byproduct of the design and collection process, you’re going to be sure it gets done, you’re not going to have to do the extra work.</a:t>
            </a:r>
          </a:p>
          <a:p>
            <a:pPr marL="171450" lvl="0" indent="-171450">
              <a:buFontTx/>
              <a:buChar char="-"/>
            </a:pPr>
            <a:r>
              <a:rPr lang="en-US" baseline="0" dirty="0" smtClean="0"/>
              <a:t>Another thing that makes the documentation better is that, if it’s created at the point that the questions or other metadata are created, that’s the point when it’s most accurate.</a:t>
            </a:r>
          </a:p>
          <a:p>
            <a:pPr marL="628650" lvl="1" indent="-171450">
              <a:buFontTx/>
              <a:buChar char="-"/>
            </a:pPr>
            <a:r>
              <a:rPr lang="en-US" baseline="0" dirty="0" smtClean="0"/>
              <a:t>You’re not doing it after the fact, maybe months after a researcher created a question you’re not having a grad student or an undergrad go back, draw a flowchart and comment on the purpose of a question, because it’s already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75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 smtClean="0"/>
              <a:t>- XML is a machine readable format for representing information.</a:t>
            </a:r>
          </a:p>
          <a:p>
            <a:pPr marL="0" indent="0">
              <a:buFontTx/>
              <a:buNone/>
            </a:pPr>
            <a:endParaRPr lang="en-US" dirty="0" smtClean="0"/>
          </a:p>
          <a:p>
            <a:pPr marL="0" indent="0">
              <a:buFontTx/>
              <a:buNone/>
            </a:pPr>
            <a:r>
              <a:rPr lang="en-US" dirty="0" smtClean="0"/>
              <a:t>-</a:t>
            </a:r>
            <a:r>
              <a:rPr lang="en-US" baseline="0" dirty="0" smtClean="0"/>
              <a:t> That’s all it is. </a:t>
            </a:r>
            <a:r>
              <a:rPr lang="en-US" dirty="0" smtClean="0"/>
              <a:t>XML doesn’t do anything. It’s just what you see there.</a:t>
            </a:r>
          </a:p>
          <a:p>
            <a:r>
              <a:rPr lang="en-US" dirty="0" smtClean="0"/>
              <a:t>- It just represents information.</a:t>
            </a:r>
          </a:p>
          <a:p>
            <a:r>
              <a:rPr lang="en-US" dirty="0" smtClean="0"/>
              <a:t>- You</a:t>
            </a:r>
            <a:r>
              <a:rPr lang="en-US" baseline="0" dirty="0" smtClean="0"/>
              <a:t> make up your own tags. Which means you can use it to represent any kind of information you like.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A0E83-83A5-48D0-A691-BE3A6668424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59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A0E83-83A5-48D0-A691-BE3A6668424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35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An attribute is j</a:t>
            </a:r>
            <a:r>
              <a:rPr lang="en-US" dirty="0" smtClean="0"/>
              <a:t>ust a simple, quoted</a:t>
            </a:r>
            <a:r>
              <a:rPr lang="en-US" baseline="0" dirty="0" smtClean="0"/>
              <a:t> value.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- Attributes can't contain complex information.</a:t>
            </a:r>
          </a:p>
          <a:p>
            <a:r>
              <a:rPr lang="en-US" dirty="0" smtClean="0"/>
              <a:t>- But other than that, it doesn't really matter which you use. It's just a preference.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A0E83-83A5-48D0-A691-BE3A6668424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91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- If different people use the same tag name to mean different things, there can be a conflict</a:t>
            </a:r>
          </a:p>
          <a:p>
            <a:endParaRPr lang="en-US" dirty="0" smtClean="0"/>
          </a:p>
          <a:p>
            <a:r>
              <a:rPr lang="en-US" dirty="0" smtClean="0"/>
              <a:t>- A namespace makes it clear who made up which tag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A0E83-83A5-48D0-A691-BE3A6668424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26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 smtClean="0"/>
              <a:t>- DDI is just a big collection of tags that represent things important to statistical data researchers</a:t>
            </a:r>
          </a:p>
          <a:p>
            <a:pPr marL="171450" indent="-171450">
              <a:buFontTx/>
              <a:buChar char="-"/>
            </a:pPr>
            <a:endParaRPr lang="en-US" dirty="0" smtClean="0"/>
          </a:p>
          <a:p>
            <a:r>
              <a:rPr lang="en-US" dirty="0" smtClean="0"/>
              <a:t>- An XML document can be validated against the DDI specification to see if it uses the appropriate tags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A0E83-83A5-48D0-A691-BE3A6668424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92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 smtClean="0"/>
              <a:t>- DDI is just a big collection of tags that represent things important to statistical data researchers</a:t>
            </a:r>
          </a:p>
          <a:p>
            <a:pPr marL="171450" indent="-171450">
              <a:buFontTx/>
              <a:buChar char="-"/>
            </a:pPr>
            <a:endParaRPr lang="en-US" dirty="0" smtClean="0"/>
          </a:p>
          <a:p>
            <a:r>
              <a:rPr lang="en-US" dirty="0" smtClean="0"/>
              <a:t>- An XML document can be validated against the DDI specification to see if it uses the appropriate tags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A0E83-83A5-48D0-A691-BE3A6668424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92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- Show an overview of the sample study</a:t>
            </a:r>
          </a:p>
          <a:p>
            <a:endParaRPr lang="en-US" dirty="0" smtClean="0"/>
          </a:p>
          <a:p>
            <a:r>
              <a:rPr lang="en-US" dirty="0" smtClean="0"/>
              <a:t>- Show the URL of the Web tool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A0E83-83A5-48D0-A691-BE3A6668424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51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A0E83-83A5-48D0-A691-BE3A6668424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92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Concept element is nested under a </a:t>
            </a:r>
            <a:r>
              <a:rPr lang="en-US" dirty="0" err="1" smtClean="0"/>
              <a:t>ConceptScheme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Which is</a:t>
            </a:r>
            <a:r>
              <a:rPr lang="en-US" baseline="0" dirty="0" smtClean="0"/>
              <a:t> nested under a </a:t>
            </a:r>
            <a:r>
              <a:rPr lang="en-US" baseline="0" dirty="0" err="1" smtClean="0"/>
              <a:t>ResourcePackage</a:t>
            </a:r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smtClean="0"/>
              <a:t>Which is nested under a </a:t>
            </a:r>
            <a:r>
              <a:rPr lang="en-US" baseline="0" dirty="0" err="1" smtClean="0"/>
              <a:t>DDIInstance</a:t>
            </a:r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A0E83-83A5-48D0-A691-BE3A6668424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080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Concept element is nested under a </a:t>
            </a:r>
            <a:r>
              <a:rPr lang="en-US" dirty="0" err="1" smtClean="0"/>
              <a:t>ConceptScheme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Which is</a:t>
            </a:r>
            <a:r>
              <a:rPr lang="en-US" baseline="0" dirty="0" smtClean="0"/>
              <a:t> nested under a </a:t>
            </a:r>
            <a:r>
              <a:rPr lang="en-US" baseline="0" dirty="0" err="1" smtClean="0"/>
              <a:t>ResourcePackage</a:t>
            </a:r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smtClean="0"/>
              <a:t>Which is nested under a </a:t>
            </a:r>
            <a:r>
              <a:rPr lang="en-US" baseline="0" dirty="0" err="1" smtClean="0"/>
              <a:t>DDIInstance</a:t>
            </a:r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A0E83-83A5-48D0-A691-BE3A6668424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08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</a:t>
            </a:r>
            <a:r>
              <a:rPr lang="en-US" baseline="0" dirty="0" smtClean="0"/>
              <a:t> agency identifies the organization or person responsible for the metadata.</a:t>
            </a:r>
          </a:p>
          <a:p>
            <a:endParaRPr lang="en-US" baseline="0" dirty="0" smtClean="0"/>
          </a:p>
          <a:p>
            <a:r>
              <a:rPr lang="en-US" baseline="0" dirty="0" smtClean="0"/>
              <a:t>An identifier uniquely identifies a DDI item.</a:t>
            </a:r>
          </a:p>
          <a:p>
            <a:endParaRPr lang="en-US" baseline="0" dirty="0" smtClean="0"/>
          </a:p>
          <a:p>
            <a:r>
              <a:rPr lang="en-US" baseline="0" dirty="0" smtClean="0"/>
              <a:t>The version says what version of the item is represented.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A0E83-83A5-48D0-A691-BE3A6668424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922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When something can b</a:t>
            </a:r>
            <a:r>
              <a:rPr lang="en-US" baseline="0" dirty="0" smtClean="0"/>
              <a:t>e used in more than one place, it is better to reference it instead of repeating it.</a:t>
            </a:r>
          </a:p>
          <a:p>
            <a:r>
              <a:rPr lang="en-US" baseline="0" dirty="0" smtClean="0"/>
              <a:t/>
            </a:r>
            <a:br>
              <a:rPr lang="en-US" baseline="0" dirty="0" smtClean="0"/>
            </a:br>
            <a:r>
              <a:rPr lang="en-US" baseline="0" dirty="0" smtClean="0"/>
              <a:t>This is the big advantage of DDI 3 over DDI 2.</a:t>
            </a:r>
          </a:p>
          <a:p>
            <a:endParaRPr lang="en-US" baseline="0" dirty="0" smtClean="0"/>
          </a:p>
          <a:p>
            <a:r>
              <a:rPr lang="en-US" baseline="0" dirty="0" smtClean="0"/>
              <a:t>This applies to Concepts, Questions, Variables, and many other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A0E83-83A5-48D0-A691-BE3A6668424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2726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A0E83-83A5-48D0-A691-BE3A6668424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335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Just like XML,</a:t>
            </a:r>
            <a:r>
              <a:rPr lang="en-US" baseline="0" dirty="0" smtClean="0"/>
              <a:t> DDI itself doesn’t actually do anything. It only represents information.</a:t>
            </a:r>
          </a:p>
          <a:p>
            <a:endParaRPr lang="en-US" baseline="0" dirty="0" smtClean="0"/>
          </a:p>
          <a:p>
            <a:r>
              <a:rPr lang="en-US" baseline="0" dirty="0" smtClean="0"/>
              <a:t>But you can write tools that read that information and publish it in useful formats.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A0E83-83A5-48D0-A691-BE3A6668424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553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409B398-9817-4238-912B-E6F5126E33E3}" type="datetimeFigureOut">
              <a:rPr lang="en-US" smtClean="0"/>
              <a:t>12/4/2011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5F5C3-1384-4544-A833-53B9C9FC49E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B398-9817-4238-912B-E6F5126E33E3}" type="datetimeFigureOut">
              <a:rPr lang="en-US" smtClean="0"/>
              <a:t>12/4/2011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3C5F5C3-1384-4544-A833-53B9C9FC49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B398-9817-4238-912B-E6F5126E33E3}" type="datetimeFigureOut">
              <a:rPr lang="en-US" smtClean="0"/>
              <a:t>12/4/2011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43C5F5C3-1384-4544-A833-53B9C9FC49E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409B398-9817-4238-912B-E6F5126E33E3}" type="datetimeFigureOut">
              <a:rPr lang="en-US" smtClean="0"/>
              <a:t>12/4/2011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3C5F5C3-1384-4544-A833-53B9C9FC49E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409B398-9817-4238-912B-E6F5126E33E3}" type="datetimeFigureOut">
              <a:rPr lang="en-US" smtClean="0"/>
              <a:t>12/4/2011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3C5F5C3-1384-4544-A833-53B9C9FC49E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B398-9817-4238-912B-E6F5126E33E3}" type="datetimeFigureOut">
              <a:rPr lang="en-US" smtClean="0"/>
              <a:t>12/4/2011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3C5F5C3-1384-4544-A833-53B9C9FC49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B398-9817-4238-912B-E6F5126E33E3}" type="datetimeFigureOut">
              <a:rPr lang="en-US" smtClean="0"/>
              <a:t>12/4/2011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5F5C3-1384-4544-A833-53B9C9FC49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B398-9817-4238-912B-E6F5126E33E3}" type="datetimeFigureOut">
              <a:rPr lang="en-US" smtClean="0"/>
              <a:t>12/4/2011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3C5F5C3-1384-4544-A833-53B9C9FC49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C409B398-9817-4238-912B-E6F5126E33E3}" type="datetimeFigureOut">
              <a:rPr lang="en-US" smtClean="0"/>
              <a:t>12/4/2011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43C5F5C3-1384-4544-A833-53B9C9FC49E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B398-9817-4238-912B-E6F5126E33E3}" type="datetimeFigureOut">
              <a:rPr lang="en-US" smtClean="0"/>
              <a:t>12/4/2011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5F5C3-1384-4544-A833-53B9C9FC49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C409B398-9817-4238-912B-E6F5126E33E3}" type="datetimeFigureOut">
              <a:rPr lang="en-US" smtClean="0"/>
              <a:t>12/4/2011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43C5F5C3-1384-4544-A833-53B9C9FC49E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409B398-9817-4238-912B-E6F5126E33E3}" type="datetimeFigureOut">
              <a:rPr lang="en-US" smtClean="0"/>
              <a:t>12/4/2011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3C5F5C3-1384-4544-A833-53B9C9FC49E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tmp"/><Relationship Id="rId5" Type="http://schemas.openxmlformats.org/officeDocument/2006/relationships/image" Target="../media/image9.tmp"/><Relationship Id="rId4" Type="http://schemas.openxmlformats.org/officeDocument/2006/relationships/image" Target="../media/image8.tm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2057400"/>
            <a:ext cx="5554133" cy="1470025"/>
          </a:xfrm>
        </p:spPr>
        <p:txBody>
          <a:bodyPr>
            <a:normAutofit/>
          </a:bodyPr>
          <a:lstStyle/>
          <a:p>
            <a:pPr algn="ctr"/>
            <a:r>
              <a:rPr lang="en-US" cap="none" dirty="0" smtClean="0"/>
              <a:t>Learn How to Create DDI Metadata</a:t>
            </a:r>
            <a:endParaRPr lang="en-US" cap="none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 Technical Introduction</a:t>
            </a:r>
            <a:endParaRPr lang="en-US" dirty="0"/>
          </a:p>
        </p:txBody>
      </p:sp>
      <p:pic>
        <p:nvPicPr>
          <p:cNvPr id="1026" name="Picture 2" descr="http://www.ddialliance.org/sites/default/files/ddi-logo-tagline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6090327"/>
            <a:ext cx="1066800" cy="62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04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Welcome to EDDI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 descr="D:\tmp\IMAG01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8293101" cy="496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715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DDI Introduction</a:t>
            </a:r>
          </a:p>
          <a:p>
            <a:r>
              <a:rPr lang="en-US" dirty="0" smtClean="0"/>
              <a:t>XML Introduction</a:t>
            </a:r>
          </a:p>
          <a:p>
            <a:r>
              <a:rPr lang="en-US" dirty="0" smtClean="0"/>
              <a:t>DDI Walkthrough and Exercises</a:t>
            </a:r>
          </a:p>
          <a:p>
            <a:r>
              <a:rPr lang="en-US" dirty="0" smtClean="0"/>
              <a:t>Publishing DDI</a:t>
            </a:r>
          </a:p>
          <a:p>
            <a:r>
              <a:rPr lang="en-US" dirty="0" smtClean="0"/>
              <a:t>Where to Learn </a:t>
            </a:r>
            <a:r>
              <a:rPr lang="en-US" dirty="0" smtClean="0"/>
              <a:t>More</a:t>
            </a:r>
          </a:p>
          <a:p>
            <a:r>
              <a:rPr lang="en-US" dirty="0" smtClean="0"/>
              <a:t>Discussion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53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3733800" y="1537922"/>
            <a:ext cx="1838721" cy="942242"/>
            <a:chOff x="3200397" y="1584087"/>
            <a:chExt cx="1828805" cy="1357788"/>
          </a:xfrm>
        </p:grpSpPr>
        <p:sp>
          <p:nvSpPr>
            <p:cNvPr id="10" name="Rounded Rectangle 9"/>
            <p:cNvSpPr/>
            <p:nvPr/>
          </p:nvSpPr>
          <p:spPr>
            <a:xfrm>
              <a:off x="3200397" y="1584087"/>
              <a:ext cx="1828805" cy="1357788"/>
            </a:xfrm>
            <a:prstGeom prst="roundRect">
              <a:avLst/>
            </a:prstGeom>
            <a:blipFill rotWithShape="0">
              <a:blip r:embed="rId2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ounded Rectangle 4"/>
            <p:cNvSpPr/>
            <p:nvPr/>
          </p:nvSpPr>
          <p:spPr>
            <a:xfrm>
              <a:off x="3266679" y="1650369"/>
              <a:ext cx="1696241" cy="12252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600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 kern="1200" dirty="0"/>
            </a:p>
          </p:txBody>
        </p:sp>
      </p:grpSp>
      <p:sp>
        <p:nvSpPr>
          <p:cNvPr id="12" name="Title 6"/>
          <p:cNvSpPr txBox="1">
            <a:spLocks/>
          </p:cNvSpPr>
          <p:nvPr/>
        </p:nvSpPr>
        <p:spPr>
          <a:xfrm>
            <a:off x="2019496" y="3581400"/>
            <a:ext cx="5267325" cy="9906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Learn DDI 3 in </a:t>
            </a:r>
          </a:p>
          <a:p>
            <a:pPr algn="ctr"/>
            <a:r>
              <a:rPr lang="en-US" dirty="0" smtClean="0"/>
              <a:t>60 Seconds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73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4"/>
          <p:cNvSpPr>
            <a:spLocks noChangeArrowheads="1"/>
          </p:cNvSpPr>
          <p:nvPr/>
        </p:nvSpPr>
        <p:spPr bwMode="auto">
          <a:xfrm>
            <a:off x="2476500" y="609600"/>
            <a:ext cx="1295400" cy="1447800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Study</a:t>
            </a:r>
          </a:p>
        </p:txBody>
      </p:sp>
      <p:sp>
        <p:nvSpPr>
          <p:cNvPr id="6150" name="Cloud"/>
          <p:cNvSpPr>
            <a:spLocks noChangeAspect="1" noEditPoints="1" noChangeArrowheads="1"/>
          </p:cNvSpPr>
          <p:nvPr/>
        </p:nvSpPr>
        <p:spPr bwMode="auto">
          <a:xfrm>
            <a:off x="571500" y="3581400"/>
            <a:ext cx="2133600" cy="121920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r>
              <a:rPr lang="en-US" dirty="0"/>
              <a:t>      </a:t>
            </a:r>
          </a:p>
          <a:p>
            <a:pPr>
              <a:defRPr/>
            </a:pPr>
            <a:r>
              <a:rPr lang="en-US" dirty="0"/>
              <a:t>    Concepts</a:t>
            </a: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 flipV="1">
            <a:off x="1790700" y="2133600"/>
            <a:ext cx="12192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3" name="AutoShape 9"/>
          <p:cNvSpPr>
            <a:spLocks noChangeArrowheads="1"/>
          </p:cNvSpPr>
          <p:nvPr/>
        </p:nvSpPr>
        <p:spPr bwMode="auto">
          <a:xfrm>
            <a:off x="952500" y="2133600"/>
            <a:ext cx="1371600" cy="457200"/>
          </a:xfrm>
          <a:prstGeom prst="wedgeRectCallout">
            <a:avLst>
              <a:gd name="adj1" fmla="val 45833"/>
              <a:gd name="adj2" fmla="val 11979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measures</a:t>
            </a:r>
          </a:p>
        </p:txBody>
      </p:sp>
      <p:sp>
        <p:nvSpPr>
          <p:cNvPr id="6154" name="AutoShape 10"/>
          <p:cNvSpPr>
            <a:spLocks noChangeArrowheads="1"/>
          </p:cNvSpPr>
          <p:nvPr/>
        </p:nvSpPr>
        <p:spPr bwMode="auto">
          <a:xfrm>
            <a:off x="5600700" y="609600"/>
            <a:ext cx="1295400" cy="1447800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Survey</a:t>
            </a:r>
          </a:p>
          <a:p>
            <a:pPr algn="ctr"/>
            <a:r>
              <a:rPr lang="en-US"/>
              <a:t>Instruments</a:t>
            </a:r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 flipH="1">
            <a:off x="3848100" y="1219200"/>
            <a:ext cx="1676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7" name="AutoShape 13"/>
          <p:cNvSpPr>
            <a:spLocks noChangeArrowheads="1"/>
          </p:cNvSpPr>
          <p:nvPr/>
        </p:nvSpPr>
        <p:spPr bwMode="auto">
          <a:xfrm>
            <a:off x="4305300" y="381000"/>
            <a:ext cx="990600" cy="457200"/>
          </a:xfrm>
          <a:prstGeom prst="wedgeRectCallout">
            <a:avLst>
              <a:gd name="adj1" fmla="val -44389"/>
              <a:gd name="adj2" fmla="val 11979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using</a:t>
            </a:r>
          </a:p>
        </p:txBody>
      </p:sp>
      <p:sp>
        <p:nvSpPr>
          <p:cNvPr id="6158" name="Rectangle 14"/>
          <p:cNvSpPr>
            <a:spLocks noChangeArrowheads="1"/>
          </p:cNvSpPr>
          <p:nvPr/>
        </p:nvSpPr>
        <p:spPr bwMode="auto">
          <a:xfrm>
            <a:off x="6515100" y="30480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9" name="Rectangle 15"/>
          <p:cNvSpPr>
            <a:spLocks noChangeArrowheads="1"/>
          </p:cNvSpPr>
          <p:nvPr/>
        </p:nvSpPr>
        <p:spPr bwMode="auto">
          <a:xfrm>
            <a:off x="6667500" y="32004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0" name="Rectangle 16"/>
          <p:cNvSpPr>
            <a:spLocks noChangeArrowheads="1"/>
          </p:cNvSpPr>
          <p:nvPr/>
        </p:nvSpPr>
        <p:spPr bwMode="auto">
          <a:xfrm>
            <a:off x="6819900" y="33528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6972300" y="35052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7124700" y="36576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3" name="Rectangle 19"/>
          <p:cNvSpPr>
            <a:spLocks noChangeArrowheads="1"/>
          </p:cNvSpPr>
          <p:nvPr/>
        </p:nvSpPr>
        <p:spPr bwMode="auto">
          <a:xfrm>
            <a:off x="7277100" y="38100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Questions</a:t>
            </a:r>
          </a:p>
        </p:txBody>
      </p:sp>
      <p:sp>
        <p:nvSpPr>
          <p:cNvPr id="6165" name="Line 21"/>
          <p:cNvSpPr>
            <a:spLocks noChangeShapeType="1"/>
          </p:cNvSpPr>
          <p:nvPr/>
        </p:nvSpPr>
        <p:spPr bwMode="auto">
          <a:xfrm flipH="1" flipV="1">
            <a:off x="6591300" y="2133600"/>
            <a:ext cx="762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6" name="AutoShape 22"/>
          <p:cNvSpPr>
            <a:spLocks noChangeArrowheads="1"/>
          </p:cNvSpPr>
          <p:nvPr/>
        </p:nvSpPr>
        <p:spPr bwMode="auto">
          <a:xfrm>
            <a:off x="7124700" y="2057400"/>
            <a:ext cx="1600200" cy="381000"/>
          </a:xfrm>
          <a:prstGeom prst="wedgeRectCallout">
            <a:avLst>
              <a:gd name="adj1" fmla="val -52481"/>
              <a:gd name="adj2" fmla="val 10875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made up of</a:t>
            </a:r>
          </a:p>
        </p:txBody>
      </p:sp>
      <p:sp>
        <p:nvSpPr>
          <p:cNvPr id="6167" name="AutoShape 23"/>
          <p:cNvSpPr>
            <a:spLocks noChangeArrowheads="1"/>
          </p:cNvSpPr>
          <p:nvPr/>
        </p:nvSpPr>
        <p:spPr bwMode="auto">
          <a:xfrm>
            <a:off x="4381500" y="38862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8" name="AutoShape 24"/>
          <p:cNvSpPr>
            <a:spLocks noChangeArrowheads="1"/>
          </p:cNvSpPr>
          <p:nvPr/>
        </p:nvSpPr>
        <p:spPr bwMode="auto">
          <a:xfrm>
            <a:off x="4533900" y="40386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9" name="AutoShape 25"/>
          <p:cNvSpPr>
            <a:spLocks noChangeArrowheads="1"/>
          </p:cNvSpPr>
          <p:nvPr/>
        </p:nvSpPr>
        <p:spPr bwMode="auto">
          <a:xfrm>
            <a:off x="4686300" y="41910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0" name="AutoShape 26"/>
          <p:cNvSpPr>
            <a:spLocks noChangeArrowheads="1"/>
          </p:cNvSpPr>
          <p:nvPr/>
        </p:nvSpPr>
        <p:spPr bwMode="auto">
          <a:xfrm>
            <a:off x="4838700" y="43434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1" name="AutoShape 27"/>
          <p:cNvSpPr>
            <a:spLocks noChangeArrowheads="1"/>
          </p:cNvSpPr>
          <p:nvPr/>
        </p:nvSpPr>
        <p:spPr bwMode="auto">
          <a:xfrm>
            <a:off x="4991100" y="44958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2" name="AutoShape 28"/>
          <p:cNvSpPr>
            <a:spLocks noChangeArrowheads="1"/>
          </p:cNvSpPr>
          <p:nvPr/>
        </p:nvSpPr>
        <p:spPr bwMode="auto">
          <a:xfrm>
            <a:off x="3924300" y="38862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3" name="AutoShape 29"/>
          <p:cNvSpPr>
            <a:spLocks noChangeArrowheads="1"/>
          </p:cNvSpPr>
          <p:nvPr/>
        </p:nvSpPr>
        <p:spPr bwMode="auto">
          <a:xfrm>
            <a:off x="4076700" y="40386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4" name="AutoShape 30"/>
          <p:cNvSpPr>
            <a:spLocks noChangeArrowheads="1"/>
          </p:cNvSpPr>
          <p:nvPr/>
        </p:nvSpPr>
        <p:spPr bwMode="auto">
          <a:xfrm>
            <a:off x="4229100" y="41910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5" name="AutoShape 31"/>
          <p:cNvSpPr>
            <a:spLocks noChangeArrowheads="1"/>
          </p:cNvSpPr>
          <p:nvPr/>
        </p:nvSpPr>
        <p:spPr bwMode="auto">
          <a:xfrm>
            <a:off x="4381500" y="43434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6" name="AutoShape 32"/>
          <p:cNvSpPr>
            <a:spLocks noChangeArrowheads="1"/>
          </p:cNvSpPr>
          <p:nvPr/>
        </p:nvSpPr>
        <p:spPr bwMode="auto">
          <a:xfrm>
            <a:off x="4533900" y="44958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7" name="Oval 33"/>
          <p:cNvSpPr>
            <a:spLocks noChangeArrowheads="1"/>
          </p:cNvSpPr>
          <p:nvPr/>
        </p:nvSpPr>
        <p:spPr bwMode="auto">
          <a:xfrm>
            <a:off x="3619500" y="3505200"/>
            <a:ext cx="2133600" cy="2057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8" name="Text Box 34"/>
          <p:cNvSpPr txBox="1">
            <a:spLocks noChangeArrowheads="1"/>
          </p:cNvSpPr>
          <p:nvPr/>
        </p:nvSpPr>
        <p:spPr bwMode="auto">
          <a:xfrm>
            <a:off x="4076700" y="4876800"/>
            <a:ext cx="120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Universes</a:t>
            </a:r>
          </a:p>
        </p:txBody>
      </p:sp>
      <p:sp>
        <p:nvSpPr>
          <p:cNvPr id="6179" name="Line 35"/>
          <p:cNvSpPr>
            <a:spLocks noChangeShapeType="1"/>
          </p:cNvSpPr>
          <p:nvPr/>
        </p:nvSpPr>
        <p:spPr bwMode="auto">
          <a:xfrm flipH="1" flipV="1">
            <a:off x="3695700" y="2133600"/>
            <a:ext cx="6096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0" name="AutoShape 36"/>
          <p:cNvSpPr>
            <a:spLocks noChangeArrowheads="1"/>
          </p:cNvSpPr>
          <p:nvPr/>
        </p:nvSpPr>
        <p:spPr bwMode="auto">
          <a:xfrm>
            <a:off x="4610100" y="2667000"/>
            <a:ext cx="914400" cy="304800"/>
          </a:xfrm>
          <a:prstGeom prst="wedgeRectCallout">
            <a:avLst>
              <a:gd name="adj1" fmla="val -103648"/>
              <a:gd name="adj2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about</a:t>
            </a:r>
          </a:p>
        </p:txBody>
      </p:sp>
      <p:sp>
        <p:nvSpPr>
          <p:cNvPr id="33" name="Text Box 6"/>
          <p:cNvSpPr txBox="1">
            <a:spLocks noChangeArrowheads="1"/>
          </p:cNvSpPr>
          <p:nvPr/>
        </p:nvSpPr>
        <p:spPr bwMode="auto">
          <a:xfrm>
            <a:off x="4267200" y="6221116"/>
            <a:ext cx="45811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1200" dirty="0" smtClean="0">
                <a:latin typeface="Calibri" pitchFamily="34" charset="0"/>
              </a:rPr>
              <a:t>Copyright </a:t>
            </a:r>
            <a:r>
              <a:rPr lang="en-US" sz="1200" dirty="0">
                <a:latin typeface="Calibri" pitchFamily="34" charset="0"/>
              </a:rPr>
              <a:t>© GESIS – Leibniz Institute for the Social Sciences, 2010</a:t>
            </a:r>
          </a:p>
          <a:p>
            <a:pPr algn="ctr" eaLnBrk="1" hangingPunct="1"/>
            <a:r>
              <a:rPr lang="en-US" sz="1200" dirty="0">
                <a:latin typeface="Calibri" pitchFamily="34" charset="0"/>
              </a:rPr>
              <a:t>Published under Creative Commons Attribute-</a:t>
            </a:r>
            <a:r>
              <a:rPr lang="en-US" sz="1200" dirty="0" err="1">
                <a:latin typeface="Calibri" pitchFamily="34" charset="0"/>
              </a:rPr>
              <a:t>ShareAlike</a:t>
            </a:r>
            <a:r>
              <a:rPr lang="en-US" sz="1200" dirty="0">
                <a:latin typeface="Calibri" pitchFamily="34" charset="0"/>
              </a:rPr>
              <a:t> 3.0 </a:t>
            </a:r>
            <a:r>
              <a:rPr lang="en-US" sz="1200" dirty="0" err="1">
                <a:latin typeface="Calibri" pitchFamily="34" charset="0"/>
              </a:rPr>
              <a:t>Unported</a:t>
            </a:r>
            <a:endParaRPr lang="en-US" sz="12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23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" grpId="0" animBg="1"/>
      <p:bldP spid="6152" grpId="0" animBg="1"/>
      <p:bldP spid="6153" grpId="0" animBg="1"/>
      <p:bldP spid="6154" grpId="0" animBg="1"/>
      <p:bldP spid="6156" grpId="0" animBg="1"/>
      <p:bldP spid="6157" grpId="0" animBg="1"/>
      <p:bldP spid="6158" grpId="0" animBg="1"/>
      <p:bldP spid="6159" grpId="0" animBg="1"/>
      <p:bldP spid="6160" grpId="0" animBg="1"/>
      <p:bldP spid="6161" grpId="0" animBg="1"/>
      <p:bldP spid="6162" grpId="0" animBg="1"/>
      <p:bldP spid="6163" grpId="0" animBg="1"/>
      <p:bldP spid="6165" grpId="0" animBg="1"/>
      <p:bldP spid="6166" grpId="0" animBg="1"/>
      <p:bldP spid="6167" grpId="0" animBg="1"/>
      <p:bldP spid="6168" grpId="0" animBg="1"/>
      <p:bldP spid="6169" grpId="0" animBg="1"/>
      <p:bldP spid="6170" grpId="0" animBg="1"/>
      <p:bldP spid="6171" grpId="0" animBg="1"/>
      <p:bldP spid="6172" grpId="0" animBg="1"/>
      <p:bldP spid="6173" grpId="0" animBg="1"/>
      <p:bldP spid="6174" grpId="0" animBg="1"/>
      <p:bldP spid="6175" grpId="0" animBg="1"/>
      <p:bldP spid="6176" grpId="0" animBg="1"/>
      <p:bldP spid="6177" grpId="0" animBg="1"/>
      <p:bldP spid="6178" grpId="0"/>
      <p:bldP spid="6179" grpId="0" animBg="1"/>
      <p:bldP spid="618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ChangeArrowheads="1"/>
          </p:cNvSpPr>
          <p:nvPr/>
        </p:nvSpPr>
        <p:spPr bwMode="auto">
          <a:xfrm>
            <a:off x="838200" y="6858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5" name="Rectangle 5"/>
          <p:cNvSpPr>
            <a:spLocks noChangeArrowheads="1"/>
          </p:cNvSpPr>
          <p:nvPr/>
        </p:nvSpPr>
        <p:spPr bwMode="auto">
          <a:xfrm>
            <a:off x="990600" y="8382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6" name="Rectangle 6"/>
          <p:cNvSpPr>
            <a:spLocks noChangeArrowheads="1"/>
          </p:cNvSpPr>
          <p:nvPr/>
        </p:nvSpPr>
        <p:spPr bwMode="auto">
          <a:xfrm>
            <a:off x="1143000" y="9906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7" name="Rectangle 7"/>
          <p:cNvSpPr>
            <a:spLocks noChangeArrowheads="1"/>
          </p:cNvSpPr>
          <p:nvPr/>
        </p:nvSpPr>
        <p:spPr bwMode="auto">
          <a:xfrm>
            <a:off x="1295400" y="11430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8" name="Rectangle 8"/>
          <p:cNvSpPr>
            <a:spLocks noChangeArrowheads="1"/>
          </p:cNvSpPr>
          <p:nvPr/>
        </p:nvSpPr>
        <p:spPr bwMode="auto">
          <a:xfrm>
            <a:off x="1447800" y="12954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9" name="Rectangle 9"/>
          <p:cNvSpPr>
            <a:spLocks noChangeArrowheads="1"/>
          </p:cNvSpPr>
          <p:nvPr/>
        </p:nvSpPr>
        <p:spPr bwMode="auto">
          <a:xfrm>
            <a:off x="1600200" y="14478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Questions</a:t>
            </a:r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990600" y="40386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1143000" y="41910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1295400" y="43434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2" name="Rectangle 14"/>
          <p:cNvSpPr>
            <a:spLocks noChangeArrowheads="1"/>
          </p:cNvSpPr>
          <p:nvPr/>
        </p:nvSpPr>
        <p:spPr bwMode="auto">
          <a:xfrm>
            <a:off x="1447800" y="44958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3" name="Rectangle 15"/>
          <p:cNvSpPr>
            <a:spLocks noChangeArrowheads="1"/>
          </p:cNvSpPr>
          <p:nvPr/>
        </p:nvSpPr>
        <p:spPr bwMode="auto">
          <a:xfrm>
            <a:off x="1600200" y="46482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4" name="Rectangle 16"/>
          <p:cNvSpPr>
            <a:spLocks noChangeArrowheads="1"/>
          </p:cNvSpPr>
          <p:nvPr/>
        </p:nvSpPr>
        <p:spPr bwMode="auto">
          <a:xfrm>
            <a:off x="1752600" y="4800600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Responses</a:t>
            </a:r>
          </a:p>
        </p:txBody>
      </p:sp>
      <p:sp>
        <p:nvSpPr>
          <p:cNvPr id="7185" name="Line 17"/>
          <p:cNvSpPr>
            <a:spLocks noChangeShapeType="1"/>
          </p:cNvSpPr>
          <p:nvPr/>
        </p:nvSpPr>
        <p:spPr bwMode="auto">
          <a:xfrm flipV="1">
            <a:off x="1828800" y="2286000"/>
            <a:ext cx="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6" name="AutoShape 18"/>
          <p:cNvSpPr>
            <a:spLocks noChangeArrowheads="1"/>
          </p:cNvSpPr>
          <p:nvPr/>
        </p:nvSpPr>
        <p:spPr bwMode="auto">
          <a:xfrm>
            <a:off x="2209800" y="3048000"/>
            <a:ext cx="1143000" cy="457200"/>
          </a:xfrm>
          <a:prstGeom prst="wedgeRectCallout">
            <a:avLst>
              <a:gd name="adj1" fmla="val -81667"/>
              <a:gd name="adj2" fmla="val 5659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collect</a:t>
            </a:r>
          </a:p>
        </p:txBody>
      </p:sp>
      <p:sp>
        <p:nvSpPr>
          <p:cNvPr id="7187" name="AutoShape 19" descr="Large grid"/>
          <p:cNvSpPr>
            <a:spLocks noChangeArrowheads="1"/>
          </p:cNvSpPr>
          <p:nvPr/>
        </p:nvSpPr>
        <p:spPr bwMode="auto">
          <a:xfrm>
            <a:off x="4495800" y="3810000"/>
            <a:ext cx="2133600" cy="1447800"/>
          </a:xfrm>
          <a:prstGeom prst="cube">
            <a:avLst>
              <a:gd name="adj" fmla="val 25000"/>
            </a:avLst>
          </a:prstGeom>
          <a:pattFill prst="lgGrid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188" name="Line 20"/>
          <p:cNvSpPr>
            <a:spLocks noChangeShapeType="1"/>
          </p:cNvSpPr>
          <p:nvPr/>
        </p:nvSpPr>
        <p:spPr bwMode="auto">
          <a:xfrm flipH="1">
            <a:off x="3276600" y="5029200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9" name="AutoShape 21"/>
          <p:cNvSpPr>
            <a:spLocks noChangeArrowheads="1"/>
          </p:cNvSpPr>
          <p:nvPr/>
        </p:nvSpPr>
        <p:spPr bwMode="auto">
          <a:xfrm>
            <a:off x="3429000" y="5715000"/>
            <a:ext cx="1447800" cy="381000"/>
          </a:xfrm>
          <a:prstGeom prst="wedgeRectCallout">
            <a:avLst>
              <a:gd name="adj1" fmla="val -25111"/>
              <a:gd name="adj2" fmla="val -2258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resulting in</a:t>
            </a:r>
          </a:p>
        </p:txBody>
      </p:sp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4724400" y="5257800"/>
            <a:ext cx="152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Data Files</a:t>
            </a:r>
          </a:p>
        </p:txBody>
      </p:sp>
      <p:sp>
        <p:nvSpPr>
          <p:cNvPr id="7192" name="Rectangle 24"/>
          <p:cNvSpPr>
            <a:spLocks noChangeArrowheads="1"/>
          </p:cNvSpPr>
          <p:nvPr/>
        </p:nvSpPr>
        <p:spPr bwMode="auto">
          <a:xfrm>
            <a:off x="4191000" y="1676400"/>
            <a:ext cx="1676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3" name="Rectangle 25"/>
          <p:cNvSpPr>
            <a:spLocks noChangeArrowheads="1"/>
          </p:cNvSpPr>
          <p:nvPr/>
        </p:nvSpPr>
        <p:spPr bwMode="auto">
          <a:xfrm>
            <a:off x="4343400" y="1828800"/>
            <a:ext cx="1676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4" name="Rectangle 26"/>
          <p:cNvSpPr>
            <a:spLocks noChangeArrowheads="1"/>
          </p:cNvSpPr>
          <p:nvPr/>
        </p:nvSpPr>
        <p:spPr bwMode="auto">
          <a:xfrm>
            <a:off x="4495800" y="1981200"/>
            <a:ext cx="1676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5" name="Rectangle 27"/>
          <p:cNvSpPr>
            <a:spLocks noChangeArrowheads="1"/>
          </p:cNvSpPr>
          <p:nvPr/>
        </p:nvSpPr>
        <p:spPr bwMode="auto">
          <a:xfrm>
            <a:off x="4648200" y="2133600"/>
            <a:ext cx="1676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6" name="Rectangle 28"/>
          <p:cNvSpPr>
            <a:spLocks noChangeArrowheads="1"/>
          </p:cNvSpPr>
          <p:nvPr/>
        </p:nvSpPr>
        <p:spPr bwMode="auto">
          <a:xfrm>
            <a:off x="4800600" y="2286000"/>
            <a:ext cx="1676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Variables</a:t>
            </a:r>
          </a:p>
        </p:txBody>
      </p:sp>
      <p:sp>
        <p:nvSpPr>
          <p:cNvPr id="7198" name="Line 30"/>
          <p:cNvSpPr>
            <a:spLocks noChangeShapeType="1"/>
          </p:cNvSpPr>
          <p:nvPr/>
        </p:nvSpPr>
        <p:spPr bwMode="auto">
          <a:xfrm>
            <a:off x="5486400" y="30480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9" name="AutoShape 31"/>
          <p:cNvSpPr>
            <a:spLocks noChangeArrowheads="1"/>
          </p:cNvSpPr>
          <p:nvPr/>
        </p:nvSpPr>
        <p:spPr bwMode="auto">
          <a:xfrm>
            <a:off x="5791200" y="3124200"/>
            <a:ext cx="1371600" cy="381000"/>
          </a:xfrm>
          <a:prstGeom prst="wedgeRectCallout">
            <a:avLst>
              <a:gd name="adj1" fmla="val -70718"/>
              <a:gd name="adj2" fmla="val 5875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made up of</a:t>
            </a:r>
          </a:p>
        </p:txBody>
      </p:sp>
      <p:sp>
        <p:nvSpPr>
          <p:cNvPr id="7200" name="AutoShape 32"/>
          <p:cNvSpPr>
            <a:spLocks noChangeArrowheads="1"/>
          </p:cNvSpPr>
          <p:nvPr/>
        </p:nvSpPr>
        <p:spPr bwMode="auto">
          <a:xfrm>
            <a:off x="7086600" y="304800"/>
            <a:ext cx="1600200" cy="1447800"/>
          </a:xfrm>
          <a:prstGeom prst="flowChartMultidocumen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Categories/</a:t>
            </a:r>
          </a:p>
          <a:p>
            <a:pPr algn="ctr"/>
            <a:r>
              <a:rPr lang="en-US"/>
              <a:t>Codes,</a:t>
            </a:r>
          </a:p>
          <a:p>
            <a:pPr algn="ctr"/>
            <a:r>
              <a:rPr lang="en-US"/>
              <a:t>Numbers</a:t>
            </a:r>
          </a:p>
        </p:txBody>
      </p:sp>
      <p:sp>
        <p:nvSpPr>
          <p:cNvPr id="7202" name="Line 34"/>
          <p:cNvSpPr>
            <a:spLocks noChangeShapeType="1"/>
          </p:cNvSpPr>
          <p:nvPr/>
        </p:nvSpPr>
        <p:spPr bwMode="auto">
          <a:xfrm flipH="1">
            <a:off x="5791200" y="762000"/>
            <a:ext cx="1219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3" name="AutoShape 35"/>
          <p:cNvSpPr>
            <a:spLocks noChangeArrowheads="1"/>
          </p:cNvSpPr>
          <p:nvPr/>
        </p:nvSpPr>
        <p:spPr bwMode="auto">
          <a:xfrm>
            <a:off x="4648200" y="533400"/>
            <a:ext cx="1676400" cy="381000"/>
          </a:xfrm>
          <a:prstGeom prst="wedgeRectCallout">
            <a:avLst>
              <a:gd name="adj1" fmla="val 41949"/>
              <a:gd name="adj2" fmla="val 131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i="1"/>
              <a:t>with values of</a:t>
            </a:r>
          </a:p>
        </p:txBody>
      </p:sp>
      <p:sp>
        <p:nvSpPr>
          <p:cNvPr id="32" name="Text Box 6"/>
          <p:cNvSpPr txBox="1">
            <a:spLocks noChangeArrowheads="1"/>
          </p:cNvSpPr>
          <p:nvPr/>
        </p:nvSpPr>
        <p:spPr bwMode="auto">
          <a:xfrm>
            <a:off x="4267200" y="6221116"/>
            <a:ext cx="45811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1200" dirty="0" smtClean="0">
                <a:latin typeface="Calibri" pitchFamily="34" charset="0"/>
              </a:rPr>
              <a:t>Copyright </a:t>
            </a:r>
            <a:r>
              <a:rPr lang="en-US" sz="1200" dirty="0">
                <a:latin typeface="Calibri" pitchFamily="34" charset="0"/>
              </a:rPr>
              <a:t>© GESIS – Leibniz Institute for the Social Sciences, 2010</a:t>
            </a:r>
          </a:p>
          <a:p>
            <a:pPr algn="ctr" eaLnBrk="1" hangingPunct="1"/>
            <a:r>
              <a:rPr lang="en-US" sz="1200" dirty="0">
                <a:latin typeface="Calibri" pitchFamily="34" charset="0"/>
              </a:rPr>
              <a:t>Published under Creative Commons Attribute-</a:t>
            </a:r>
            <a:r>
              <a:rPr lang="en-US" sz="1200" dirty="0" err="1">
                <a:latin typeface="Calibri" pitchFamily="34" charset="0"/>
              </a:rPr>
              <a:t>ShareAlike</a:t>
            </a:r>
            <a:r>
              <a:rPr lang="en-US" sz="1200" dirty="0">
                <a:latin typeface="Calibri" pitchFamily="34" charset="0"/>
              </a:rPr>
              <a:t> 3.0 </a:t>
            </a:r>
            <a:r>
              <a:rPr lang="en-US" sz="1200" dirty="0" err="1">
                <a:latin typeface="Calibri" pitchFamily="34" charset="0"/>
              </a:rPr>
              <a:t>Unported</a:t>
            </a:r>
            <a:endParaRPr lang="en-US" sz="12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24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9" grpId="0" animBg="1"/>
      <p:bldP spid="7180" grpId="0" animBg="1"/>
      <p:bldP spid="7181" grpId="0" animBg="1"/>
      <p:bldP spid="7182" grpId="0" animBg="1"/>
      <p:bldP spid="7183" grpId="0" animBg="1"/>
      <p:bldP spid="7184" grpId="0" animBg="1"/>
      <p:bldP spid="7185" grpId="0" animBg="1"/>
      <p:bldP spid="7186" grpId="0" animBg="1"/>
      <p:bldP spid="7187" grpId="0" animBg="1"/>
      <p:bldP spid="7188" grpId="0" animBg="1"/>
      <p:bldP spid="7189" grpId="0" animBg="1"/>
      <p:bldP spid="7191" grpId="0"/>
      <p:bldP spid="7192" grpId="0" animBg="1"/>
      <p:bldP spid="7193" grpId="0" animBg="1"/>
      <p:bldP spid="7194" grpId="0" animBg="1"/>
      <p:bldP spid="7195" grpId="0" animBg="1"/>
      <p:bldP spid="7196" grpId="0" animBg="1"/>
      <p:bldP spid="7198" grpId="0" animBg="1"/>
      <p:bldP spid="7199" grpId="0" animBg="1"/>
      <p:bldP spid="7200" grpId="0" animBg="1"/>
      <p:bldP spid="7202" grpId="0" animBg="1"/>
      <p:bldP spid="720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That’s Pretty Much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03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tmp\xre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13005"/>
            <a:ext cx="8627610" cy="545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13787" y="2133600"/>
            <a:ext cx="1010213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Concepts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64558" y="2667000"/>
            <a:ext cx="1059842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Variables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3962400"/>
            <a:ext cx="1010213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Concepts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89705" y="3994666"/>
            <a:ext cx="758541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Codes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19800" y="3886200"/>
            <a:ext cx="1191352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Categories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48400" y="4867275"/>
            <a:ext cx="1091966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Summary 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Statistics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68976" y="5105400"/>
            <a:ext cx="970330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Physical 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Location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76800" y="1076325"/>
            <a:ext cx="833883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Studies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1210519" y="4179332"/>
            <a:ext cx="409294" cy="617577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47700" y="2502932"/>
            <a:ext cx="684956" cy="308788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352800" y="4363998"/>
            <a:ext cx="533400" cy="131802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5778617" y="4255532"/>
            <a:ext cx="507883" cy="268069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7315200" y="5257800"/>
            <a:ext cx="517758" cy="149662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3" idx="1"/>
          </p:cNvCxnSpPr>
          <p:nvPr/>
        </p:nvCxnSpPr>
        <p:spPr>
          <a:xfrm flipH="1" flipV="1">
            <a:off x="2750486" y="5049322"/>
            <a:ext cx="418490" cy="379244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4148831" y="2362200"/>
            <a:ext cx="727969" cy="304800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715486" y="1260991"/>
            <a:ext cx="427427" cy="304800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46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 Redundant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 descr="tessDHS01_kam_FINAL.doc [Read-Only] [Compatibility Mode] - Microsoft Wor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58418"/>
            <a:ext cx="5181600" cy="4721888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05000"/>
            <a:ext cx="8305800" cy="28388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447800"/>
            <a:ext cx="6573168" cy="45250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133600"/>
            <a:ext cx="7259064" cy="33246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9202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6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Data Lifecycle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19400"/>
            <a:ext cx="1228725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124200"/>
            <a:ext cx="1400175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076575"/>
            <a:ext cx="1419225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048000"/>
            <a:ext cx="1304925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971800"/>
            <a:ext cx="1257300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895600"/>
            <a:ext cx="1304925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495800"/>
            <a:ext cx="4181475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425" y="1609725"/>
            <a:ext cx="3152775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3962400" y="3048000"/>
            <a:ext cx="1295400" cy="990600"/>
          </a:xfrm>
          <a:prstGeom prst="rect">
            <a:avLst/>
          </a:prstGeom>
          <a:solidFill>
            <a:srgbClr val="94B6D2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086225" y="1600200"/>
            <a:ext cx="2362200" cy="1371600"/>
          </a:xfrm>
          <a:prstGeom prst="rect">
            <a:avLst/>
          </a:prstGeom>
          <a:solidFill>
            <a:srgbClr val="94B6D2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33400" y="4724400"/>
            <a:ext cx="1981200" cy="676275"/>
          </a:xfrm>
          <a:prstGeom prst="rect">
            <a:avLst/>
          </a:prstGeom>
          <a:solidFill>
            <a:srgbClr val="94B6D2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Documentation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3400" y="5486400"/>
            <a:ext cx="1981200" cy="676275"/>
          </a:xfrm>
          <a:prstGeom prst="rect">
            <a:avLst/>
          </a:prstGeom>
          <a:solidFill>
            <a:schemeClr val="accent2">
              <a:alpha val="5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Lost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1000" y="3048000"/>
            <a:ext cx="3581400" cy="990600"/>
          </a:xfrm>
          <a:prstGeom prst="rect">
            <a:avLst/>
          </a:prstGeom>
          <a:solidFill>
            <a:schemeClr val="accent2">
              <a:alpha val="5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257800" y="3048000"/>
            <a:ext cx="3352800" cy="990600"/>
          </a:xfrm>
          <a:prstGeom prst="rect">
            <a:avLst/>
          </a:prstGeom>
          <a:solidFill>
            <a:schemeClr val="accent2">
              <a:alpha val="5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581400" y="4495800"/>
            <a:ext cx="3352800" cy="990600"/>
          </a:xfrm>
          <a:prstGeom prst="rect">
            <a:avLst/>
          </a:prstGeom>
          <a:solidFill>
            <a:schemeClr val="accent2">
              <a:alpha val="5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81000" y="3048000"/>
            <a:ext cx="3581400" cy="990600"/>
          </a:xfrm>
          <a:prstGeom prst="rect">
            <a:avLst/>
          </a:prstGeom>
          <a:solidFill>
            <a:srgbClr val="94B6D2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1" grpId="0" animBg="1"/>
      <p:bldP spid="22" grpId="0" animBg="1"/>
      <p:bldP spid="24" grpId="0" animBg="1"/>
      <p:bldP spid="25" grpId="0" animBg="1"/>
      <p:bldP spid="25" grpId="1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Better, Easier Documentation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Documentation is often a lower priority than data processing and analysis</a:t>
            </a:r>
          </a:p>
          <a:p>
            <a:r>
              <a:rPr lang="en-US" dirty="0" smtClean="0"/>
              <a:t>Make documentation a byproduct of the design and collection process</a:t>
            </a:r>
          </a:p>
          <a:p>
            <a:r>
              <a:rPr lang="en-US" dirty="0" smtClean="0"/>
              <a:t>The information is most accurate at this point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67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XML represents information</a:t>
            </a:r>
          </a:p>
          <a:p>
            <a:r>
              <a:rPr lang="en-US" dirty="0" smtClean="0"/>
              <a:t>XML is machine readable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 err="1"/>
              <a:t>eXtensible</a:t>
            </a:r>
            <a:r>
              <a:rPr lang="en-US" dirty="0"/>
              <a:t> Markup </a:t>
            </a:r>
            <a:r>
              <a:rPr lang="en-US" dirty="0" smtClean="0"/>
              <a:t>Language (XML)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13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XML Elements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541049" y="2133600"/>
            <a:ext cx="4316951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300" b="1" i="1" dirty="0"/>
              <a:t>The Hitchhiker's Guide to the Galaxy</a:t>
            </a:r>
            <a:endParaRPr lang="en-US" sz="2300" b="1" dirty="0"/>
          </a:p>
        </p:txBody>
      </p:sp>
      <p:sp>
        <p:nvSpPr>
          <p:cNvPr id="6" name="Rectangle 5"/>
          <p:cNvSpPr/>
          <p:nvPr/>
        </p:nvSpPr>
        <p:spPr>
          <a:xfrm>
            <a:off x="2541049" y="2514600"/>
            <a:ext cx="2010487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300" dirty="0"/>
              <a:t>Douglas Adams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35634" y="2906524"/>
            <a:ext cx="838691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300" dirty="0" smtClean="0"/>
              <a:t>1979</a:t>
            </a:r>
            <a:endParaRPr lang="en-US" sz="2300" dirty="0"/>
          </a:p>
        </p:txBody>
      </p:sp>
      <p:sp>
        <p:nvSpPr>
          <p:cNvPr id="8" name="TextBox 7"/>
          <p:cNvSpPr txBox="1"/>
          <p:nvPr/>
        </p:nvSpPr>
        <p:spPr>
          <a:xfrm>
            <a:off x="838200" y="1752600"/>
            <a:ext cx="1191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&lt;Book&gt;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3364468"/>
            <a:ext cx="1345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&lt;/Book&gt;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2133600"/>
            <a:ext cx="1064715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smtClean="0">
                <a:solidFill>
                  <a:schemeClr val="accent2"/>
                </a:solidFill>
              </a:rPr>
              <a:t>&lt;Title&gt;</a:t>
            </a:r>
            <a:endParaRPr lang="en-US" sz="2300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06827" y="2144524"/>
            <a:ext cx="1212191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smtClean="0">
                <a:solidFill>
                  <a:schemeClr val="accent2"/>
                </a:solidFill>
              </a:rPr>
              <a:t>&lt;/Title&gt;</a:t>
            </a:r>
            <a:endParaRPr lang="en-US" sz="2300" dirty="0">
              <a:solidFill>
                <a:schemeClr val="accent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2514600"/>
            <a:ext cx="1342034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smtClean="0">
                <a:solidFill>
                  <a:schemeClr val="accent2"/>
                </a:solidFill>
              </a:rPr>
              <a:t>&lt;Author&gt;</a:t>
            </a:r>
            <a:endParaRPr lang="en-US" sz="2300" dirty="0">
              <a:solidFill>
                <a:schemeClr val="accent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19600" y="2525524"/>
            <a:ext cx="148951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smtClean="0">
                <a:solidFill>
                  <a:schemeClr val="accent2"/>
                </a:solidFill>
              </a:rPr>
              <a:t>&lt;/Author&gt;</a:t>
            </a:r>
            <a:endParaRPr lang="en-US" sz="2300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2895600"/>
            <a:ext cx="1127681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smtClean="0">
                <a:solidFill>
                  <a:schemeClr val="accent2"/>
                </a:solidFill>
              </a:rPr>
              <a:t>&lt;Year&gt;</a:t>
            </a:r>
            <a:endParaRPr lang="en-US" sz="2300" dirty="0">
              <a:solidFill>
                <a:schemeClr val="accent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32173" y="2906524"/>
            <a:ext cx="1275157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smtClean="0">
                <a:solidFill>
                  <a:schemeClr val="accent2"/>
                </a:solidFill>
              </a:rPr>
              <a:t>&lt;/Year&gt;</a:t>
            </a:r>
            <a:endParaRPr lang="en-US" sz="23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13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XML Attributes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41049" y="2133600"/>
            <a:ext cx="4316951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300" b="1" i="1" dirty="0"/>
              <a:t>The Hitchhiker's Guide to the Galaxy</a:t>
            </a:r>
            <a:endParaRPr lang="en-US" sz="2300" b="1" dirty="0"/>
          </a:p>
        </p:txBody>
      </p:sp>
      <p:sp>
        <p:nvSpPr>
          <p:cNvPr id="6" name="Rectangle 5"/>
          <p:cNvSpPr/>
          <p:nvPr/>
        </p:nvSpPr>
        <p:spPr>
          <a:xfrm>
            <a:off x="2541049" y="2514600"/>
            <a:ext cx="2010487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300" dirty="0"/>
              <a:t>Douglas Adams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35634" y="2906524"/>
            <a:ext cx="838691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300" dirty="0" smtClean="0"/>
              <a:t>1979</a:t>
            </a:r>
            <a:endParaRPr lang="en-US" sz="2300" dirty="0"/>
          </a:p>
        </p:txBody>
      </p:sp>
      <p:sp>
        <p:nvSpPr>
          <p:cNvPr id="8" name="TextBox 7"/>
          <p:cNvSpPr txBox="1"/>
          <p:nvPr/>
        </p:nvSpPr>
        <p:spPr>
          <a:xfrm>
            <a:off x="838200" y="1752600"/>
            <a:ext cx="368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&lt;Book </a:t>
            </a:r>
            <a:r>
              <a:rPr lang="en-US" sz="2400" dirty="0" smtClean="0">
                <a:solidFill>
                  <a:schemeClr val="accent1"/>
                </a:solidFill>
              </a:rPr>
              <a:t>language=“English”</a:t>
            </a:r>
            <a:r>
              <a:rPr lang="en-US" sz="2400" dirty="0" smtClean="0">
                <a:solidFill>
                  <a:schemeClr val="accent2"/>
                </a:solidFill>
              </a:rPr>
              <a:t>&gt;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3364468"/>
            <a:ext cx="1345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&lt;/Book&gt;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2133600"/>
            <a:ext cx="1064715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smtClean="0">
                <a:solidFill>
                  <a:schemeClr val="accent2"/>
                </a:solidFill>
              </a:rPr>
              <a:t>&lt;Title&gt;</a:t>
            </a:r>
            <a:endParaRPr lang="en-US" sz="2300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06827" y="2144524"/>
            <a:ext cx="1212191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smtClean="0">
                <a:solidFill>
                  <a:schemeClr val="accent2"/>
                </a:solidFill>
              </a:rPr>
              <a:t>&lt;/Title&gt;</a:t>
            </a:r>
            <a:endParaRPr lang="en-US" sz="2300" dirty="0">
              <a:solidFill>
                <a:schemeClr val="accent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2514600"/>
            <a:ext cx="1342034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smtClean="0">
                <a:solidFill>
                  <a:schemeClr val="accent2"/>
                </a:solidFill>
              </a:rPr>
              <a:t>&lt;Author&gt;</a:t>
            </a:r>
            <a:endParaRPr lang="en-US" sz="2300" dirty="0">
              <a:solidFill>
                <a:schemeClr val="accent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19600" y="2525524"/>
            <a:ext cx="148951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smtClean="0">
                <a:solidFill>
                  <a:schemeClr val="accent2"/>
                </a:solidFill>
              </a:rPr>
              <a:t>&lt;/Author&gt;</a:t>
            </a:r>
            <a:endParaRPr lang="en-US" sz="2300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2895600"/>
            <a:ext cx="1127681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smtClean="0">
                <a:solidFill>
                  <a:schemeClr val="accent2"/>
                </a:solidFill>
              </a:rPr>
              <a:t>&lt;Year&gt;</a:t>
            </a:r>
            <a:endParaRPr lang="en-US" sz="2300" dirty="0">
              <a:solidFill>
                <a:schemeClr val="accent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32173" y="2906524"/>
            <a:ext cx="1275157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smtClean="0">
                <a:solidFill>
                  <a:schemeClr val="accent2"/>
                </a:solidFill>
              </a:rPr>
              <a:t>&lt;/Year&gt;</a:t>
            </a:r>
            <a:endParaRPr lang="en-US" sz="23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35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Conflicting Tag Names</a:t>
            </a:r>
            <a:endParaRPr lang="en-US" dirty="0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28600" y="1752600"/>
            <a:ext cx="8915400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MyData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Table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Legs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4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Legs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		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4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Length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units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feet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5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Length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	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Width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units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feet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3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Width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	&lt;/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Table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8600" y="4267200"/>
            <a:ext cx="6781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&lt;</a:t>
            </a:r>
            <a:r>
              <a:rPr lang="en-US" sz="2400" dirty="0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Table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400" dirty="0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Rows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400" dirty="0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Rows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4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4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400" dirty="0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Columns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400" dirty="0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Columns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&lt;/</a:t>
            </a:r>
            <a:r>
              <a:rPr lang="en-US" sz="2400" dirty="0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Table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4800" y="5867400"/>
            <a:ext cx="17139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400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MyData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26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2400" y="539889"/>
            <a:ext cx="8915400" cy="56323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MyData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400" dirty="0" err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xmlns:kitchen</a:t>
            </a:r>
            <a:r>
              <a:rPr lang="en-US" sz="2400" dirty="0" smtClean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=“http</a:t>
            </a:r>
            <a:r>
              <a:rPr lang="en-US" sz="24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://</a:t>
            </a:r>
            <a:r>
              <a:rPr lang="en-US" sz="2400" dirty="0" smtClean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www.example.org/kitchen”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xmlns:data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=“http://www.example.org/data”&gt;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 smtClean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Consolas" pitchFamily="49" charset="0"/>
                <a:cs typeface="Consolas" pitchFamily="49" charset="0"/>
              </a:rPr>
              <a:t>kitchen: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Table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Legs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4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Legs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		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4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Length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units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feet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5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Length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	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Width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units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feet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3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Width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	&lt;/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Consolas" pitchFamily="49" charset="0"/>
                <a:cs typeface="Consolas" pitchFamily="49" charset="0"/>
              </a:rPr>
              <a:t>kitchen: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Table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	&lt;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Consolas" pitchFamily="49" charset="0"/>
                <a:cs typeface="Consolas" pitchFamily="49" charset="0"/>
              </a:rPr>
              <a:t>data: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Table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4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Rows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4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Rows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Columns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3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Columns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	&lt;/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Consolas" pitchFamily="49" charset="0"/>
                <a:cs typeface="Consolas" pitchFamily="49" charset="0"/>
              </a:rPr>
              <a:t>data: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Table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MyData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575608"/>
            <a:ext cx="8915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MyData</a:t>
            </a:r>
            <a:r>
              <a:rPr lang="en-US" sz="2400" dirty="0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400" dirty="0" err="1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xmlns:kitchen</a:t>
            </a:r>
            <a:r>
              <a:rPr lang="en-US" sz="24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=“http://www.example.org/kitchen”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400" dirty="0" err="1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xmlns:data</a:t>
            </a:r>
            <a:r>
              <a:rPr lang="en-US" sz="24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=“http://www.example.org/data”&gt; </a:t>
            </a:r>
          </a:p>
        </p:txBody>
      </p:sp>
    </p:spTree>
    <p:extLst>
      <p:ext uri="{BB962C8B-B14F-4D97-AF65-F5344CB8AC3E}">
        <p14:creationId xmlns:p14="http://schemas.microsoft.com/office/powerpoint/2010/main" val="354149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and XML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89292" y="1555552"/>
            <a:ext cx="6825908" cy="48320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DDIInstance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StudyUnit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...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StudyUnit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endParaRPr lang="en-US" sz="2800" dirty="0" smtClean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ResourcePackage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8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QuestionScheme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/&gt;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8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VariableScheme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/&gt;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8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ConceptScheme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/&gt;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8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PhysicalInstance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/&gt;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ResourcePackage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DDIInstance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61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and XML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89292" y="1555552"/>
            <a:ext cx="6825908" cy="48320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DDIInstance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StudyUnit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...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StudyUnit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endParaRPr lang="en-US" sz="2800" dirty="0" smtClean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ResourcePackage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8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QuestionScheme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/&gt;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8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VariableScheme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/&gt;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8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ConceptScheme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/&gt;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8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PhysicalInstance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/&gt;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ResourcePackage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DDIInstance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73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Walkthrough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68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Universes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People</a:t>
            </a:r>
          </a:p>
          <a:p>
            <a:r>
              <a:rPr lang="en-US" dirty="0" smtClean="0"/>
              <a:t>People attending EDDI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75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Universe in XML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04800" y="2010013"/>
            <a:ext cx="8305800" cy="3170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c:Universe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id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“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universe1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r:Label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EDDI Participants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r:Label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   &lt;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c:HumanReadable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People attending the EDDI 2011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onference in Gothenburg.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c:HumanReadable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c:Universe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93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Universe in XML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04800" y="2010013"/>
            <a:ext cx="8305800" cy="3170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c:Universe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id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“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universe1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r:Label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EDDI Participants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r:Label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   &lt;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c:HumanReadable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People attending the EDDI 2011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onference in Gothenburg.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c:HumanReadable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c:Universe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3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the DDI Workshop Helper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10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Workshop Helper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mtClean="0"/>
              <a:t>http://ddiworkshop.thatip.net/</a:t>
            </a:r>
            <a:endParaRPr lang="en-US" dirty="0" smtClean="0"/>
          </a:p>
          <a:p>
            <a:r>
              <a:rPr lang="en-US" dirty="0" smtClean="0"/>
              <a:t>Login: your email address</a:t>
            </a:r>
          </a:p>
          <a:p>
            <a:r>
              <a:rPr lang="en-US" dirty="0" smtClean="0"/>
              <a:t>Password: eddi2011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52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concept defines something that may be measured</a:t>
            </a:r>
          </a:p>
          <a:p>
            <a:pPr lvl="1"/>
            <a:r>
              <a:rPr lang="en-US" dirty="0" smtClean="0"/>
              <a:t>Age</a:t>
            </a:r>
          </a:p>
          <a:p>
            <a:pPr lvl="1"/>
            <a:r>
              <a:rPr lang="en-US" dirty="0" smtClean="0"/>
              <a:t>Gender</a:t>
            </a:r>
          </a:p>
          <a:p>
            <a:pPr lvl="1"/>
            <a:r>
              <a:rPr lang="en-US" dirty="0" smtClean="0"/>
              <a:t>Employment status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24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Concept in DDI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28600" y="1813679"/>
            <a:ext cx="8534400" cy="31393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c:Concept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id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concept1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version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1.0.0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endParaRPr lang="en-US" dirty="0" smtClean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c:ConceptName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Hitchhiking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c:ConceptName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	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r:Description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Hitchhiking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is a means of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transportation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that is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	gained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by asking people, usually strangers, for a 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	ride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in their automobile or other road vehicle</a:t>
            </a: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r:Description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c:Concept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87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did it go</a:t>
            </a:r>
            <a:r>
              <a:rPr lang="en-US" baseline="0" dirty="0" smtClean="0"/>
              <a:t>?</a:t>
            </a:r>
            <a:endParaRPr 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28600" y="2262187"/>
            <a:ext cx="8686800" cy="24622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ddi:DDIInstance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g:ResourcePackage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c:ConceptScheme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 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c:Concept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id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concept1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...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c:Concept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c:ConceptScheme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g:ResourcePackage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ddi:DDIInstance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80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did it go</a:t>
            </a:r>
            <a:r>
              <a:rPr lang="en-US" baseline="0" dirty="0" smtClean="0"/>
              <a:t>?</a:t>
            </a:r>
            <a:endParaRPr 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28600" y="2262187"/>
            <a:ext cx="8686800" cy="24622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ddi:DDIInstance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g:ResourcePackage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c:ConceptScheme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 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c:Concept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id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concept1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...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c:Concept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c:ConceptScheme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g:ResourcePackage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ddi:DDIInstance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23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Identification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81000" y="2057400"/>
            <a:ext cx="8153400" cy="3785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c:ConceptScheme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id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scheme1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version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1.0.0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agency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example.org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c:Concept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 </a:t>
            </a:r>
            <a:r>
              <a:rPr lang="en-US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id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c1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...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400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c:Concept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24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c:Concept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 </a:t>
            </a:r>
            <a:r>
              <a:rPr lang="en-US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id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c2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...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400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c:Concept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24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c:Concept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 </a:t>
            </a:r>
            <a:r>
              <a:rPr lang="en-US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id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c3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...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400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c:Concept</a:t>
            </a:r>
            <a:r>
              <a:rPr lang="en-US" sz="24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c:ConceptScheme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116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Categories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Mode of Transportation</a:t>
            </a:r>
          </a:p>
          <a:p>
            <a:pPr lvl="1"/>
            <a:r>
              <a:rPr lang="en-US" dirty="0" smtClean="0"/>
              <a:t>Airplane</a:t>
            </a:r>
          </a:p>
          <a:p>
            <a:pPr lvl="1"/>
            <a:r>
              <a:rPr lang="en-US" dirty="0" smtClean="0"/>
              <a:t>Automobile</a:t>
            </a:r>
          </a:p>
          <a:p>
            <a:pPr lvl="1"/>
            <a:r>
              <a:rPr lang="en-US" dirty="0" smtClean="0"/>
              <a:t>Boat</a:t>
            </a:r>
          </a:p>
        </p:txBody>
      </p:sp>
    </p:spTree>
    <p:extLst>
      <p:ext uri="{BB962C8B-B14F-4D97-AF65-F5344CB8AC3E}">
        <p14:creationId xmlns:p14="http://schemas.microsoft.com/office/powerpoint/2010/main" val="68189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200" y="838200"/>
            <a:ext cx="8991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&lt;</a:t>
            </a:r>
            <a:r>
              <a:rPr lang="en-US" dirty="0" err="1">
                <a:solidFill>
                  <a:srgbClr val="A31515"/>
                </a:solidFill>
              </a:rPr>
              <a:t>l:CategoryScheme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>
                <a:solidFill>
                  <a:srgbClr val="FF0000"/>
                </a:solidFill>
              </a:rPr>
              <a:t>id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categories1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>
                <a:solidFill>
                  <a:srgbClr val="FF0000"/>
                </a:solidFill>
              </a:rPr>
              <a:t>version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1.0.0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>
                <a:solidFill>
                  <a:srgbClr val="FF0000"/>
                </a:solidFill>
              </a:rPr>
              <a:t>agency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example.org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> </a:t>
            </a:r>
            <a:endParaRPr lang="en-US" dirty="0" smtClean="0"/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	&lt;</a:t>
            </a:r>
            <a:r>
              <a:rPr lang="en-US" dirty="0" err="1">
                <a:solidFill>
                  <a:srgbClr val="A31515"/>
                </a:solidFill>
              </a:rPr>
              <a:t>l:CategorySchemeName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 err="1">
                <a:solidFill>
                  <a:srgbClr val="FF0000"/>
                </a:solidFill>
              </a:rPr>
              <a:t>xml:lang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en</a:t>
            </a:r>
            <a:r>
              <a:rPr lang="en-US" dirty="0" smtClean="0"/>
              <a:t>"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Mode of Transportation</a:t>
            </a:r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A31515"/>
                </a:solidFill>
              </a:rPr>
              <a:t>l:CategorySchemeName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sz="1400" dirty="0"/>
              <a:t> 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00FF"/>
                </a:solidFill>
              </a:rPr>
              <a:t>	&lt;</a:t>
            </a:r>
            <a:r>
              <a:rPr lang="en-US" dirty="0" err="1">
                <a:solidFill>
                  <a:srgbClr val="A31515"/>
                </a:solidFill>
              </a:rPr>
              <a:t>l:Category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>
                <a:solidFill>
                  <a:srgbClr val="FF0000"/>
                </a:solidFill>
              </a:rPr>
              <a:t>id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cat1</a:t>
            </a:r>
            <a:r>
              <a:rPr lang="en-US" dirty="0" smtClean="0"/>
              <a:t>"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  <a:r>
              <a:rPr lang="en-US" dirty="0" smtClean="0"/>
              <a:t> 		</a:t>
            </a:r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	&lt;</a:t>
            </a:r>
            <a:r>
              <a:rPr lang="en-US" dirty="0" err="1">
                <a:solidFill>
                  <a:srgbClr val="A31515"/>
                </a:solidFill>
              </a:rPr>
              <a:t>r:Label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 err="1">
                <a:solidFill>
                  <a:srgbClr val="FF0000"/>
                </a:solidFill>
              </a:rPr>
              <a:t>xml:lang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en</a:t>
            </a:r>
            <a:r>
              <a:rPr lang="en-US" dirty="0" smtClean="0"/>
              <a:t>"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  <a:r>
              <a:rPr lang="en-US" b="1" dirty="0" smtClean="0"/>
              <a:t>Airplane</a:t>
            </a:r>
            <a:r>
              <a:rPr lang="en-US" dirty="0" smtClean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A31515"/>
                </a:solidFill>
              </a:rPr>
              <a:t>r:Label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A31515"/>
                </a:solidFill>
              </a:rPr>
              <a:t>l:Category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> 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	&lt;</a:t>
            </a:r>
            <a:r>
              <a:rPr lang="en-US" dirty="0" err="1">
                <a:solidFill>
                  <a:srgbClr val="A31515"/>
                </a:solidFill>
              </a:rPr>
              <a:t>l:Category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>
                <a:solidFill>
                  <a:srgbClr val="FF0000"/>
                </a:solidFill>
              </a:rPr>
              <a:t>id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cat2</a:t>
            </a:r>
            <a:r>
              <a:rPr lang="en-US" dirty="0" smtClean="0"/>
              <a:t>"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  <a:r>
              <a:rPr lang="en-US" dirty="0" smtClean="0"/>
              <a:t> </a:t>
            </a:r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	&lt;</a:t>
            </a:r>
            <a:r>
              <a:rPr lang="en-US" dirty="0" err="1">
                <a:solidFill>
                  <a:srgbClr val="A31515"/>
                </a:solidFill>
              </a:rPr>
              <a:t>r:Label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 err="1">
                <a:solidFill>
                  <a:srgbClr val="FF0000"/>
                </a:solidFill>
              </a:rPr>
              <a:t>xml:lang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en</a:t>
            </a:r>
            <a:r>
              <a:rPr lang="en-US" dirty="0" smtClean="0"/>
              <a:t>"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  <a:r>
              <a:rPr lang="en-US" b="1" dirty="0" smtClean="0"/>
              <a:t>Automobile</a:t>
            </a:r>
            <a:r>
              <a:rPr lang="en-US" dirty="0" smtClean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A31515"/>
                </a:solidFill>
              </a:rPr>
              <a:t>r:Label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A31515"/>
                </a:solidFill>
              </a:rPr>
              <a:t>l:Category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> 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	&lt;</a:t>
            </a:r>
            <a:r>
              <a:rPr lang="en-US" dirty="0" err="1">
                <a:solidFill>
                  <a:srgbClr val="A31515"/>
                </a:solidFill>
              </a:rPr>
              <a:t>l:Category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>
                <a:solidFill>
                  <a:srgbClr val="FF0000"/>
                </a:solidFill>
              </a:rPr>
              <a:t>id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cat3</a:t>
            </a:r>
            <a:r>
              <a:rPr lang="en-US" dirty="0" smtClean="0"/>
              <a:t>"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  <a:endParaRPr lang="en-US" dirty="0" smtClean="0"/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	&lt;</a:t>
            </a:r>
            <a:r>
              <a:rPr lang="en-US" dirty="0" err="1">
                <a:solidFill>
                  <a:srgbClr val="A31515"/>
                </a:solidFill>
              </a:rPr>
              <a:t>r:Label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 err="1">
                <a:solidFill>
                  <a:srgbClr val="FF0000"/>
                </a:solidFill>
              </a:rPr>
              <a:t>xml:lang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en</a:t>
            </a:r>
            <a:r>
              <a:rPr lang="en-US" dirty="0" smtClean="0"/>
              <a:t>"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  <a:r>
              <a:rPr lang="en-US" b="1" dirty="0" smtClean="0"/>
              <a:t>Boat</a:t>
            </a:r>
            <a:r>
              <a:rPr lang="en-US" dirty="0" smtClean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A31515"/>
                </a:solidFill>
              </a:rPr>
              <a:t>r:Label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A31515"/>
                </a:solidFill>
              </a:rPr>
              <a:t>l:Category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> </a:t>
            </a:r>
            <a:endParaRPr lang="en-US" dirty="0" smtClean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A31515"/>
                </a:solidFill>
              </a:rPr>
              <a:t>l:CategoryScheme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75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200" y="838200"/>
            <a:ext cx="8991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&lt;</a:t>
            </a:r>
            <a:r>
              <a:rPr lang="en-US" dirty="0" err="1">
                <a:solidFill>
                  <a:srgbClr val="A31515"/>
                </a:solidFill>
              </a:rPr>
              <a:t>l:CategoryScheme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>
                <a:solidFill>
                  <a:srgbClr val="FF0000"/>
                </a:solidFill>
              </a:rPr>
              <a:t>id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categories1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>
                <a:solidFill>
                  <a:srgbClr val="FF0000"/>
                </a:solidFill>
              </a:rPr>
              <a:t>version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1.0.0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>
                <a:solidFill>
                  <a:srgbClr val="FF0000"/>
                </a:solidFill>
              </a:rPr>
              <a:t>agency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example.org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> </a:t>
            </a:r>
            <a:endParaRPr lang="en-US" dirty="0" smtClean="0"/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	&lt;</a:t>
            </a:r>
            <a:r>
              <a:rPr lang="en-US" dirty="0" err="1">
                <a:solidFill>
                  <a:srgbClr val="A31515"/>
                </a:solidFill>
              </a:rPr>
              <a:t>l:CategorySchemeName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 err="1">
                <a:solidFill>
                  <a:srgbClr val="FF0000"/>
                </a:solidFill>
              </a:rPr>
              <a:t>xml:lang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en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&gt;</a:t>
            </a:r>
          </a:p>
          <a:p>
            <a:r>
              <a:rPr lang="en-US" dirty="0">
                <a:solidFill>
                  <a:srgbClr val="0000FF"/>
                </a:solidFill>
              </a:rPr>
              <a:t>	Mode of Transportation</a:t>
            </a:r>
          </a:p>
          <a:p>
            <a:r>
              <a:rPr lang="en-US" dirty="0">
                <a:solidFill>
                  <a:srgbClr val="0000FF"/>
                </a:solidFill>
              </a:rPr>
              <a:t>	&lt;/</a:t>
            </a:r>
            <a:r>
              <a:rPr lang="en-US" dirty="0" err="1">
                <a:solidFill>
                  <a:srgbClr val="A31515"/>
                </a:solidFill>
              </a:rPr>
              <a:t>l:CategorySchemeName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sz="1400" dirty="0"/>
              <a:t> </a:t>
            </a:r>
            <a:r>
              <a:rPr lang="en-US" dirty="0"/>
              <a:t>	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	&lt;</a:t>
            </a:r>
            <a:r>
              <a:rPr lang="en-US" dirty="0" err="1">
                <a:solidFill>
                  <a:srgbClr val="A31515"/>
                </a:solidFill>
              </a:rPr>
              <a:t>l:Category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>
                <a:solidFill>
                  <a:srgbClr val="FF0000"/>
                </a:solidFill>
              </a:rPr>
              <a:t>id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cat1</a:t>
            </a:r>
            <a:r>
              <a:rPr lang="en-US" dirty="0" smtClean="0"/>
              <a:t>"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  <a:r>
              <a:rPr lang="en-US" dirty="0" smtClean="0"/>
              <a:t> 		</a:t>
            </a:r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	&lt;</a:t>
            </a:r>
            <a:r>
              <a:rPr lang="en-US" dirty="0" err="1">
                <a:solidFill>
                  <a:srgbClr val="A31515"/>
                </a:solidFill>
              </a:rPr>
              <a:t>r:Label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 err="1">
                <a:solidFill>
                  <a:srgbClr val="FF0000"/>
                </a:solidFill>
              </a:rPr>
              <a:t>xml:lang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en</a:t>
            </a:r>
            <a:r>
              <a:rPr lang="en-US" dirty="0" smtClean="0"/>
              <a:t>"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  <a:r>
              <a:rPr lang="en-US" b="1" dirty="0" smtClean="0"/>
              <a:t>Airplane</a:t>
            </a:r>
            <a:r>
              <a:rPr lang="en-US" dirty="0" smtClean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A31515"/>
                </a:solidFill>
              </a:rPr>
              <a:t>r:Label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A31515"/>
                </a:solidFill>
              </a:rPr>
              <a:t>l:Category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> 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	&lt;</a:t>
            </a:r>
            <a:r>
              <a:rPr lang="en-US" dirty="0" err="1">
                <a:solidFill>
                  <a:srgbClr val="A31515"/>
                </a:solidFill>
              </a:rPr>
              <a:t>l:Category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>
                <a:solidFill>
                  <a:srgbClr val="FF0000"/>
                </a:solidFill>
              </a:rPr>
              <a:t>id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cat2</a:t>
            </a:r>
            <a:r>
              <a:rPr lang="en-US" dirty="0" smtClean="0"/>
              <a:t>"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  <a:r>
              <a:rPr lang="en-US" dirty="0" smtClean="0"/>
              <a:t> </a:t>
            </a:r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	&lt;</a:t>
            </a:r>
            <a:r>
              <a:rPr lang="en-US" dirty="0" err="1">
                <a:solidFill>
                  <a:srgbClr val="A31515"/>
                </a:solidFill>
              </a:rPr>
              <a:t>r:Label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 err="1">
                <a:solidFill>
                  <a:srgbClr val="FF0000"/>
                </a:solidFill>
              </a:rPr>
              <a:t>xml:lang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en</a:t>
            </a:r>
            <a:r>
              <a:rPr lang="en-US" dirty="0" smtClean="0"/>
              <a:t>"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  <a:r>
              <a:rPr lang="en-US" b="1" dirty="0" smtClean="0"/>
              <a:t>Automobile</a:t>
            </a:r>
            <a:r>
              <a:rPr lang="en-US" dirty="0" smtClean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A31515"/>
                </a:solidFill>
              </a:rPr>
              <a:t>r:Label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A31515"/>
                </a:solidFill>
              </a:rPr>
              <a:t>l:Category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> 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	&lt;</a:t>
            </a:r>
            <a:r>
              <a:rPr lang="en-US" dirty="0" err="1">
                <a:solidFill>
                  <a:srgbClr val="A31515"/>
                </a:solidFill>
              </a:rPr>
              <a:t>l:Category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>
                <a:solidFill>
                  <a:srgbClr val="FF0000"/>
                </a:solidFill>
              </a:rPr>
              <a:t>id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cat3</a:t>
            </a:r>
            <a:r>
              <a:rPr lang="en-US" dirty="0" smtClean="0"/>
              <a:t>"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  <a:endParaRPr lang="en-US" dirty="0" smtClean="0"/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	&lt;</a:t>
            </a:r>
            <a:r>
              <a:rPr lang="en-US" dirty="0" err="1">
                <a:solidFill>
                  <a:srgbClr val="A31515"/>
                </a:solidFill>
              </a:rPr>
              <a:t>r:Label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dirty="0" err="1">
                <a:solidFill>
                  <a:srgbClr val="FF0000"/>
                </a:solidFill>
              </a:rPr>
              <a:t>xml:lang</a:t>
            </a:r>
            <a:r>
              <a:rPr lang="en-US" dirty="0">
                <a:solidFill>
                  <a:srgbClr val="0000FF"/>
                </a:solidFill>
              </a:rPr>
              <a:t>=</a:t>
            </a:r>
            <a:r>
              <a:rPr lang="en-US" dirty="0"/>
              <a:t>"</a:t>
            </a:r>
            <a:r>
              <a:rPr lang="en-US" dirty="0">
                <a:solidFill>
                  <a:srgbClr val="0000FF"/>
                </a:solidFill>
              </a:rPr>
              <a:t>en</a:t>
            </a:r>
            <a:r>
              <a:rPr lang="en-US" dirty="0" smtClean="0"/>
              <a:t>"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  <a:r>
              <a:rPr lang="en-US" b="1" dirty="0" smtClean="0"/>
              <a:t>Boat</a:t>
            </a:r>
            <a:r>
              <a:rPr lang="en-US" dirty="0" smtClean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A31515"/>
                </a:solidFill>
              </a:rPr>
              <a:t>r:Label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A31515"/>
                </a:solidFill>
              </a:rPr>
              <a:t>l:Category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> </a:t>
            </a:r>
            <a:endParaRPr lang="en-US" dirty="0" smtClean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A31515"/>
                </a:solidFill>
              </a:rPr>
              <a:t>l:CategoryScheme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Mode of Transportation</a:t>
            </a:r>
            <a:endParaRPr lang="en-US" dirty="0"/>
          </a:p>
          <a:p>
            <a:pPr marL="36576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757540"/>
              </p:ext>
            </p:extLst>
          </p:nvPr>
        </p:nvGraphicFramePr>
        <p:xfrm>
          <a:off x="914400" y="2362200"/>
          <a:ext cx="6096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4648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Value</a:t>
                      </a:r>
                      <a:endParaRPr lang="en-US" sz="2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Category</a:t>
                      </a:r>
                      <a:endParaRPr lang="en-US" sz="29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1</a:t>
                      </a:r>
                      <a:endParaRPr lang="en-US" sz="2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Airplane</a:t>
                      </a:r>
                      <a:endParaRPr lang="en-US" sz="29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2</a:t>
                      </a:r>
                      <a:endParaRPr lang="en-US" sz="2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Automobile</a:t>
                      </a:r>
                      <a:endParaRPr lang="en-US" sz="29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3</a:t>
                      </a:r>
                      <a:endParaRPr lang="en-US" sz="2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Boat</a:t>
                      </a:r>
                      <a:endParaRPr lang="en-US" sz="29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88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Marital Status</a:t>
            </a:r>
          </a:p>
          <a:p>
            <a:pPr marL="36576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783419"/>
              </p:ext>
            </p:extLst>
          </p:nvPr>
        </p:nvGraphicFramePr>
        <p:xfrm>
          <a:off x="914400" y="2362200"/>
          <a:ext cx="6096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4648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Value</a:t>
                      </a:r>
                      <a:endParaRPr lang="en-US" sz="2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Category</a:t>
                      </a:r>
                      <a:endParaRPr lang="en-US" sz="29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0</a:t>
                      </a:r>
                      <a:endParaRPr lang="en-US" sz="2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Airplane</a:t>
                      </a:r>
                      <a:endParaRPr lang="en-US" sz="29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1</a:t>
                      </a:r>
                      <a:endParaRPr lang="en-US" sz="2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Automobile</a:t>
                      </a:r>
                      <a:endParaRPr lang="en-US" sz="29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2</a:t>
                      </a:r>
                      <a:endParaRPr lang="en-US" sz="2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Boat</a:t>
                      </a:r>
                      <a:endParaRPr lang="en-US" sz="29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302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 in DDI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1422868" y="1602395"/>
            <a:ext cx="7035332" cy="4491409"/>
            <a:chOff x="1422868" y="1602395"/>
            <a:chExt cx="6532959" cy="4491409"/>
          </a:xfrm>
        </p:grpSpPr>
        <p:sp>
          <p:nvSpPr>
            <p:cNvPr id="7" name="Freeform 6"/>
            <p:cNvSpPr/>
            <p:nvPr/>
          </p:nvSpPr>
          <p:spPr>
            <a:xfrm>
              <a:off x="1422868" y="3167583"/>
              <a:ext cx="2722066" cy="1361033"/>
            </a:xfrm>
            <a:custGeom>
              <a:avLst/>
              <a:gdLst>
                <a:gd name="connsiteX0" fmla="*/ 0 w 2722066"/>
                <a:gd name="connsiteY0" fmla="*/ 136103 h 1361033"/>
                <a:gd name="connsiteX1" fmla="*/ 136103 w 2722066"/>
                <a:gd name="connsiteY1" fmla="*/ 0 h 1361033"/>
                <a:gd name="connsiteX2" fmla="*/ 2585963 w 2722066"/>
                <a:gd name="connsiteY2" fmla="*/ 0 h 1361033"/>
                <a:gd name="connsiteX3" fmla="*/ 2722066 w 2722066"/>
                <a:gd name="connsiteY3" fmla="*/ 136103 h 1361033"/>
                <a:gd name="connsiteX4" fmla="*/ 2722066 w 2722066"/>
                <a:gd name="connsiteY4" fmla="*/ 1224930 h 1361033"/>
                <a:gd name="connsiteX5" fmla="*/ 2585963 w 2722066"/>
                <a:gd name="connsiteY5" fmla="*/ 1361033 h 1361033"/>
                <a:gd name="connsiteX6" fmla="*/ 136103 w 2722066"/>
                <a:gd name="connsiteY6" fmla="*/ 1361033 h 1361033"/>
                <a:gd name="connsiteX7" fmla="*/ 0 w 2722066"/>
                <a:gd name="connsiteY7" fmla="*/ 1224930 h 1361033"/>
                <a:gd name="connsiteX8" fmla="*/ 0 w 2722066"/>
                <a:gd name="connsiteY8" fmla="*/ 136103 h 1361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2066" h="1361033">
                  <a:moveTo>
                    <a:pt x="0" y="136103"/>
                  </a:moveTo>
                  <a:cubicBezTo>
                    <a:pt x="0" y="60935"/>
                    <a:pt x="60935" y="0"/>
                    <a:pt x="136103" y="0"/>
                  </a:cubicBezTo>
                  <a:lnTo>
                    <a:pt x="2585963" y="0"/>
                  </a:lnTo>
                  <a:cubicBezTo>
                    <a:pt x="2661131" y="0"/>
                    <a:pt x="2722066" y="60935"/>
                    <a:pt x="2722066" y="136103"/>
                  </a:cubicBezTo>
                  <a:lnTo>
                    <a:pt x="2722066" y="1224930"/>
                  </a:lnTo>
                  <a:cubicBezTo>
                    <a:pt x="2722066" y="1300098"/>
                    <a:pt x="2661131" y="1361033"/>
                    <a:pt x="2585963" y="1361033"/>
                  </a:cubicBezTo>
                  <a:lnTo>
                    <a:pt x="136103" y="1361033"/>
                  </a:lnTo>
                  <a:cubicBezTo>
                    <a:pt x="60935" y="1361033"/>
                    <a:pt x="0" y="1300098"/>
                    <a:pt x="0" y="1224930"/>
                  </a:cubicBezTo>
                  <a:lnTo>
                    <a:pt x="0" y="13610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343" tIns="70343" rIns="70343" bIns="70343" numCol="1" spcCol="1270" anchor="ctr" anchorCtr="0">
              <a:noAutofit/>
            </a:bodyPr>
            <a:lstStyle/>
            <a:p>
              <a:pPr lvl="0" algn="ctr" defTabSz="21336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800" kern="1200" smtClean="0"/>
                <a:t>Category List</a:t>
              </a:r>
              <a:endParaRPr lang="en-US" sz="4800" kern="1200"/>
            </a:p>
          </p:txBody>
        </p:sp>
        <p:sp>
          <p:nvSpPr>
            <p:cNvPr id="8" name="Freeform 7"/>
            <p:cNvSpPr/>
            <p:nvPr/>
          </p:nvSpPr>
          <p:spPr>
            <a:xfrm rot="19188438">
              <a:off x="4001945" y="2513292"/>
              <a:ext cx="1368464" cy="624001"/>
            </a:xfrm>
            <a:custGeom>
              <a:avLst/>
              <a:gdLst>
                <a:gd name="connsiteX0" fmla="*/ 0 w 1906661"/>
                <a:gd name="connsiteY0" fmla="*/ 27246 h 54492"/>
                <a:gd name="connsiteX1" fmla="*/ 1906661 w 1906661"/>
                <a:gd name="connsiteY1" fmla="*/ 27246 h 5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6661" h="54492">
                  <a:moveTo>
                    <a:pt x="0" y="27246"/>
                  </a:moveTo>
                  <a:lnTo>
                    <a:pt x="1906661" y="27246"/>
                  </a:lnTo>
                </a:path>
              </a:pathLst>
            </a:custGeom>
            <a:noFill/>
            <a:ln>
              <a:headEnd type="arrow" w="med" len="med"/>
              <a:tailEnd type="none" w="med" len="med"/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8363" tIns="-20420" rIns="918364" bIns="-20422" numCol="1" spcCol="1270" anchor="ctr" anchorCtr="0">
              <a:noAutofit/>
            </a:bodyPr>
            <a:lstStyle/>
            <a:p>
              <a:pPr lvl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700" kern="1200"/>
            </a:p>
          </p:txBody>
        </p:sp>
        <p:sp>
          <p:nvSpPr>
            <p:cNvPr id="9" name="Freeform 8"/>
            <p:cNvSpPr/>
            <p:nvPr/>
          </p:nvSpPr>
          <p:spPr>
            <a:xfrm>
              <a:off x="5233761" y="1602395"/>
              <a:ext cx="2722066" cy="1361033"/>
            </a:xfrm>
            <a:custGeom>
              <a:avLst/>
              <a:gdLst>
                <a:gd name="connsiteX0" fmla="*/ 0 w 2722066"/>
                <a:gd name="connsiteY0" fmla="*/ 136103 h 1361033"/>
                <a:gd name="connsiteX1" fmla="*/ 136103 w 2722066"/>
                <a:gd name="connsiteY1" fmla="*/ 0 h 1361033"/>
                <a:gd name="connsiteX2" fmla="*/ 2585963 w 2722066"/>
                <a:gd name="connsiteY2" fmla="*/ 0 h 1361033"/>
                <a:gd name="connsiteX3" fmla="*/ 2722066 w 2722066"/>
                <a:gd name="connsiteY3" fmla="*/ 136103 h 1361033"/>
                <a:gd name="connsiteX4" fmla="*/ 2722066 w 2722066"/>
                <a:gd name="connsiteY4" fmla="*/ 1224930 h 1361033"/>
                <a:gd name="connsiteX5" fmla="*/ 2585963 w 2722066"/>
                <a:gd name="connsiteY5" fmla="*/ 1361033 h 1361033"/>
                <a:gd name="connsiteX6" fmla="*/ 136103 w 2722066"/>
                <a:gd name="connsiteY6" fmla="*/ 1361033 h 1361033"/>
                <a:gd name="connsiteX7" fmla="*/ 0 w 2722066"/>
                <a:gd name="connsiteY7" fmla="*/ 1224930 h 1361033"/>
                <a:gd name="connsiteX8" fmla="*/ 0 w 2722066"/>
                <a:gd name="connsiteY8" fmla="*/ 136103 h 1361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2066" h="1361033">
                  <a:moveTo>
                    <a:pt x="0" y="136103"/>
                  </a:moveTo>
                  <a:cubicBezTo>
                    <a:pt x="0" y="60935"/>
                    <a:pt x="60935" y="0"/>
                    <a:pt x="136103" y="0"/>
                  </a:cubicBezTo>
                  <a:lnTo>
                    <a:pt x="2585963" y="0"/>
                  </a:lnTo>
                  <a:cubicBezTo>
                    <a:pt x="2661131" y="0"/>
                    <a:pt x="2722066" y="60935"/>
                    <a:pt x="2722066" y="136103"/>
                  </a:cubicBezTo>
                  <a:lnTo>
                    <a:pt x="2722066" y="1224930"/>
                  </a:lnTo>
                  <a:cubicBezTo>
                    <a:pt x="2722066" y="1300098"/>
                    <a:pt x="2661131" y="1361033"/>
                    <a:pt x="2585963" y="1361033"/>
                  </a:cubicBezTo>
                  <a:lnTo>
                    <a:pt x="136103" y="1361033"/>
                  </a:lnTo>
                  <a:cubicBezTo>
                    <a:pt x="60935" y="1361033"/>
                    <a:pt x="0" y="1300098"/>
                    <a:pt x="0" y="1224930"/>
                  </a:cubicBezTo>
                  <a:lnTo>
                    <a:pt x="0" y="13610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343" tIns="70343" rIns="70343" bIns="70343" numCol="1" spcCol="1270" anchor="ctr" anchorCtr="0">
              <a:noAutofit/>
            </a:bodyPr>
            <a:lstStyle/>
            <a:p>
              <a:pPr lvl="0" algn="ctr" defTabSz="21336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800" kern="1200" dirty="0" smtClean="0"/>
                <a:t>Code List 1</a:t>
              </a:r>
              <a:endParaRPr lang="en-US" sz="4800" kern="1200" dirty="0"/>
            </a:p>
          </p:txBody>
        </p:sp>
        <p:sp>
          <p:nvSpPr>
            <p:cNvPr id="10" name="Freeform 9"/>
            <p:cNvSpPr/>
            <p:nvPr/>
          </p:nvSpPr>
          <p:spPr>
            <a:xfrm>
              <a:off x="4144934" y="3820853"/>
              <a:ext cx="1088826" cy="54492"/>
            </a:xfrm>
            <a:custGeom>
              <a:avLst/>
              <a:gdLst>
                <a:gd name="connsiteX0" fmla="*/ 0 w 1088826"/>
                <a:gd name="connsiteY0" fmla="*/ 27246 h 54492"/>
                <a:gd name="connsiteX1" fmla="*/ 1088826 w 1088826"/>
                <a:gd name="connsiteY1" fmla="*/ 27246 h 5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8826" h="54492">
                  <a:moveTo>
                    <a:pt x="0" y="27246"/>
                  </a:moveTo>
                  <a:lnTo>
                    <a:pt x="1088826" y="27246"/>
                  </a:lnTo>
                </a:path>
              </a:pathLst>
            </a:custGeom>
            <a:noFill/>
            <a:ln>
              <a:headEnd type="arrow" w="med" len="med"/>
              <a:tailEnd type="none" w="med" len="med"/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29893" tIns="26" rIns="529892" bIns="25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500" kern="1200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5233761" y="3167583"/>
              <a:ext cx="2722066" cy="1361033"/>
            </a:xfrm>
            <a:custGeom>
              <a:avLst/>
              <a:gdLst>
                <a:gd name="connsiteX0" fmla="*/ 0 w 2722066"/>
                <a:gd name="connsiteY0" fmla="*/ 136103 h 1361033"/>
                <a:gd name="connsiteX1" fmla="*/ 136103 w 2722066"/>
                <a:gd name="connsiteY1" fmla="*/ 0 h 1361033"/>
                <a:gd name="connsiteX2" fmla="*/ 2585963 w 2722066"/>
                <a:gd name="connsiteY2" fmla="*/ 0 h 1361033"/>
                <a:gd name="connsiteX3" fmla="*/ 2722066 w 2722066"/>
                <a:gd name="connsiteY3" fmla="*/ 136103 h 1361033"/>
                <a:gd name="connsiteX4" fmla="*/ 2722066 w 2722066"/>
                <a:gd name="connsiteY4" fmla="*/ 1224930 h 1361033"/>
                <a:gd name="connsiteX5" fmla="*/ 2585963 w 2722066"/>
                <a:gd name="connsiteY5" fmla="*/ 1361033 h 1361033"/>
                <a:gd name="connsiteX6" fmla="*/ 136103 w 2722066"/>
                <a:gd name="connsiteY6" fmla="*/ 1361033 h 1361033"/>
                <a:gd name="connsiteX7" fmla="*/ 0 w 2722066"/>
                <a:gd name="connsiteY7" fmla="*/ 1224930 h 1361033"/>
                <a:gd name="connsiteX8" fmla="*/ 0 w 2722066"/>
                <a:gd name="connsiteY8" fmla="*/ 136103 h 1361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2066" h="1361033">
                  <a:moveTo>
                    <a:pt x="0" y="136103"/>
                  </a:moveTo>
                  <a:cubicBezTo>
                    <a:pt x="0" y="60935"/>
                    <a:pt x="60935" y="0"/>
                    <a:pt x="136103" y="0"/>
                  </a:cubicBezTo>
                  <a:lnTo>
                    <a:pt x="2585963" y="0"/>
                  </a:lnTo>
                  <a:cubicBezTo>
                    <a:pt x="2661131" y="0"/>
                    <a:pt x="2722066" y="60935"/>
                    <a:pt x="2722066" y="136103"/>
                  </a:cubicBezTo>
                  <a:lnTo>
                    <a:pt x="2722066" y="1224930"/>
                  </a:lnTo>
                  <a:cubicBezTo>
                    <a:pt x="2722066" y="1300098"/>
                    <a:pt x="2661131" y="1361033"/>
                    <a:pt x="2585963" y="1361033"/>
                  </a:cubicBezTo>
                  <a:lnTo>
                    <a:pt x="136103" y="1361033"/>
                  </a:lnTo>
                  <a:cubicBezTo>
                    <a:pt x="60935" y="1361033"/>
                    <a:pt x="0" y="1300098"/>
                    <a:pt x="0" y="1224930"/>
                  </a:cubicBezTo>
                  <a:lnTo>
                    <a:pt x="0" y="13610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343" tIns="70343" rIns="70343" bIns="70343" numCol="1" spcCol="1270" anchor="ctr" anchorCtr="0">
              <a:noAutofit/>
            </a:bodyPr>
            <a:lstStyle/>
            <a:p>
              <a:pPr lvl="0" algn="ctr" defTabSz="21336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800" kern="1200" smtClean="0"/>
                <a:t>Code List 2</a:t>
              </a:r>
              <a:endParaRPr lang="en-US" sz="4800" kern="1200"/>
            </a:p>
          </p:txBody>
        </p:sp>
        <p:sp>
          <p:nvSpPr>
            <p:cNvPr id="12" name="Freeform 11"/>
            <p:cNvSpPr/>
            <p:nvPr/>
          </p:nvSpPr>
          <p:spPr>
            <a:xfrm rot="2164427" flipV="1">
              <a:off x="3930458" y="4962469"/>
              <a:ext cx="1349777" cy="72216"/>
            </a:xfrm>
            <a:custGeom>
              <a:avLst/>
              <a:gdLst>
                <a:gd name="connsiteX0" fmla="*/ 0 w 1906661"/>
                <a:gd name="connsiteY0" fmla="*/ 27246 h 54492"/>
                <a:gd name="connsiteX1" fmla="*/ 1906661 w 1906661"/>
                <a:gd name="connsiteY1" fmla="*/ 27246 h 5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6661" h="54492">
                  <a:moveTo>
                    <a:pt x="0" y="27246"/>
                  </a:moveTo>
                  <a:lnTo>
                    <a:pt x="1906661" y="27246"/>
                  </a:lnTo>
                </a:path>
              </a:pathLst>
            </a:custGeom>
            <a:noFill/>
            <a:ln>
              <a:headEnd type="arrow" w="med" len="med"/>
              <a:tailEnd type="none" w="med" len="med"/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8364" tIns="-20421" rIns="918363" bIns="-20421" numCol="1" spcCol="1270" anchor="ctr" anchorCtr="0">
              <a:noAutofit/>
            </a:bodyPr>
            <a:lstStyle/>
            <a:p>
              <a:pPr lvl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700" kern="1200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233761" y="4732771"/>
              <a:ext cx="2722066" cy="1361033"/>
            </a:xfrm>
            <a:custGeom>
              <a:avLst/>
              <a:gdLst>
                <a:gd name="connsiteX0" fmla="*/ 0 w 2722066"/>
                <a:gd name="connsiteY0" fmla="*/ 136103 h 1361033"/>
                <a:gd name="connsiteX1" fmla="*/ 136103 w 2722066"/>
                <a:gd name="connsiteY1" fmla="*/ 0 h 1361033"/>
                <a:gd name="connsiteX2" fmla="*/ 2585963 w 2722066"/>
                <a:gd name="connsiteY2" fmla="*/ 0 h 1361033"/>
                <a:gd name="connsiteX3" fmla="*/ 2722066 w 2722066"/>
                <a:gd name="connsiteY3" fmla="*/ 136103 h 1361033"/>
                <a:gd name="connsiteX4" fmla="*/ 2722066 w 2722066"/>
                <a:gd name="connsiteY4" fmla="*/ 1224930 h 1361033"/>
                <a:gd name="connsiteX5" fmla="*/ 2585963 w 2722066"/>
                <a:gd name="connsiteY5" fmla="*/ 1361033 h 1361033"/>
                <a:gd name="connsiteX6" fmla="*/ 136103 w 2722066"/>
                <a:gd name="connsiteY6" fmla="*/ 1361033 h 1361033"/>
                <a:gd name="connsiteX7" fmla="*/ 0 w 2722066"/>
                <a:gd name="connsiteY7" fmla="*/ 1224930 h 1361033"/>
                <a:gd name="connsiteX8" fmla="*/ 0 w 2722066"/>
                <a:gd name="connsiteY8" fmla="*/ 136103 h 1361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2066" h="1361033">
                  <a:moveTo>
                    <a:pt x="0" y="136103"/>
                  </a:moveTo>
                  <a:cubicBezTo>
                    <a:pt x="0" y="60935"/>
                    <a:pt x="60935" y="0"/>
                    <a:pt x="136103" y="0"/>
                  </a:cubicBezTo>
                  <a:lnTo>
                    <a:pt x="2585963" y="0"/>
                  </a:lnTo>
                  <a:cubicBezTo>
                    <a:pt x="2661131" y="0"/>
                    <a:pt x="2722066" y="60935"/>
                    <a:pt x="2722066" y="136103"/>
                  </a:cubicBezTo>
                  <a:lnTo>
                    <a:pt x="2722066" y="1224930"/>
                  </a:lnTo>
                  <a:cubicBezTo>
                    <a:pt x="2722066" y="1300098"/>
                    <a:pt x="2661131" y="1361033"/>
                    <a:pt x="2585963" y="1361033"/>
                  </a:cubicBezTo>
                  <a:lnTo>
                    <a:pt x="136103" y="1361033"/>
                  </a:lnTo>
                  <a:cubicBezTo>
                    <a:pt x="60935" y="1361033"/>
                    <a:pt x="0" y="1300098"/>
                    <a:pt x="0" y="1224930"/>
                  </a:cubicBezTo>
                  <a:lnTo>
                    <a:pt x="0" y="13610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343" tIns="70343" rIns="70343" bIns="70343" numCol="1" spcCol="1270" anchor="ctr" anchorCtr="0">
              <a:noAutofit/>
            </a:bodyPr>
            <a:lstStyle/>
            <a:p>
              <a:pPr lvl="0" algn="ctr" defTabSz="21336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800" kern="1200" smtClean="0"/>
                <a:t>Code List 3</a:t>
              </a:r>
              <a:endParaRPr lang="en-US" sz="48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351425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381000"/>
            <a:ext cx="83058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</a:rPr>
              <a:t>&lt;</a:t>
            </a:r>
            <a:r>
              <a:rPr lang="en-US" sz="2200" dirty="0" err="1">
                <a:solidFill>
                  <a:srgbClr val="A31515"/>
                </a:solidFill>
              </a:rPr>
              <a:t>l:Code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 smtClean="0">
                <a:solidFill>
                  <a:srgbClr val="0000FF"/>
                </a:solidFill>
              </a:rPr>
              <a:t>    &lt;</a:t>
            </a:r>
            <a:r>
              <a:rPr lang="en-US" sz="2200" dirty="0" err="1">
                <a:solidFill>
                  <a:srgbClr val="A31515"/>
                </a:solidFill>
              </a:rPr>
              <a:t>l:CategoryReference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 smtClean="0">
                <a:solidFill>
                  <a:srgbClr val="0000FF"/>
                </a:solidFill>
              </a:rPr>
              <a:t>        </a:t>
            </a:r>
          </a:p>
          <a:p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smtClean="0">
                <a:solidFill>
                  <a:srgbClr val="0000FF"/>
                </a:solidFill>
              </a:rPr>
              <a:t>       &lt;</a:t>
            </a:r>
            <a:r>
              <a:rPr lang="en-US" sz="2200" dirty="0" err="1">
                <a:solidFill>
                  <a:srgbClr val="A31515"/>
                </a:solidFill>
              </a:rPr>
              <a:t>r:Scheme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>
                <a:solidFill>
                  <a:srgbClr val="0000FF"/>
                </a:solidFill>
              </a:rPr>
              <a:t>	</a:t>
            </a:r>
            <a:r>
              <a:rPr lang="en-US" sz="2200" dirty="0" smtClean="0">
                <a:solidFill>
                  <a:srgbClr val="0000FF"/>
                </a:solidFill>
              </a:rPr>
              <a:t>&lt;</a:t>
            </a:r>
            <a:r>
              <a:rPr lang="en-US" sz="2200" dirty="0" err="1" smtClean="0">
                <a:solidFill>
                  <a:srgbClr val="A31515"/>
                </a:solidFill>
              </a:rPr>
              <a:t>r:ID</a:t>
            </a:r>
            <a:r>
              <a:rPr lang="en-US" sz="2200" dirty="0" smtClean="0">
                <a:solidFill>
                  <a:srgbClr val="0000FF"/>
                </a:solidFill>
              </a:rPr>
              <a:t>&gt;</a:t>
            </a:r>
            <a:r>
              <a:rPr lang="en-US" sz="2200" dirty="0" smtClean="0"/>
              <a:t>categories1</a:t>
            </a:r>
            <a:r>
              <a:rPr lang="en-US" sz="2200" dirty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r:ID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>
                <a:solidFill>
                  <a:srgbClr val="0000FF"/>
                </a:solidFill>
              </a:rPr>
              <a:t>	</a:t>
            </a:r>
            <a:r>
              <a:rPr lang="en-US" sz="2200" dirty="0" smtClean="0">
                <a:solidFill>
                  <a:srgbClr val="0000FF"/>
                </a:solidFill>
              </a:rPr>
              <a:t>&lt;</a:t>
            </a:r>
            <a:r>
              <a:rPr lang="en-US" sz="2200" dirty="0" err="1">
                <a:solidFill>
                  <a:srgbClr val="A31515"/>
                </a:solidFill>
              </a:rPr>
              <a:t>r:IdentifyingAgency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example.org</a:t>
            </a:r>
            <a:r>
              <a:rPr lang="en-US" sz="2200" dirty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r:IdentifyingAgency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r>
              <a:rPr lang="en-US" sz="2200" dirty="0" smtClean="0"/>
              <a:t>	</a:t>
            </a:r>
            <a:r>
              <a:rPr lang="en-US" sz="2200" dirty="0" smtClean="0">
                <a:solidFill>
                  <a:srgbClr val="0000FF"/>
                </a:solidFill>
              </a:rPr>
              <a:t>&lt;</a:t>
            </a:r>
            <a:r>
              <a:rPr lang="en-US" sz="2200" dirty="0" err="1">
                <a:solidFill>
                  <a:srgbClr val="A31515"/>
                </a:solidFill>
              </a:rPr>
              <a:t>r:Version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1.0.0</a:t>
            </a:r>
            <a:r>
              <a:rPr lang="en-US" sz="2200" dirty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r:Version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smtClean="0">
                <a:solidFill>
                  <a:srgbClr val="0000FF"/>
                </a:solidFill>
              </a:rPr>
              <a:t>       &lt;/</a:t>
            </a:r>
            <a:r>
              <a:rPr lang="en-US" sz="2200" dirty="0" err="1">
                <a:solidFill>
                  <a:srgbClr val="A31515"/>
                </a:solidFill>
              </a:rPr>
              <a:t>r:Scheme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smtClean="0">
                <a:solidFill>
                  <a:srgbClr val="0000FF"/>
                </a:solidFill>
              </a:rPr>
              <a:t>       </a:t>
            </a:r>
          </a:p>
          <a:p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smtClean="0">
                <a:solidFill>
                  <a:srgbClr val="0000FF"/>
                </a:solidFill>
              </a:rPr>
              <a:t>       &lt;</a:t>
            </a:r>
            <a:r>
              <a:rPr lang="en-US" sz="2200" dirty="0" err="1">
                <a:solidFill>
                  <a:srgbClr val="A31515"/>
                </a:solidFill>
              </a:rPr>
              <a:t>r:ID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cat1</a:t>
            </a:r>
            <a:r>
              <a:rPr lang="en-US" sz="2200" dirty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r:ID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 smtClean="0">
                <a:solidFill>
                  <a:srgbClr val="0000FF"/>
                </a:solidFill>
              </a:rPr>
              <a:t>        &lt;</a:t>
            </a:r>
            <a:r>
              <a:rPr lang="en-US" sz="2200" dirty="0" err="1">
                <a:solidFill>
                  <a:srgbClr val="A31515"/>
                </a:solidFill>
              </a:rPr>
              <a:t>r:IdentifyingAgency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example.org</a:t>
            </a:r>
            <a:r>
              <a:rPr lang="en-US" sz="2200" dirty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r:IdentifyingAgency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 smtClean="0">
                <a:solidFill>
                  <a:srgbClr val="0000FF"/>
                </a:solidFill>
              </a:rPr>
              <a:t>        &lt;</a:t>
            </a:r>
            <a:r>
              <a:rPr lang="en-US" sz="2200" dirty="0" err="1">
                <a:solidFill>
                  <a:srgbClr val="A31515"/>
                </a:solidFill>
              </a:rPr>
              <a:t>r:Version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1.0.0</a:t>
            </a:r>
            <a:r>
              <a:rPr lang="en-US" sz="2200" dirty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r:Version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endParaRPr lang="en-US" sz="2200" dirty="0" smtClean="0">
              <a:solidFill>
                <a:srgbClr val="0000FF"/>
              </a:solidFill>
            </a:endParaRPr>
          </a:p>
          <a:p>
            <a:r>
              <a:rPr lang="en-US" sz="2200" dirty="0" smtClean="0">
                <a:solidFill>
                  <a:srgbClr val="0000FF"/>
                </a:solidFill>
              </a:rPr>
              <a:t>    &lt;/</a:t>
            </a:r>
            <a:r>
              <a:rPr lang="en-US" sz="2200" dirty="0" err="1">
                <a:solidFill>
                  <a:srgbClr val="A31515"/>
                </a:solidFill>
              </a:rPr>
              <a:t>l:CategoryReference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smtClean="0">
                <a:solidFill>
                  <a:srgbClr val="0000FF"/>
                </a:solidFill>
              </a:rPr>
              <a:t>   </a:t>
            </a:r>
          </a:p>
          <a:p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smtClean="0">
                <a:solidFill>
                  <a:srgbClr val="0000FF"/>
                </a:solidFill>
              </a:rPr>
              <a:t>   &lt;</a:t>
            </a:r>
            <a:r>
              <a:rPr lang="en-US" sz="2200" dirty="0" err="1">
                <a:solidFill>
                  <a:srgbClr val="A31515"/>
                </a:solidFill>
              </a:rPr>
              <a:t>l:Value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1</a:t>
            </a:r>
            <a:r>
              <a:rPr lang="en-US" sz="2200" dirty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l:Value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endParaRPr lang="en-US" sz="2200" dirty="0" smtClean="0"/>
          </a:p>
          <a:p>
            <a:r>
              <a:rPr lang="en-US" sz="2200" dirty="0" smtClean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l:Code</a:t>
            </a:r>
            <a:r>
              <a:rPr lang="en-US" sz="2200" dirty="0" smtClean="0">
                <a:solidFill>
                  <a:srgbClr val="0000FF"/>
                </a:solidFill>
              </a:rPr>
              <a:t>&gt;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55197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381000"/>
            <a:ext cx="83058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</a:rPr>
              <a:t>&lt;</a:t>
            </a:r>
            <a:r>
              <a:rPr lang="en-US" sz="2200" dirty="0" err="1">
                <a:solidFill>
                  <a:srgbClr val="A31515"/>
                </a:solidFill>
              </a:rPr>
              <a:t>l:Code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 smtClean="0">
                <a:solidFill>
                  <a:srgbClr val="0000FF"/>
                </a:solidFill>
              </a:rPr>
              <a:t>    &lt;</a:t>
            </a:r>
            <a:r>
              <a:rPr lang="en-US" sz="2200" dirty="0" err="1">
                <a:solidFill>
                  <a:srgbClr val="A31515"/>
                </a:solidFill>
              </a:rPr>
              <a:t>l:CategoryReference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 smtClean="0">
                <a:solidFill>
                  <a:srgbClr val="0000FF"/>
                </a:solidFill>
              </a:rPr>
              <a:t>        </a:t>
            </a:r>
          </a:p>
          <a:p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smtClean="0">
                <a:solidFill>
                  <a:srgbClr val="0000FF"/>
                </a:solidFill>
              </a:rPr>
              <a:t>       &lt;</a:t>
            </a:r>
            <a:r>
              <a:rPr lang="en-US" sz="2200" dirty="0" err="1">
                <a:solidFill>
                  <a:srgbClr val="A31515"/>
                </a:solidFill>
              </a:rPr>
              <a:t>r:Scheme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>
                <a:solidFill>
                  <a:srgbClr val="0000FF"/>
                </a:solidFill>
              </a:rPr>
              <a:t>	</a:t>
            </a:r>
            <a:r>
              <a:rPr lang="en-US" sz="2200" dirty="0" smtClean="0">
                <a:solidFill>
                  <a:srgbClr val="0000FF"/>
                </a:solidFill>
              </a:rPr>
              <a:t>&lt;</a:t>
            </a:r>
            <a:r>
              <a:rPr lang="en-US" sz="2200" dirty="0" err="1" smtClean="0">
                <a:solidFill>
                  <a:srgbClr val="A31515"/>
                </a:solidFill>
              </a:rPr>
              <a:t>r:ID</a:t>
            </a:r>
            <a:r>
              <a:rPr lang="en-US" sz="2200" dirty="0" smtClean="0">
                <a:solidFill>
                  <a:srgbClr val="0000FF"/>
                </a:solidFill>
              </a:rPr>
              <a:t>&gt;</a:t>
            </a:r>
            <a:r>
              <a:rPr lang="en-US" sz="2200" dirty="0" smtClean="0"/>
              <a:t>categories1</a:t>
            </a:r>
            <a:r>
              <a:rPr lang="en-US" sz="2200" dirty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r:ID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>
                <a:solidFill>
                  <a:srgbClr val="0000FF"/>
                </a:solidFill>
              </a:rPr>
              <a:t>	</a:t>
            </a:r>
            <a:r>
              <a:rPr lang="en-US" sz="2200" dirty="0" smtClean="0">
                <a:solidFill>
                  <a:srgbClr val="0000FF"/>
                </a:solidFill>
              </a:rPr>
              <a:t>&lt;</a:t>
            </a:r>
            <a:r>
              <a:rPr lang="en-US" sz="2200" dirty="0" err="1">
                <a:solidFill>
                  <a:srgbClr val="A31515"/>
                </a:solidFill>
              </a:rPr>
              <a:t>r:IdentifyingAgency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example.org</a:t>
            </a:r>
            <a:r>
              <a:rPr lang="en-US" sz="2200" dirty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r:IdentifyingAgency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r>
              <a:rPr lang="en-US" sz="2200" dirty="0" smtClean="0"/>
              <a:t>	</a:t>
            </a:r>
            <a:r>
              <a:rPr lang="en-US" sz="2200" dirty="0" smtClean="0">
                <a:solidFill>
                  <a:srgbClr val="0000FF"/>
                </a:solidFill>
              </a:rPr>
              <a:t>&lt;</a:t>
            </a:r>
            <a:r>
              <a:rPr lang="en-US" sz="2200" dirty="0" err="1">
                <a:solidFill>
                  <a:srgbClr val="A31515"/>
                </a:solidFill>
              </a:rPr>
              <a:t>r:Version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1.0.0</a:t>
            </a:r>
            <a:r>
              <a:rPr lang="en-US" sz="2200" dirty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r:Version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smtClean="0">
                <a:solidFill>
                  <a:srgbClr val="0000FF"/>
                </a:solidFill>
              </a:rPr>
              <a:t>       &lt;/</a:t>
            </a:r>
            <a:r>
              <a:rPr lang="en-US" sz="2200" dirty="0" err="1">
                <a:solidFill>
                  <a:srgbClr val="A31515"/>
                </a:solidFill>
              </a:rPr>
              <a:t>r:Scheme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smtClean="0">
                <a:solidFill>
                  <a:srgbClr val="0000FF"/>
                </a:solidFill>
              </a:rPr>
              <a:t>       </a:t>
            </a:r>
          </a:p>
          <a:p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smtClean="0">
                <a:solidFill>
                  <a:srgbClr val="0000FF"/>
                </a:solidFill>
              </a:rPr>
              <a:t>       &lt;</a:t>
            </a:r>
            <a:r>
              <a:rPr lang="en-US" sz="2200" dirty="0" err="1">
                <a:solidFill>
                  <a:srgbClr val="A31515"/>
                </a:solidFill>
              </a:rPr>
              <a:t>r:ID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cat1</a:t>
            </a:r>
            <a:r>
              <a:rPr lang="en-US" sz="2200" dirty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r:ID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 smtClean="0">
                <a:solidFill>
                  <a:srgbClr val="0000FF"/>
                </a:solidFill>
              </a:rPr>
              <a:t>        &lt;</a:t>
            </a:r>
            <a:r>
              <a:rPr lang="en-US" sz="2200" dirty="0" err="1">
                <a:solidFill>
                  <a:srgbClr val="A31515"/>
                </a:solidFill>
              </a:rPr>
              <a:t>r:IdentifyingAgency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example.org</a:t>
            </a:r>
            <a:r>
              <a:rPr lang="en-US" sz="2200" dirty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r:IdentifyingAgency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 smtClean="0">
                <a:solidFill>
                  <a:srgbClr val="0000FF"/>
                </a:solidFill>
              </a:rPr>
              <a:t>        &lt;</a:t>
            </a:r>
            <a:r>
              <a:rPr lang="en-US" sz="2200" dirty="0" err="1">
                <a:solidFill>
                  <a:srgbClr val="A31515"/>
                </a:solidFill>
              </a:rPr>
              <a:t>r:Version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1.0.0</a:t>
            </a:r>
            <a:r>
              <a:rPr lang="en-US" sz="2200" dirty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r:Version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endParaRPr lang="en-US" sz="2200" dirty="0" smtClean="0">
              <a:solidFill>
                <a:srgbClr val="0000FF"/>
              </a:solidFill>
            </a:endParaRPr>
          </a:p>
          <a:p>
            <a:r>
              <a:rPr lang="en-US" sz="2200" dirty="0" smtClean="0">
                <a:solidFill>
                  <a:srgbClr val="0000FF"/>
                </a:solidFill>
              </a:rPr>
              <a:t>    &lt;/</a:t>
            </a:r>
            <a:r>
              <a:rPr lang="en-US" sz="2200" dirty="0" err="1">
                <a:solidFill>
                  <a:srgbClr val="A31515"/>
                </a:solidFill>
              </a:rPr>
              <a:t>l:CategoryReference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smtClean="0">
                <a:solidFill>
                  <a:srgbClr val="0000FF"/>
                </a:solidFill>
              </a:rPr>
              <a:t>   </a:t>
            </a:r>
          </a:p>
          <a:p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smtClean="0">
                <a:solidFill>
                  <a:srgbClr val="0000FF"/>
                </a:solidFill>
              </a:rPr>
              <a:t>   &lt;</a:t>
            </a:r>
            <a:r>
              <a:rPr lang="en-US" sz="2200" dirty="0" err="1">
                <a:solidFill>
                  <a:srgbClr val="A31515"/>
                </a:solidFill>
              </a:rPr>
              <a:t>l:Value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1</a:t>
            </a:r>
            <a:r>
              <a:rPr lang="en-US" sz="2200" dirty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l:Value</a:t>
            </a:r>
            <a:r>
              <a:rPr lang="en-US" sz="2200" dirty="0">
                <a:solidFill>
                  <a:srgbClr val="0000FF"/>
                </a:solidFill>
              </a:rPr>
              <a:t>&gt;</a:t>
            </a:r>
            <a:r>
              <a:rPr lang="en-US" sz="2200" dirty="0"/>
              <a:t> </a:t>
            </a:r>
            <a:endParaRPr lang="en-US" sz="2200" dirty="0" smtClean="0"/>
          </a:p>
          <a:p>
            <a:endParaRPr lang="en-US" sz="2200" dirty="0" smtClean="0"/>
          </a:p>
          <a:p>
            <a:r>
              <a:rPr lang="en-US" sz="2200" dirty="0" smtClean="0">
                <a:solidFill>
                  <a:srgbClr val="0000FF"/>
                </a:solidFill>
              </a:rPr>
              <a:t>&lt;/</a:t>
            </a:r>
            <a:r>
              <a:rPr lang="en-US" sz="2200" dirty="0" err="1">
                <a:solidFill>
                  <a:srgbClr val="A31515"/>
                </a:solidFill>
              </a:rPr>
              <a:t>l:Code</a:t>
            </a:r>
            <a:r>
              <a:rPr lang="en-US" sz="2200" dirty="0" smtClean="0">
                <a:solidFill>
                  <a:srgbClr val="0000FF"/>
                </a:solidFill>
              </a:rPr>
              <a:t>&gt;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1230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5800" y="713631"/>
            <a:ext cx="8001000" cy="483209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l:CodeScheme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id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codeList1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version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1.0.0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agency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example.org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endParaRPr lang="en-US" sz="2200" dirty="0" smtClean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l:CodeSchemeName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en-US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		Transportation Codes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l:CodeSchemeName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2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...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...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...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2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l:CodeScheme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42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5800" y="713631"/>
            <a:ext cx="8001000" cy="483209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l:CodeScheme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id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codeList1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version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1.0.0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agency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example.org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endParaRPr lang="en-US" sz="2200" dirty="0" smtClean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l:CodeSchemeName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en-US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		Transportation Codes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l:CodeSchemeName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2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...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...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...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2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l:CodeScheme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75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is your name?</a:t>
            </a:r>
          </a:p>
          <a:p>
            <a:r>
              <a:rPr lang="en-US" dirty="0" smtClean="0"/>
              <a:t>How did you get to Gothenburg?</a:t>
            </a:r>
          </a:p>
        </p:txBody>
      </p:sp>
    </p:spTree>
    <p:extLst>
      <p:ext uri="{BB962C8B-B14F-4D97-AF65-F5344CB8AC3E}">
        <p14:creationId xmlns:p14="http://schemas.microsoft.com/office/powerpoint/2010/main" val="338453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Question in DDI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04800" y="2368896"/>
            <a:ext cx="8534400" cy="31393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d:Questiontem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id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q1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version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1.0.0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d:QuestionItemName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name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d:QuestionItemName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d:QuestionText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d:LiteralText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 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d:Text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What is your name?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d:Text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d:LiteralText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d:QuestionText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d:TextDomain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minLength</a:t>
            </a:r>
            <a:r>
              <a:rPr lang="en-US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"1"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d:TextDomain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d:QuestionItem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65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Question in DDI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04800" y="2368896"/>
            <a:ext cx="8534400" cy="31393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d:Questiontem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id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q1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version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1.0.0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d:QuestionItemName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name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d:QuestionItemName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d:QuestionText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d:LiteralText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 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d:Text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What is your name?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d:Text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d:LiteralText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d:QuestionText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d:TextDomain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minLength</a:t>
            </a:r>
            <a:r>
              <a:rPr lang="en-US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"1"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d:TextDomain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d:QuestionItem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47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Response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Text</a:t>
            </a:r>
          </a:p>
          <a:p>
            <a:r>
              <a:rPr lang="en-US" dirty="0" smtClean="0"/>
              <a:t>Numeric</a:t>
            </a:r>
          </a:p>
          <a:p>
            <a:r>
              <a:rPr lang="en-US" dirty="0" err="1" smtClean="0"/>
              <a:t>DateTime</a:t>
            </a:r>
            <a:endParaRPr lang="en-US" dirty="0"/>
          </a:p>
          <a:p>
            <a:r>
              <a:rPr lang="en-US" dirty="0" smtClean="0"/>
              <a:t>Category</a:t>
            </a:r>
          </a:p>
          <a:p>
            <a:r>
              <a:rPr lang="en-US" dirty="0" smtClean="0"/>
              <a:t>Code</a:t>
            </a:r>
          </a:p>
          <a:p>
            <a:r>
              <a:rPr lang="en-US" dirty="0" smtClean="0"/>
              <a:t>Geographic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23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with a Code List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04800" y="3753890"/>
            <a:ext cx="8534400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" y="1675686"/>
            <a:ext cx="8839200" cy="48013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d:Questiontem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id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q1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version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1.0.0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d:QuestionItemName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 </a:t>
            </a:r>
            <a:r>
              <a:rPr lang="en-US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xml:lang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en</a:t>
            </a: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transport</a:t>
            </a:r>
            <a:r>
              <a:rPr lang="en-US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d:QuestionItemName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d:QuestionText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 </a:t>
            </a:r>
            <a:r>
              <a:rPr lang="en-US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xml:lang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en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d:LiteralText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     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dirty="0" err="1" smtClean="0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d:Text</a:t>
            </a:r>
            <a:r>
              <a:rPr lang="en-US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How did you get to Gothenburg?</a:t>
            </a:r>
            <a:r>
              <a:rPr lang="en-US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d:Text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d:LiteralText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d:QuestionText</a:t>
            </a: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    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d:CodeDomain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r:CodeSchemeReference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 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r:ID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codeList1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r:ID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 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r:IdentifyingAgency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example.org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r:IdentifyingAgency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 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r:Version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1.0.0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r:Version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r:CodeSchemeReference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    &lt;/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d:CodeDomain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dirty="0" err="1">
                <a:solidFill>
                  <a:srgbClr val="A31515"/>
                </a:solidFill>
                <a:latin typeface="Consolas" pitchFamily="49" charset="0"/>
                <a:cs typeface="Consolas" pitchFamily="49" charset="0"/>
              </a:rPr>
              <a:t>d:QuestionItem</a:t>
            </a:r>
            <a:r>
              <a:rPr lang="en-US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6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Name</a:t>
            </a:r>
          </a:p>
          <a:p>
            <a:r>
              <a:rPr lang="en-US" dirty="0" smtClean="0"/>
              <a:t>Mode of Transportation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23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Variable in DDI</a:t>
            </a:r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" y="2008525"/>
            <a:ext cx="8991600" cy="31393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l:Variable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id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var1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version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1.0.0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l:VariableName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name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l:VariableName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2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r:Label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The person's name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r:Label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2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l:Representation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l:TextRepresentation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/&gt;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l:Representation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l:Variable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36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Variable in DDI</a:t>
            </a:r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" y="2008525"/>
            <a:ext cx="8991600" cy="31393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l:Variable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id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var1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version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1.0.0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l:VariableName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name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l:VariableName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2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r:Label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cs typeface="Consolas" pitchFamily="49" charset="0"/>
              </a:rPr>
              <a:t>xml:lang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en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The person's name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r:Label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2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l:Representation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l:TextRepresentation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 /&gt;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l:Representation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&lt;/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cs typeface="Consolas" pitchFamily="49" charset="0"/>
              </a:rPr>
              <a:t>l:Variable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Consolas" pitchFamily="49" charset="0"/>
              </a:rPr>
              <a:t>&gt;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85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 Then What?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18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Study-level Information</a:t>
            </a:r>
          </a:p>
          <a:p>
            <a:pPr lvl="1"/>
            <a:r>
              <a:rPr lang="en-US" dirty="0" smtClean="0"/>
              <a:t>Citation</a:t>
            </a:r>
          </a:p>
          <a:p>
            <a:pPr lvl="1"/>
            <a:r>
              <a:rPr lang="en-US" dirty="0" smtClean="0"/>
              <a:t>Abstract, Purpose</a:t>
            </a:r>
          </a:p>
          <a:p>
            <a:pPr lvl="1"/>
            <a:r>
              <a:rPr lang="en-US" dirty="0" smtClean="0"/>
              <a:t>Links to related materials</a:t>
            </a:r>
          </a:p>
          <a:p>
            <a:r>
              <a:rPr lang="en-US" dirty="0" smtClean="0"/>
              <a:t>Study Content</a:t>
            </a:r>
          </a:p>
          <a:p>
            <a:pPr lvl="1"/>
            <a:r>
              <a:rPr lang="en-US" dirty="0" smtClean="0"/>
              <a:t>Survey Instruments</a:t>
            </a:r>
          </a:p>
          <a:p>
            <a:pPr lvl="1"/>
            <a:r>
              <a:rPr lang="en-US" dirty="0" smtClean="0"/>
              <a:t>Datasets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28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Publishing DDI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995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to Learn More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DDI Web Site</a:t>
            </a:r>
          </a:p>
          <a:p>
            <a:r>
              <a:rPr lang="en-US" dirty="0" smtClean="0"/>
              <a:t>DDI Documentation</a:t>
            </a:r>
          </a:p>
          <a:p>
            <a:r>
              <a:rPr lang="en-US" dirty="0" smtClean="0"/>
              <a:t>Talk to 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63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772400" cy="762000"/>
          </a:xfrm>
        </p:spPr>
        <p:txBody>
          <a:bodyPr>
            <a:normAutofit/>
          </a:bodyPr>
          <a:lstStyle/>
          <a:p>
            <a:pPr algn="ctr"/>
            <a:r>
              <a:rPr lang="en-US" cap="none" dirty="0" smtClean="0"/>
              <a:t>Thank you</a:t>
            </a:r>
            <a:endParaRPr lang="en-US" cap="none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4572000" cy="685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Picture 2" descr="http://www.ddialliance.org/sites/default/files/ddi-logo-tagline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6090327"/>
            <a:ext cx="1066800" cy="62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232339"/>
              </p:ext>
            </p:extLst>
          </p:nvPr>
        </p:nvGraphicFramePr>
        <p:xfrm>
          <a:off x="1600323" y="1676400"/>
          <a:ext cx="6045078" cy="3840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659"/>
                <a:gridCol w="1511269"/>
                <a:gridCol w="4008150"/>
              </a:tblGrid>
              <a:tr h="64008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Instructor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 smtClean="0"/>
                        <a:t>Jeremy Iverson</a:t>
                      </a:r>
                      <a:endParaRPr lang="en-US" sz="2800" dirty="0"/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Email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 smtClean="0"/>
                        <a:t>jeremy@colectica.com</a:t>
                      </a:r>
                      <a:endParaRPr lang="en-US" sz="2800" dirty="0"/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Web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 smtClean="0"/>
                        <a:t>colectica.com</a:t>
                      </a:r>
                      <a:endParaRPr lang="en-US" sz="2800" dirty="0"/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Blog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 smtClean="0"/>
                        <a:t>blogs.colectica.com</a:t>
                      </a:r>
                      <a:endParaRPr lang="en-US" sz="2800" dirty="0"/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Twitter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 smtClean="0"/>
                        <a:t>@Colectica</a:t>
                      </a:r>
                      <a:endParaRPr lang="en-US" sz="2800" dirty="0"/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Picture 2" descr="D:\Downloads\twitt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4292600"/>
            <a:ext cx="431800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89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2667</TotalTime>
  <Words>1472</Words>
  <Application>Microsoft Office PowerPoint</Application>
  <PresentationFormat>On-screen Show (4:3)</PresentationFormat>
  <Paragraphs>532</Paragraphs>
  <Slides>52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Median</vt:lpstr>
      <vt:lpstr>Learn How to Create DDI Metadata</vt:lpstr>
      <vt:lpstr>Welcome to EDDI</vt:lpstr>
      <vt:lpstr>Agenda</vt:lpstr>
      <vt:lpstr>PowerPoint Presentation</vt:lpstr>
      <vt:lpstr>PowerPoint Presentation</vt:lpstr>
      <vt:lpstr>PowerPoint Presentation</vt:lpstr>
      <vt:lpstr>That’s Pretty Much It.</vt:lpstr>
      <vt:lpstr>PowerPoint Presentation</vt:lpstr>
      <vt:lpstr>Less Redundant Work</vt:lpstr>
      <vt:lpstr>The Data Lifecycle</vt:lpstr>
      <vt:lpstr>Better, Easier Documentation</vt:lpstr>
      <vt:lpstr>eXtensible Markup Language (XML)</vt:lpstr>
      <vt:lpstr>XML Elements</vt:lpstr>
      <vt:lpstr>XML Attributes</vt:lpstr>
      <vt:lpstr>Conflicting Tag Names</vt:lpstr>
      <vt:lpstr>PowerPoint Presentation</vt:lpstr>
      <vt:lpstr>DDI and XML</vt:lpstr>
      <vt:lpstr>DDI and XML</vt:lpstr>
      <vt:lpstr>DDI Walkthrough</vt:lpstr>
      <vt:lpstr>Universes</vt:lpstr>
      <vt:lpstr>A Universe in XML</vt:lpstr>
      <vt:lpstr>A Universe in XML</vt:lpstr>
      <vt:lpstr>Using the DDI Workshop Helper</vt:lpstr>
      <vt:lpstr>DDI Workshop Helper</vt:lpstr>
      <vt:lpstr>Concepts</vt:lpstr>
      <vt:lpstr>A Concept in DDI</vt:lpstr>
      <vt:lpstr>Where did it go?</vt:lpstr>
      <vt:lpstr>Where did it go?</vt:lpstr>
      <vt:lpstr>Identification</vt:lpstr>
      <vt:lpstr>Categories</vt:lpstr>
      <vt:lpstr>PowerPoint Presentation</vt:lpstr>
      <vt:lpstr>PowerPoint Presentation</vt:lpstr>
      <vt:lpstr>Codes</vt:lpstr>
      <vt:lpstr>Codes</vt:lpstr>
      <vt:lpstr>References in DDI</vt:lpstr>
      <vt:lpstr>PowerPoint Presentation</vt:lpstr>
      <vt:lpstr>PowerPoint Presentation</vt:lpstr>
      <vt:lpstr>PowerPoint Presentation</vt:lpstr>
      <vt:lpstr>PowerPoint Presentation</vt:lpstr>
      <vt:lpstr>Questions</vt:lpstr>
      <vt:lpstr>A Question in DDI</vt:lpstr>
      <vt:lpstr>A Question in DDI</vt:lpstr>
      <vt:lpstr>Other Response Types</vt:lpstr>
      <vt:lpstr>Question with a Code List</vt:lpstr>
      <vt:lpstr>Variables</vt:lpstr>
      <vt:lpstr>A Variable in DDI</vt:lpstr>
      <vt:lpstr>A Variable in DDI</vt:lpstr>
      <vt:lpstr>And Then What?</vt:lpstr>
      <vt:lpstr>Studies</vt:lpstr>
      <vt:lpstr>Publishing DDI</vt:lpstr>
      <vt:lpstr>Where to Learn More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How to Create DDI Metadata</dc:title>
  <dc:creator>jeremy</dc:creator>
  <cp:lastModifiedBy>jeremy</cp:lastModifiedBy>
  <cp:revision>98</cp:revision>
  <dcterms:created xsi:type="dcterms:W3CDTF">2011-11-04T15:52:14Z</dcterms:created>
  <dcterms:modified xsi:type="dcterms:W3CDTF">2011-12-05T07:52:53Z</dcterms:modified>
</cp:coreProperties>
</file>